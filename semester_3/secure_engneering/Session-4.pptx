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50" r:id="rId92"/>
    <p:sldId id="351" r:id="rId93"/>
    <p:sldId id="352" r:id="rId94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56CA8-D88F-4F76-9E9A-F0C410CA25FB}" type="datetimeFigureOut"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FA349-AABB-4ABA-AE06-386B0BF5E6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7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5GRdyWovDiI" TargetMode="External"/><Relationship Id="rId3" Type="http://schemas.openxmlformats.org/officeDocument/2006/relationships/hyperlink" Target="https://www.youtube.com/watch?v=SaCYkPD4_K0" TargetMode="External"/><Relationship Id="rId7" Type="http://schemas.openxmlformats.org/officeDocument/2006/relationships/hyperlink" Target="https://www.youtube.com/watch?v=oyciotF-qGA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rfFS2akFdA" TargetMode="External"/><Relationship Id="rId5" Type="http://schemas.openxmlformats.org/officeDocument/2006/relationships/hyperlink" Target="https://www.youtube.com/watch?v=b8N8knQdbA4" TargetMode="External"/><Relationship Id="rId4" Type="http://schemas.openxmlformats.org/officeDocument/2006/relationships/hyperlink" Target="https://www.youtube.com/watch?v=udu2NKZV5U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6552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86039"/>
          </a:xfrm>
          <a:prstGeom prst="rect">
            <a:avLst/>
          </a:prstGeom>
          <a:solidFill>
            <a:srgbClr val="5B93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37253" y="-806958"/>
            <a:ext cx="69494" cy="382219"/>
          </a:xfrm>
          <a:prstGeom prst="rect">
            <a:avLst/>
          </a:prstGeom>
          <a:solidFill>
            <a:srgbClr val="1011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0" y="3065526"/>
            <a:ext cx="9144000" cy="3792474"/>
          </a:xfrm>
          <a:prstGeom prst="rect">
            <a:avLst/>
          </a:prstGeom>
          <a:solidFill>
            <a:srgbClr val="1011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3294126"/>
            <a:ext cx="868680" cy="868680"/>
          </a:xfrm>
          <a:prstGeom prst="ellipse">
            <a:avLst/>
          </a:prstGeom>
          <a:solidFill>
            <a:srgbClr val="FCB01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345871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20852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291072"/>
            <a:ext cx="3048000" cy="640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48000" y="6291072"/>
            <a:ext cx="3048000" cy="640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6000" y="6291072"/>
            <a:ext cx="3048000" cy="640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20240" y="317525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ZG566 / SS ZG566 · SECURE SOFTWARE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504438"/>
            <a:ext cx="6995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SDLC &amp;</a:t>
            </a:r>
            <a:endParaRPr lang="en-US" sz="230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Security Programs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920240" y="4610862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Software SDLC   ·   Module 3: Product Security Programs   ·   Exam Study Guide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5980176"/>
            <a:ext cx="6995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Instructor: Bhaskar Zeminder    |    BITS Pilani WILP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Software SDLC. 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phases of software development, the concrete work product each phase must produce, the models that implement those phases (Waterfall, Agile, V-Model, Spiral, DevOps), SWEBOK's knowledge areas, and precisely how security requirements change every phase.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Product Security Programs. 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organisation actually stands up a security programme, Shift Left versus Shift Right, the OWASP SAMM and BSIMM maturity models, and the metrics that separate a real programme from a slide-deck one.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Throughout.  </a:t>
            </a: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tie every new idea back to Log4Shell, SolarWinds, MOVEit and Change Healthcare (Module 1), and to the Four-Question Framework and STRIDE (Module 4). This is one continuous argument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you must already recognise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pre-check before we begin. If any of these feel unfamiliar, revisit Module 1 or Module 4 before continuing.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188720"/>
            <a:ext cx="8375904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188720"/>
            <a:ext cx="237744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188720"/>
            <a:ext cx="5769864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a defect earlier in the lifecycle, where it is cheaper to fix (Module 1).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2221992"/>
            <a:ext cx="8375904" cy="978408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2221992"/>
            <a:ext cx="237744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CIA triad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2221992"/>
            <a:ext cx="5769864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Integrity, Availability — the three goals of security (Module 1).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255264"/>
            <a:ext cx="8375904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3255264"/>
            <a:ext cx="237744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3255264"/>
            <a:ext cx="5769864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six threat categories used in threat modelling (Module 4).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4288536"/>
            <a:ext cx="8375904" cy="978408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4288536"/>
            <a:ext cx="237744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4288536"/>
            <a:ext cx="5769864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artefact identifying threats and mitigations for a system (Module 4).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5321808"/>
            <a:ext cx="8375904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5321808"/>
            <a:ext cx="2377440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5321808"/>
            <a:ext cx="5769864" cy="978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 of all points where an unauthorised user could try to enter or affect a system (Module 4).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96000" y="0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2286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CB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" y="2670048"/>
            <a:ext cx="8375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Software SDLC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384048" y="3931920"/>
            <a:ext cx="83759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Software Development Life Cycle (SDLC) is the structured process every piece of software passes through, from a business idea to eventual retirement.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 the phases, the concrete work product each phase produces, the models that implement those phases, SWEBOK's knowledge areas, and how security requirements change every phase.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section, you should be able to name a phase, name its work product, name the model that would suit a given project, and name the security activity that belongs alongside each phase.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48000" y="6784848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96000" y="6784848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SDLC — a precise definition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definition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repeatable process that breaks software development into distinct, interdependent phases, each with its own objectives and deliverables that feed the next phase.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word 'repeatable'.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SDLC is not a one-off project plan; it is a general process template applied to every project an organisation undertakes, so that quality does not depend on which individual happens to be leading the work.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framework, not one method.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Waterfall, Agile, Spiral, V-Model, and DevOps all implement the SAME underlying set of phases — they differ only in whether phases run strictly sequentially or in short, repeated iterations.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organisations formalise it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risk identification — problems surface while they are still cheap to fix (Module 1's shift-left economics, applied here to process discipline generally, not only to security).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vocabulary across project managers, architects, developers and testers, so 'we are in Design' means the same thing to everyone in the room.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progress — you can state precisely which phase a project occupies, and what 'done' means for that phase, which is the basis of any project status report.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‘What is the Software Development Lifecycle?’; GeeksforGeeks, SDLC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confusion: SDLC vs the Project Management Life Cycle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(this module)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work of building software — requirements, design, code, test, deploy, maintain.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leadership, architects, developers, QA.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'what technical steps produce this software?'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 Life Cycle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MANAGEMENT of a project's execution — initiation, planning, execution, monitoring &amp; controlling, closure (per PMBOK).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manager, tracking cost, schedule and scope.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'is this project on time, on budget, and within scope?'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PMI, PMBOK Guide; distinguish frequently tested in Mid-Sem papers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is a framework — five models implement 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phases run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Sequentially — one phase completes fully before the next begins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Stable, well-understood requirements (e.g. regulatory or compliance systems)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repeated iterations (sprints), each touching most phases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Evolving requirements, frequent releases, close customer collaboration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V-Model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development phase is paired with a corresponding test 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Safety-critical or highly regulated systems (aerospace, medical devices)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cycles of planning, risk analysis, prototyping, evaluation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Large, high-risk projects needing continuous risk reassessment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/ CI-CD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Continuous, automated flow from commit to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Cloud-native products needing frequent, small, low-risk releases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Guru99, SDLC Tutorial; Coursera, ‘What Is the SDLC?’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model — in depth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linear — Requirements must be fully signed off before Design begins; Design fully signed off before Implementation; and so on. No phase overlaps with the next.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formalised by Winston Royce in 1970, originally as a description of what NOT to do without feedback loops — ironically now used as the textbook 'traditional' model.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Documentation-heavy.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produces a formal, reviewed document before proceeding — this is precisely why Waterfall pairs so naturally with the work-product concept later in this module.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and disadvantages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understand and manage; clear milestones; works well when requirements genuinely will not change.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requirement discovered late (in Testing or Deployment) is extremely expensive to fix — the strongest real-world illustration of Module 1's shift-left cost curve.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 it.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tenders, safety certifications, and fixed-price contracts where scope is contractually frozen upfront.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Royce, ‘Managing the Development of Large Software Systems’ (1970)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model — in depth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broken into short, time-boxed iterations (sprints, typically 1–4 weeks), each producing a potentially shippable increment.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Agile Manifesto (2001).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individuals and interactions over processes and tools; working software over comprehensive documentation; customer collaboration over contract negotiation; responding to change over following a plan.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frameworks.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(sprints, daily stand-ups, sprint review/retrospective), Kanban (continuous flow, WIP limits), Extreme Programming/XP (pair programming, test-driven development).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and disadvantages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embraces changing requirements; fast feedback from real users; smaller batches mean smaller, cheaper mistakes.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under-document architecture decisions if teams are not disciplined — a real risk for the traceability argument later in this module.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 it.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with evolving markets, startups, and any context where the customer cannot fully specify requirements upfront.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Beck et al., ‘Manifesto for Agile Software Development’ (2001)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V-Model — in depth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Waterfall variant drawn as a 'V' — the left, descending arm is the development phases (Requirements → Design → Coding); the right, ascending arm is the corresponding TEST phases, each explicitly validating the paired development phase.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pairing, explicitly.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pairs with Acceptance Testing; High-Level Design pairs with System Testing; Low-Level Design pairs with Integration Testing; Coding pairs with Unit Testing.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vs Validation.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V-Model is built precisely around this distinction — Verification asks 'are we building the product right?'; Validation asks 'are we building the right product?'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and disadvantages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planning starts on day one, alongside the corresponding development phase — tests are never an afterthought.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Waterfall's rigidity; expensive to accommodate late requirement changes.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 it.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safety-critical domains — aerospace, automotive, medical devices — where formal verification evidence is a regulatory requirement.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ISTQB Foundation Level Syllabus v4.0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model — in depth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cycles ('spirals'), each with four quadrants: (1) determine objectives, (2) identify and resolve risks, (3) develop and test, (4) plan the next iteration.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by Barry Boehm in 1986, explicitly to bring rigorous risk analysis into iterative development.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Risk-driven, not schedule-driven.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Agile's fixed-length sprints, each spiral's length and scope is determined by how much risk remains to be resolved.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and disadvantages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for large, high-risk, high-cost projects where a late failure would be catastrophic — risk is confronted every single cycle, not just once at the start.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and complex to manage; requires genuine risk-analysis expertise, not just project management skill.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choose it.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government or defence software programmes, and novel products with significant technical uncertainty.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Boehm, ‘A Spiral Model of Software Development and Enhancement’ (1986)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SDLC models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pairs each development phase with a corresponding test phase?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Agile    (b) V-Model    (c) Spiral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V-Model — Verification/Validation pairing.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Spiral model's four repeated quadrants include, first,…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determine objectives    (b) write final documentation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Determine objectives — then risk analysis, build/test, plan next cycle.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would best suit a fixed-scope government tender with frozen requirements?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Waterfall    (b) Agile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Waterfall — stable, well-understood requirements.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and Kanban are both examples of…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Agile frameworks    (b) V-Model variants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Agile frameworks.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SDLC phases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Practitioners broadly agree on seven phases, regardless of which model is used to move through them. Maintenance feeds back into Planning — the SDLC is properly a cycle, not a straight line.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618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261872"/>
            <a:ext cx="1956816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2618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Planning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scope, cost and schedule estimation.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350008" y="1261872"/>
            <a:ext cx="164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3744" y="12618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23744" y="1261872"/>
            <a:ext cx="1956816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12618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Requirements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96896" y="15727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and document what the system must do.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4489704" y="1261872"/>
            <a:ext cx="164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2618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261872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18304" y="12618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Design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15727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data design, interfaces (HLD &amp; LLD).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629400" y="1261872"/>
            <a:ext cx="164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03136" y="12618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136" y="1261872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0" y="12618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Implementation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76288" y="15727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code; unit-level construction.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384048" y="28620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84048" y="2862072"/>
            <a:ext cx="1956816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8912" y="28620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Testing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31729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system meets requirements; find defects.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2350008" y="2862072"/>
            <a:ext cx="164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523744" y="28620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23744" y="2862072"/>
            <a:ext cx="1956816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78608" y="28620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Deployment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596896" y="31729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into production; make it available to users.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4489704" y="2862072"/>
            <a:ext cx="164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663440" y="2862072"/>
            <a:ext cx="1956816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01141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663440" y="2862072"/>
            <a:ext cx="1956816" cy="256032"/>
          </a:xfrm>
          <a:prstGeom prst="rect">
            <a:avLst/>
          </a:prstGeom>
          <a:solidFill>
            <a:srgbClr val="1011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718304" y="2862072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Maintenance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36592" y="3172968"/>
            <a:ext cx="18105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Fixes, enhancements — feeds back into Planning.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384048" y="438912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is not only Phase 5.</a:t>
            </a: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 teams weave quality and security checks across every phase — shift-left applied to the whole SDLC, not only to security.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‘What is the SDLC?’; ISTQB Foundation Level Syllabus v4.0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Planning &amp; Feasibility Analysis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here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whether the project is technically, financially, and operationally feasible before committing real resources.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analysis, cost estimation, scheduling, resource planning, identifying stakeholders.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roles.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managers, senior engineers, and business stakeholders — not yet developers writing code.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dimensions of feasibility.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(can we build it?), economic (can we afford it?), operational (will it actually be used?), and legal (does it comply with regulation?).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Report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two artefacts this phase must produce before Requirements can properly begin.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mistake: teams skip this phase because they are 'in a rush' — projects that do this almost always take longer overall, not less time, because scope disagreements resurface later at greater cost.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GeeksforGeeks, ‘Software Development Life Cycle’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Requirements Analysis &amp; Specification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here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gather, validate and document detailed functional and non-functional requirements, approved by stakeholders.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techniques.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interviews, workshops, questionnaires, use cases, and prototyping — different techniques suit different stakeholder types.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must be checked for completeness, consistency, and testability before sign-off — a requirement you cannot test is not a usable requirement.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 Specification (SRS)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single most important document this phase produces; every later phase traces back to it.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 dedicates its entire first knowledge area to Software Requirements — we return to SWEBOK in detail shortly.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‘SDLC phases’; SWEBOK Guide V4.0, Ch 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vs non-functional requirements — in depth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72384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the question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must the system DO?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‘A user can reset their password using a one-time SMS code.’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(non-functional)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FAST must it respond?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‘The login page must respond within 2 seconds under normal load.’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(non-functional)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must it resist misuse?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‘Passwords must be stored salted and hashed, never in plaintext.’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(non-functional)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reliably must it stay up?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‘The payment service must maintain 99.9% uptime.’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Usability (non-functional)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easy must it be to use?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‘A new user must complete checkout in under 3 clicks.’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 (non-functional)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must it handle growth?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‘The system must support 10× current user load without redesign.’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SWEBOK Guide V4.0, Ch 1 — Software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Design (HLD &amp; LLD)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here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approved requirements into a technical blueprint precise enough for implementation to begin.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 (HLD).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overall system architecture, technology stack, and major modules — the 'big picture' view intended for architects and stakeholders.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Design (LLD).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component logic, APIs, data structures, and detailed workflows — precise enough for a developer to code directly from, without further clarification.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Document Specification (DDS)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 separately, an HLD document and an LLD document.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where Module 4's Data Flow Diagrams and trust boundaries belong — threat modelling is a design-phase activity, not an afterthought bolted on after code is written.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GeeksforGeeks, SDLC; recap of Module 4, Question 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vs LLD — side by side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5" cy="301752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High-Level Design (HLD)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Low-Level Design (LLD)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Architects, stakeholders, project leads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 who will write the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Modules, components, data flow at system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Class-level logic, function signatures, database 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architecture diagram, technology stack choices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Pseudocode, API contracts, ER diagrams, sequence diagrams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 how often?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Rarely, once approved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be refined during Implementation as edge cases emerge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artefact at this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model / DFD with trust boundaries (Module 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control implementation, e.g. exact hashing algorithm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GeeksforGeeks, ‘HLD vs LLD’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Implementation (Coding)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here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build the software based on the approved design — turning the DDS into working code.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coding, code reviews, unit testing as-you-go, version control management, adherence to a coding standard.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IDEs, version-control systems (Git), debuggers, linters, and — as we will see later — SAST scanners integrated directly into this phase.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 </a:t>
            </a: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software prototype / executable application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coding practices (Module 8, later in this course) apply exactly here — this is where SQL injection, buffer overflows, and XSS either get introduced, or get prevented by discipline at the keyboard.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‘SDLC phases’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Testing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here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the software meets requirements and is free of defects before release.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testing pyramid.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fast unit tests at the base, fewer integration tests in the middle, and very few slow, expensive end-to-end tests at the top — an efficient balance most mature teams aim for.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life cycle.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defect moves from New → Assigned → Fixed → Retested → Closed, each state formally tracked so nothing is silently forgotten.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cases, defect reports, and quality/coverage metrics.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 — SAST, DAST, IAST, penetration testing — is Module 7 of this course, and belongs precisely in this phase (and earlier still, via shift-left).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GeeksforGeeks, SDLC — Testing phase; ISTQB Foundation Syllabus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testing types you must be able to name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743200"/>
        </p:xfrm>
        <a:graphic>
          <a:graphicData uri="http://schemas.openxmlformats.org/drawingml/2006/table">
            <a:tbl>
              <a:tblPr/>
              <a:tblGrid>
                <a:gridCol w="1922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checks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Typically performed by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function/class in isolation, mocking 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developer who wrote the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That separately-built modules work correctly together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 or a dedicated integration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complete, assembled system against the SRS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independent QA / testing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That a new change has not broken previously working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team, often automated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Acceptance Testing (UAT)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That business requirements are genuinely met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customer or business stakeholder, signing 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is the last gate before Deployment — it is the customer's test, not the engineering team's, and its sign-off is a formal work product in its own right.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ISTQB Foundation Level Syllabus v4.0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Phases 1 through 5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document is the primary work product of the Requirements phase?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DDS    (b) SRS    (c) Test cases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Software Requirements Specification.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 user can reset their password’ is an example of a…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functional requirement    (b) non-functional requirement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Functional requirement — describes what the system does.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testing type is signed off by the customer, not engineering?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Unit testing    (b) User Acceptance Testing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UAT — the business stakeholder's formal sign-off.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differs from LLD in that…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HLD is system architecture; LLD is code-ready component detail    (b) they are the same document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HLD = architecture; LLD = detailed, implementation-ready design.</a:t>
            </a:r>
            <a:endParaRPr lang="en-US" sz="1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Deployment  &amp;  Phase 7: Maintenance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Deployment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tested software into the production environment, making it available to end users.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approach.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/ Continuous Deployment (CI/CD) pipelines for faster, more reliable, more frequent releases, often multiple times a day at mature organisations.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deployed application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plus deployment scripts and a go-live checklist.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Maintenance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post-deployment support — bug fixes, performance optimisation, security patches, and feature enhancements.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types of maintenance.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(fixing bugs), adaptive (adjusting to environment changes), perfective (improving performance/usability), and preventive (reducing future risk).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closes here.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findings feed back into Planning for the next release cycle — this is precisely why the SDLC is a cycle, not a line.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‘SDLC phases’; ISO/IEC 14764 — Software Maintenance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CI/CD pipeline — how Deployment actually happens today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/ Continuous Deployment automates the path from a developer's commit to a live production release. Notice how many of these stages are themselves shift-left security checkpoints.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Commit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pushes code; pre-commit hooks block secrets/obvious flaws.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063240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36976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36976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Build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compiles; dependencies resolved and version-locked.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916168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9904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9904" y="137160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44768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 tests run automatically; SAST scans the code.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84048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306324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Stage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to a staging environment matching production.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063240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36976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36976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Deploy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or one-click release to production.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916168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9904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44768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Monitor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63056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telemetry, error tracking, and security monitoring.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384048" y="4681728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broken build or a failed security scan at any stage should automatically block the pipeline from progressing — this is what 'security as code' means in practice.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Atlassian, ‘CI/CD pipeline’; recap of Module 3's Shift Left activities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Deployment, Maintenance &amp; CI/CD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8755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8755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101498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type of maintenance addresses bugs found after release?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Corrective    (b) Adaptive    (c) Perfective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101498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Corrective maintenance.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26771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26771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29514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CI/CD pipeline, SAST scanning typically runs during…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Test stage    (b) after production deployment only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29514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Test stage — before code ever reaches production.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54787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54787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57530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SDLC phase's output directly feeds back into Planning?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Testing    (b) Maintenance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57530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Maintenance — completing the cycle.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82803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82803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85546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go-live checklist is a work product of which phase?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Deployment    (b) Requirements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85546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Deployment.</a:t>
            </a:r>
            <a:endParaRPr lang="en-US" sz="1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products — what they are, and why they matter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 product (or deliverable) is a tangible artefact produced during a phase that becomes an input to the next phase — a document, a diagram, code, or a report.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 more than the phase name itself.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examiner, a project auditor, or a new team member can verify progress by asking 'where is the work product for this phase?' — a phase without a work product was not actually completed, regardless of how much time was spent on it.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products create traceability.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requirement in the SRS should be traceable to a specific design decision in the DDS, to specific code, to a specific test case — this chain is precisely what auditors and regulators (Module 1: GDPR, DPDP Act) actually check during an audit.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exam-ready sentence.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'if asked to name the work product of Phase X, answer with the noun — the document or artefact itself — not the verb describing the activity.'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products by phase (1 of 2)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19456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work product(s)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signs it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Plan, Feasibility 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managers, stakeholders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Requirements Specification (SRS)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analysts, product owners, customer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Document Specification (HLD + LLD)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architects, technical leads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IBM, ‘SDLC phases’; TMS Outsource, ‘The 7 Phases of SDLC’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products by phase (2 of 2)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28600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8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work product(s)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signs it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code, compiled/executable 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Developers, code reviewers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cases, defect reports, coverage/quality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engineers, test managers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application, deployment scripts, go-live checklist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engineers, release managers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Patches, updated code, updated documentation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and maintenance developers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TMS Outsource, ‘The 7 Phases of SDLC’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RACI view: who is Responsible, Accountable, Consulted, Informed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2816352"/>
        </p:xfrm>
        <a:graphic>
          <a:graphicData uri="http://schemas.openxmlformats.org/drawingml/2006/table">
            <a:tbl>
              <a:tblPr/>
              <a:tblGrid>
                <a:gridCol w="129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1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Consulted / Informed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Sponsor/executive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stakeholders (informed)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analyst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Customer, architects (consulted)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architect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team (consulted, Module 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lead / dev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reviewers (consulted)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engineer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 (consulted for fixes)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engineer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Operations, support (informed)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RACI matrix (Responsible / Accountable / Consulted / Informed) is the standard project-management tool for stating who does what, and who is answerable, at each phase.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PMI, PMBOK Guide — RACI framework, applied to the SDLC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1: work products for a login feature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login Data Flow Diagram from Module 4. Here is exactly what each SDLC phase would produce for that single feature.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371600"/>
            <a:ext cx="1956816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Req.  Requirements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line: ‘User authenticates with username + password + OTP.’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350008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3744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23744" y="1371600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Des. 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96896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DDS: login DFD with a trust boundary at the internet edge.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4489704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18304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Impl.  Implementation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code: parameterised login query, hashed password check.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629400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03136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136" y="1371600"/>
            <a:ext cx="1956816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0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Testing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76288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case: attempt SQLi payload on username field; must fail safely.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384048" y="3218688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the design-phase DFD and the testing-phase test case are directly connected — the test exists specifically because the trust boundary was identified at design time.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Illustrative, building on Module 4's worked login DFD example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2: work products for a payment feature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second, independent worked example — practise identifying the phase and work product yourself before reading each box.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371600"/>
            <a:ext cx="1956816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Req.  Requirements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line: ‘Card details must never be stored on our own servers.’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350008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3744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23744" y="1371600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78608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Des. 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96896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DDS: payment flow redirects to a PCI-compliant third-party processor.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4489704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1956816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18304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Impl.  Implementation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code: tokenised reference stored, not the card number itself.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629400" y="1371600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03136" y="1371600"/>
            <a:ext cx="1956816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803136" y="1371600"/>
            <a:ext cx="1956816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0" y="1371600"/>
            <a:ext cx="18470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Testing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76288" y="1682496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case: verify no card number ever appears in application logs.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384048" y="3218688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the PCI-DSS 'never store card data' principle, expressed as a genuine SRS-to-test-case chain — traceability in action.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Illustrative, aligned with PCI-DSS storage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work products &amp; traceability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product of the Design phase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source code    (b) a Design Document Specification (HLD/LLD)    (c) test cases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The DDS — HLD and/or LLD.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RACI matrix, 'Accountable' means…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ultimately answerable for the outcome    (b) merely informed of progress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Ultimately answerable, even if someone else is Responsible for doing the work.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test case exists specifically because a trust boundary was drawn in the DDS, this shows…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traceability between work products    (b) unrelated coincidence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Traceability — later work products trace back to earlier decisions.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'Card details must never be stored on our servers' is which type of requirement?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Functional    (b) Non-functional (security)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Non-functional — a security constraint, not a feature.</a:t>
            </a:r>
            <a:endParaRPr lang="en-US" sz="10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 — the Software Engineering Body of Knowledge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2743200"/>
        </p:xfrm>
        <a:graphic>
          <a:graphicData uri="http://schemas.openxmlformats.org/drawingml/2006/table">
            <a:tbl>
              <a:tblPr/>
              <a:tblGrid>
                <a:gridCol w="2233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SWEBOK 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 to the Software Engineering Body of Knowledge, IEEE Computer Society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Defines the discipline of software engineering; a consensus-driven reference, not one company's opinion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published as ISO/IEC Technical Report 19759, giving it international standards standing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Knowledge Areas (KAs) in the current Version 4.0 (2024)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in V4.0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new KAs added: Software Architecture, Software Engineering Operations, and Software 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IEEE Computer Society, SWEBOK Guide V4.0; Wikipedia, Software Engineering Body of Knowledge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SWEBOK's version history — a fact examiners like to test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2514600"/>
        </p:xfrm>
        <a:graphic>
          <a:graphicData uri="http://schemas.openxmlformats.org/drawingml/2006/table">
            <a:tbl>
              <a:tblPr/>
              <a:tblGrid>
                <a:gridCol w="1510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7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changed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SWEBOK V1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published guide, establishing the original Knowledge Area 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SWEBOK V2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 revision consolidating early feedback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SWEBOK V3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update; became the widely-cited reference for a decade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SWEBOK V4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Added Software Architecture, Software Engineering Operations, and Software Security as new KAs — bringing the total to 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'Software Security' becoming its own SWEBOK Knowledge Area for the first time in V4.0 (2024) reflects exactly the industry shift this entire course is built to teach.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IEEE Computer Society, SWEBOK Guide version history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 V4.0's 18 Knowledge Areas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3291840"/>
        </p:xfrm>
        <a:graphic>
          <a:graphicData uri="http://schemas.openxmlformats.org/drawingml/2006/table">
            <a:tbl>
              <a:tblPr/>
              <a:tblGrid>
                <a:gridCol w="83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Area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Requirements · Software Architecture · Software Design · Software Construction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Testing · Software Engineering Operations · Software Maintenance · Software Configuration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9–12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Management · Software Engineering Process · Models &amp; Methods · Software 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13–14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Security · Software Engineering Professional Practice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Engineering Economics · Computing Foundations · Mathematical Foundations · Engineering Foundations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Software Security sits ALONGSIDE Requirements, Design, Construction and Testing as its own peer knowledge area — the 'built in, not bolted on' argument from Module 1, now formalised by IEEE.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IEEE Computer Society, SWEBOK Guide V4.0 Topics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SWEBOK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 V4.0 added which new Knowledge Area relevant to this course?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Software Security    (b) Software Economics    (c) Mathematics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Software Security — new in V4.0 (2024).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one company's internal standard    (b) a consensus-driven IEEE/ISO guide to the discipline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A consensus-driven, IEEE/ISO/IEC reference, not proprietary.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which year was SWEBOK V3 published?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2004    (b) 2014    (c) 2024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2014.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Knowledge Areas does the current SWEBOK V4.0 contain?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15    (b) 18    (c) 21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18 Knowledge Areas.</a:t>
            </a:r>
            <a:endParaRPr lang="en-US" sz="10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security requirements change the SDLC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SDLC has no security checkpoint by default.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gathers functional needs, Design draws architecture, Testing checks functional correctness — none of this automatically asks 'how could this be abused?'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Module 1's central argument.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'penetrate and patch' fails because it treats security as something bolted onto a finished SDLC, at the very end, when fixes cost 30–100× more than they would at design time.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not a new lifecycle — it is new activities inside the existing one.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SDLC (sometimes written SSDLC) keeps the same seven phases, but adds a security activity and a security work product to each phase.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what NIST SP 800-64 and OWASP's Secure by Design framework formalise.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security-by-design decisions belong in the architecture phase, long before code is written — and are far cheaper to change there than after release.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Secure by Design Framework; NIST SP 800-64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argument, recapped from Module 1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514600"/>
        </p:xfrm>
        <a:graphic>
          <a:graphicData uri="http://schemas.openxmlformats.org/drawingml/2006/table">
            <a:tbl>
              <a:tblPr/>
              <a:tblGrid>
                <a:gridCol w="3838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defect is caught 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cost to fix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/ 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1× — change a decision, a diagram, a requirement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5× — rewrite and re-review the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10–15× — rework, re-test, re-integrate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/ after release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30–100× — incident response, patching, fines, lost trust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Module 1 shift-left economics; widely reported industry figures (NIST, IBM)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Security Development Lifecycle (SDL) — five core phases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77824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77824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77824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8375904" cy="329184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 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adds to the traditional SDLC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product starts with explicit security AND privacy requirements, documented and tracked, not just functional ones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modelling and security design review — Module 4's Four-Question Framework and STRIDE, applied here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coding standards, approved tools, banned unsafe functions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testing — SAST, DAST, fuzzing — alongside functional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security review and sign-off before the product ships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two supporting activities outside the five phases: Training (before) and Response (after) — mandatory at Microsoft since 2004.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Microsoft Learn, ‘Microsoft Security Development Lifecycle (SDL)’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SDL vs the traditional SDLC — side by side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72384"/>
        </p:xfrm>
        <a:graphic>
          <a:graphicData uri="http://schemas.openxmlformats.org/drawingml/2006/table">
            <a:tbl>
              <a:tblPr/>
              <a:tblGrid>
                <a:gridCol w="2512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3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SDLC 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SDL adds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(SDL begins formally at Requirements; Training happens continuously beforehand)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security and privacy requirements, tracked like any functional requirement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threat model; security design review before proceeding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tool list; banned unsafe functions; secure coding standard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Renamed 'Verification'; SAST/DAST/fuzzing run alongside functional tests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Renamed 'Release'; requires a final security sign-off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Response process — vulnerability handling and disclosure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row-by-row mapping is a strong exam skeleton for any question asking how the Microsoft SDL relates to the general SDLC.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Synthesised from Microsoft Learn, SDL 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SDL — the 10 key security practices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558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7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 security standards, metrics, and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 use of proven security features, languages, and frameworks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 security design review and threat modeling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and use cryptography standards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the software supply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the engineering environment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 security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 operational platform 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security monitoring and response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 security 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Microsoft, ‘Security Development Lifecycle (SDL) Practices’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fourth framework: NIST SSDF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Secure Software Development Framework (SP 800-218) — a US government reference for secure development practices.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practice groups.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Organisation (PO), Protect the Software (PS), Produce Well-Secured Software (PW), Respond to Vulnerabilities (RV).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beyond the US.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SSDF is increasingly referenced in procurement requirements and vendor security questionnaires worldwide, not only in US federal contracts.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compares to Microsoft SDL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agree on the same underlying idea — security activities woven through every phase, not bolted on.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SSDF is framework-agnostic and government-endorsed; Microsoft SDL is one vendor's specific, mature implementation of the same idea.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framing: SSDF, SAMM (Module 3) and Microsoft SDL are three different 'answers' to the same underlying question — how do we operationalise a Secure SDLC?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NIST SP 800-218, Secure Software Development Framework (SSDF) v1.1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work products — added at each phase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52044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9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work product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work product added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SRS (functional needs)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privacy requirements; data classification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DDS (HLD/LLD)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model (Module 4); secure architecture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coding standard compliance; SCA/SBOM (Module 9, preview)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cases, defect reports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SAST/DAST reports, penetration test findings (Module 7, preview)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Hardened configuration baseline, signed build artefacts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 disclosure process, security advisories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table is a strong exam skeleton for 'how do security requirements change the SDLC' — one row per phase, traditional vs security-enhanced.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Synthesised from Microsoft SDL; OWASP Secure by Design Framework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revisited: through the SDLC lens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missing, phase by phase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Log4Shell (Requirements/Design).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security requirement said 'the logger must never execute untrusted input' — a missing requirement, not just a missing test.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SolarWinds (Implementation/Deployment).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pipeline itself — an Implementation and Deployment-phase asset — was never threat-modelled as a target in its own right.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MOVEit (Implementation/Testing).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unparameterised query is exactly the kind of defect a secure-coding standard and a SAST scan, both standard Implementation and Testing work products, should catch.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across all three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every case, the traditional SDLC work product existed (code shipped, tests passed) — but the SECURITY-enhanced work product from Slide 46 was missing or incomplete.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exact argument for why Module 2 and Module 4 are taught together: the SDLC gives you the phases; threat modelling and secure coding give you what belongs inside them.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Recap of Module 1 case studies, re-examined through the SDLC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exercise — map security activities to SDLC phases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69264"/>
            <a:ext cx="8375904" cy="777240"/>
          </a:xfrm>
          <a:prstGeom prst="rect">
            <a:avLst/>
          </a:prstGeom>
          <a:solidFill>
            <a:srgbClr val="EAF0F7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69264"/>
            <a:ext cx="73152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96926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are six security activities, listed out of order. For each one, name the SDLC phase it belongs to, and name the traditional work product it sits alongside.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18836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SAST (static analysis) scan on the codebase.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Data Flow Diagram and applying STRIDE.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security requirement: 'passwords must be stored salted and hashed.'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the release build and verifying it before deployment.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penetration test against the staging environment.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 a security advisory after a vulnerability is fixed.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5925312"/>
            <a:ext cx="8375904" cy="457200"/>
          </a:xfrm>
          <a:prstGeom prst="rect">
            <a:avLst/>
          </a:prstGeom>
          <a:solidFill>
            <a:srgbClr val="FBF3E6"/>
          </a:solidFill>
          <a:ln w="9525">
            <a:solidFill>
              <a:srgbClr val="FCB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5925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b="1" i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Answer.  </a:t>
            </a:r>
            <a:r>
              <a:rPr lang="en-US" sz="10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SAST → Implementation (alongside source code). DFD + STRIDE → Design (alongside the DDS). Password requirement → Requirements (alongside the SRS). Signed build → Deployment (alongside the live application). Pen test → Testing (alongside test cases/defect reports). Security advisory → Maintenance (alongside patches).</a:t>
            </a:r>
            <a:endParaRPr lang="en-US" sz="10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 mistakes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that reliably lose marks, drawn from how this module is typically examined.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SDLC with a specific model.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'name the seven SDLC phases' does not mean 'describe Waterfall' — the phases are model-independent; Waterfall, Agile and DevOps all use the same seven phases, just sequenced differently.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the activity instead of the work product.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asked for a work product, 'gathering requirements' is the activity; 'the SRS' is the work product. Examiners specifically credit the noun.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Microsoft SDL as a replacement for the SDLC.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an ENHANCEMENT of the same seven phases, not a different lifecycle — say so explicitly in your answer to earn full marks.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that Maintenance feeds back into Planning.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frequently draw the SDLC as a straight line ending at Maintenance; the correct diagram is a cycle, and this is often worth a specific mark.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answers with no example.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'security should be added early' earns partial credit; 'Log4Shell shows that a missing security requirement at the Requirements phase led to a defect that could have been caught 30–100× more cheaply than it eventually cost in production' earns full credit.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— revise from this table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terms you must be able to define precisely, in your own words, with an example.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188720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18872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18872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repeatable process of seven phases every software product passes through.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1705356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170535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170535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 Specification — the Requirements phase's work product.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221992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222199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222199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Document Specification — the Design phase's work product (HLD + LLD).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738628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73862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/ LLD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273862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 (architecture) vs Low-Level Design (code-ready detail).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255264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325526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product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325526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tangible artefact a phase produces that becomes input to the next phase.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771900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" y="377190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98648" y="377190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IEEE's Guide to the Software Engineering Body of Knowledge — 18 Knowledge Areas in V4.0.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288536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28853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SDLC (SSDLC)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98648" y="428853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SDLC phases, with a security activity and work product added to each.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805172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480517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SDL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98648" y="480517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five-phase, ten-practice implementation of a Secure SDLC.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5321808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532180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SSDF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98648" y="532180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 government framework (SP 800-218) for secure software development practices.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" y="5838444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" y="583844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98648" y="583844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Acceptance Testing — the customer's final sign-off before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1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96000" y="0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228600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CB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" y="2670048"/>
            <a:ext cx="8375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Product Security Programs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384048" y="3931920"/>
            <a:ext cx="83759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programme is how an organisation makes 'secure by design' happen consistently, across every team, every product, every release — not just once, on one project.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 establishing a programme, Shift Left vs Shift Right, industry compliance frameworks, and the maturity models and metrics that prove a programme is actually working.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 should be able to sketch how you would start a security programme at an organisation that has none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48000" y="6784848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96000" y="6784848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product security programme?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definition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strategies, practices, tools, and controls implemented throughout a product's development and operational lifecycle to keep it secure against evolving threats.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than one project.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gave you a Secure SDLC for ONE product. A security programme is the organisation-wide function that makes every product follow that discipline, consistently, across many teams.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than AppSec.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considers not only code vulnerabilities, but infrastructure, third-party dependencies, access controls, and operational maintenance workflows across the whole portfolio.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goal, in one 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 product is secure by design, secure in deployment, and secure in use — continuously, not as a one-time certification.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Module 1: this is precisely the discipline side of 'product security', as distinct from the security PRODUCTS (tools) you buy.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Cycode, ‘Product Security: A Complete Guide’; Beagle Security, ‘Product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terms students confuse: ProdSec, AppSec, InfoSec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2194560"/>
        </p:xfrm>
        <a:graphic>
          <a:graphicData uri="http://schemas.openxmlformats.org/drawingml/2006/table">
            <a:tbl>
              <a:tblPr/>
              <a:tblGrid>
                <a:gridCol w="206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owner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Security (AppSec)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code and the individual application — SAST, DAST, code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/ application security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Security (ProdSec)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whole product across its lifecycle — code, architecture, supply chain,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Security Group / SSG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Security (InfoSec)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organisation's own internal information and infrastructure — employee laptops, internal networks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Security / Corporate Security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Snyk, ‘Product Security vs Application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The business drivers that force the issue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rarely build a programme for its own sake — there is usually a forcing function.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for investment or acquisition.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investors or buyers scrutinise security posture directly — a weak programme can lower a valuation or kill a deal outright, and this is now standard due-diligence practice.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a regulated or enterprise-heavy market.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customers in finance, healthcare, and government demand security transparency: pen-test results, SOC 2/ISO 27001 reports, detailed risk assessments, before they will even sign a contract.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incident has already happened.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breach, or even a researcher's responsible disclosure, instantly makes security a leadership-level concern — organisations rarely build a programme purely out of foresight.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finally cares.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executive wants to explain to a board why their product is in the headlines for the wrong reasons — mounting pressure eventually forces the decision.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 across all four drivers.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always the same: a structured, measurable approach to product security that does not cripple engineering velocity.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‘How to Launch a Product Security Program’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programme — six steps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lifecycle for standing up a product security function, synthesised from Gartner's product-centric model and industry practice. The next six slides take each step in turn.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261872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Baseline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current posture: attack surface, existing practices, known vulnerabilities.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063240" y="126187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36976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36976" y="1261872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Executive buy-in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security as risk reduction and revenue protection, not just cost.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916168" y="126187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9904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9904" y="1261872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4476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Roadmap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gaps; define a phased plan with owners and timelines.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84048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2999232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Build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Software Security Group (SSG); embed practices into the SDLC.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063240" y="299923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36976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36976" y="2999232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Rollout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developers; deploy tooling (SAST/SCA) into CI/CD pipelines.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916168" y="299923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9904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2999232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44768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Measure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63056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metrics; report progress; iterate the roadmap.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Finite State, ‘How to Build a Product Security Program’; Gartner, product-centric security model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in depth: Baseline your security posture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fix what you have not honestly measured first.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your attack surface.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your product expose risk? APIs, mobile apps, cloud services, third-party integrations — Module 4's attack-surface concept, applied organisation-wide.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existing practices.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security scans running today? Do developers receive any security training? Is security integrated into CI/CD, or bolted on at the end (Module 1's trap)?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known vulnerabilities.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Software Composition Analysis (SCA) scan to identify risk in third-party libraries — this is precisely the Log4j lesson from Module 1: know your dependencies.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authentication and authorization.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least-privilege and MFA actually enforced, or assumed? Recall Change Healthcare and Capital One — both trace back to gaps here.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engineering teams directly.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know where the security gaps actually are — find out what frustrates and frightens your developers most about the current state.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‘Quickstart Guide’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in depth: Get executive buy-in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programmes fail without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programmes need sponsorship.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must understand security as a business enabler, not merely a cost centre — without this framing, budget and headcount rarely follow.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it plainly: security flaws create legal, financial, and reputational risk (Module 1: GDPR, DPDP Act, and post-breach settlement costs).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 and revenue.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customers increasingly demand security transparency BEFORE signing — a mature programme can win deals, not just avoid losses.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example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Capital One settlement (revisited later in this module) cost approximately $190M in regulatory penalties and settlements — a number that gets executive attention instantly.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technical risk into this kind of business language, and buy-in becomes far easier to obtain.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‘Quickstart Guide’; Cybersecurity Attorney, ‘Capital One vs. the Cloud’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in depth: Build the roadmap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baseline assessment into an actionable plan.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by risk, not by ease.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temptation is to fix the easiest issues first; the discipline is to fix the highest-risk gaps first, even if they are harder — use likelihood × impact (Module 4's risk definition) to rank the backlog.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explicit owners and timelines.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item with no named owner and no date is a wish, not a plan — this is the single most common reason security roadmaps stall.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quick wins alongside long efforts.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fast, visible win (e.g. enabling MFA everywhere) with a slower structural fix (e.g. building an SBOM pipeline) so momentum and credibility both build simultaneously.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the roadmap quarterly.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roadmap is a living document — new threats, new regulations, and new business priorities all require re-prioritisation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in depth: Build — stand up the Software Security Group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SSG actually does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standards.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secure coding standard, the approved tool list, and the security requirements template every product team must use.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tooling.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and maintains SAST/SCA/DAST tools and integrates them into shared CI/CD infrastructure so individual teams do not each reinvent this.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exceptions process.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team genuinely cannot meet a standard on a deadline, the SSG is the body that reviews and formally accepts that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size and reporting 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mature organisations, the SSG is typically 1–5% of the total engineering headcount — small by design, working through champions rather than doing all security work themselves.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reports to a CISO or VP of Engineering, giving it both security authority and engineering credibility.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BSIMM (McGraw, Chess &amp; Migues), ‘Roles’ section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in depth: Rollout — train and deploy tooling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standards into daily developer behaviour.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developers, not just security staff.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write the vulnerabilities are the people who must learn to prevent them — security training aimed only at a small security team never scales.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tooling into CI/CD, not as a separate process.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SAST scan run manually once a quarter is nearly worthless; the same scan wired into every pull request catches issues the moment they are introduced.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initial friction.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weeks of rollout typically generate a wave of findings on old, pre-existing code — plan for a triage effort, and do not let this discourage the team from continuing.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security champions.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trained, motivated engineer embedded in each product team spreads practice faster than a central team ever could alone (Slide 62).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in depth: Measure — track, report, iterate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 back to Step 1's baseline.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step, the whole programme is unverifiable.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leadership's honest question — 'is this actually working?' — can only be answered with real metrics, not with anecdote or good intentions.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on a regular cadence.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or quarterly dashboards to leadership keep the programme visible and keep executive buy-in (Step 2) alive over time, not just at launch.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measurement back into the roadmap.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metric shows a practice is not improving, that practice needs a different intervention, not just more patience — this is the loop that keeps a programme alive rather than stagnant.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detail of what to measure is Section 3 of this module.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return to metrics in depth after covering maturity models.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in a product security programme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51460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sponsor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Provides funding, mandate, and visibility at leadership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Security Group (SSG)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core team that defines standards, tooling, and drives the programme day to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champions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engineers within product teams who act as the SSG's local point of contact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/ engineering teams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‘Everybody else’ — implement secure practices in their daily work, supported by champions and the SSG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BSIMM (McGraw, Chess &amp; Migues), ‘Roles’ section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champions — the multiplier the SSG cannot do without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cheapest way to scale a small SSG across a large engineering organisation.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champion is.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engineer inside a product team, given a modest amount of dedicated time (often 10–20%) and extra training, who acts as the SSG's local point of contact for that team.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 more than headcount suggests.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champion is present in every design discussion and every code review their team already runs — catching issues at the exact moment they are cheapest to fix (Module 1's shift-left, embodied as a role, not just a tool).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 NOT.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champion is not a full-time security engineer, and is not expected to do the SSG's specialist work — their role is triage, awareness, and escalation, not deep expertise.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programmes typically run this.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'champions guild' — a regular meeting where champions across all product teams share findings and get direct SSG training — is the most common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establishing a security programme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8755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8755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101498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step in building a security programme should be…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buying tools    (b) baselining current posture    (c) hiring a large team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101498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Baseline first — you cannot fix what you have not measured.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26771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26771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29514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Composition Analysis (SCA) scan primarily checks for…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vulnerable third-party dependencies    (b) network firewall rules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29514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Known vulnerabilities in third-party/open-source libraries.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54787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54787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57530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'security champion'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an embedded engineer, liaison to the SSG    (b) an external auditor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57530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An embedded engineer acting as the SSG's local point of contact.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82803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82803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85546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InfoSec differs from ProdSec chiefly in that InfoSec protects…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organisation's own internal assets    (b) the product sold to customers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85546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organisation's own infrastructure and information, not the product itself.</a:t>
            </a:r>
            <a:endParaRPr lang="en-US" sz="103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vs Shift Right — the two halves of DevSecOps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testing and practices EARLIER in the development lifecycle — into planning and coding, before anything is running.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name.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draw the SDLC as a line from Plan (left) to Production (right), shifting left literally moves activities toward the left side of that line.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implements Module 1.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shift-left economics argument (1× at design vs 30–100× in production), now named as a formal DevSecOps strategy.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user behaviour, performance, and security in the PRODUCTION stage — verifying real operability, the way an actual attacker would.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still matters.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of shift-left testing catches everything — some flaws only appear under real production traffic, real users, and real attackers.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share one goal.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‘fail small, recover quickly’ — catching problems before they become major incidents, whichever side of the line they are caught 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Red Hat, ‘Shift left vs.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— activities and what they catch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20040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modelling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risks during design, before code exists (Module 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code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insecure patterns before a merge is accepted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 (static analysis)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Scans source code for known vulnerable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 (software composition analysis)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vulnerable open-source / third-party 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misconfigurations in Terraform, CloudFormation, Kubernetes manifests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Pre-commit hooks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 secrets and vulnerable patterns at the moment of commit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targets the codebase, the dependency tree, infrastructure-as-code, and the build pipeline — issues that exist in artefacts before anything actually runs.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— example tool categories (know the category, not brand loyalty)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77824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77824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77824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8375905" cy="251460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category members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Analyses source code without running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analysers integrated into IDEs and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Scans dependency manifests against vulnerability databases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reading package.json, pom.xml, requirements.txt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hard-coded credentials/API keys in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Pre-commit and CI-integrated secret scanners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 infrastructure config files for misconfiguration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Scanners for Terraform, Kubernetes, CloudFormation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DevSecOps Guideline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 — activities and what they catch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Penetration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real, skilled attacker attempts to break the live, running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bounty programmes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researchers are paid to responsibly report vulnerabilities they find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surface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Continuously discovers and monitors what is actually exposed in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teaming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simulated, full-scope adversary exercise against production systems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security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anomalous behaviour on the live system in real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Shift-right verifies the SYSTEM AS DEPLOYED — it can find issues that only emerge from real infrastructure, real configuration, and real attacker creativity.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 — how organisations actually run these programmes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activity categories from the previous slide are actually operationalised.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an annual or bi-annual engagement with an external firm, scoped to a specific application or the whole perimeter, producing a formal findings report with severity ratings.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bounty platforms.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publish scope and reward tiers on a bounty platform; independent researchers submit findings; a triage team validates and pays out — continuous coverage rather than a single point-in-time test.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a pentest — a red team is not told what to look for and often operates without the target team's knowledge, testing detection and response capability, not just the presence of vulnerabilities.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and production monitoring.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Information and Event Management platforms aggregate logs from across production, correlating events to flag genuinely anomalous behaviour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Shift Left and Shift Right sit on one pipeline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unified view: Shift Left activities cluster before deployment; Shift Right activities cluster after. Mature DevSecOps programmes run both simultaneously.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 (Shift Left).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063240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36976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36976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Code / Commit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SAST, secrets scanning, pre-commit hooks (Shift Left).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916168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9904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9904" y="137160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44768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Build / 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SCA, IaC scanning (Shift Left).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84048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306324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Deploy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builds, hardened configuration.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063240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36976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36976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Production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bug bounty, pentest (Shift Right).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916168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9904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44768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Ongoing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63056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teaming, attack surface management (Shift Right).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384048" y="4681728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pipeline itself does not change between Modules 2 and 3 — the CI/CD pipeline from Slide 27 is exactly where these Shift Left/Right activities physically live.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Synthesis of Red Hat and Cybersecify DevSecOps material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vs Shift Right — side by side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5" cy="301752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Left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Right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and coding, before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Production, after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Known-pattern flaws in code, config, 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Real-world, emergent, and unknown issues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— no running system to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— may require incident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Owned by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Developers, with security tooling in 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Security/SOC teams, external researchers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Proofreading before publishing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real reader feedback after publishing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framing: do NOT present these as 'old way vs new way' — mature programmes run both simultaneously, for different purposes.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Red Hat; Cybersecify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need both — sequenced correctly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budget-allocation question, not a purely technical one.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shift-left, no shift-right.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startup buys SAST, DAST, SCA and IaC scanning, generates 5,000 alerts in week one, fatigue sets in by week three, and the tooling becomes shelf-ware nobody actually reads.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shift-right, no shift-left.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startup runs one annual pentest, finds 12 issues, fixes 8, ships — and never threat-models the design that produced those issues in the first place. The same bugs return next year.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answer for a resource-constrained team.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shift-right with an annual pentest, because that is what enterprise buyers and investors actually ask for first — then layer shift-left tooling in as the team grows.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correctly, both compound.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reduces what reaches production; shift-right catches what shift-left inevitably misses. Neither replaces the other.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Shift Left vs Shift Right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and SCA are examples of…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activities    (b) Shift Right activities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— they analyse code/dependencies before deployment.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bounty programme is best classified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   (b) Shift Right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Shift Right — it tests the live, production system.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risk of 'all shift-left, no shift-right' is…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alert fatigue and shelf-ware tooling    (b) too few findings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Too many alerts, too fast, leading to fatigue and disengagement.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 team engagement differs from a penetration test chiefly in that…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also tests detection and response, often unannounced    (b) it is always cheaper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tests the whole detection/response capability, not just vulnerability presence.</a:t>
            </a:r>
            <a:endParaRPr lang="en-US" sz="103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Cybersecurity Framework (CSF) — a fifth framework to recognise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77824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77824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77824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8375904" cy="274320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your assets, risks, and business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Safeguards to ensure delivery of critical services — access control, training, data 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Activities to identify a cybersecurity event as it happens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 taken once an incident is detected, to contain and mitigate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Restoring capabilities and services impaired by an incident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NIST Cybersecurity Framework (CSF) 2.0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frameworks customers actually ask for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5" cy="219456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customers ask for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ISO/IEC 27001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international standard for an Information Security Management System (ISMS)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Formal, auditable certification — a global signal of security governance maturity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2 (Type I / Type II)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American audit standard (AICPA) covering security, availability, confidentiality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I checks controls exist at a point in time; Type II checks they operated effectively over 6–12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PCI-DSS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Card Industry Data Security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for any organisation storing, processing, or transmitting card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frameworks are the concrete evidence a mature security programme (Slide 54) produces to satisfy the 'entering a regulated market' business driver.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ISO/IEC 27001:2022; AICPA SOC 2 Trust Services Criteria; PCI Security Standards Council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models — why measure a programme at all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major topic in Module 3's handout.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‘You can't manage what you can't measure.’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structured way to assess a security programme, 'we do some security stuff' is the only answer leadership ever gets — not useful for planning or budget.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model gives you three things.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objective snapshot of where you are today, a defined target to aim for, and a roadmap of the gap between the two.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dominant models exist — and they are built differently.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is PRESCRIPTIVE (it tells you what good practice looks like); BSIMM is DESCRIPTIVE (it tells you what real organisations actually do).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 both in enough depth to distinguish them cleanly — a favourite 'compare and contrast' exam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five business functions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SAMM's model is hierarchical: five business functions sit at the top, each with three security practices beneath it (15 practices total, next slide).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261872"/>
            <a:ext cx="1528877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Governance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Organise, manage, and measure the security programme itself.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922069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95805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095805" y="1261872"/>
            <a:ext cx="1528877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150669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68957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assessment, security requirements, secure architecture.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633826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07562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07562" y="1261872"/>
            <a:ext cx="1528877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62426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Implementation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80714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build, secure deployment, defect management.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345582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19318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519318" y="1261872"/>
            <a:ext cx="1528877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574182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Verification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92470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assessment, requirements-driven testing, security testing.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7057339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31075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231075" y="1261872"/>
            <a:ext cx="1528877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285939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Operations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04227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management, environment management, operational management.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384048" y="310896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Governance, Design, Implementation and Verification map almost directly onto the SDLC phases from Module 2 — SAMM is the Secure SDLC, formalised as an assessable model.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SAMM, ‘The Model’ (owaspsamm.org)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the 15 security practices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301752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three security practices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&amp; Metrics · Policy &amp; Compliance · Education &amp;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Assessment · Security Requirements · Secure 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Build · Secure Deployment · Defect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Assessment · Requirements-driven Testing · Security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Management · Environment Management · Operational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SAMM, ‘The Model’; devguide.owasp.org, SAMM guide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three maturity levels per practice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15 practices is independently scored 1 to 3.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— Foundational.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organisation has an initial, ad-hoc understanding of the practice; activities happen, but inconsistently across teams.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— Mature.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efficiency- and effectiveness-focused; activities are increasingly standardised and repeatable across teams.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Advanced.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comprehensively optimised across the organisation, with metrics driving continuous improvement.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structure is useful.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organisation is rarely 'level 3 everywhere' — SAMM lets you say precisely 'we are Level 1 in Threat Assessment but Level 2 in Secure Build', far more actionable than one overall score.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prescriptive.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exactly what activities and success metrics define each level — a clear, opinionated target to aim for, not merely a description of what others 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 Stuttgart chapter presentation; owaspsamm.org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SAMM self-assessment actually runs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meant to be self-run — no external assessor is required, unlike a formal BSIMM engagement.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select the scope.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one business unit, or the whole organisation — SAMM works at any of these scales, but be explicit about which you are assessing.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score each of the 15 practices.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the relevant teams and rate current maturity (1, 2, or 3) against SAMM's published criteria for that practice, honestly, not aspirationally.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set target scores.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practice needs Level 3 — a practice tied to a low-risk internal tool may reasonably stay at Level 1, while a customer-facing payment flow should target Level 3.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build the gap-closing roadmap.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current and target scores, prioritised by risk, becomes the actual roadmap referenced back in Slide 58.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reassess periodically.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designed to be re-run annually or after major organisational change, tracking genuine improvement over time, not a one-off audit.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— four domains, twelve practices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74320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Practices inside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&amp; Metrics · Compliance &amp; Policy ·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Models · Security Features &amp; Design · Standards &amp; 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SSDL Touchpoints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Analysis · Code Review · Security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Penetration Testing · Software Environment · Configuration &amp; Vulnerability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began in 2006, studying nine world-class security programmes (Adobe, Google, Microsoft and others); it now reflects data from 100+ organisations.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McGraw, Chess &amp; Migues, ‘Building Security In Maturity Model’; BlackDuck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vs BSIMM — prescriptive vs descriptive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29184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SAMM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BSIMM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Prescriptive — tells you what good practice looks like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Descriptive — documents what real firms actually 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community, Pravir Chandra, 2009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Cigital/Synopsys research, 2006, from 9 firms initially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business functions → 15 practices → 3 levels each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domains → 12 practices → many specific activities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 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a target state and a roadmap to reach 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your programme against real industry peers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open, self-assessable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BSIMM assessment is typically a paid, external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 Stuttgart chapter; Codific, ‘BSIMM: A Complete Guide’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SAMM &amp; BSIMM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   (b) descriptive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— tells you what good practice should look like.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   (b) descriptive, based on real observed practice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Descriptive — built from studying real organisations.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domains does BSIMM organise its practices into?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3    (b) 4    (c) 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Four — Governance, Intelligence, SSDL Touchpoints, Deployment.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SAMM self-assessment differs from a BSIMM assessment chiefly in that…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SAMM is typically self-run; BSIMM is typically a paid external engagement    (b) they are identical processes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SAMM is free and self-assessable; formal BSIMM assessment usually requires an external firm.</a:t>
            </a:r>
            <a:endParaRPr lang="en-US" sz="103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exercise — assess SecureShop's maturity informally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69264"/>
            <a:ext cx="8375904" cy="777240"/>
          </a:xfrm>
          <a:prstGeom prst="rect">
            <a:avLst/>
          </a:prstGeom>
          <a:solidFill>
            <a:srgbClr val="EAF0F7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69264"/>
            <a:ext cx="73152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96926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SecureShop, the fictional e-commerce platform from Module 4. Using SAMM's three levels (Foundational / Mature / Advanced), informally assess these three practices based on what we know about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18836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→ Threat Assessment: SecureShop ran one STRIDE-based threat model before launch, and has not repeated it since. What level?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→ Secure Build: server-side price validation was added only after a threat was found, with no SAST in the CI pipeline yet. What level?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→ Security Testing: a code review confirmed the fix shipped, but no follow-up penetration test or bug bounty exists. What level?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" y="5605272"/>
            <a:ext cx="8476488" cy="777240"/>
          </a:xfrm>
          <a:prstGeom prst="rect">
            <a:avLst/>
          </a:prstGeom>
          <a:solidFill>
            <a:srgbClr val="FBF3E6"/>
          </a:solidFill>
          <a:ln w="9525">
            <a:solidFill>
              <a:srgbClr val="FCB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0624" y="5696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b="1" i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Answer.  </a:t>
            </a:r>
            <a:r>
              <a:rPr lang="en-US" sz="10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answers: Threat Assessment → Foundational (done once, not repeatable). Secure Build → Foundational (reactive, no proactive tooling yet). Security Testing → Foundational-to-Mature (some verification exists, but shift-right activities like pentesting are absent). The pattern: SecureShop is early-stage across the board — exactly what you would expect from a fictional platform that has completed only one threat-modelling pass.</a:t>
            </a:r>
            <a:endParaRPr lang="en-US" sz="103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success criteria — why measure at all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‘You can't manage what you can't measure’ — again, at the metrics level this time.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board-level question every CISO must answer.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‘are we actually getting more secure, or just busier?’ A dashboard full of scanner output does not answer this on its own.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risk management.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risk avoidance is impossible; metrics let a team decide, deliberately, how much non-critical risk to accept versus what must be fixed immediately (Module 4's 'Accept' response, applied at programme scale).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executive buy-in.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numbers demonstrate ROI and growth areas, exactly the language from Step 2's 'executive buy-in' step.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compliance.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regulations such as SOC 2 explicitly require quantitative evidence of security effort — collect it proactively, before an auditor asks.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to avoid.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metrics are equally useful — the next slides separate what actually matters from what merely looks impressive on a slide.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Snyk, ‘How To Measure Application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that actually matter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329184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 more than raw counts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Time to Remediate (MTTR)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between detection and verified fix, by severity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of response is what actually reduces exposure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 density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Findings per 1,000 lines of code / per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Normalises for codebase size — fair comparison across teams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 fixed ÷ vulnerabilities found, per period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1.0 means the backlog is growing every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 / SBOM coverage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services with current, automated security scanning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cannot secure what you have not even inventoried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Reachability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findings that are actually callable in running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Filters out theoretical noise from real, exploitable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benchmarks widely cited in industry: MTTR under 7 days for Critical, under 30 days for High severity findings.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AppSec Santa, ‘AppSec Metrics That Matter’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real security dashboard shows leadership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content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health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SAMM/BSIMM score trend over the last 4 quarters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Critical/High findings, with MTTR trend 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services with current SAST/SCA scanning enabled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summary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and severity of production security incidents this quarter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this quarter's roadmap items (Step 3) completed on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the artefact Step 6 (Measure) produces on a monthly or quarterly cadence for the executive sponsor from Step 2.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Illustrative, synthesised from AppSec metrics reporting practice</a:t>
            </a:r>
            <a:endParaRPr lang="en-US" sz="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to avoid — the vanity metrics trap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metrics are created equal — some actively create the wrong incentives.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‘Total vulnerabilities found’ alone.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running five scanners with permissive rulesets finds thousands of issues — a rising number that says nothing about whether the product is actually getting safer.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metric actively misleads.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rewards detection VOLUME over risk reduction; teams start adding scanners rather than fixing findings, because the chart looks better either way.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danger: 15 critical findings buried under 3,000 informational alerts.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that matters (Slide 87) gets lost in the metric that merely looks busy.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pair a volume metric with an outcome metric — e.g. 'total findings' alongside 'MTTR for Critical findings' — never report volume alone.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AppSec Santa, ‘AppSec Metrics That Matter’</a:t>
            </a:r>
            <a:endParaRPr lang="en-US" sz="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metrics &amp; success criteria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measures…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time from detection to verified fix    (b) total vulnerabilities found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Mean Time to Remediate.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 rate below 1.0 means…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backlog is shrinking    (b) the backlog is growing every period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More vulnerabilities are found than fixed — a growing backlog.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'total vulnerabilities found' alone is risky because it…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rewards detection volume over actual risk reduction    (b) is always too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can reward adding more scanners rather than fixing real issues.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/ SBOM coverage measures…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% of services with current automated scanning    (b) total lines of code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% of services with current, automated security scanning enabled.</a:t>
            </a:r>
            <a:endParaRPr lang="en-US" sz="103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Capital One — the cost of a programme gap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(2019)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breach.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AWS engineer exploited a misconfigured Web Application Firewall using Server-Side Request Forgery (SSRF) to steal cloud credentials, then used an over-permissioned IAM role to access 700+ S3 buckets — 106 million records exposed.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finding.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OCC's $80M penalty explicitly cited a failure to implement effective RISK ASSESSMENT PROCESSES after cloud migration — a governance/programme gap, not only a technical one.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cost.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$190M in combined settlements and penalties.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this module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lens: weak in Governance (risk assessment never matured past ad-hoc) and Design (IAM roles not reviewed against least privilege).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metric: no scan coverage or configuration-drift monitoring would have caught the WAF misconfiguration before it was exploited.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lesson: strong engineering teams can still fail without a PROGRAMME — individual good intentions do not substitute for governance, metrics, and repeatable process.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Breachsense, ‘Capital One Data Breach’; Cybersecurity Attorney, ‘Capital One vs. the Cloud’</a:t>
            </a:r>
            <a:endParaRPr lang="en-US" sz="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Equifax (2017) — a patch management failure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vulnerability.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known, publicly disclosed flaw in Apache Struts (CVE-2017-5638) — a patch had been available for over two months before attackers exploited it.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breach.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used the unpatched flaw to access Equifax's systems, ultimately exposing personal data of approximately 147 million people, including Social Security numbers.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and financial cost.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Equifax paid at least $575M in a settlement with the US FTC and state attorneys general — one of the largest data-breach settlements on record at the time.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this module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Scan/SBOM coverage failure (Slide 87) — Equifax reportedly did not have visibility into where the vulnerable Struts component was even deployed.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lens: weak in Environment Management (Operations function) — patch management is precisely this practice.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recurring lesson (echoing Log4Shell, Module 1): most breaches exploit KNOWN, patchable vulnerabilities — not exotic zero-days. Programme discipline in patching beats almost any single clever tool.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GAO Report GAO-18-559; FTC Equifax Data Breach Settlement (2019)</a:t>
            </a:r>
            <a:endParaRPr lang="en-US" sz="8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 mistakes — Module 3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that reliably lose marks in this module.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Shift Left and Shift Right as competing alternatives.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framing is always 'both, sequenced appropriately' — an answer that picks only one side loses marks even if the reasoning given is otherwise correct.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Reversing SAMM and BSIMM's descriptive/prescriptive labels.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word swap is the most common Module 3 exam error — SAMM PRESCRIBES; BSIMM DESCRIBES. Say it aloud until it sticks.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'total vulnerabilities found' as a good metric.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specifically test whether you can identify vanity metrics — always qualify a volume metric with an outcome metric such as MTTR.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the roles structure.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security team' is not a complete answer — name the Executive sponsor, the SSG, Security champions, and Product teams as four distinct, necessary roles.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with no named control.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'Capital One had weak security' earns few marks; 'Capital One's IAM role violated least privilege, which SAMM's Secure Architecture practice would have caught' earns full marks.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glossary — revise from this table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terms you must be able to define precisely, in your own words, with an example.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188720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18872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security programme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18872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practices/controls keeping every product secure across its whole lifecycle.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1705356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170535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170535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Security Group — the core team defining standards and tooling.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221992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222199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222199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engineer acting as the SSG's point of contact in a product team.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738628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73862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273862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activities earlier — into design and coding, before deployment.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255264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325526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325526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security in production — pentesting, monitoring, bug bounties.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771900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" y="377190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98648" y="377190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prescriptive maturity model: 5 functions, 15 practices, 3 levels each.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288536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28853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98648" y="428853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descriptive maturity model built from studying 100+ real firms.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805172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480517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98648" y="480517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Remediate — days from detection to verified fix.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5321808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532180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metric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98648" y="532180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(e.g. raw finding count) that looks impressive but misleads.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" y="5838444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" y="583844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/ ISO 27001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98648" y="583844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compliance frameworks customers require as security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so far, in one screen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explain this slide unaided, you have genuinely internalised the course so far.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gave you the 'why' and the vocabulary.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economics, the CIA triad, and real incidents (Log4Shell, SolarWinds, MOVEit, Change Healthcare) that motivate everything since.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gave you a technique.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Four-Question Framework and STRIDE — how to find threats against ONE system at design time.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gave you the process.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SDLC's seven phases and their work products, and how a Secure SDLC (Microsoft SDL, NIST SSDF) layers security onto each phase.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gave you the organisation-wide discipline.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programme, run it with Shift Left and Shift Right, measure it with SAMM/BSIMM and real metrics, and prove it works.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connecting thread across all four modules.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as early and as cheaply as possible, prove you are doing so with evidence, and never rely on any single control alone.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glossary A–Z — final revision pass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highest-yield terms from Modules 2 and 3, alphabetised, condensed onto one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98448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298448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298448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maturity model, built from studying 100+ real firms' actual practice.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1804111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1804111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1804111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/ Continuous Deployment — automated build-to-release pipeline.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309774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230977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/ LLD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230977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 (architecture) vs Low-Level Design (code-ready detail).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815438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815438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2815438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Remediate — the key severity-weighted response-speed metric.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321101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3321101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3321101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OWASP's prescriptive maturity model: 5 functions, 15 practices, 3 levels each.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826764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" y="382676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98648" y="382676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Life Cycle — seven phases every product passes through.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332427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332427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98648" y="4332427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engineer acting as the SSG's local point of contact.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838090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4838090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/ Right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98648" y="4838090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earlier (design/code) vs verifying it in production.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5343754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534375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98648" y="534375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IEEE's Guide to the Software Engineering Body of Knowledge — 18 KAs in V4.0.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" y="5849417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" y="5849417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metric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98648" y="5849417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that looks impressive but does not reflect real risk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videos for revision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working links — short, reliable explainers for Modules 2 and 3, good before the Mid-Sem.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1207008"/>
            <a:ext cx="8375904" cy="5193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Software Development Life Cycle: Explained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AltexSoft  ·  7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https://www.youtube.com/watch?v=SaCYkPD4_K0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Mastering Shift-Left vs Shift-Right Security in Software Development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SecureTechIn  ·  12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https://www.youtube.com/watch?v=udu2NKZV5UQ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SAMM in 20 minutes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OWASP SAMM (official channel)  ·  20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https://www.youtube.com/watch?v=b8N8knQdbA4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BSIMM? Building Security In Maturity Model Explained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Codific  ·  6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https://www.youtube.com/watch?v=4rfFS2akFdA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Security Standards (Microsoft's SDL and Secure Future Initiative)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Microsoft Security (official channel)  ·  18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https://www.youtube.com/watch?v=oyciotF-qGA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SWEBOK — Webinar from IEEE Computer Society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IEEE Computer Society (official channel)  ·  58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https://www.youtube.com/watch?v=5GRdyWovDiI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15993</Words>
  <Application>Microsoft Office PowerPoint</Application>
  <PresentationFormat>On-screen Show (4:3)</PresentationFormat>
  <Paragraphs>1728</Paragraphs>
  <Slides>93</Slides>
  <Notes>93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ZG566 Modules 2 &amp; 3 — Exam Study Guide</dc:title>
  <dc:subject>PptxGenJS Presentation</dc:subject>
  <dc:creator>Bhaskar Zeminder</dc:creator>
  <cp:lastModifiedBy>Bhaskar Zeminder</cp:lastModifiedBy>
  <cp:revision>3</cp:revision>
  <dcterms:created xsi:type="dcterms:W3CDTF">2026-08-21T08:31:25Z</dcterms:created>
  <dcterms:modified xsi:type="dcterms:W3CDTF">2026-08-21T11:38:01Z</dcterms:modified>
</cp:coreProperties>
</file>