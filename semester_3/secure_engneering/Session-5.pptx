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350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327" r:id="rId25"/>
    <p:sldId id="328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41" r:id="rId39"/>
    <p:sldId id="342" r:id="rId40"/>
    <p:sldId id="343" r:id="rId41"/>
    <p:sldId id="344" r:id="rId42"/>
    <p:sldId id="345" r:id="rId43"/>
    <p:sldId id="346" r:id="rId44"/>
    <p:sldId id="347" r:id="rId45"/>
    <p:sldId id="348" r:id="rId46"/>
    <p:sldId id="351" r:id="rId47"/>
    <p:sldId id="352" r:id="rId48"/>
    <p:sldId id="353" r:id="rId49"/>
    <p:sldId id="257" r:id="rId50"/>
    <p:sldId id="258" r:id="rId51"/>
    <p:sldId id="259" r:id="rId52"/>
    <p:sldId id="260" r:id="rId53"/>
    <p:sldId id="261" r:id="rId54"/>
    <p:sldId id="262" r:id="rId55"/>
    <p:sldId id="263" r:id="rId5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156CA8-D88F-4F76-9E9A-F0C410CA25FB}" type="datetimeFigureOut"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FA349-AABB-4ABA-AE06-386B0BF5E6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7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18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5GRdyWovDiI" TargetMode="External"/><Relationship Id="rId3" Type="http://schemas.openxmlformats.org/officeDocument/2006/relationships/hyperlink" Target="https://www.youtube.com/watch?v=SaCYkPD4_K0" TargetMode="External"/><Relationship Id="rId7" Type="http://schemas.openxmlformats.org/officeDocument/2006/relationships/hyperlink" Target="https://www.youtube.com/watch?v=oyciotF-qGA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4rfFS2akFdA" TargetMode="External"/><Relationship Id="rId5" Type="http://schemas.openxmlformats.org/officeDocument/2006/relationships/hyperlink" Target="https://www.youtube.com/watch?v=b8N8knQdbA4" TargetMode="External"/><Relationship Id="rId4" Type="http://schemas.openxmlformats.org/officeDocument/2006/relationships/hyperlink" Target="https://www.youtube.com/watch?v=udu2NKZV5UQ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065526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686039"/>
          </a:xfrm>
          <a:prstGeom prst="rect">
            <a:avLst/>
          </a:prstGeom>
          <a:solidFill>
            <a:srgbClr val="5B93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37253" y="-806958"/>
            <a:ext cx="69494" cy="382219"/>
          </a:xfrm>
          <a:prstGeom prst="rect">
            <a:avLst/>
          </a:prstGeom>
          <a:solidFill>
            <a:srgbClr val="1011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0" y="3065526"/>
            <a:ext cx="9144000" cy="3792474"/>
          </a:xfrm>
          <a:prstGeom prst="rect">
            <a:avLst/>
          </a:prstGeom>
          <a:solidFill>
            <a:srgbClr val="10114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345871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291072"/>
            <a:ext cx="3048000" cy="640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48000" y="6291072"/>
            <a:ext cx="3048000" cy="640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6000" y="6291072"/>
            <a:ext cx="3048000" cy="640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20240" y="3175254"/>
            <a:ext cx="6995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ZG566 / SS ZG566 · SECURE SOFTWARE ENGINEERING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3504438"/>
            <a:ext cx="6995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Security Programs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920240" y="4610862"/>
            <a:ext cx="6995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3: Product Security Programs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5980176"/>
            <a:ext cx="6995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Instructor: Bhaskar Zeminder    |    BITS Pilani WILP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course so far, in one screen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gave you the 'why' and the vocabulary.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economics, the CIA triad, and real incidents (Log4Shell, SolarWinds, MOVEit, Change Healthcare) that motivate everything since.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 gave you a technique.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Four-Question Framework and STRIDE — how to find threats against ONE system at design time.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gave you the process.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SDLC's seven phases and their work products, and how a Secure SDLC (Microsoft SDL, NIST SSDF) layers security onto each phase.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gave you the organisation-wide discipline.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build a programme, run it with Shift Left and Shift Right, measure it with SAMM/BSIMM and real metrics, and prove it works.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connecting thread across all four modules.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as early and as cheaply as possible, prove you are doing so with evidence, and never rely on any single control alone.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80254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1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048000" y="0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96000" y="0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2670048"/>
            <a:ext cx="83759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— Product Security Programs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384048" y="3931920"/>
            <a:ext cx="83759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programme is how an organisation makes 'secure by design' happen consistently, across every team, every product, every release — not just once, on one project.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 establishing a programme, Shift Left vs Shift Right, industry compliance frameworks, and the maturity models and metrics that prove a programme is actually working.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 should be able to sketch how you would start a security programme at an organisation that has none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84848"/>
            <a:ext cx="3048000" cy="7315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048000" y="6784848"/>
            <a:ext cx="3048000" cy="7315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96000" y="6784848"/>
            <a:ext cx="3048000" cy="7315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product security programme?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definition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strategies, practices, tools, and controls implemented throughout a product's development and operational lifecycle to keep it secure against evolving threats.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than one project.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gave you a Secure SDLC for ONE product. A security programme is the organisation-wide function that makes every product follow that discipline, consistently, across many teams.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than AppSec.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considers not only code vulnerabilities, but infrastructure, third-party dependencies, access controls, and operational maintenance workflows across the whole portfolio.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goal, in one 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a product is secure by design, secure in deployment, and secure in use — continuously, not as a one-time certification.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Module 1: this is precisely the discipline side of 'product security', as distinct from the security PRODUCTS (tools) you buy.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Cycode, ‘Product Security: A Complete Guide’; Beagle Security, ‘Product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terms students confuse: ProdSec, AppSec, InfoSec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2194560"/>
        </p:xfrm>
        <a:graphic>
          <a:graphicData uri="http://schemas.openxmlformats.org/drawingml/2006/table">
            <a:tbl>
              <a:tblPr/>
              <a:tblGrid>
                <a:gridCol w="2061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9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owner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Security (AppSec)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code and the individual application — SAST, DAST, code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/ application security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Security (ProdSec)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whole product across its lifecycle — code, architecture, supply chain,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Security Group / SSG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Information Security (InfoSec)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organisation's own internal information and infrastructure — employee laptops, internal networks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Security / Corporate Security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Snyk, ‘Product Security vs Application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The business drivers that force the issue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rarely build a programme for its own sake — there is usually a forcing function.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for investment or acquisition.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investors or buyers scrutinise security posture directly — a weak programme can lower a valuation or kill a deal outright, and this is now standard due-diligence practice.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Entering a regulated or enterprise-heavy market.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customers in finance, healthcare, and government demand security transparency: pen-test results, SOC 2/ISO 27001 reports, detailed risk assessments, before they will even sign a contract.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incident has already happened.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breach, or even a researcher's responsible disclosure, instantly makes security a leadership-level concern — organisations rarely build a programme purely out of foresight.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finally cares.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executive wants to explain to a board why their product is in the headlines for the wrong reasons — mounting pressure eventually forces the decision.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constant across all four drivers. 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always the same: a structured, measurable approach to product security that does not cripple engineering velocity.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‘How to Launch a Product Security Program’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programme — six steps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lifecycle for standing up a product security function, synthesised from Gartner's product-centric model and industry practice. The next six slides take each step in turn.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261872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Baseline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current posture: attack surface, existing practices, known vulnerabilities.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063240" y="126187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36976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36976" y="1261872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Executive buy-in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security as risk reduction and revenue protection, not just cost.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916168" y="126187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9904" y="126187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9904" y="1261872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4476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Roadmap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157276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gaps; define a phased plan with owners and timelines.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84048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2999232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Build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Software Security Group (SSG); embed practices into the SDLC.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063240" y="299923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36976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36976" y="2999232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Rollout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developers; deploy tooling (SAST/SCA) into CI/CD pipelines.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916168" y="2999232"/>
            <a:ext cx="164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9904" y="2999232"/>
            <a:ext cx="2670048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2999232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44768" y="2999232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Measure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63056" y="3310128"/>
            <a:ext cx="25237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metrics; report progress; iterate the roadmap.</a:t>
            </a:r>
            <a:endParaRPr lang="en-US" sz="1030" dirty="0"/>
          </a:p>
        </p:txBody>
      </p:sp>
      <p:sp>
        <p:nvSpPr>
          <p:cNvPr id="47" name="Text 4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Finite State, ‘How to Build a Product Security Program’; Gartner, product-centric security model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in depth: Baseline your security posture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fix what you have not honestly measured first.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your attack surface.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your product expose risk? APIs, mobile apps, cloud services, third-party integrations — Module 4's attack-surface concept, applied organisation-wide.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existing practices.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security scans running today? Do developers receive any security training? Is security integrated into CI/CD, or bolted on at the end (Module 1's trap)?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known vulnerabilities.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Software Composition Analysis (SCA) scan to identify risk in third-party libraries — this is precisely the Log4j lesson from Module 1: know your dependencies.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authentication and authorization.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least-privilege and MFA actually enforced, or assumed? Recall Change Healthcare and Capital One — both trace back to gaps here.</a:t>
            </a:r>
            <a:endParaRPr lang="en-US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engineering teams directly. 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know where the security gaps actually are — find out what frustrates and frightens your developers most about the current state.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‘Quickstart Guide’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in depth: Get executive buy-in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programmes fail without it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programmes need sponsorship.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must understand security as a business enabler, not merely a cost centre — without this framing, budget and headcount rarely follow.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it plainly: security flaws create legal, financial, and reputational risk (Module 1: GDPR, DPDP Act, and post-breach settlement costs).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trust and revenue.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customers increasingly demand security transparency BEFORE signing — a mature programme can win deals, not just avoid losses.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859536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example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188720"/>
            <a:ext cx="4027932" cy="5166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Capital One settlement (revisited later in this module) cost approximately $190M in regulatory penalties and settlements — a number that gets executive attention instantly.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technical risk into this kind of business language, and buy-in becomes far easier to obtain.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 Trumpbour, ‘Quickstart Guide’; Cybersecurity Attorney, ‘Capital One vs. the Cloud’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in depth: Build the roadmap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a baseline assessment into an actionable plan.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by risk, not by ease.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temptation is to fix the easiest issues first; the discipline is to fix the highest-risk gaps first, even if they are harder — use likelihood × impact (Module 4's risk definition) to rank the backlog.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explicit owners and timelines.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roadmap item with no named owner and no date is a wish, not a plan — this is the single most common reason security roadmaps stall.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quick wins alongside long efforts.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fast, visible win (e.g. enabling MFA everywhere) with a slower structural fix (e.g. building an SBOM pipeline) so momentum and credibility both build simultaneously.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the roadmap quarterly.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roadmap is a living document — new threats, new regulations, and new business priorities all require re-prioritisation over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in depth: Build — stand up the Software Security Group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SSG actually does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standards.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secure coding standard, the approved tool list, and the security requirements template every product team must use.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tooling.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and maintains SAST/SCA/DAST tools and integrates them into shared CI/CD infrastructure so individual teams do not each reinvent this.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exceptions process.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team genuinely cannot meet a standard on a deadline, the SSG is the body that reviews and formally accepts that risk.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size and reporting line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mature organisations, the SSG is typically 1–5% of the total engineering headcount — small by design, working through champions rather than doing all security work themselves.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reports to a CISO or VP of Engineering, giving it both security authority and engineering credibility.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BSIMM (McGraw, Chess &amp; Migues), ‘Roles’ section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in depth: Rollout — train and deploy tooling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standards into daily developer behaviour.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developers, not just security staff.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write the vulnerabilities are the people who must learn to prevent them — security training aimed only at a small security team never scales.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tooling into CI/CD, not as a separate process.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SAST scan run manually once a quarter is nearly worthless; the same scan wired into every pull request catches issues the moment they are introduced.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 initial friction.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weeks of rollout typically generate a wave of findings on old, pre-existing code — plan for a triage effort, and do not let this discourage the team from continuing.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security champions.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trained, motivated engineer embedded in each product team spreads practice faster than a central team ever could alone (Slide 62).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in depth: Measure — track, report, iterate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the loop back to Step 1's baseline.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 step, the whole programme is unverifiable.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leadership's honest question — 'is this actually working?' — can only be answered with real metrics, not with anecdote or good intentions.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on a regular cadence.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or quarterly dashboards to leadership keep the programme visible and keep executive buy-in (Step 2) alive over time, not just at launch.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measurement back into the roadmap.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metric shows a practice is not improving, that practice needs a different intervention, not just more patience — this is the loop that keeps a programme alive rather than stagnant.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detail of what to measure is Section 3 of this module.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return to metrics in depth after covering maturity models.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in a product security programme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0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51460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sponsor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Provides funding, mandate, and visibility at leadership level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Security Group (SSG)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core team that defines standards, tooling, and drives the programme day to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champions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engineers within product teams who act as the SSG's local point of contact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/ engineering teams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‘Everybody else’ — implement secure practices in their daily work, supported by champions and the SSG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BSIMM (McGraw, Chess &amp; Migues), ‘Roles’ section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champions — the multiplier the SSG cannot do without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cheapest way to scale a small SSG across a large engineering organisation.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champion is.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engineer inside a product team, given a modest amount of dedicated time (often 10–20%) and extra training, who acts as the SSG's local point of contact for that team.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matter more than headcount suggests.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champion is present in every design discussion and every code review their team already runs — catching issues at the exact moment they are cheapest to fix (Module 1's shift-left, embodied as a role, not just a tool).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are NOT.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champion is not a full-time security engineer, and is not expected to do the SSG's specialist work — their role is triage, awareness, and escalation, not deep expertise.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programmes typically run this.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lightweight 'champions guild' — a regular meeting where champions across all product teams share findings and get direct SSG training — is the most common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establishing a security programme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8755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8755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101498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step in building a security programme should be…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buying tools    (b) baselining current posture    (c) hiring a large team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101498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Baseline first — you cannot fix what you have not measured.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26771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26771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29514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Software Composition Analysis (SCA) scan primarily checks for…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vulnerable third-party dependencies    (b) network firewall rules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29514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Known vulnerabilities in third-party/open-source libraries.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54787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54787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57530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'security champion'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an embedded engineer, liaison to the SSG    (b) an external auditor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57530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An embedded engineer acting as the SSG's local point of contact.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828032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828032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855464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InfoSec differs from ProdSec chiefly in that InfoSec protects…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organisation's own internal assets    (b) the product sold to customers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855464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organisation's own infrastructure and information, not the product itself.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vs Shift Right — the two halves of DevSecOps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testing and practices EARLIER in the development lifecycle — into planning and coding, before anything is running.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name.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draw the SDLC as a line from Plan (left) to Production (right), shifting left literally moves activities toward the left side of that line.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implements Module 1.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shift-left economics argument (1× at design vs 30–100× in production), now named as a formal DevSecOps strategy.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user behaviour, performance, and security in the PRODUCTION stage — verifying real operability, the way an actual attacker would.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still matters.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amount of shift-left testing catches everything — some flaws only appear under real production traffic, real users, and real attackers.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share one goal.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‘fail small, recover quickly’ — catching problems before they become major incidents, whichever side of the line they are caught 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Red Hat, ‘Shift left vs.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— activities and what they catch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0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20040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modelling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Identifies risks during design, before code exists (Module 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code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insecure patterns before a merge is accepted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 (static analysis)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Scans source code for known vulnerable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 (software composition analysis)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vulnerable open-source / third-party 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Catches misconfigurations in Terraform, CloudFormation, Kubernetes manifests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Pre-commit hooks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 secrets and vulnerable patterns at the moment of commit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targets the codebase, the dependency tree, infrastructure-as-code, and the build pipeline — issues that exist in artefacts before anything actually runs.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— example tool categories (know the category, not brand loyalty)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77824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77824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77824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8375905" cy="251460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category members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Analyses source code without running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analysers integrated into IDEs and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Scans dependency manifests against vulnerability databases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 reading package.json, pom.xml, requirements.txt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hard-coded credentials/API keys in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Pre-commit and CI-integrated secret scanners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IaC scanning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 infrastructure config files for misconfiguration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Scanners for Terraform, Kubernetes, CloudFormation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DevSecOps Guideline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 — activities and what they catch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0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237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2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Penetration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real, skilled attacker attempts to break the live, running 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 bounty programmes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researchers are paid to responsibly report vulnerabilities they find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surface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Continuously discovers and monitors what is actually exposed in production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teaming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simulated, full-scope adversary exercise against production systems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security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Detects anomalous behaviour on the live system in real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Shift-right verifies the SYSTEM AS DEPLOYED — it can find issues that only emerge from real infrastructure, real configuration, and real attacker creativity.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 — how organisations actually run these programmes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activity categories from the previous slide are actually operationalised.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testing.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an annual or bi-annual engagement with an external firm, scoped to a specific application or the whole perimeter, producing a formal findings report with severity ratings.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bounty platforms.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organisations publish scope and reward tiers on a bounty platform; independent researchers submit findings; a triage team validates and pays out — continuous coverage rather than a single point-in-time test.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from a pentest — a red team is not told what to look for and often operates without the target team's knowledge, testing detection and response capability, not just the presence of vulnerabilities.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and production monitoring.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Information and Event Management platforms aggregate logs from across production, correlating events to flag genuinely anomalous behaviour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Shift Left and Shift Right sit on one pipeline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unified view: Shift Left activities cluster before deployment; Shift Right activities cluster after. Mature DevSecOps programmes run both simultaneously.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modelling (Shift Left).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3063240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36976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36976" y="1371600"/>
            <a:ext cx="2670048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Code / Commit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SAST, secrets scanning, pre-commit hooks (Shift Left).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5916168" y="137160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89904" y="137160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9904" y="137160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44768" y="137160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Build / 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63056" y="168249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SCA, IaC scanning (Shift Left).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84048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84048" y="3063240"/>
            <a:ext cx="2670048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3891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Deploy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builds, hardened configuration.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3063240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36976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36976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91840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Production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bug bounty, pentest (Shift Right).</a:t>
            </a:r>
            <a:endParaRPr lang="en-US" sz="1030" dirty="0"/>
          </a:p>
        </p:txBody>
      </p:sp>
      <p:sp>
        <p:nvSpPr>
          <p:cNvPr id="41" name="Text 39"/>
          <p:cNvSpPr/>
          <p:nvPr/>
        </p:nvSpPr>
        <p:spPr>
          <a:xfrm>
            <a:off x="5916168" y="3063240"/>
            <a:ext cx="16459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89904" y="3063240"/>
            <a:ext cx="2670048" cy="15087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89904" y="3063240"/>
            <a:ext cx="2670048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44768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Ongoing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63056" y="3374136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teaming, attack surface management (Shift Right).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384048" y="4681728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the pipeline itself does not change between Modules 2 and 3 — the CI/CD pipeline from Slide 27 is exactly where these Shift Left/Right activities physically live.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Synthesis of Red Hat and Cybersecify DevSecOps material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vs Shift Right — side by side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0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5" cy="301752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Left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Right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and coding, before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Production, after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Known-pattern flaws in code, config, dependencies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Real-world, emergent, and unknown issues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Cheap — no running system to fix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— may require incident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Owned by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Developers, with security tooling in CI/CD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Security/SOC teams, external researchers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Analogy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Proofreading before publishing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real reader feedback after publishing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framing: do NOT present these as 'old way vs new way' — mature programmes run both simultaneously, for different purposes.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Red Hat; Cybersecify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 need both — sequenced correctly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 budget-allocation question, not a purely technical one.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shift-left, no shift-right.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startup buys SAST, DAST, SCA and IaC scanning, generates 5,000 alerts in week one, fatigue sets in by week three, and the tooling becomes shelf-ware nobody actually reads.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shift-right, no shift-left.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startup runs one annual pentest, finds 12 issues, fixes 8, ships — and never threat-models the design that produced those issues in the first place. The same bugs return next year.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practical answer for a resource-constrained team.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shift-right with an annual pentest, because that is what enterprise buyers and investors actually ask for first — then layer shift-left tooling in as the team grows.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Sequenced correctly, both compound.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shift-left reduces what reaches production; shift-right catches what shift-left inevitably misses. Neither replaces the other.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Cybersecify, ‘DevSecOps: Shift Left vs Shift Right’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Shift Left vs Shift Right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and SCA are examples of…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activities    (b) Shift Right activities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— they analyse code/dependencies before deployment.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bounty programme is best classified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Shift Left    (b) Shift Right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Shift Right — it tests the live, production system.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risk of 'all shift-left, no shift-right' is…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alert fatigue and shelf-ware tooling    (b) too few findings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Too many alerts, too fast, leading to fatigue and disengagement.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red team engagement differs from a penetration test chiefly in that…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also tests detection and response, often unannounced    (b) it is always cheaper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tests the whole detection/response capability, not just vulnerability presence.</a:t>
            </a:r>
            <a:endParaRPr lang="en-US" sz="10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Cybersecurity Framework (CSF) — a fifth framework to recognise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877824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77824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77824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0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05840"/>
          <a:ext cx="8375904" cy="274320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3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covers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your assets, risks, and business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Safeguards to ensure delivery of critical services — access control, training, data 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Activities to identify a cybersecurity event as it happens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Actions taken once an incident is detected, to contain and mitigate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Restoring capabilities and services impaired by an incident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NIST Cybersecurity Framework (CSF) 2.0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frameworks customers actually ask for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5" cy="2194560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customers ask for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ISO/IEC 27001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international standard for an Information Security Management System (ISMS)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Formal, auditable certification — a global signal of security governance maturity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2 (Type I / Type II)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American audit standard (AICPA) covering security, availability, confidentiality controls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I checks controls exist at a point in time; Type II checks they operated effectively over 6–12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PCI-DSS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Card Industry Data Security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for any organisation storing, processing, or transmitting card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frameworks are the concrete evidence a mature security programme (Slide 54) produces to satisfy the 'entering a regulated market' business driver.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ISO/IEC 27001:2022; AICPA SOC 2 Trust Services Criteria; PCI Security Standards Council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models — why measure a programme at all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major topic in Module 3's handout.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‘You can't manage what you can't measure.’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structured way to assess a security programme, 'we do some security stuff' is the only answer leadership ever gets — not useful for planning or budget.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maturity model gives you three things.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objective snapshot of where you are today, a defined target to aim for, and a roadmap of the gap between the two.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dominant models exist — and they are built differently.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is PRESCRIPTIVE (it tells you what good practice looks like); BSIMM is DESCRIPTIVE (it tells you what real organisations actually do).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 both in enough depth to distinguish them cleanly — a favourite 'compare and contrast' exam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five business functions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SAMM's model is hierarchical: five business functions sit at the top, each with three security practices beneath it (15 practices total, next slide).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76C2E5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84048" y="1261872"/>
            <a:ext cx="1528877" cy="25603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38912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Governance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Organise, manage, and measure the security programme itself.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1922069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095805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095805" y="1261872"/>
            <a:ext cx="1528877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150669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Design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68957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assessment, security requirements, secure architecture.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3633826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07562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07562" y="1261872"/>
            <a:ext cx="1528877" cy="25603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62426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Implementation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80714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build, secure deployment, defect management.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345582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19318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519318" y="1261872"/>
            <a:ext cx="1528877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574182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Verification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92470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assessment, requirements-driven testing, security testing.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7057339" y="1261872"/>
            <a:ext cx="164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231075" y="1261872"/>
            <a:ext cx="1528877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  <a:effectLst>
            <a:outerShdw blurRad="50800" dist="25400" dir="5400000" algn="bl" rotWithShape="0">
              <a:srgbClr val="9AA3B0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231075" y="1261872"/>
            <a:ext cx="1528877" cy="25603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285939" y="1261872"/>
            <a:ext cx="1419149" cy="2560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Operations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04227" y="1572768"/>
            <a:ext cx="1382573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management, environment management, operational management.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384048" y="3108960"/>
            <a:ext cx="83759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Notice: Governance, Design, Implementation and Verification map almost directly onto the SDLC phases from Module 2 — SAMM is the Secure SDLC, formalised as an assessable model.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SAMM, ‘The Model’ (owaspsamm.org)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the 15 security practices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0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301752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function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Its three security practices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&amp; Metrics · Policy &amp; Compliance · Education &amp; Guidance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Assessment · Security Requirements · Secure 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Build · Secure Deployment · Defect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Assessment · Requirements-driven Testing · Security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Management · Environment Management · Operational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SAMM, ‘The Model’; devguide.owasp.org, SAMM guide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— three maturity levels per practice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15 practices is independently scored 1 to 3.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 — Foundational.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organisation has an initial, ad-hoc understanding of the practice; activities happen, but inconsistently across teams.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 — Mature.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efficiency- and effectiveness-focused; activities are increasingly standardised and repeatable across teams.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 — Advanced.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is comprehensively optimised across the organisation, with metrics driving continuous improvement.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structure is useful.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organisation is rarely 'level 3 everywhere' — SAMM lets you say precisely 'we are Level 1 in Threat Assessment but Level 2 in Secure Build', far more actionable than one overall score.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prescriptive.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you exactly what activities and success metrics define each level — a clear, opinionated target to aim for, not merely a description of what others 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 Stuttgart chapter presentation; owaspsamm.org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SAMM self-assessment actually runs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meant to be self-run — no external assessor is required, unlike a formal BSIMM engagement.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select the scope.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product, one business unit, or the whole organisation — SAMM works at any of these scales, but be explicit about which you are assessing.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score each of the 15 practices.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the relevant teams and rate current maturity (1, 2, or 3) against SAMM's published criteria for that practice, honestly, not aspirationally.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set target scores.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practice needs Level 3 — a practice tied to a low-risk internal tool may reasonably stay at Level 1, while a customer-facing payment flow should target Level 3.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— build the gap-closing roadmap.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between current and target scores, prioritised by risk, becomes the actual roadmap referenced back in Slide 58.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— reassess periodically.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is designed to be re-run annually or after major organisational change, tracking genuine improvement over time, not a one-off audit.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— four domains, twelve practices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59536"/>
          <a:ext cx="8375904" cy="274320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Practices inside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&amp; Metrics · Compliance &amp; Policy ·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 Models · Security Features &amp; Design · Standards &amp; Requirements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SSDL Touchpoints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Analysis · Code Review · Security Testing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Penetration Testing · Software Environment · Configuration &amp; Vulnerability 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began in 2006, studying nine world-class security programmes (Adobe, Google, Microsoft and others); it now reflects data from 100+ organisations.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McGraw, Chess &amp; Migues, ‘Building Security In Maturity Model’; BlackDuck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vs BSIMM — prescriptive vs descriptive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00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291840"/>
        </p:xfrm>
        <a:graphic>
          <a:graphicData uri="http://schemas.openxmlformats.org/drawingml/2006/table">
            <a:tbl>
              <a:tblPr/>
              <a:tblGrid>
                <a:gridCol w="153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0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SAMM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BSIMM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Prescriptive — tells you what good practice looks like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Descriptive — documents what real firms actually 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 community, Pravir Chandra, 2009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Cigital/Synopsys research, 2006, from 9 firms initially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business functions → 15 practices → 3 levels each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domains → 12 practices → many specific activities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used 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a target state and a roadmap to reach 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your programme against real industry peers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open, self-assessable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BSIMM assessment is typically a paid, external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OWASP SAMM Stuttgart chapter; Codific, ‘BSIMM: A Complete Guide’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SAMM &amp; BSIMM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   (b) descriptive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— tells you what good practice should look like.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 is best described as…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prescriptive    (b) descriptive, based on real observed practice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Descriptive — built from studying real organisations.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domains does BSIMM organise its practices into?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3    (b) 4    (c) 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Four — Governance, Intelligence, SSDL Touchpoints, Deployment.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SAMM self-assessment differs from a BSIMM assessment chiefly in that…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SAMM is typically self-run; BSIMM is typically a paid external engagement    (b) they are identical processes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SAMM is free and self-assessable; formal BSIMM assessment usually requires an external firm.</a:t>
            </a:r>
            <a:endParaRPr lang="en-US" sz="10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exercise — assess SecureShop's maturity informally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969264"/>
            <a:ext cx="8375904" cy="777240"/>
          </a:xfrm>
          <a:prstGeom prst="rect">
            <a:avLst/>
          </a:prstGeom>
          <a:solidFill>
            <a:srgbClr val="EAF0F7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969264"/>
            <a:ext cx="73152" cy="77724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96926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SecureShop, the fictional e-commerce platform from Module 4. Using SAMM's three levels (Foundational / Mature / Advanced), informally assess these three practices based on what we know about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1883664"/>
            <a:ext cx="8375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82296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→ Threat Assessment: SecureShop ran one STRIDE-based threat model before launch, and has not repeated it since. What level?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→ Secure Build: server-side price validation was added only after a threat was found, with no SAST in the CI pipeline yet. What level?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→ Security Testing: a code review confirmed the fix shipped, but no follow-up penetration test or bug bounty exists. What level?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" y="5605272"/>
            <a:ext cx="8476488" cy="777240"/>
          </a:xfrm>
          <a:prstGeom prst="rect">
            <a:avLst/>
          </a:prstGeom>
          <a:solidFill>
            <a:srgbClr val="FBF3E6"/>
          </a:solidFill>
          <a:ln w="9525">
            <a:solidFill>
              <a:srgbClr val="FCB0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0624" y="56967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b="1" i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Answer.  </a:t>
            </a:r>
            <a:r>
              <a:rPr lang="en-US" sz="103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answers: Threat Assessment → Foundational (done once, not repeatable). Secure Build → Foundational (reactive, no proactive tooling yet). Security Testing → Foundational-to-Mature (some verification exists, but shift-right activities like pentesting are absent). The pattern: SecureShop is early-stage across the board — exactly what you would expect from a fictional platform that has completed only one threat-modelling pass.</a:t>
            </a:r>
            <a:endParaRPr lang="en-US" sz="10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success criteria — why measure at all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‘You can't manage what you can't measure’ — again, at the metrics level this time.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426464"/>
            <a:ext cx="8375904" cy="4974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board-level question every CISO must answer.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‘are we actually getting more secure, or just busier?’ A dashboard full of scanner output does not answer this on its own.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risk management.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risk avoidance is impossible; metrics let a team decide, deliberately, how much non-critical risk to accept versus what must be fixed immediately (Module 4's 'Accept' response, applied at programme scale).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executive buy-in.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numbers demonstrate ROI and growth areas, exactly the language from Step 2's 'executive buy-in' step.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enable compliance.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regulations such as SOC 2 explicitly require quantitative evidence of security effort — collect it proactively, before an auditor asks.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 to avoid.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metrics are equally useful — the next slides separate what actually matters from what merely looks impressive on a slide.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Snyk, ‘How To Measure Application Security’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metrics that actually matter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27394"/>
              </p:ext>
            </p:extLst>
          </p:nvPr>
        </p:nvGraphicFramePr>
        <p:xfrm>
          <a:off x="384048" y="859536"/>
          <a:ext cx="8375904" cy="3198114"/>
        </p:xfrm>
        <a:graphic>
          <a:graphicData uri="http://schemas.openxmlformats.org/drawingml/2006/table">
            <a:tbl>
              <a:tblPr/>
              <a:tblGrid>
                <a:gridCol w="167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6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measures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 more than raw counts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Time to Remediate (MTTR)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between detection and verified fix, by severity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of response is what actually reduces exposure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Vulnerability density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Findings per 1,000 lines of code / per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Normalises for codebase size — fair comparison across teams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Vulnerabilities fixed ÷ vulnerabilities found, per period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1.0 means the backlog is growing every 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 / SBOM coverage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services with current, automated security scanning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 cannot secure what you have not even inventoried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9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Reachability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findings that are actually callable in running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Filters out theoretical noise from real, exploitable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benchmarks widely cited in industry: MTTR under 7 days for Critical, under 30 days for High severity findings.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AppSec Santa, ‘AppSec Metrics That Matter’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real security dashboard shows leadership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0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69264"/>
          <a:ext cx="8375904" cy="3017520"/>
        </p:xfrm>
        <a:graphic>
          <a:graphicData uri="http://schemas.openxmlformats.org/drawingml/2006/table">
            <a:tbl>
              <a:tblPr/>
              <a:tblGrid>
                <a:gridCol w="1814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content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health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SAMM/BSIMM score trend over the last 4 quarters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Critical/High findings, with MTTR trend 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services with current SAST/SCA scanning enabled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 summary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and severity of production security incidents this quarter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progress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this quarter's roadmap items (Step 3) completed on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84048" y="5852160"/>
            <a:ext cx="837590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precisely the artefact Step 6 (Measure) produces on a monthly or quarterly cadence for the executive sponsor from Step 2.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Illustrative, synthesised from AppSec metrics reporting practice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to avoid — the vanity metrics trap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all metrics are created equal — some actively create the wrong incentives.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‘Total vulnerabilities found’ alone.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running five scanners with permissive rulesets finds thousands of issues — a rising number that says nothing about whether the product is actually getting safer.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metric actively misleads.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rewards detection VOLUME over risk reduction; teams start adding scanners rather than fixing findings, because the chart looks better either way.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danger: 15 critical findings buried under 3,000 informational alerts.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metric that matters (Slide 87) gets lost in the metric that merely looks busy.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pair a volume metric with an outcome metric — e.g. 'total findings' alongside 'MTTR for Critical findings' — never report volume alone.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AppSec Santa, ‘AppSec Metrics That Matter’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 — metrics &amp; success criteria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87782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" y="87782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90525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measures…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time from detection to verified fix    (b) total vulnerabilities found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50992" y="90525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Mean Time to Remediate.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84048" y="215798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" y="215798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18541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 rate below 1.0 means…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the backlog is shrinking    (b) the backlog is growing every period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50992" y="218541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More vulnerabilities are found than fixed — a growing backlog.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384048" y="343814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43814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46557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'total vulnerabilities found' alone is risky because it…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rewards detection volume over actual risk reduction    (b) is always too low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50992" y="346557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It can reward adding more scanners rather than fixing real issues.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384048" y="4718304"/>
            <a:ext cx="8375904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" y="4718304"/>
            <a:ext cx="73152" cy="118872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745736"/>
            <a:ext cx="4992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 </a:t>
            </a: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/ SBOM coverage measures…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% of services with current automated scanning    (b) total lines of code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50992" y="4745736"/>
            <a:ext cx="2971800" cy="113385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  </a:t>
            </a:r>
            <a:r>
              <a:rPr lang="en-US" sz="10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% of services with current, automated security scanning enabled.</a:t>
            </a:r>
            <a:endParaRPr lang="en-US" sz="10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1: Capital One — the cost of a programme gap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 (2019)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breach.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former AWS engineer exploited a misconfigured Web Application Firewall using Server-Side Request Forgery (SSRF) to steal cloud credentials, then used an over-permissioned IAM role to access 700+ S3 buckets — 106 million records exposed.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finding.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OCC's $80M penalty explicitly cited a failure to implement effective RISK ASSESSMENT PROCESSES after cloud migration — a governance/programme gap, not only a technical one.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cost.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$190M in combined settlements and penalties.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this module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lens: weak in Governance (risk assessment never matured past ad-hoc) and Design (IAM roles not reviewed against least privilege).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metric: no scan coverage or configuration-drift monitoring would have caught the WAF misconfiguration before it was exploited.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lesson: strong engineering teams can still fail without a PROGRAMME — individual good intentions do not substitute for governance, metrics, and repeatable process.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Breachsense, ‘Capital One Data Breach’; Cybersecurity Attorney, ‘Capital One vs. the Cloud’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2: Equifax (2017) — a patch management failure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vulnerability.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known, publicly disclosed flaw in Apache Struts (CVE-2017-5638) — a patch had been available for over two months before attackers exploited it.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breach.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attackers used the unpatched flaw to access Equifax's systems, ultimately exposing personal data of approximately 147 million people, including Social Security numbers.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and financial cost.  </a:t>
            </a: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Equifax paid at least $575M in a settlement with the US FTC and state attorneys general — one of the largest data-breach settlements on record at the time.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32020" y="969264"/>
            <a:ext cx="40279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this module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732020" y="1298448"/>
            <a:ext cx="4027932" cy="5056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Scan/SBOM coverage failure (Slide 87) — Equifax reportedly did not have visibility into where the vulnerable Struts component was even deployed.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 lens: weak in Environment Management (Operations function) — patch management is precisely this practice.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recurring lesson (echoing Log4Shell, Module 1): most breaches exploit KNOWN, patchable vulnerabilities — not exotic zero-days. Programme discipline in patching beats almost any single clever tool.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US GAO Report GAO-18-559; FTC Equifax Data Breach Settlement (2019)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 mistakes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1316736"/>
            <a:ext cx="8375904" cy="5084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Treating Shift Left and Shift Right as competing alternatives.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framing is always 'both, sequenced appropriately' — an answer that picks only one side loses marks even if the reasoning given is otherwise correct.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Reversing SAMM and BSIMM's descriptive/prescriptive labels.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single word swap is the most common Module 3 exam error — SAMM PRESCRIBES; BSIMM DESCRIBES. Say it aloud until it sticks.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'total vulnerabilities found' as a good metric.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examiners specifically test whether you can identify vanity metrics — always qualify a volume metric with an outcome metric such as MTTR.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the roles structure.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'the security team' is not a complete answer — name the Executive sponsor, the SSG, Security champions, and Product teams as four distinct, necessary roles.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with no named control.  </a:t>
            </a: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'Capital One had weak security' earns few marks; 'Capital One's IAM role violated least privilege, which SAMM's Secure Architecture practice would have caught' earns full marks.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terms you must be able to define precisely, in your own words, with an example.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188720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18872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security programme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18872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practices/controls keeping every product secure across its whole lifecycle.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1705356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170535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170535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Security Group — the core team defining standards and tooling.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221992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222199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222199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engineer acting as the SSG's point of contact in a product team.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738628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73862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273862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activities earlier — into design and coding, before deployment.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255264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325526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Right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325526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Verifying security in production — pentesting, monitoring, bug bounties.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771900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" y="3771900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SAMM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98648" y="3771900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prescriptive maturity model: 5 functions, 15 practices, 3 levels each.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288536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288536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98648" y="4288536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descriptive maturity model built from studying 100+ real firms.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805172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4805172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98648" y="4805172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Remediate — days from detection to verified fix.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5321808"/>
            <a:ext cx="8375904" cy="46177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5321808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metric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98648" y="5321808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(e.g. raw finding count) that looks impressive but misleads.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" y="5838444"/>
            <a:ext cx="8375904" cy="461772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" y="5838444"/>
            <a:ext cx="2377440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/ ISO 27001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98648" y="5838444"/>
            <a:ext cx="5769864" cy="461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compliance frameworks customers require as security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glossary A–Z — final revision pass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969264"/>
            <a:ext cx="8375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highest-yield terms from Modules 2 and 3, alphabetised, condensed onto one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" y="1298448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" y="1298448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BSIMM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98648" y="1298448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 maturity model, built from studying 100+ real firms' actual practice.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1804111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5488" y="1804111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98648" y="1804111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/ Continuous Deployment — automated build-to-release pipeline.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4048" y="2309774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230977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HLD / LLD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98648" y="230977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Design (architecture) vs Low-Level Design (code-ready detail).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" y="2815438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815438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2815438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Time to Remediate — the key severity-weighted response-speed metric.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" y="3321101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" y="3321101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98648" y="3321101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OWASP's prescriptive maturity model: 5 functions, 15 practices, 3 levels each.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4048" y="3826764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" y="382676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898648" y="382676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Development Life Cycle — seven phases every product passes through.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332427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5488" y="4332427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champion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98648" y="4332427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engineer acting as the SSG's local point of contact.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84048" y="4838090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5488" y="4838090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Left / Right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98648" y="4838090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security earlier (design/code) vs verifying it in production.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84048" y="5343754"/>
            <a:ext cx="8375904" cy="45079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5343754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SWEBOK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98648" y="5343754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IEEE's Guide to the Software Engineering Body of Knowledge — 18 KAs in V4.0.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84048" y="5849417"/>
            <a:ext cx="8375904" cy="450799"/>
          </a:xfrm>
          <a:prstGeom prst="rect">
            <a:avLst/>
          </a:prstGeom>
          <a:solidFill>
            <a:srgbClr val="F7F8FA"/>
          </a:solidFill>
          <a:ln w="635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75488" y="5849417"/>
            <a:ext cx="2377440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Vanity metric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98648" y="5849417"/>
            <a:ext cx="5769864" cy="45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metric that looks impressive but does not reflect real risk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innovate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videos for revision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</a:t>
            </a:r>
            <a:r>
              <a:rPr lang="en-US" sz="950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Pilani, Deemed to be University under Section 3 of UGC Act, 1956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1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859536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working links — short, reliable explainers for Modules 2 and 3, good before the Mid-Sem.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1207008"/>
            <a:ext cx="8375904" cy="5193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Software Development Life Cycle: Explained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AltexSoft  ·  7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https://www.youtube.com/watch?v=SaCYkPD4_K0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Mastering Shift-Left vs Shift-Right Security in Software Development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SecureTechIn  ·  12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https://www.youtube.com/watch?v=udu2NKZV5UQ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SAMM in 20 minutes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OWASP SAMM (official channel)  ·  20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https://www.youtube.com/watch?v=b8N8knQdbA4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What is BSIMM? Building Security In Maturity Model Explained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Codific  ·  6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https://www.youtube.com/watch?v=4rfFS2akFdA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Security Standards (Microsoft's SDL and Secure Future Initiative)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Microsoft Security (official channel)  ·  18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https://www.youtube.com/watch?v=oyciotF-qGA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SWEBOK — Webinar from IEEE Computer Society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IEEE Computer Society (official channel)  ·  58 min  ·  </a:t>
            </a:r>
            <a:r>
              <a:rPr lang="en-US" sz="1050" u="sng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https://www.youtube.com/watch?v=5GRdyWovDiI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065526"/>
          </a:xfrm>
          <a:prstGeom prst="rect">
            <a:avLst/>
          </a:prstGeom>
          <a:solidFill>
            <a:srgbClr val="3E7C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686039"/>
          </a:xfrm>
          <a:prstGeom prst="rect">
            <a:avLst/>
          </a:prstGeom>
          <a:solidFill>
            <a:srgbClr val="5B93C4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65526"/>
            <a:ext cx="9144000" cy="3792474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345871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101141"/>
                </a:solidFill>
                <a:latin typeface="Arial"/>
              </a:rPr>
              <a:t>BITS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3048000" cy="640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48000" y="6291072"/>
            <a:ext cx="3048000" cy="640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0" y="6291072"/>
            <a:ext cx="3048000" cy="640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20240" y="3175254"/>
            <a:ext cx="69951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300" b="1" i="0">
                <a:solidFill>
                  <a:srgbClr val="C9D2E0"/>
                </a:solidFill>
                <a:latin typeface="Arial"/>
              </a:rPr>
              <a:t>SE ZG566 / SS ZG566 · SECURE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504438"/>
            <a:ext cx="6995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300" b="1" i="0">
                <a:solidFill>
                  <a:srgbClr val="FFFFFF"/>
                </a:solidFill>
                <a:latin typeface="Arial"/>
              </a:rPr>
              <a:t>Product Security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610862"/>
            <a:ext cx="6995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DCE6F1"/>
                </a:solidFill>
                <a:latin typeface="Arial"/>
              </a:rPr>
              <a:t>Minimum security bar every product must clear — Microsoft &amp; OWASP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980176"/>
            <a:ext cx="69951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 i="0">
                <a:solidFill>
                  <a:srgbClr val="AEB9CC"/>
                </a:solidFill>
                <a:latin typeface="Arial"/>
              </a:rPr>
              <a:t>Lead Instructor: Bhaskar Zeminder    |    BITS Pilani WILP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000000"/>
                </a:solidFill>
                <a:latin typeface="Arial"/>
              </a:rPr>
              <a:t>What Is a Security Baseline?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859536"/>
            <a:ext cx="40279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50" b="1" i="0">
                <a:solidFill>
                  <a:srgbClr val="1F4E79"/>
                </a:solidFill>
                <a:latin typeface="Arial"/>
              </a:rPr>
              <a:t>A working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188720"/>
            <a:ext cx="4027932" cy="5166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Definition.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a documented, minimum-acceptable set of security requirements a product must meet before it is trusted — the floor, not the ceiling, of security posture.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Answers one question.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“what is the least this product must do to be safe?” — applied uniformly across every product, every team, every release.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Not the same as a benchmark.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a baseline is the pass/fail bar every product must clear; a benchmark is the aspirational target an organisation aims for over time.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700000" y="969264"/>
          <a:ext cx="3900000" cy="2057400"/>
        </p:xfrm>
        <a:graphic>
          <a:graphicData uri="http://schemas.openxmlformats.org/drawingml/2006/table">
            <a:tbl>
              <a:tblPr/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Minimum bar — pass/fail, mandatory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Benchmark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Aspirational target — measured over time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700000" y="3230000"/>
            <a:ext cx="3900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F4E79"/>
                </a:solidFill>
                <a:latin typeface="Arial"/>
              </a:rPr>
              <a:t>Like a building code: a baseline defines basic safety before occupancy — not the best possible building.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Microsoft Learn, ‘Architecture strategies for establishing a security baseline’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000000"/>
                </a:solidFill>
                <a:latin typeface="Arial"/>
              </a:rPr>
              <a:t>Why a Baseline, Not Just Best Effort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188720"/>
            <a:ext cx="7598664" cy="3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Consistency.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every product is held to the same floor, regardless of which team built it or how experienced they are.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Procurement-ready.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gives a clear, evidence-backed answer when a customer or auditor asks “prove your product is secure.”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Reduces oversight risk.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no security control is left to individual judgement — the baseline removes ambiguity about what “good enough” means.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A release gate, not a suggestion.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a product that fails the baseline does not ship — it goes back to Build, not forward to Release.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4700000"/>
            <a:ext cx="1900000" cy="50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470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Build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44048" y="4700000"/>
            <a:ext cx="1900000" cy="50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44048" y="470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4048" y="4700000"/>
            <a:ext cx="1900000" cy="50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4048" y="470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Baseline Gate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4048" y="4700000"/>
            <a:ext cx="1900000" cy="50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4048" y="4700000"/>
            <a:ext cx="1900000" cy="5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300000"/>
            <a:ext cx="7598664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Fails the gate → back to Build, not to Release.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Arial"/>
              </a:rPr>
              <a:t>OWASP Recommendation: ASVS Verification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50000"/>
            <a:ext cx="7598664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Application Security Verification Standard — concrete, testable requirements, not organisational policy.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84048" y="1300000"/>
          <a:ext cx="7598664" cy="2743200"/>
        </p:xfrm>
        <a:graphic>
          <a:graphicData uri="http://schemas.openxmlformats.org/drawingml/2006/table">
            <a:tbl>
              <a:tblPr/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Intent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Arial"/>
                        </a:rPr>
                        <a:t>Share of Requirements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L1 — Basic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Minimum baseline for any web app; defends against the most commonly exploited flaws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~20%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L2 — Standard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Recommended for most business apps handling sensitive data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~50%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L3 — Advanced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Arial"/>
                        </a:rPr>
                        <a:t>Defense-in-depth for the highest-assurance systems: finance, health, critical infrastructure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000000"/>
                          </a:solidFill>
                          <a:latin typeface="Arial"/>
                        </a:rPr>
                        <a:t>~30%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84048" y="4200000"/>
            <a:ext cx="7598664" cy="1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Cumulative levels.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L2 includes all L1 requirements; L3 includes all L2 requirements — most applications target L2.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Vendor-neutral.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released by OWASP (v5.0.0, May 2025); applicable to any web application, API, or web service, regardless of stack.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100000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OWASP Application Security Verification Standard (ASVS) v5.0.0, 2025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Arial"/>
              </a:rPr>
              <a:t>OWASP Recommendation: Top 10 Proactive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50000"/>
            <a:ext cx="7598664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The baseline practices every developer should apply from the start — ranked by importance.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42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14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048" y="140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Implement Access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04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204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048" y="202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Use Cryptography Properly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266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266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048" y="264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Validate Input &amp; Handle Errors Safely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328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3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048" y="32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Address Security From the 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90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90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048" y="388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Secure by Default Configuration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0000" y="142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00000" y="142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0000" y="140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Keep Your Components Secure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0000" y="204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00000" y="204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0000" y="202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Implement Digital Identity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00000" y="266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00000" y="266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0000" y="264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Leverage Browser Security Features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00000" y="328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00000" y="328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0000" y="32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Implement Security Logging &amp; 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0000" y="3900000"/>
            <a:ext cx="360000" cy="360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00000" y="3900000"/>
            <a:ext cx="360000" cy="3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20000" y="388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100" b="1" i="0">
                <a:solidFill>
                  <a:srgbClr val="000000"/>
                </a:solidFill>
                <a:latin typeface="Arial"/>
              </a:rPr>
              <a:t>Stop Server-Side Request Forgery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OWASP Top 10 Proactive Controls, 2024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Arial"/>
              </a:rPr>
              <a:t>Microsoft Recommendation: SDL Mandatory Practices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50000"/>
            <a:ext cx="7598664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Every Microsoft product must clear these gates before release — non-negotiable, by policy.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350000"/>
            <a:ext cx="7598664" cy="4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Security Requirements.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defined and tracked from the very start of the project, not retrofitted before release.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Threat Modeling.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every feature threat-modeled at design time, using STRIDE and the Microsoft Threat Modeling Tool.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Approved Tools &amp; Cryptography.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only vetted, approved libraries and algorithms may be used — no ad-hoc crypto.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Static &amp; Dynamic Analysis.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SAST/DAST run before every release; findings triaged against severity thresholds.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Attack Surface Review.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every exposed entry point reviewed and minimized before ship.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00" b="1" i="0">
                <a:solidFill>
                  <a:srgbClr val="C00000"/>
                </a:solidFill>
                <a:latin typeface="Arial"/>
              </a:rPr>
              <a:t>Incident Response Plan. 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a response plan must exist before the product ships, not be improvised after.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Microsoft Security Development Lifecycle (SDL)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Arial"/>
              </a:rPr>
              <a:t>Microsoft Recommendation: Cloud Security 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41248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841248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841248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950000"/>
            <a:ext cx="7598664" cy="2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The baseline for anything a product deploys on Azure — configuration, not just code.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4048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Network Security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3825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53825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Identity &amp; Access Mgmt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63602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93602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Data Protection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03379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33379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Logging &amp; Threat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3156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73156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Posture &amp; Vuln Mgmt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2933" y="1350000"/>
            <a:ext cx="1219777" cy="7500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2933" y="1350000"/>
            <a:ext cx="1159777" cy="7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Backup &amp;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350000"/>
            <a:ext cx="7598664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Consistent baselines.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applies the same security configuration bar across Azure, hybrid, and multi-cloud deployments.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Backed by tooling.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the Microsoft Security Compliance Toolkit provides downloadable, testable configuration baselines.</a:t>
            </a:r>
          </a:p>
          <a:p>
            <a:pPr marL="165100" indent="-165100">
              <a:spcAft>
                <a:spcPts val="1000"/>
              </a:spcAft>
              <a:buSzPct val="100000"/>
              <a:buChar char="•"/>
            </a:pPr>
            <a:r>
              <a:rPr sz="1250" b="1" i="0">
                <a:solidFill>
                  <a:srgbClr val="C00000"/>
                </a:solidFill>
                <a:latin typeface="Arial"/>
              </a:rPr>
              <a:t>Automatically enforced.  </a:t>
            </a:r>
            <a:r>
              <a:rPr sz="1250" b="0" i="0">
                <a:solidFill>
                  <a:srgbClr val="000000"/>
                </a:solidFill>
                <a:latin typeface="Arial"/>
              </a:rPr>
              <a:t>deviations from baseline are flagged by Microsoft Defender for Cloud without manual audit.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6272784"/>
            <a:ext cx="83759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Microsoft Learn, ‘Microsoft Cloud Security Benchmark’; Microsoft Security Compliance Toolkit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80" y="0"/>
            <a:ext cx="472440" cy="29260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2668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innovate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99120" y="0"/>
            <a:ext cx="472440" cy="29260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9912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71560" y="0"/>
            <a:ext cx="472440" cy="29260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71560" y="0"/>
            <a:ext cx="4724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2880"/>
            <a:ext cx="7598664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500" b="1" i="0">
                <a:solidFill>
                  <a:srgbClr val="000000"/>
                </a:solidFill>
                <a:latin typeface="Arial"/>
              </a:rPr>
              <a:t>OWASP vs. Microsoft Baselines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731520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6902" y="731520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73803" y="731520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3295" y="6473952"/>
            <a:ext cx="2336902" cy="50292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70197" y="6473952"/>
            <a:ext cx="2336902" cy="50292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07098" y="6473952"/>
            <a:ext cx="2336902" cy="5029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656539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101141"/>
                </a:solidFill>
                <a:latin typeface="Arial"/>
              </a:rPr>
              <a:t>BITS </a:t>
            </a:r>
            <a:r>
              <a:rPr sz="950" b="0" i="0">
                <a:solidFill>
                  <a:srgbClr val="101141"/>
                </a:solidFill>
                <a:latin typeface="Arial"/>
              </a:rPr>
              <a:t>Pilani, Deemed to be University under Section 3 of UGC Act, 1956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6565392"/>
            <a:ext cx="4572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101141"/>
                </a:solidFill>
                <a:latin typeface="Arial"/>
              </a:rPr>
              <a:t>7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4048" y="950000"/>
          <a:ext cx="7598664" cy="2300000"/>
        </p:xfrm>
        <a:graphic>
          <a:graphicData uri="http://schemas.openxmlformats.org/drawingml/2006/table">
            <a:tbl>
              <a:tblPr/>
              <a:tblGrid>
                <a:gridCol w="1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9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Aspect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OWASP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Microsoft</a:t>
                      </a:r>
                    </a:p>
                  </a:txBody>
                  <a:tcPr marL="63500" marR="63500" marT="25400" marB="25400" anchor="ctr">
                    <a:solidFill>
                      <a:srgbClr val="1011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Application code &amp; design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Product + cloud configuration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Core artifact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ASVS (3 levels) + Proactive Controls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SDL mandatory gates + MCSB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Verification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Manual/automated code review, pentest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Defender for Cloud, Compliance Toolkit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Best used for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Web apps, APIs — any org, vendor-neutral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Azure / Microsoft-stack products</a:t>
                      </a:r>
                    </a:p>
                  </a:txBody>
                  <a:tcPr marL="63500" marR="63500" marT="25400" marB="25400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84048" y="3300000"/>
            <a:ext cx="40279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300" b="1" i="0">
                <a:solidFill>
                  <a:srgbClr val="1F4E79"/>
                </a:solidFill>
                <a:latin typeface="Arial"/>
              </a:rPr>
              <a:t>Quick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620000"/>
            <a:ext cx="7598664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50" b="1" i="0">
                <a:solidFill>
                  <a:srgbClr val="C00000"/>
                </a:solidFill>
                <a:latin typeface="Arial"/>
              </a:rPr>
              <a:t>Q.  </a:t>
            </a:r>
            <a:r>
              <a:rPr sz="1150" b="1" i="0">
                <a:solidFill>
                  <a:srgbClr val="000000"/>
                </a:solidFill>
                <a:latin typeface="Arial"/>
              </a:rPr>
              <a:t>A team building an Azure-hosted internal tool wants a code-level security bar. Which do they start with?</a:t>
            </a:r>
          </a:p>
          <a:p>
            <a:pPr>
              <a:spcBef>
                <a:spcPts val="400"/>
              </a:spcBef>
            </a:pPr>
            <a:r>
              <a:rPr sz="1030" b="0" i="0">
                <a:solidFill>
                  <a:srgbClr val="555555"/>
                </a:solidFill>
                <a:latin typeface="Arial"/>
              </a:rPr>
              <a:t>(a) OWASP ASVS L2    (b) Microsoft MCSB alone    (c) Neither is needed</a:t>
            </a:r>
          </a:p>
          <a:p>
            <a:pPr>
              <a:spcBef>
                <a:spcPts val="800"/>
              </a:spcBef>
            </a:pPr>
            <a:r>
              <a:rPr sz="1030" b="1" i="0">
                <a:solidFill>
                  <a:srgbClr val="2E7D32"/>
                </a:solidFill>
                <a:latin typeface="Arial"/>
              </a:rPr>
              <a:t>Ans.  </a:t>
            </a:r>
            <a:r>
              <a:rPr sz="1030" b="0" i="0">
                <a:solidFill>
                  <a:srgbClr val="000000"/>
                </a:solidFill>
                <a:latin typeface="Arial"/>
              </a:rPr>
              <a:t>(a) ASVS L2 sets the code-level bar; MCSB should still be layered on top for the Azure config.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5300000"/>
            <a:ext cx="7598664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1F4E79"/>
                </a:solidFill>
                <a:latin typeface="Arial"/>
              </a:rPr>
              <a:t>Most mature programs run both: OWASP ASVS as the code-level bar, Microsoft-style baselines for cloud config — layered, not either/or.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9221</Words>
  <Application>Microsoft Office PowerPoint</Application>
  <PresentationFormat>On-screen Show (4:3)</PresentationFormat>
  <Paragraphs>966</Paragraphs>
  <Slides>55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ZG566 Modules 2 &amp; 3 — Exam Study Guide</dc:title>
  <dc:subject>PptxGenJS Presentation</dc:subject>
  <dc:creator>Bhaskar Zeminder</dc:creator>
  <cp:lastModifiedBy>Bhaskar Zeminder</cp:lastModifiedBy>
  <cp:revision>8</cp:revision>
  <dcterms:created xsi:type="dcterms:W3CDTF">2026-08-21T08:31:25Z</dcterms:created>
  <dcterms:modified xsi:type="dcterms:W3CDTF">2026-08-22T15:06:10Z</dcterms:modified>
</cp:coreProperties>
</file>