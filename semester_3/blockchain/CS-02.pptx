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2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notesSlides/notesSlide1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8" r:id="rId2"/>
  </p:sldMasterIdLst>
  <p:notesMasterIdLst>
    <p:notesMasterId r:id="rId44"/>
  </p:notesMasterIdLst>
  <p:sldIdLst>
    <p:sldId id="256" r:id="rId3"/>
    <p:sldId id="257" r:id="rId4"/>
    <p:sldId id="260" r:id="rId5"/>
    <p:sldId id="351" r:id="rId6"/>
    <p:sldId id="261" r:id="rId7"/>
    <p:sldId id="352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2" r:id="rId18"/>
    <p:sldId id="363" r:id="rId19"/>
    <p:sldId id="364" r:id="rId20"/>
    <p:sldId id="365" r:id="rId21"/>
    <p:sldId id="366" r:id="rId22"/>
    <p:sldId id="367" r:id="rId23"/>
    <p:sldId id="368" r:id="rId24"/>
    <p:sldId id="369" r:id="rId25"/>
    <p:sldId id="370" r:id="rId26"/>
    <p:sldId id="371" r:id="rId27"/>
    <p:sldId id="372" r:id="rId28"/>
    <p:sldId id="373" r:id="rId29"/>
    <p:sldId id="374" r:id="rId30"/>
    <p:sldId id="375" r:id="rId31"/>
    <p:sldId id="376" r:id="rId32"/>
    <p:sldId id="377" r:id="rId33"/>
    <p:sldId id="380" r:id="rId34"/>
    <p:sldId id="378" r:id="rId35"/>
    <p:sldId id="383" r:id="rId36"/>
    <p:sldId id="384" r:id="rId37"/>
    <p:sldId id="385" r:id="rId38"/>
    <p:sldId id="386" r:id="rId39"/>
    <p:sldId id="387" r:id="rId40"/>
    <p:sldId id="379" r:id="rId41"/>
    <p:sldId id="381" r:id="rId42"/>
    <p:sldId id="315" r:id="rId4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0" roundtripDataSignature="AMtx7miuSeqmg832KJR4TrulSr/XVuIC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7"/>
  </p:normalViewPr>
  <p:slideViewPr>
    <p:cSldViewPr snapToGrid="0">
      <p:cViewPr varScale="1">
        <p:scale>
          <a:sx n="101" d="100"/>
          <a:sy n="101" d="100"/>
        </p:scale>
        <p:origin x="18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76" Type="http://schemas.openxmlformats.org/officeDocument/2006/relationships/customXml" Target="../customXml/item2.xml"/><Relationship Id="rId7" Type="http://schemas.openxmlformats.org/officeDocument/2006/relationships/slide" Target="slides/slide5.xml"/><Relationship Id="rId71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7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73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77" Type="http://schemas.openxmlformats.org/officeDocument/2006/relationships/customXml" Target="../customXml/item3.xml"/><Relationship Id="rId8" Type="http://schemas.openxmlformats.org/officeDocument/2006/relationships/slide" Target="slides/slide6.xml"/><Relationship Id="rId72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70" Type="http://customschemas.google.com/relationships/presentationmetadata" Target="metadata"/><Relationship Id="rId75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9375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3218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63980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8447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53567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08424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41638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88737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59096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90345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03622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95253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3277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50208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54001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82871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0303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36480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70432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1360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8142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61473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28997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46193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29878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89161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88999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42371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38561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369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74791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21348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224352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762554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002894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28395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endParaRPr/>
          </a:p>
        </p:txBody>
      </p:sp>
      <p:sp>
        <p:nvSpPr>
          <p:cNvPr id="694" name="Google Shape;694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6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62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62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4;p62" descr="Picture 10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62"/>
          <p:cNvSpPr txBox="1"/>
          <p:nvPr/>
        </p:nvSpPr>
        <p:spPr>
          <a:xfrm>
            <a:off x="-30481" y="5257800"/>
            <a:ext cx="2118362" cy="498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62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>
                <a:solidFill>
                  <a:srgbClr val="FFFFFF"/>
                </a:solidFill>
              </a:defRPr>
            </a:lvl1pPr>
            <a:lvl2pPr marL="914400" lvl="1" indent="-3429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–"/>
              <a:defRPr sz="1800">
                <a:solidFill>
                  <a:srgbClr val="FFFFFF"/>
                </a:solidFill>
              </a:defRPr>
            </a:lvl2pPr>
            <a:lvl3pPr marL="1371600" lvl="2" indent="-3429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defRPr sz="1800">
                <a:solidFill>
                  <a:srgbClr val="FFFFFF"/>
                </a:solidFill>
              </a:defRPr>
            </a:lvl3pPr>
            <a:lvl4pPr marL="1828800" lvl="3" indent="-3429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–"/>
              <a:defRPr sz="1800">
                <a:solidFill>
                  <a:srgbClr val="FFFFFF"/>
                </a:solidFill>
              </a:defRPr>
            </a:lvl4pPr>
            <a:lvl5pPr marL="2286000" lvl="4" indent="-3429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»"/>
              <a:defRPr sz="1800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62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62"/>
          <p:cNvSpPr txBox="1">
            <a:spLocks noGrp="1"/>
          </p:cNvSpPr>
          <p:nvPr>
            <p:ph type="sldNum" idx="1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bg>
      <p:bgPr>
        <a:solidFill>
          <a:srgbClr val="FFFFFF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63" descr="Picture 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6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63" descr="Picture 8"/>
          <p:cNvPicPr preferRelativeResize="0"/>
          <p:nvPr/>
        </p:nvPicPr>
        <p:blipFill rotWithShape="1">
          <a:blip r:embed="rId3">
            <a:alphaModFix/>
          </a:blip>
          <a:srcRect t="2677" b="2676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63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63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63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63"/>
          <p:cNvSpPr txBox="1"/>
          <p:nvPr/>
        </p:nvSpPr>
        <p:spPr>
          <a:xfrm>
            <a:off x="6903719" y="762000"/>
            <a:ext cx="2118362" cy="498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7" name="Google Shape;27;p63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sz="4000" b="1"/>
            </a:lvl1pPr>
            <a:lvl2pPr marL="914400" lvl="1" indent="-482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–"/>
              <a:defRPr sz="4000" b="1"/>
            </a:lvl2pPr>
            <a:lvl3pPr marL="1371600" lvl="2" indent="-482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  <a:defRPr sz="4000" b="1"/>
            </a:lvl3pPr>
            <a:lvl4pPr marL="1828800" lvl="3" indent="-482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–"/>
              <a:defRPr sz="4000" b="1"/>
            </a:lvl4pPr>
            <a:lvl5pPr marL="2286000" lvl="4" indent="-482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»"/>
              <a:defRPr sz="4000" b="1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63"/>
          <p:cNvSpPr txBox="1">
            <a:spLocks noGrp="1"/>
          </p:cNvSpPr>
          <p:nvPr>
            <p:ph type="sldNum" idx="1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Picture with Caption">
  <p:cSld name="3_Picture with Caption">
    <p:bg>
      <p:bgPr>
        <a:solidFill>
          <a:srgbClr val="FFFFFF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66"/>
          <p:cNvGrpSpPr/>
          <p:nvPr/>
        </p:nvGrpSpPr>
        <p:grpSpPr>
          <a:xfrm>
            <a:off x="-702671" y="-883443"/>
            <a:ext cx="10499751" cy="9147815"/>
            <a:chOff x="-702671" y="-883443"/>
            <a:chExt cx="10499751" cy="9147815"/>
          </a:xfrm>
        </p:grpSpPr>
        <p:pic>
          <p:nvPicPr>
            <p:cNvPr id="31" name="Google Shape;31;p6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4121095">
              <a:off x="-211367" y="4076943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32;p6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883072" y="4248324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6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-654317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Google Shape;34;p6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4121095">
              <a:off x="5975941" y="-392139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" name="Google Shape;35;p66"/>
            <p:cNvGrpSpPr/>
            <p:nvPr/>
          </p:nvGrpSpPr>
          <p:grpSpPr>
            <a:xfrm>
              <a:off x="-1" y="0"/>
              <a:ext cx="9144003" cy="6857673"/>
              <a:chOff x="-1" y="0"/>
              <a:chExt cx="9144003" cy="6857673"/>
            </a:xfrm>
          </p:grpSpPr>
          <p:grpSp>
            <p:nvGrpSpPr>
              <p:cNvPr id="36" name="Google Shape;36;p66"/>
              <p:cNvGrpSpPr/>
              <p:nvPr/>
            </p:nvGrpSpPr>
            <p:grpSpPr>
              <a:xfrm>
                <a:off x="-1" y="1295400"/>
                <a:ext cx="7010403" cy="46039"/>
                <a:chOff x="-1" y="0"/>
                <a:chExt cx="7010402" cy="46038"/>
              </a:xfrm>
            </p:grpSpPr>
            <p:sp>
              <p:nvSpPr>
                <p:cNvPr id="37" name="Google Shape;37;p66"/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" name="Google Shape;38;p66"/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" name="Google Shape;39;p66"/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0" name="Google Shape;40;p66"/>
              <p:cNvGrpSpPr/>
              <p:nvPr/>
            </p:nvGrpSpPr>
            <p:grpSpPr>
              <a:xfrm>
                <a:off x="2133599" y="6553200"/>
                <a:ext cx="7010403" cy="46039"/>
                <a:chOff x="-1" y="0"/>
                <a:chExt cx="7010402" cy="46038"/>
              </a:xfrm>
            </p:grpSpPr>
            <p:sp>
              <p:nvSpPr>
                <p:cNvPr id="41" name="Google Shape;41;p66"/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" name="Google Shape;42;p66"/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" name="Google Shape;43;p66"/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44" name="Google Shape;44;p66" descr="Picture 14"/>
              <p:cNvPicPr preferRelativeResize="0"/>
              <p:nvPr/>
            </p:nvPicPr>
            <p:blipFill rotWithShape="1">
              <a:blip r:embed="rId3">
                <a:alphaModFix/>
              </a:blip>
              <a:srcRect t="2677" b="2676"/>
              <a:stretch/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" name="Google Shape;45;p66"/>
              <p:cNvSpPr txBox="1"/>
              <p:nvPr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sp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01141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101141"/>
                    </a:solidFill>
                    <a:latin typeface="Arial"/>
                    <a:ea typeface="Arial"/>
                    <a:cs typeface="Arial"/>
                    <a:sym typeface="Arial"/>
                  </a:rPr>
                  <a:t>BITS </a:t>
                </a:r>
                <a:r>
                  <a:rPr lang="en-US" sz="1100" b="0" i="0" u="none" strike="noStrike" cap="none">
                    <a:solidFill>
                      <a:srgbClr val="101141"/>
                    </a:solidFill>
                    <a:latin typeface="Arial"/>
                    <a:ea typeface="Arial"/>
                    <a:cs typeface="Arial"/>
                    <a:sym typeface="Arial"/>
                  </a:rPr>
                  <a:t>Pilani, Deemed to be University under Section 3 of UGC Act, 1956</a:t>
                </a:r>
                <a:endParaRPr/>
              </a:p>
            </p:txBody>
          </p:sp>
        </p:grpSp>
        <p:pic>
          <p:nvPicPr>
            <p:cNvPr id="46" name="Google Shape;46;p6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66657" y="2807158"/>
              <a:ext cx="1410686" cy="14106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" name="Google Shape;47;p6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1789776">
              <a:off x="1980952" y="2061094"/>
              <a:ext cx="5246055" cy="524605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7"/>
          <p:cNvSpPr txBox="1">
            <a:spLocks noGrp="1"/>
          </p:cNvSpPr>
          <p:nvPr>
            <p:ph type="sldNum" idx="1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67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7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7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" name="Google Shape;54;p67" descr="Picture 10"/>
          <p:cNvPicPr preferRelativeResize="0"/>
          <p:nvPr/>
        </p:nvPicPr>
        <p:blipFill rotWithShape="1">
          <a:blip r:embed="rId2">
            <a:alphaModFix/>
          </a:blip>
          <a:srcRect t="2" b="28592"/>
          <a:stretch/>
        </p:blipFill>
        <p:spPr>
          <a:xfrm>
            <a:off x="76200" y="3352800"/>
            <a:ext cx="2057400" cy="197961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7"/>
          <p:cNvSpPr txBox="1"/>
          <p:nvPr/>
        </p:nvSpPr>
        <p:spPr>
          <a:xfrm>
            <a:off x="-30481" y="5257800"/>
            <a:ext cx="2118362" cy="498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7"/>
          <p:cNvSpPr txBox="1">
            <a:spLocks noGrp="1"/>
          </p:cNvSpPr>
          <p:nvPr>
            <p:ph type="title"/>
          </p:nvPr>
        </p:nvSpPr>
        <p:spPr>
          <a:xfrm>
            <a:off x="2667000" y="3898061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bg>
      <p:bgPr>
        <a:solidFill>
          <a:srgbClr val="FFFFFF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68"/>
          <p:cNvGrpSpPr/>
          <p:nvPr/>
        </p:nvGrpSpPr>
        <p:grpSpPr>
          <a:xfrm>
            <a:off x="-702671" y="-883443"/>
            <a:ext cx="10499751" cy="9147815"/>
            <a:chOff x="-702671" y="-883443"/>
            <a:chExt cx="10499751" cy="9147815"/>
          </a:xfrm>
        </p:grpSpPr>
        <p:pic>
          <p:nvPicPr>
            <p:cNvPr id="59" name="Google Shape;59;p68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4121095">
              <a:off x="-211367" y="4076943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68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883072" y="4248324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68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-654317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2;p68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4121095">
              <a:off x="5975941" y="-392139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" name="Google Shape;63;p68"/>
            <p:cNvGrpSpPr/>
            <p:nvPr/>
          </p:nvGrpSpPr>
          <p:grpSpPr>
            <a:xfrm>
              <a:off x="-1" y="0"/>
              <a:ext cx="9144003" cy="6857673"/>
              <a:chOff x="-1" y="0"/>
              <a:chExt cx="9144003" cy="6857673"/>
            </a:xfrm>
          </p:grpSpPr>
          <p:grpSp>
            <p:nvGrpSpPr>
              <p:cNvPr id="64" name="Google Shape;64;p68"/>
              <p:cNvGrpSpPr/>
              <p:nvPr/>
            </p:nvGrpSpPr>
            <p:grpSpPr>
              <a:xfrm>
                <a:off x="-1" y="1295400"/>
                <a:ext cx="7010403" cy="46039"/>
                <a:chOff x="-1" y="0"/>
                <a:chExt cx="7010402" cy="46038"/>
              </a:xfrm>
            </p:grpSpPr>
            <p:sp>
              <p:nvSpPr>
                <p:cNvPr id="65" name="Google Shape;65;p68"/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" name="Google Shape;66;p68"/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" name="Google Shape;67;p68"/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8" name="Google Shape;68;p68"/>
              <p:cNvGrpSpPr/>
              <p:nvPr/>
            </p:nvGrpSpPr>
            <p:grpSpPr>
              <a:xfrm>
                <a:off x="2133599" y="6553200"/>
                <a:ext cx="7010403" cy="46039"/>
                <a:chOff x="-1" y="0"/>
                <a:chExt cx="7010402" cy="46038"/>
              </a:xfrm>
            </p:grpSpPr>
            <p:sp>
              <p:nvSpPr>
                <p:cNvPr id="69" name="Google Shape;69;p68"/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" name="Google Shape;70;p68"/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" name="Google Shape;71;p68"/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72" name="Google Shape;72;p68" descr="Picture 14"/>
              <p:cNvPicPr preferRelativeResize="0"/>
              <p:nvPr/>
            </p:nvPicPr>
            <p:blipFill rotWithShape="1">
              <a:blip r:embed="rId3">
                <a:alphaModFix/>
              </a:blip>
              <a:srcRect t="2677" b="2676"/>
              <a:stretch/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3" name="Google Shape;73;p68"/>
              <p:cNvSpPr txBox="1"/>
              <p:nvPr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sp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01141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101141"/>
                    </a:solidFill>
                    <a:latin typeface="Arial"/>
                    <a:ea typeface="Arial"/>
                    <a:cs typeface="Arial"/>
                    <a:sym typeface="Arial"/>
                  </a:rPr>
                  <a:t>BITS </a:t>
                </a:r>
                <a:r>
                  <a:rPr lang="en-US" sz="1100" b="0" i="0" u="none" strike="noStrike" cap="none">
                    <a:solidFill>
                      <a:srgbClr val="101141"/>
                    </a:solidFill>
                    <a:latin typeface="Arial"/>
                    <a:ea typeface="Arial"/>
                    <a:cs typeface="Arial"/>
                    <a:sym typeface="Arial"/>
                  </a:rPr>
                  <a:t>Pilani, Deemed to be University under Section 3 of UGC Act, 1956</a:t>
                </a:r>
                <a:endParaRPr/>
              </a:p>
            </p:txBody>
          </p:sp>
        </p:grpSp>
        <p:pic>
          <p:nvPicPr>
            <p:cNvPr id="74" name="Google Shape;74;p6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66657" y="2807158"/>
              <a:ext cx="1410686" cy="14106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68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1789776">
              <a:off x="1980952" y="2061094"/>
              <a:ext cx="5246055" cy="52460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" name="Google Shape;76;p68"/>
          <p:cNvSpPr txBox="1">
            <a:spLocks noGrp="1"/>
          </p:cNvSpPr>
          <p:nvPr>
            <p:ph type="body" idx="1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/>
            </a:lvl1pPr>
            <a:lvl2pPr marL="914400" lvl="1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sz="2800"/>
            </a:lvl2pPr>
            <a:lvl3pPr marL="1371600" lvl="2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/>
            </a:lvl3pPr>
            <a:lvl4pPr marL="1828800" lvl="3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sz="2800"/>
            </a:lvl4pPr>
            <a:lvl5pPr marL="2286000" lvl="4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»"/>
              <a:defRPr sz="2800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68"/>
          <p:cNvSpPr txBox="1">
            <a:spLocks noGrp="1"/>
          </p:cNvSpPr>
          <p:nvPr>
            <p:ph type="sldNum" idx="1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bg>
      <p:bgPr>
        <a:solidFill>
          <a:srgbClr val="FFFFFF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69"/>
          <p:cNvGrpSpPr/>
          <p:nvPr/>
        </p:nvGrpSpPr>
        <p:grpSpPr>
          <a:xfrm>
            <a:off x="-702671" y="-883443"/>
            <a:ext cx="10499751" cy="9147815"/>
            <a:chOff x="-702671" y="-883443"/>
            <a:chExt cx="10499751" cy="9147815"/>
          </a:xfrm>
        </p:grpSpPr>
        <p:pic>
          <p:nvPicPr>
            <p:cNvPr id="80" name="Google Shape;80;p6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4121095">
              <a:off x="-211367" y="4076943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6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883072" y="4248324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6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-654317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6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4121095">
              <a:off x="5975941" y="-392139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4" name="Google Shape;84;p69"/>
            <p:cNvGrpSpPr/>
            <p:nvPr/>
          </p:nvGrpSpPr>
          <p:grpSpPr>
            <a:xfrm>
              <a:off x="-1" y="0"/>
              <a:ext cx="9144003" cy="6857673"/>
              <a:chOff x="-1" y="0"/>
              <a:chExt cx="9144003" cy="6857673"/>
            </a:xfrm>
          </p:grpSpPr>
          <p:grpSp>
            <p:nvGrpSpPr>
              <p:cNvPr id="85" name="Google Shape;85;p69"/>
              <p:cNvGrpSpPr/>
              <p:nvPr/>
            </p:nvGrpSpPr>
            <p:grpSpPr>
              <a:xfrm>
                <a:off x="-1" y="1295400"/>
                <a:ext cx="7010403" cy="46039"/>
                <a:chOff x="-1" y="0"/>
                <a:chExt cx="7010402" cy="46038"/>
              </a:xfrm>
            </p:grpSpPr>
            <p:sp>
              <p:nvSpPr>
                <p:cNvPr id="86" name="Google Shape;86;p69"/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" name="Google Shape;87;p69"/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" name="Google Shape;88;p69"/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9" name="Google Shape;89;p69"/>
              <p:cNvGrpSpPr/>
              <p:nvPr/>
            </p:nvGrpSpPr>
            <p:grpSpPr>
              <a:xfrm>
                <a:off x="2133599" y="6553200"/>
                <a:ext cx="7010403" cy="46039"/>
                <a:chOff x="-1" y="0"/>
                <a:chExt cx="7010402" cy="46038"/>
              </a:xfrm>
            </p:grpSpPr>
            <p:sp>
              <p:nvSpPr>
                <p:cNvPr id="90" name="Google Shape;90;p69"/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" name="Google Shape;91;p69"/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" name="Google Shape;92;p69"/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93" name="Google Shape;93;p69" descr="Picture 14"/>
              <p:cNvPicPr preferRelativeResize="0"/>
              <p:nvPr/>
            </p:nvPicPr>
            <p:blipFill rotWithShape="1">
              <a:blip r:embed="rId3">
                <a:alphaModFix/>
              </a:blip>
              <a:srcRect t="2677" b="2676"/>
              <a:stretch/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4" name="Google Shape;94;p69"/>
              <p:cNvSpPr txBox="1"/>
              <p:nvPr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sp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01141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101141"/>
                    </a:solidFill>
                    <a:latin typeface="Arial"/>
                    <a:ea typeface="Arial"/>
                    <a:cs typeface="Arial"/>
                    <a:sym typeface="Arial"/>
                  </a:rPr>
                  <a:t>BITS </a:t>
                </a:r>
                <a:r>
                  <a:rPr lang="en-US" sz="1100" b="0" i="0" u="none" strike="noStrike" cap="none">
                    <a:solidFill>
                      <a:srgbClr val="101141"/>
                    </a:solidFill>
                    <a:latin typeface="Arial"/>
                    <a:ea typeface="Arial"/>
                    <a:cs typeface="Arial"/>
                    <a:sym typeface="Arial"/>
                  </a:rPr>
                  <a:t>Pilani, Deemed to be University under Section 3 of UGC Act, 1956</a:t>
                </a:r>
                <a:endParaRPr/>
              </a:p>
            </p:txBody>
          </p:sp>
        </p:grpSp>
        <p:pic>
          <p:nvPicPr>
            <p:cNvPr id="95" name="Google Shape;95;p6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66657" y="2807158"/>
              <a:ext cx="1410686" cy="14106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6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1789776">
              <a:off x="1980952" y="2061094"/>
              <a:ext cx="5246055" cy="52460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7" name="Google Shape;97;p69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69"/>
          <p:cNvSpPr txBox="1">
            <a:spLocks noGrp="1"/>
          </p:cNvSpPr>
          <p:nvPr>
            <p:ph type="body" idx="2"/>
          </p:nvPr>
        </p:nvSpPr>
        <p:spPr>
          <a:xfrm>
            <a:off x="4645025" y="1535112"/>
            <a:ext cx="4041775" cy="827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69"/>
          <p:cNvSpPr txBox="1">
            <a:spLocks noGrp="1"/>
          </p:cNvSpPr>
          <p:nvPr>
            <p:ph type="sldNum" idx="1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bg>
      <p:bgPr>
        <a:solidFill>
          <a:srgbClr val="FFFFFF">
            <a:alpha val="72156"/>
          </a:srgbClr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70"/>
          <p:cNvGrpSpPr/>
          <p:nvPr/>
        </p:nvGrpSpPr>
        <p:grpSpPr>
          <a:xfrm>
            <a:off x="-702671" y="-883443"/>
            <a:ext cx="10499751" cy="9147815"/>
            <a:chOff x="-702671" y="-883443"/>
            <a:chExt cx="10499751" cy="9147815"/>
          </a:xfrm>
        </p:grpSpPr>
        <p:pic>
          <p:nvPicPr>
            <p:cNvPr id="102" name="Google Shape;102;p7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4121095">
              <a:off x="-211367" y="4076943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7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883072" y="4248324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7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-654317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7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4121095">
              <a:off x="5975941" y="-392139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6" name="Google Shape;106;p70"/>
            <p:cNvGrpSpPr/>
            <p:nvPr/>
          </p:nvGrpSpPr>
          <p:grpSpPr>
            <a:xfrm>
              <a:off x="-1" y="0"/>
              <a:ext cx="9144003" cy="6857673"/>
              <a:chOff x="-1" y="0"/>
              <a:chExt cx="9144003" cy="6857673"/>
            </a:xfrm>
          </p:grpSpPr>
          <p:grpSp>
            <p:nvGrpSpPr>
              <p:cNvPr id="107" name="Google Shape;107;p70"/>
              <p:cNvGrpSpPr/>
              <p:nvPr/>
            </p:nvGrpSpPr>
            <p:grpSpPr>
              <a:xfrm>
                <a:off x="-1" y="1295400"/>
                <a:ext cx="7010403" cy="46039"/>
                <a:chOff x="-1" y="0"/>
                <a:chExt cx="7010402" cy="46038"/>
              </a:xfrm>
            </p:grpSpPr>
            <p:sp>
              <p:nvSpPr>
                <p:cNvPr id="108" name="Google Shape;108;p70"/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" name="Google Shape;109;p70"/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" name="Google Shape;110;p70"/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1" name="Google Shape;111;p70"/>
              <p:cNvGrpSpPr/>
              <p:nvPr/>
            </p:nvGrpSpPr>
            <p:grpSpPr>
              <a:xfrm>
                <a:off x="2133599" y="6553200"/>
                <a:ext cx="7010403" cy="46039"/>
                <a:chOff x="-1" y="0"/>
                <a:chExt cx="7010402" cy="46038"/>
              </a:xfrm>
            </p:grpSpPr>
            <p:sp>
              <p:nvSpPr>
                <p:cNvPr id="112" name="Google Shape;112;p70"/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" name="Google Shape;113;p70"/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" name="Google Shape;114;p70"/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115" name="Google Shape;115;p70" descr="Picture 14"/>
              <p:cNvPicPr preferRelativeResize="0"/>
              <p:nvPr/>
            </p:nvPicPr>
            <p:blipFill rotWithShape="1">
              <a:blip r:embed="rId3">
                <a:alphaModFix/>
              </a:blip>
              <a:srcRect t="2677" b="2676"/>
              <a:stretch/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6" name="Google Shape;116;p70"/>
              <p:cNvSpPr txBox="1"/>
              <p:nvPr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sp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01141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101141"/>
                    </a:solidFill>
                    <a:latin typeface="Arial"/>
                    <a:ea typeface="Arial"/>
                    <a:cs typeface="Arial"/>
                    <a:sym typeface="Arial"/>
                  </a:rPr>
                  <a:t>BITS </a:t>
                </a:r>
                <a:r>
                  <a:rPr lang="en-US" sz="1100" b="0" i="0" u="none" strike="noStrike" cap="none">
                    <a:solidFill>
                      <a:srgbClr val="101141"/>
                    </a:solidFill>
                    <a:latin typeface="Arial"/>
                    <a:ea typeface="Arial"/>
                    <a:cs typeface="Arial"/>
                    <a:sym typeface="Arial"/>
                  </a:rPr>
                  <a:t>Pilani, Deemed to be University under Section 3 of UGC Act, 1956</a:t>
                </a:r>
                <a:endParaRPr/>
              </a:p>
            </p:txBody>
          </p:sp>
        </p:grpSp>
        <p:pic>
          <p:nvPicPr>
            <p:cNvPr id="117" name="Google Shape;117;p7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66657" y="2807158"/>
              <a:ext cx="1410686" cy="14106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7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1789776">
              <a:off x="1980952" y="2061094"/>
              <a:ext cx="5246055" cy="52460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" name="Google Shape;119;p70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1"/>
            </a:lvl1pPr>
            <a:lvl2pPr marL="914400" lvl="1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1"/>
            </a:lvl2pPr>
            <a:lvl3pPr marL="1371600" lvl="2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1"/>
            </a:lvl3pPr>
            <a:lvl4pPr marL="1828800" lvl="3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1"/>
            </a:lvl4pPr>
            <a:lvl5pPr marL="2286000" lvl="4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1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70"/>
          <p:cNvSpPr txBox="1">
            <a:spLocks noGrp="1"/>
          </p:cNvSpPr>
          <p:nvPr>
            <p:ph type="sldNum" idx="1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71"/>
          <p:cNvGrpSpPr/>
          <p:nvPr/>
        </p:nvGrpSpPr>
        <p:grpSpPr>
          <a:xfrm>
            <a:off x="-702671" y="-883443"/>
            <a:ext cx="10499751" cy="9147815"/>
            <a:chOff x="-702671" y="-883443"/>
            <a:chExt cx="10499751" cy="9147815"/>
          </a:xfrm>
        </p:grpSpPr>
        <p:pic>
          <p:nvPicPr>
            <p:cNvPr id="123" name="Google Shape;123;p7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4121095">
              <a:off x="-211367" y="4076943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7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883072" y="4248324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7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-654317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7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4121095">
              <a:off x="5975941" y="-392139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7" name="Google Shape;127;p71"/>
            <p:cNvGrpSpPr/>
            <p:nvPr/>
          </p:nvGrpSpPr>
          <p:grpSpPr>
            <a:xfrm>
              <a:off x="-1" y="0"/>
              <a:ext cx="9144003" cy="6857673"/>
              <a:chOff x="-1" y="0"/>
              <a:chExt cx="9144003" cy="6857673"/>
            </a:xfrm>
          </p:grpSpPr>
          <p:grpSp>
            <p:nvGrpSpPr>
              <p:cNvPr id="128" name="Google Shape;128;p71"/>
              <p:cNvGrpSpPr/>
              <p:nvPr/>
            </p:nvGrpSpPr>
            <p:grpSpPr>
              <a:xfrm>
                <a:off x="-1" y="1295400"/>
                <a:ext cx="7010403" cy="46039"/>
                <a:chOff x="-1" y="0"/>
                <a:chExt cx="7010402" cy="46038"/>
              </a:xfrm>
            </p:grpSpPr>
            <p:sp>
              <p:nvSpPr>
                <p:cNvPr id="129" name="Google Shape;129;p71"/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" name="Google Shape;130;p71"/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" name="Google Shape;131;p71"/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2" name="Google Shape;132;p71"/>
              <p:cNvGrpSpPr/>
              <p:nvPr/>
            </p:nvGrpSpPr>
            <p:grpSpPr>
              <a:xfrm>
                <a:off x="2133599" y="6553200"/>
                <a:ext cx="7010403" cy="46039"/>
                <a:chOff x="-1" y="0"/>
                <a:chExt cx="7010402" cy="46038"/>
              </a:xfrm>
            </p:grpSpPr>
            <p:sp>
              <p:nvSpPr>
                <p:cNvPr id="133" name="Google Shape;133;p71"/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" name="Google Shape;134;p71"/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" name="Google Shape;135;p71"/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136" name="Google Shape;136;p71" descr="Picture 14"/>
              <p:cNvPicPr preferRelativeResize="0"/>
              <p:nvPr/>
            </p:nvPicPr>
            <p:blipFill rotWithShape="1">
              <a:blip r:embed="rId3">
                <a:alphaModFix/>
              </a:blip>
              <a:srcRect t="2677" b="2676"/>
              <a:stretch/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7" name="Google Shape;137;p71"/>
              <p:cNvSpPr txBox="1"/>
              <p:nvPr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sp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01141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101141"/>
                    </a:solidFill>
                    <a:latin typeface="Arial"/>
                    <a:ea typeface="Arial"/>
                    <a:cs typeface="Arial"/>
                    <a:sym typeface="Arial"/>
                  </a:rPr>
                  <a:t>BITS </a:t>
                </a:r>
                <a:r>
                  <a:rPr lang="en-US" sz="1100" b="0" i="0" u="none" strike="noStrike" cap="none">
                    <a:solidFill>
                      <a:srgbClr val="101141"/>
                    </a:solidFill>
                    <a:latin typeface="Arial"/>
                    <a:ea typeface="Arial"/>
                    <a:cs typeface="Arial"/>
                    <a:sym typeface="Arial"/>
                  </a:rPr>
                  <a:t>Pilani, Deemed to be University under Section 3 of UGC Act, 1956</a:t>
                </a:r>
                <a:endParaRPr/>
              </a:p>
            </p:txBody>
          </p:sp>
        </p:grpSp>
        <p:pic>
          <p:nvPicPr>
            <p:cNvPr id="138" name="Google Shape;138;p7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66657" y="2807158"/>
              <a:ext cx="1410686" cy="14106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7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1789776">
              <a:off x="1980952" y="2061094"/>
              <a:ext cx="5246055" cy="52460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0" name="Google Shape;140;p71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71"/>
          <p:cNvSpPr txBox="1">
            <a:spLocks noGrp="1"/>
          </p:cNvSpPr>
          <p:nvPr>
            <p:ph type="body" idx="2"/>
          </p:nvPr>
        </p:nvSpPr>
        <p:spPr>
          <a:xfrm>
            <a:off x="457199" y="1600200"/>
            <a:ext cx="3008315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71"/>
          <p:cNvSpPr txBox="1">
            <a:spLocks noGrp="1"/>
          </p:cNvSpPr>
          <p:nvPr>
            <p:ph type="sldNum" idx="1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72"/>
          <p:cNvGrpSpPr/>
          <p:nvPr/>
        </p:nvGrpSpPr>
        <p:grpSpPr>
          <a:xfrm>
            <a:off x="-702671" y="-883443"/>
            <a:ext cx="10499751" cy="9147815"/>
            <a:chOff x="-702671" y="-883443"/>
            <a:chExt cx="10499751" cy="9147815"/>
          </a:xfrm>
        </p:grpSpPr>
        <p:pic>
          <p:nvPicPr>
            <p:cNvPr id="145" name="Google Shape;145;p72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4121095">
              <a:off x="-211367" y="4076943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72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883072" y="4248324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" name="Google Shape;147;p72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-654317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72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4121095">
              <a:off x="5975941" y="-392139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" name="Google Shape;149;p72"/>
            <p:cNvGrpSpPr/>
            <p:nvPr/>
          </p:nvGrpSpPr>
          <p:grpSpPr>
            <a:xfrm>
              <a:off x="-1" y="0"/>
              <a:ext cx="9144003" cy="6857673"/>
              <a:chOff x="-1" y="0"/>
              <a:chExt cx="9144003" cy="6857673"/>
            </a:xfrm>
          </p:grpSpPr>
          <p:grpSp>
            <p:nvGrpSpPr>
              <p:cNvPr id="150" name="Google Shape;150;p72"/>
              <p:cNvGrpSpPr/>
              <p:nvPr/>
            </p:nvGrpSpPr>
            <p:grpSpPr>
              <a:xfrm>
                <a:off x="-1" y="1295400"/>
                <a:ext cx="7010403" cy="46039"/>
                <a:chOff x="-1" y="0"/>
                <a:chExt cx="7010402" cy="46038"/>
              </a:xfrm>
            </p:grpSpPr>
            <p:sp>
              <p:nvSpPr>
                <p:cNvPr id="151" name="Google Shape;151;p72"/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" name="Google Shape;152;p72"/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" name="Google Shape;153;p72"/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4" name="Google Shape;154;p72"/>
              <p:cNvGrpSpPr/>
              <p:nvPr/>
            </p:nvGrpSpPr>
            <p:grpSpPr>
              <a:xfrm>
                <a:off x="2133599" y="6553200"/>
                <a:ext cx="7010403" cy="46039"/>
                <a:chOff x="-1" y="0"/>
                <a:chExt cx="7010402" cy="46038"/>
              </a:xfrm>
            </p:grpSpPr>
            <p:sp>
              <p:nvSpPr>
                <p:cNvPr id="155" name="Google Shape;155;p72"/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" name="Google Shape;156;p72"/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" name="Google Shape;157;p72"/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158" name="Google Shape;158;p72" descr="Picture 14"/>
              <p:cNvPicPr preferRelativeResize="0"/>
              <p:nvPr/>
            </p:nvPicPr>
            <p:blipFill rotWithShape="1">
              <a:blip r:embed="rId3">
                <a:alphaModFix/>
              </a:blip>
              <a:srcRect t="2677" b="2676"/>
              <a:stretch/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9" name="Google Shape;159;p72"/>
              <p:cNvSpPr txBox="1"/>
              <p:nvPr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sp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01141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101141"/>
                    </a:solidFill>
                    <a:latin typeface="Arial"/>
                    <a:ea typeface="Arial"/>
                    <a:cs typeface="Arial"/>
                    <a:sym typeface="Arial"/>
                  </a:rPr>
                  <a:t>BITS </a:t>
                </a:r>
                <a:r>
                  <a:rPr lang="en-US" sz="1100" b="0" i="0" u="none" strike="noStrike" cap="none">
                    <a:solidFill>
                      <a:srgbClr val="101141"/>
                    </a:solidFill>
                    <a:latin typeface="Arial"/>
                    <a:ea typeface="Arial"/>
                    <a:cs typeface="Arial"/>
                    <a:sym typeface="Arial"/>
                  </a:rPr>
                  <a:t>Pilani, Deemed to be University under Section 3 of UGC Act, 1956</a:t>
                </a:r>
                <a:endParaRPr/>
              </a:p>
            </p:txBody>
          </p:sp>
        </p:grpSp>
        <p:pic>
          <p:nvPicPr>
            <p:cNvPr id="160" name="Google Shape;160;p7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66657" y="2807158"/>
              <a:ext cx="1410686" cy="14106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72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1789776">
              <a:off x="1980952" y="2061094"/>
              <a:ext cx="5246055" cy="52460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" name="Google Shape;162;p72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>
                <a:solidFill>
                  <a:srgbClr val="000000"/>
                </a:solidFill>
              </a:defRPr>
            </a:lvl1pPr>
            <a:lvl2pPr lvl="1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72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72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1" cy="3429000"/>
          </a:xfrm>
          <a:prstGeom prst="rect">
            <a:avLst/>
          </a:prstGeom>
          <a:noFill/>
          <a:ln w="57150" cap="flat" cmpd="sng">
            <a:solidFill>
              <a:srgbClr val="DCE6F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72"/>
          <p:cNvSpPr txBox="1">
            <a:spLocks noGrp="1"/>
          </p:cNvSpPr>
          <p:nvPr>
            <p:ph type="sldNum" idx="1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tx">
  <p:cSld name="TITLE_AND_BODY"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65"/>
          <p:cNvGrpSpPr/>
          <p:nvPr/>
        </p:nvGrpSpPr>
        <p:grpSpPr>
          <a:xfrm>
            <a:off x="-702671" y="-883443"/>
            <a:ext cx="10499751" cy="9147815"/>
            <a:chOff x="-702671" y="-883443"/>
            <a:chExt cx="10499751" cy="9147815"/>
          </a:xfrm>
        </p:grpSpPr>
        <p:pic>
          <p:nvPicPr>
            <p:cNvPr id="174" name="Google Shape;174;p6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4121095">
              <a:off x="-211367" y="4076943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6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883072" y="4248324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6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-654317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6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4121095">
              <a:off x="5975941" y="-392139"/>
              <a:ext cx="3329835" cy="332983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8" name="Google Shape;178;p65"/>
            <p:cNvGrpSpPr/>
            <p:nvPr/>
          </p:nvGrpSpPr>
          <p:grpSpPr>
            <a:xfrm>
              <a:off x="-1" y="0"/>
              <a:ext cx="9144003" cy="6857673"/>
              <a:chOff x="-1" y="0"/>
              <a:chExt cx="9144003" cy="6857673"/>
            </a:xfrm>
          </p:grpSpPr>
          <p:grpSp>
            <p:nvGrpSpPr>
              <p:cNvPr id="179" name="Google Shape;179;p65"/>
              <p:cNvGrpSpPr/>
              <p:nvPr/>
            </p:nvGrpSpPr>
            <p:grpSpPr>
              <a:xfrm>
                <a:off x="-1" y="1295400"/>
                <a:ext cx="7010403" cy="46039"/>
                <a:chOff x="-1" y="0"/>
                <a:chExt cx="7010402" cy="46038"/>
              </a:xfrm>
            </p:grpSpPr>
            <p:sp>
              <p:nvSpPr>
                <p:cNvPr id="180" name="Google Shape;180;p65"/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p65"/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" name="Google Shape;182;p65"/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3" name="Google Shape;183;p65"/>
              <p:cNvGrpSpPr/>
              <p:nvPr/>
            </p:nvGrpSpPr>
            <p:grpSpPr>
              <a:xfrm>
                <a:off x="2133599" y="6553200"/>
                <a:ext cx="7010403" cy="46039"/>
                <a:chOff x="-1" y="0"/>
                <a:chExt cx="7010402" cy="46038"/>
              </a:xfrm>
            </p:grpSpPr>
            <p:sp>
              <p:nvSpPr>
                <p:cNvPr id="184" name="Google Shape;184;p65"/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" name="Google Shape;185;p65"/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" name="Google Shape;186;p65"/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187" name="Google Shape;187;p65" descr="Picture 14"/>
              <p:cNvPicPr preferRelativeResize="0"/>
              <p:nvPr/>
            </p:nvPicPr>
            <p:blipFill rotWithShape="1">
              <a:blip r:embed="rId3">
                <a:alphaModFix/>
              </a:blip>
              <a:srcRect t="2677" b="2676"/>
              <a:stretch/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8" name="Google Shape;188;p65"/>
              <p:cNvSpPr txBox="1"/>
              <p:nvPr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sp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01141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101141"/>
                    </a:solidFill>
                    <a:latin typeface="Arial"/>
                    <a:ea typeface="Arial"/>
                    <a:cs typeface="Arial"/>
                    <a:sym typeface="Arial"/>
                  </a:rPr>
                  <a:t>BITS </a:t>
                </a:r>
                <a:r>
                  <a:rPr lang="en-US" sz="1100" b="0" i="0" u="none" strike="noStrike" cap="none">
                    <a:solidFill>
                      <a:srgbClr val="101141"/>
                    </a:solidFill>
                    <a:latin typeface="Arial"/>
                    <a:ea typeface="Arial"/>
                    <a:cs typeface="Arial"/>
                    <a:sym typeface="Arial"/>
                  </a:rPr>
                  <a:t>Pilani, Deemed to be University under Section 3 of UGC Act, 1956</a:t>
                </a:r>
                <a:endParaRPr/>
              </a:p>
            </p:txBody>
          </p:sp>
        </p:grpSp>
        <p:pic>
          <p:nvPicPr>
            <p:cNvPr id="189" name="Google Shape;189;p6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66657" y="2807158"/>
              <a:ext cx="1410686" cy="14106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6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1789776">
              <a:off x="1980952" y="2061094"/>
              <a:ext cx="5246055" cy="52460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1" name="Google Shape;191;p65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sz="3600" b="1"/>
            </a:lvl1pPr>
            <a:lvl2pPr marL="914400" lvl="1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–"/>
              <a:defRPr sz="3600" b="1"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  <a:defRPr sz="3600" b="1"/>
            </a:lvl3pPr>
            <a:lvl4pPr marL="1828800" lvl="3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–"/>
              <a:defRPr sz="3600" b="1"/>
            </a:lvl4pPr>
            <a:lvl5pPr marL="2286000" lvl="4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»"/>
              <a:defRPr sz="3600" b="1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7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31" name="Google Shape;231;p7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32" name="Google Shape;232;p7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7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7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7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7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39" name="Google Shape;239;p7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7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7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8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5" name="Google Shape;245;p8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8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8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8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1" name="Google Shape;251;p8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8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8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2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56" name="Google Shape;256;p82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57" name="Google Shape;257;p82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50"/>
                <a:buFont typeface="Calibri"/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82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50"/>
                <a:buFont typeface="Calibri"/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82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50"/>
                <a:buFont typeface="Calibri"/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60" name="Google Shape;260;p82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1" name="Google Shape;261;p82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62" name="Google Shape;262;p8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50"/>
                <a:buFont typeface="Calibri"/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8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50"/>
                <a:buFont typeface="Calibri"/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8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50"/>
                <a:buFont typeface="Calibri"/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" name="Google Shape;265;p82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66" name="Google Shape;266;p8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50"/>
                <a:buFont typeface="Calibri"/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8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50"/>
                <a:buFont typeface="Calibri"/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8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50"/>
                <a:buFont typeface="Calibri"/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9" name="Google Shape;269;p82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270" name="Google Shape;270;p8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7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8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74" name="Google Shape;274;p8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75" name="Google Shape;275;p8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8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8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61"/>
          <p:cNvSpPr txBox="1">
            <a:spLocks noGrp="1"/>
          </p:cNvSpPr>
          <p:nvPr>
            <p:ph type="sldNum" idx="1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" name="Google Shape;8;p61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8" name="Google Shape;168;p6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9" name="Google Shape;169;p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0" name="Google Shape;170;p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1" name="Google Shape;171;p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So_EIwHSd4&amp;t=8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"/>
          <p:cNvSpPr txBox="1">
            <a:spLocks noGrp="1"/>
          </p:cNvSpPr>
          <p:nvPr>
            <p:ph type="title"/>
          </p:nvPr>
        </p:nvSpPr>
        <p:spPr>
          <a:xfrm>
            <a:off x="1944210" y="3810000"/>
            <a:ext cx="659019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r">
              <a:lnSpc>
                <a:spcPct val="90909"/>
              </a:lnSpc>
              <a:buSzPts val="4400"/>
            </a:pPr>
            <a:r>
              <a:rPr lang="en-IN" sz="2800" dirty="0" err="1"/>
              <a:t>Blockchain</a:t>
            </a:r>
            <a:r>
              <a:rPr lang="en-IN" sz="2800" dirty="0"/>
              <a:t> Technologies &amp; Systems</a:t>
            </a:r>
            <a:endParaRPr sz="2800" i="0" u="none" strike="noStrike" cap="none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283" name="Google Shape;283;p1"/>
          <p:cNvSpPr txBox="1">
            <a:spLocks noGrp="1"/>
          </p:cNvSpPr>
          <p:nvPr>
            <p:ph type="body" idx="1"/>
          </p:nvPr>
        </p:nvSpPr>
        <p:spPr>
          <a:xfrm>
            <a:off x="2514600" y="5693004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b="1" dirty="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	</a:t>
            </a:r>
            <a:endParaRPr dirty="0"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endParaRPr b="1" dirty="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endParaRPr b="1" dirty="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endParaRPr b="1" dirty="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"/>
          <p:cNvSpPr txBox="1">
            <a:spLocks noGrp="1"/>
          </p:cNvSpPr>
          <p:nvPr>
            <p:ph type="body" idx="1"/>
          </p:nvPr>
        </p:nvSpPr>
        <p:spPr>
          <a:xfrm>
            <a:off x="342900" y="4977984"/>
            <a:ext cx="8458200" cy="116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 fontScale="40000" lnSpcReduction="20000"/>
          </a:bodyPr>
          <a:lstStyle/>
          <a:p>
            <a:pPr marL="0" indent="0" algn="ctr"/>
            <a:r>
              <a:rPr lang="en-IN" dirty="0"/>
              <a:t>SEZG569 – Blockchain Technologies &amp; Systems</a:t>
            </a:r>
            <a:br>
              <a:rPr lang="en-IN" dirty="0"/>
            </a:br>
            <a:endParaRPr lang="en-IN" dirty="0"/>
          </a:p>
          <a:p>
            <a:pPr marL="0" lvl="0" indent="0" algn="ctr"/>
            <a:r>
              <a:rPr lang="en-IN" dirty="0"/>
              <a:t>Lecture No. 02</a:t>
            </a:r>
          </a:p>
          <a:p>
            <a:pPr marL="0" lvl="0" indent="0" algn="ctr"/>
            <a:r>
              <a:rPr lang="en-IN" dirty="0"/>
              <a:t>					</a:t>
            </a:r>
            <a:r>
              <a:rPr lang="en-IN" dirty="0" err="1"/>
              <a:t>Dr.Animesh</a:t>
            </a:r>
            <a:r>
              <a:rPr lang="en-IN" dirty="0"/>
              <a:t> Giri</a:t>
            </a:r>
          </a:p>
          <a:p>
            <a:pPr marL="0" lvl="0" indent="0" algn="ctr"/>
            <a:r>
              <a:rPr lang="en-IN" dirty="0"/>
              <a:t>				</a:t>
            </a:r>
            <a:r>
              <a:rPr lang="en-IN" dirty="0" err="1"/>
              <a:t>animesh.giri@wilp.bits-pilani.ac.in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307" name="Google Shape;307;p5"/>
          <p:cNvSpPr txBox="1"/>
          <p:nvPr/>
        </p:nvSpPr>
        <p:spPr>
          <a:xfrm>
            <a:off x="220575" y="536204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dirty="0">
                <a:latin typeface="+mj-lt"/>
                <a:cs typeface="Times New Roman"/>
                <a:sym typeface="Times New Roman"/>
              </a:rPr>
              <a:t>Previous Session</a:t>
            </a:r>
            <a:endParaRPr sz="1400" b="0" i="0" u="none" strike="noStrike" cap="none" dirty="0">
              <a:solidFill>
                <a:srgbClr val="000000"/>
              </a:solidFill>
              <a:latin typeface="+mj-lt"/>
              <a:sym typeface="Arial"/>
            </a:endParaRPr>
          </a:p>
        </p:txBody>
      </p:sp>
      <p:sp>
        <p:nvSpPr>
          <p:cNvPr id="308" name="Google Shape;308;p5"/>
          <p:cNvSpPr txBox="1"/>
          <p:nvPr/>
        </p:nvSpPr>
        <p:spPr>
          <a:xfrm>
            <a:off x="398107" y="6195823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5"/>
          <p:cNvSpPr txBox="1">
            <a:spLocks noGrp="1"/>
          </p:cNvSpPr>
          <p:nvPr>
            <p:ph type="body" idx="1"/>
          </p:nvPr>
        </p:nvSpPr>
        <p:spPr>
          <a:xfrm>
            <a:off x="220575" y="1403675"/>
            <a:ext cx="8803200" cy="50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>
              <a:lnSpc>
                <a:spcPct val="105882"/>
              </a:lnSpc>
              <a:buSzPts val="3400"/>
              <a:buAutoNum type="arabicPeriod"/>
            </a:pPr>
            <a:r>
              <a:rPr lang="en-US" sz="2800" dirty="0">
                <a:latin typeface="+mn-lt"/>
                <a:ea typeface="Times New Roman"/>
                <a:cs typeface="Times New Roman"/>
                <a:sym typeface="Times New Roman"/>
              </a:rPr>
              <a:t>RL1.1-Elements of Cryptography</a:t>
            </a:r>
          </a:p>
          <a:p>
            <a:pPr marL="514350" lvl="0" indent="-514350">
              <a:lnSpc>
                <a:spcPct val="105882"/>
              </a:lnSpc>
              <a:buSzPts val="3400"/>
              <a:buAutoNum type="arabicPeriod"/>
            </a:pPr>
            <a:r>
              <a:rPr lang="en-US" sz="2800" dirty="0">
                <a:latin typeface="+mn-lt"/>
                <a:ea typeface="Times New Roman"/>
                <a:cs typeface="Times New Roman"/>
                <a:sym typeface="Times New Roman"/>
              </a:rPr>
              <a:t>RL1.2-Public key cryptographic hashing</a:t>
            </a:r>
          </a:p>
          <a:p>
            <a:pPr marL="0" lvl="0" indent="0">
              <a:lnSpc>
                <a:spcPct val="105882"/>
              </a:lnSpc>
              <a:buSzPts val="3400"/>
            </a:pPr>
            <a:endParaRPr lang="en-US" sz="2800" dirty="0">
              <a:latin typeface="+mn-lt"/>
              <a:ea typeface="Times New Roman"/>
              <a:cs typeface="Times New Roman"/>
              <a:sym typeface="Times New Roman"/>
            </a:endParaRPr>
          </a:p>
          <a:p>
            <a:pPr marL="0" lvl="0" indent="0">
              <a:lnSpc>
                <a:spcPct val="105882"/>
              </a:lnSpc>
              <a:buSzPts val="3400"/>
            </a:pPr>
            <a:r>
              <a:rPr lang="en-US" sz="2800" dirty="0">
                <a:latin typeface="+mn-lt"/>
                <a:ea typeface="Times New Roman"/>
                <a:cs typeface="Times New Roman"/>
                <a:sym typeface="Times New Roman"/>
              </a:rPr>
              <a:t>CS:</a:t>
            </a:r>
          </a:p>
          <a:p>
            <a:pPr marL="514350" lvl="0" indent="-514350">
              <a:lnSpc>
                <a:spcPct val="105882"/>
              </a:lnSpc>
              <a:buSzPts val="3400"/>
              <a:buAutoNum type="arabicPeriod"/>
            </a:pPr>
            <a:r>
              <a:rPr lang="en-US" sz="2800" dirty="0">
                <a:latin typeface="+mn-lt"/>
                <a:ea typeface="Times New Roman"/>
                <a:cs typeface="Times New Roman"/>
                <a:sym typeface="Times New Roman"/>
              </a:rPr>
              <a:t>CS1.1.1 Machines that encrypted in the past</a:t>
            </a:r>
          </a:p>
          <a:p>
            <a:pPr marL="514350" lvl="0" indent="-514350">
              <a:lnSpc>
                <a:spcPct val="105882"/>
              </a:lnSpc>
              <a:buSzPts val="3400"/>
              <a:buAutoNum type="arabicPeriod"/>
            </a:pPr>
            <a:r>
              <a:rPr lang="en-US" sz="2800" dirty="0">
                <a:latin typeface="+mn-lt"/>
                <a:ea typeface="Times New Roman"/>
                <a:cs typeface="Times New Roman"/>
                <a:sym typeface="Times New Roman"/>
              </a:rPr>
              <a:t>CS1.1.2   Modern encryption</a:t>
            </a:r>
          </a:p>
          <a:p>
            <a:pPr marL="514350" lvl="0" indent="-514350">
              <a:lnSpc>
                <a:spcPct val="105882"/>
              </a:lnSpc>
              <a:buSzPts val="3400"/>
              <a:buAutoNum type="arabicPeriod"/>
            </a:pPr>
            <a:r>
              <a:rPr lang="en-US" sz="2800" dirty="0">
                <a:latin typeface="+mn-lt"/>
                <a:ea typeface="Times New Roman"/>
                <a:cs typeface="Times New Roman"/>
                <a:sym typeface="Times New Roman"/>
              </a:rPr>
              <a:t>CS1.1.3 Hashing</a:t>
            </a:r>
          </a:p>
          <a:p>
            <a:pPr marL="514350" lvl="0" indent="-514350">
              <a:lnSpc>
                <a:spcPct val="105882"/>
              </a:lnSpc>
              <a:buSzPts val="3400"/>
              <a:buAutoNum type="arabicPeriod"/>
            </a:pPr>
            <a:r>
              <a:rPr lang="en-US" sz="2800" dirty="0">
                <a:latin typeface="+mn-lt"/>
                <a:ea typeface="Times New Roman"/>
                <a:cs typeface="Times New Roman"/>
                <a:sym typeface="Times New Roman"/>
              </a:rPr>
              <a:t>CS 1.1.4 Blocks to Hashes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307" name="Google Shape;307;p5"/>
          <p:cNvSpPr txBox="1"/>
          <p:nvPr/>
        </p:nvSpPr>
        <p:spPr>
          <a:xfrm>
            <a:off x="220575" y="536204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Contents</a:t>
            </a:r>
            <a:endParaRPr sz="1400" b="0" i="0" u="none" strike="noStrike" cap="none" dirty="0">
              <a:solidFill>
                <a:srgbClr val="000000"/>
              </a:solidFill>
              <a:latin typeface="+mj-lt"/>
              <a:sym typeface="Arial"/>
            </a:endParaRPr>
          </a:p>
        </p:txBody>
      </p:sp>
      <p:sp>
        <p:nvSpPr>
          <p:cNvPr id="308" name="Google Shape;308;p5"/>
          <p:cNvSpPr txBox="1"/>
          <p:nvPr/>
        </p:nvSpPr>
        <p:spPr>
          <a:xfrm>
            <a:off x="398107" y="6195823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98944" y="1773021"/>
            <a:ext cx="7236691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/>
              <a:t>RL2.1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Centralized Vs Decentralized computing ledger transactions and trade</a:t>
            </a:r>
          </a:p>
          <a:p>
            <a:r>
              <a:rPr lang="en-IN" sz="2000" dirty="0"/>
              <a:t>RL2.2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Distributed ledger technology. Peer to peer technology.</a:t>
            </a:r>
          </a:p>
          <a:p>
            <a:endParaRPr lang="en-IN" sz="2000" dirty="0"/>
          </a:p>
          <a:p>
            <a:r>
              <a:rPr lang="en-IN" sz="2000" dirty="0"/>
              <a:t>CS2.1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Distributed consensus and Fault tolerance mechanisms,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Validation services for permissioned </a:t>
            </a:r>
            <a:r>
              <a:rPr lang="en-IN" sz="2000" dirty="0" err="1"/>
              <a:t>blockchains</a:t>
            </a:r>
            <a:r>
              <a:rPr lang="en-IN" sz="2000" dirty="0"/>
              <a:t>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From Byzantine consensus to </a:t>
            </a:r>
            <a:r>
              <a:rPr lang="en-IN" sz="2000" dirty="0" err="1"/>
              <a:t>Blockchains</a:t>
            </a:r>
            <a:endParaRPr lang="en-IN" sz="20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837702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861392" y="2734025"/>
            <a:ext cx="755348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hlinkClick r:id="rId3"/>
              </a:rPr>
              <a:t>https://www.youtube.com/watch?v=SSo_EIwHSd4&amp;t=8s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294836" y="667947"/>
            <a:ext cx="46201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>
                <a:latin typeface="+mj-lt"/>
              </a:rPr>
              <a:t>Blockchain</a:t>
            </a:r>
            <a:r>
              <a:rPr lang="en-US" sz="2800" b="1" dirty="0">
                <a:latin typeface="+mj-lt"/>
              </a:rPr>
              <a:t> Technologies </a:t>
            </a:r>
            <a:endParaRPr lang="en-IN" sz="2800" b="1"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4976"/>
            <a:ext cx="58352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Evolution of Computing Systems</a:t>
            </a:r>
            <a:endParaRPr lang="en-IN" sz="2800" b="1" dirty="0"/>
          </a:p>
        </p:txBody>
      </p:sp>
      <p:pic>
        <p:nvPicPr>
          <p:cNvPr id="6" name="Google Shape;60;p14"/>
          <p:cNvPicPr preferRelativeResize="0"/>
          <p:nvPr/>
        </p:nvPicPr>
        <p:blipFill rotWithShape="1">
          <a:blip r:embed="rId3">
            <a:alphaModFix/>
          </a:blip>
          <a:srcRect l="9247" t="37481" b="17654"/>
          <a:stretch/>
        </p:blipFill>
        <p:spPr>
          <a:xfrm>
            <a:off x="153499" y="1515862"/>
            <a:ext cx="8839581" cy="3455633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469088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8171"/>
            <a:ext cx="300065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sz="2000" b="1" dirty="0"/>
            </a:br>
            <a:r>
              <a:rPr lang="en-US" sz="2000" b="1" dirty="0"/>
              <a:t>Centralized Network </a:t>
            </a:r>
            <a:br>
              <a:rPr lang="en-US" sz="2000" b="1" dirty="0"/>
            </a:br>
            <a:endParaRPr lang="en-IN" sz="2000" b="1" dirty="0"/>
          </a:p>
        </p:txBody>
      </p:sp>
      <p:sp>
        <p:nvSpPr>
          <p:cNvPr id="4" name="Rectangle 3"/>
          <p:cNvSpPr/>
          <p:nvPr/>
        </p:nvSpPr>
        <p:spPr>
          <a:xfrm>
            <a:off x="137603" y="1583834"/>
            <a:ext cx="8775577" cy="4722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A centralized network is a system where a single authority or server controls and manages the flow of information and resources. Here’s a straightforward explanation: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Single Control Point: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In a centralized network, there is one central point, often a server or mainframe, that governs the entire network.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Communication Flow: 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All communication between devices, like computers or users, goes through this central point. It acts as a mediator, receiving requests and sending back responses.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Data Storage: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The central authority stores data and information. When users or devices need data, they request it from the central point, and it provides the necessary information.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Decision-Making: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Decisions, such as access permissions or resource allocation, are made centrally. The central authority has the ultimate say in how resources are used or shared.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Dependency: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The entire network relies on the central authority. If it fails or experiences issues, the entire network may be affected.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1963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89364"/>
            <a:ext cx="40414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+mj-lt"/>
                <a:ea typeface="Bookman Old Style"/>
                <a:cs typeface="Bookman Old Style"/>
                <a:sym typeface="Bookman Old Style"/>
              </a:rPr>
              <a:t>Decentralized Network</a:t>
            </a:r>
            <a:endParaRPr lang="en-IN" sz="28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" y="1050974"/>
            <a:ext cx="8824404" cy="53286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228600">
              <a:lnSpc>
                <a:spcPct val="90000"/>
              </a:lnSpc>
              <a:spcBef>
                <a:spcPts val="1000"/>
              </a:spcBef>
              <a:buSzPts val="1800"/>
            </a:pPr>
            <a:endParaRPr lang="en-US" sz="1600" dirty="0">
              <a:solidFill>
                <a:schemeClr val="tx1"/>
              </a:solidFill>
              <a:latin typeface="+mn-lt"/>
              <a:ea typeface="Bookman Old Style"/>
              <a:cs typeface="Bookman Old Style"/>
              <a:sym typeface="Bookman Old Style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Multiple Nodes: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In a decentralized network, there isn’t a single central authority. Instead, multiple nodes or participants in the network have equal status.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Peer-to-Peer Communication: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Nodes communicate directly with each other without the need for a central server. Each node can send and receive information independently.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Data Distribution: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Data is distributed across multiple nodes. Instead of being stored in one central location, it’s spread out, often using a technology called </a:t>
            </a:r>
            <a:r>
              <a:rPr lang="en-US" sz="16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distributed ledger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or </a:t>
            </a:r>
            <a:r>
              <a:rPr lang="en-US" sz="1600" b="1" dirty="0" err="1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Blockchain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.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Redundancy and Resilience: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Since data is stored across many nodes, the network is more resilient. If one node fails, the data can still be retrieved from other nodes, enhancing reliability.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Decision-Making: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Decisions are often made through a </a:t>
            </a:r>
            <a:r>
              <a:rPr lang="en-US" sz="16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consensus mechanism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involving multiple nodes. This ensures that no single entity has complete control, promoting fairness.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Example: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Cryptocurrencies like Bitcoin operate on a decentralized network. Each user’s computer, known as a node, contributes to the overall functioning of the network by validating and recording transactions.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Autonomy: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Nodes in a decentralized network have a degree of autonomy. They can operate independently, making the network less vulnerable to a single point of failure.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  <a:p>
            <a:pPr marL="4572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endParaRPr lang="en-US" sz="1600" dirty="0">
              <a:solidFill>
                <a:schemeClr val="tx1"/>
              </a:solidFill>
              <a:latin typeface="+mn-lt"/>
              <a:ea typeface="Bookman Old Style"/>
              <a:cs typeface="Bookman Old Style"/>
              <a:sym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4292374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807119"/>
            <a:ext cx="69381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+mn-lt"/>
                <a:ea typeface="Helvetica Neue"/>
                <a:cs typeface="Helvetica Neue"/>
                <a:sym typeface="Helvetica Neue"/>
              </a:rPr>
              <a:t>Centralized Vs Decentralized Networks:</a:t>
            </a:r>
            <a:endParaRPr lang="en-IN" sz="28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462140"/>
            <a:ext cx="8784454" cy="43519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Control:</a:t>
            </a:r>
            <a:endParaRPr lang="en-US" sz="1800" dirty="0">
              <a:solidFill>
                <a:schemeClr val="tx1"/>
              </a:solidFill>
              <a:latin typeface="+mn-lt"/>
              <a:ea typeface="Bookman Old Style"/>
              <a:cs typeface="Bookman Old Style"/>
              <a:sym typeface="Bookman Old Style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Centralized Network: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In a centralized network, control lies in the hands of a central authority, such as a government, organization, or individual. This entity has the power to make decisions, enforce rules, and manage the entire network.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Decentralized Network: 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Decentralized networks distribute control across multiple nodes or participants. No single entity has absolute authority, and decisions may be made collectively or through consensus mechanisms.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Decision-Making:</a:t>
            </a:r>
            <a:endParaRPr lang="en-US" sz="1800" dirty="0">
              <a:solidFill>
                <a:schemeClr val="tx1"/>
              </a:solidFill>
              <a:latin typeface="+mn-lt"/>
              <a:ea typeface="Bookman Old Style"/>
              <a:cs typeface="Bookman Old Style"/>
              <a:sym typeface="Bookman Old Style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Centralized Network: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Decisions are typically top-down, coming from the central authority. Participants follow these decisions without much input in the process.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Decentralized Network: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Decision-making is more democratic and distributed. Participants, or nodes, often have a say in the decision-making process, and changes may require consensus among a majority or all participants.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endParaRPr lang="en-US" sz="1800" dirty="0">
              <a:solidFill>
                <a:schemeClr val="tx1"/>
              </a:solidFill>
              <a:latin typeface="+mn-lt"/>
              <a:ea typeface="Bookman Old Style"/>
              <a:cs typeface="Bookman Old Style"/>
              <a:sym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573875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98242"/>
            <a:ext cx="69381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+mn-lt"/>
                <a:ea typeface="Helvetica Neue"/>
                <a:cs typeface="Helvetica Neue"/>
                <a:sym typeface="Helvetica Neue"/>
              </a:rPr>
              <a:t>Centralized Vs Decentralized Networks:</a:t>
            </a:r>
            <a:endParaRPr lang="en-IN" sz="28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425924"/>
            <a:ext cx="8873231" cy="4601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Bookman Old Style"/>
                <a:cs typeface="Bookman Old Style"/>
                <a:sym typeface="Bookman Old Style"/>
              </a:rPr>
              <a:t>Reliability:</a:t>
            </a:r>
            <a:endParaRPr lang="en-US" sz="1800" dirty="0">
              <a:solidFill>
                <a:schemeClr val="tx1"/>
              </a:solidFill>
              <a:latin typeface="+mj-lt"/>
              <a:ea typeface="Bookman Old Style"/>
              <a:cs typeface="Bookman Old Style"/>
              <a:sym typeface="Bookman Old Style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Bookman Old Style"/>
                <a:cs typeface="Bookman Old Style"/>
                <a:sym typeface="Bookman Old Style"/>
              </a:rPr>
              <a:t>Centralized Network:</a:t>
            </a:r>
            <a:r>
              <a:rPr lang="en-US" sz="1800" dirty="0">
                <a:solidFill>
                  <a:schemeClr val="tx1"/>
                </a:solidFill>
                <a:latin typeface="+mj-lt"/>
                <a:ea typeface="Bookman Old Style"/>
                <a:cs typeface="Bookman Old Style"/>
                <a:sym typeface="Bookman Old Style"/>
              </a:rPr>
              <a:t> Reliability in centralized systems is dependent on the robustness of the central authority. If it fails or faces a disruption, the entire network may be affected.</a:t>
            </a:r>
            <a:endParaRPr lang="en-US" sz="1800" dirty="0">
              <a:solidFill>
                <a:schemeClr val="tx1"/>
              </a:solidFill>
              <a:latin typeface="+mj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Bookman Old Style"/>
                <a:cs typeface="Bookman Old Style"/>
                <a:sym typeface="Bookman Old Style"/>
              </a:rPr>
              <a:t>Decentralized Network:</a:t>
            </a:r>
            <a:r>
              <a:rPr lang="en-US" sz="1800" dirty="0">
                <a:solidFill>
                  <a:schemeClr val="tx1"/>
                </a:solidFill>
                <a:latin typeface="+mj-lt"/>
                <a:ea typeface="Bookman Old Style"/>
                <a:cs typeface="Bookman Old Style"/>
                <a:sym typeface="Bookman Old Style"/>
              </a:rPr>
              <a:t> Decentralization often leads to increased reliability. Since functions are distributed, the failure of one node or a few nodes doesn’t cripple the entire network.</a:t>
            </a:r>
            <a:endParaRPr lang="en-US" sz="1800" dirty="0">
              <a:solidFill>
                <a:schemeClr val="tx1"/>
              </a:solidFill>
              <a:latin typeface="+mj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Bookman Old Style"/>
                <a:cs typeface="Bookman Old Style"/>
                <a:sym typeface="Bookman Old Style"/>
              </a:rPr>
              <a:t>Scalability:</a:t>
            </a:r>
            <a:endParaRPr lang="en-US" sz="1800" dirty="0">
              <a:solidFill>
                <a:schemeClr val="tx1"/>
              </a:solidFill>
              <a:latin typeface="+mj-lt"/>
              <a:ea typeface="Bookman Old Style"/>
              <a:cs typeface="Bookman Old Style"/>
              <a:sym typeface="Bookman Old Style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Bookman Old Style"/>
                <a:cs typeface="Bookman Old Style"/>
                <a:sym typeface="Bookman Old Style"/>
              </a:rPr>
              <a:t>Centralized Network:</a:t>
            </a:r>
            <a:r>
              <a:rPr lang="en-US" sz="1800" dirty="0">
                <a:solidFill>
                  <a:schemeClr val="tx1"/>
                </a:solidFill>
                <a:latin typeface="+mj-lt"/>
                <a:ea typeface="Bookman Old Style"/>
                <a:cs typeface="Bookman Old Style"/>
                <a:sym typeface="Bookman Old Style"/>
              </a:rPr>
              <a:t> Scaling can be challenging in centralized systems because all activities are funneled through a single point. As the system grows, this central point may become a bottleneck.</a:t>
            </a:r>
            <a:endParaRPr lang="en-US" sz="1800" dirty="0">
              <a:solidFill>
                <a:schemeClr val="tx1"/>
              </a:solidFill>
              <a:latin typeface="+mj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Bookman Old Style"/>
                <a:cs typeface="Bookman Old Style"/>
                <a:sym typeface="Bookman Old Style"/>
              </a:rPr>
              <a:t>Decentralized Network:</a:t>
            </a:r>
            <a:r>
              <a:rPr lang="en-US" sz="1800" dirty="0">
                <a:solidFill>
                  <a:schemeClr val="tx1"/>
                </a:solidFill>
                <a:latin typeface="+mj-lt"/>
                <a:ea typeface="Bookman Old Style"/>
                <a:cs typeface="Bookman Old Style"/>
                <a:sym typeface="Bookman Old Style"/>
              </a:rPr>
              <a:t> Decentralized networks often exhibit better scalability. Additional nodes can be added to the network without relying on a single point to handle all transactions, making them more adaptable to growth.</a:t>
            </a:r>
            <a:endParaRPr lang="en-US" sz="1800" dirty="0">
              <a:solidFill>
                <a:schemeClr val="tx1"/>
              </a:solidFill>
              <a:latin typeface="+mj-lt"/>
            </a:endParaRPr>
          </a:p>
          <a:p>
            <a:pPr marL="4572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endParaRPr lang="en-US" sz="1800" dirty="0">
              <a:solidFill>
                <a:schemeClr val="tx1"/>
              </a:solidFill>
              <a:latin typeface="+mj-lt"/>
              <a:ea typeface="Bookman Old Style"/>
              <a:cs typeface="Bookman Old Style"/>
              <a:sym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1894022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98242"/>
            <a:ext cx="69381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+mn-lt"/>
                <a:ea typeface="Helvetica Neue"/>
                <a:cs typeface="Helvetica Neue"/>
                <a:sym typeface="Helvetica Neue"/>
              </a:rPr>
              <a:t>Centralized Vs Decentralized Networks:</a:t>
            </a:r>
            <a:endParaRPr lang="en-IN" sz="28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392484"/>
            <a:ext cx="8686800" cy="4223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Security:</a:t>
            </a:r>
            <a:endParaRPr lang="en-US" sz="1800" dirty="0">
              <a:solidFill>
                <a:schemeClr val="tx1"/>
              </a:solidFill>
              <a:latin typeface="+mn-lt"/>
              <a:ea typeface="Bookman Old Style"/>
              <a:cs typeface="Bookman Old Style"/>
              <a:sym typeface="Bookman Old Style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Centralized Network: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Centralized systems are vulnerable to a single point of failure. If the central authority is compromised, the entire network may be at risk.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Decentralized Network: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The distributed nature of decentralized networks enhances security. Even if one node is compromised, it doesn’t jeopardize the integrity of the entire system, making them more resilient to attacks.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Examples:</a:t>
            </a:r>
            <a:endParaRPr lang="en-US" sz="1800" dirty="0">
              <a:solidFill>
                <a:schemeClr val="tx1"/>
              </a:solidFill>
              <a:latin typeface="+mn-lt"/>
              <a:ea typeface="Bookman Old Style"/>
              <a:cs typeface="Bookman Old Style"/>
              <a:sym typeface="Bookman Old Style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Centralized Network: 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Traditional banking systems are a classic example of a centralized network, where a central bank oversees and controls financial transactions.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Decentralized Network: 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Cryptocurrencies, like </a:t>
            </a: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Bitcoin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, operate on decentralized principles. Transactions are verified by a network of nodes rather than a central authority.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0979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98242"/>
            <a:ext cx="69381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Centralized Vs Decentralized Networks:</a:t>
            </a:r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477747"/>
            <a:ext cx="8686800" cy="44730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The Involvement of Third Parties:</a:t>
            </a:r>
            <a:endParaRPr lang="en-US" sz="1800" dirty="0">
              <a:solidFill>
                <a:schemeClr val="tx1"/>
              </a:solidFill>
              <a:latin typeface="+mn-lt"/>
              <a:ea typeface="Bookman Old Style"/>
              <a:cs typeface="Bookman Old Style"/>
              <a:sym typeface="Bookman Old Style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Centralized Network: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In a centralized network, the participation of third parties or specific intermediaries is essential to facilitate effective communication among different nodes. These mediators play a crucial role in ensuring coordination.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Decentralized Network: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In contrast, significant decentralized networks eliminate the need for intermediaries. Each independent node can communicate directly with others on the </a:t>
            </a:r>
            <a:r>
              <a:rPr lang="en-US" sz="1800" dirty="0" err="1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Blockchain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 network, streamlining the process.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Transparency:</a:t>
            </a:r>
            <a:endParaRPr lang="en-US" sz="1800" dirty="0">
              <a:solidFill>
                <a:schemeClr val="tx1"/>
              </a:solidFill>
              <a:latin typeface="+mn-lt"/>
              <a:ea typeface="Bookman Old Style"/>
              <a:cs typeface="Bookman Old Style"/>
              <a:sym typeface="Bookman Old Style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Centralized Network: 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Centralized networks tend to be less transparent since all information and data are stored in a single central location, limiting visibility.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Decentralized Network: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Decentralization, particularly through Distributed Ledger Technology (DLT), significantly enhances transparency. Information is distributed across nodes, providing a more open and accessible record.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20046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833753"/>
            <a:ext cx="69381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Centralized Vs Decentralized Networks:</a:t>
            </a:r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460621"/>
            <a:ext cx="8939814" cy="5235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342900">
              <a:lnSpc>
                <a:spcPct val="90000"/>
              </a:lnSpc>
              <a:spcBef>
                <a:spcPts val="1000"/>
              </a:spcBef>
              <a:buSzPct val="97297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Security:</a:t>
            </a:r>
            <a:endParaRPr lang="en-US" sz="1600" dirty="0">
              <a:solidFill>
                <a:schemeClr val="tx1"/>
              </a:solidFill>
              <a:latin typeface="+mn-lt"/>
              <a:ea typeface="Bookman Old Style"/>
              <a:cs typeface="Bookman Old Style"/>
              <a:sym typeface="Bookman Old Style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ct val="97297"/>
              <a:buFont typeface="Arial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Centralized Network: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Traditional centralized networks are more vulnerable to attacks because hackers can target the central storage, gaining access to a wealth of information.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ct val="97297"/>
              <a:buFont typeface="Arial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Decentralized Network: 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Decentralized networks offer heightened security. Even if a specific node is compromised, the overall integrity remains intact because other nodes remain unaffected.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ct val="97297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Scalability:</a:t>
            </a:r>
            <a:endParaRPr lang="en-US" sz="1600" dirty="0">
              <a:solidFill>
                <a:schemeClr val="tx1"/>
              </a:solidFill>
              <a:latin typeface="+mn-lt"/>
              <a:ea typeface="Bookman Old Style"/>
              <a:cs typeface="Bookman Old Style"/>
              <a:sym typeface="Bookman Old Style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ct val="97297"/>
              <a:buFont typeface="Arial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Centralized Network: 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Scaling conventional centralized networks is relatively straightforward by adding extra servers.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ct val="97297"/>
              <a:buFont typeface="Arial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Decentralized Network: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Scaling decentralized networks proves more challenging as each node must be capable of handling additional traffic. This decentralization aspect adds complexity to scaling efforts.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ct val="97297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Exchange Fees:</a:t>
            </a:r>
            <a:endParaRPr lang="en-US" sz="1600" dirty="0">
              <a:solidFill>
                <a:schemeClr val="tx1"/>
              </a:solidFill>
              <a:latin typeface="+mn-lt"/>
              <a:ea typeface="Bookman Old Style"/>
              <a:cs typeface="Bookman Old Style"/>
              <a:sym typeface="Bookman Old Style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ct val="97297"/>
              <a:buFont typeface="Arial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Centralized Network: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Centralized networks, often involving multiple intermediaries like financial service providers and banks, tend to have higher fees.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ct val="97297"/>
              <a:buFont typeface="Arial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Decentralized Network: 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Decentralized networks do not involve these intermediary factors, leading to lower fees for transactions and exchanges.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  <a:p>
            <a:pPr marL="4572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97297"/>
            </a:pPr>
            <a:endParaRPr lang="en-US" sz="1600" dirty="0">
              <a:solidFill>
                <a:schemeClr val="tx1"/>
              </a:solidFill>
              <a:latin typeface="+mn-lt"/>
              <a:ea typeface="Bookman Old Style"/>
              <a:cs typeface="Bookman Old Style"/>
              <a:sym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2556278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353169"/>
            <a:ext cx="659167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sz="28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8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Advantages of Centralized Networks:</a:t>
            </a:r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470654"/>
            <a:ext cx="8451542" cy="3725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Efficiency: 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Centralized networks can be more efficient in terms of decision-making and resource allocation since there is a single point of control.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Simplicity: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Managing and operating a centralized system is often simpler and requires less coordination compared to decentralized systems.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Control: 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A central authority in a centralized network has direct control over rules, policies, and operations, enabling streamlined governance.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Scalability: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Adding resources and scaling up is usually more straightforward in centralized networks, making them suitable for applications with predictable growth.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Security: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Centralized systems can implement stringent security measures at the central point, protecting sensitive data from unauthorized access.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endParaRPr lang="en-US" sz="1800" dirty="0">
              <a:solidFill>
                <a:schemeClr val="tx1"/>
              </a:solidFill>
              <a:latin typeface="+mn-lt"/>
              <a:ea typeface="Bookman Old Style"/>
              <a:cs typeface="Bookman Old Style"/>
              <a:sym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1910847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98242"/>
            <a:ext cx="69413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Advantages of Decentralized Networks:</a:t>
            </a:r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" y="1447060"/>
            <a:ext cx="8895425" cy="43519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Resilience: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Decentralized networks are more resilient to failures and attacks. Even if one node fails or is compromised, the network can continue to operate.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Transparency: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Decentralized systems, especially those using distributed ledger technology, provide a high level of transparency as information is distributed across nodes.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Security: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The distributed nature of decentralized networks enhances security. An attack on one node doesn’t compromise the entire system.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Autonomy: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Participants in decentralized networks have greater autonomy and control over their own nodes, reducing dependency on a central authority.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Lower Costs: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Decentralized networks often have lower operational costs as they eliminate the need for intermediaries, reducing fees associated with transactions.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Inclusivity: 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Decentralized systems can be more inclusive, allowing anyone to participate without needing approval from a central authority.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endParaRPr lang="en-US" sz="1800" dirty="0">
              <a:solidFill>
                <a:schemeClr val="tx1"/>
              </a:solidFill>
              <a:latin typeface="+mn-lt"/>
              <a:ea typeface="Bookman Old Style"/>
              <a:cs typeface="Bookman Old Style"/>
              <a:sym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3196393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807119"/>
            <a:ext cx="70407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Disadvantages of Centralized Networks:</a:t>
            </a:r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422548"/>
            <a:ext cx="8686800" cy="4722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Single Point of Failure: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Centralized networks are susceptible to a single point of failure. If the central authority experiences issues or is compromised, the entire network can be affected.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Limited Transparency: 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Centralized systems may lack transparency since all information is stored in one central location, making it harder for participants to verify or audit the system.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Vulnerability to Attacks: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Centralized networks are more vulnerable to targeted attacks, as compromising the central storage could result in the loss or theft of a significant amount of data.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Dependence on Central Authority: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Users in a centralized system depend heavily on the decisions and policies of the central authority, limiting individual autonomy.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Scalability Challenges: 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While centralized networks can be scalable, there may be practical challenges in scaling due to increased traffic or resource demands.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endParaRPr lang="en-US" sz="1800" dirty="0">
              <a:solidFill>
                <a:schemeClr val="tx1"/>
              </a:solidFill>
              <a:latin typeface="+mn-lt"/>
              <a:ea typeface="Bookman Old Style"/>
              <a:cs typeface="Bookman Old Style"/>
              <a:sym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2736741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89364"/>
            <a:ext cx="74414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Disadvantages of Decentralized Networks:</a:t>
            </a:r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372318"/>
            <a:ext cx="8544758" cy="48505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Complexity: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Decentralized systems can be more complex to manage and coordinate, especially as the number of nodes increases.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Slower Decision-Making: 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Decision-making in decentralized networks can be slower due to the need for consensus among multiple participants.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Resource Intensive: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Some decentralized networks, especially those utilizing </a:t>
            </a:r>
            <a:r>
              <a:rPr lang="en-US" sz="1800" dirty="0" err="1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Blockchain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 technology, can be resource-intensive in terms of computing power and energy consumption.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Less Efficiency in Some Cases: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In certain scenarios, decentralized networks may be less efficient than centralized alternatives, particularly when quick decision-making is essential.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Learning Curve: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 Participants in decentralized systems may face a learning curve as they adapt to the distributed nature and new technologies involved.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Regulatory Challenges: 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Bookman Old Style"/>
                <a:cs typeface="Bookman Old Style"/>
                <a:sym typeface="Bookman Old Style"/>
              </a:rPr>
              <a:t>Decentralized networks may encounter regulatory challenges, as existing legal frameworks may not be well-suited to these innovative models.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4572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endParaRPr lang="en-US" sz="1800" dirty="0">
              <a:solidFill>
                <a:schemeClr val="tx1"/>
              </a:solidFill>
              <a:latin typeface="+mn-lt"/>
              <a:ea typeface="Bookman Old Style"/>
              <a:cs typeface="Bookman Old Style"/>
              <a:sym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1836001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3" name="Google Shape;135;p26"/>
          <p:cNvPicPr preferRelativeResize="0"/>
          <p:nvPr/>
        </p:nvPicPr>
        <p:blipFill rotWithShape="1">
          <a:blip r:embed="rId3">
            <a:alphaModFix/>
          </a:blip>
          <a:srcRect b="11203"/>
          <a:stretch/>
        </p:blipFill>
        <p:spPr>
          <a:xfrm>
            <a:off x="88777" y="825624"/>
            <a:ext cx="8948691" cy="5628442"/>
          </a:xfrm>
          <a:prstGeom prst="rect">
            <a:avLst/>
          </a:prstGeom>
          <a:solidFill>
            <a:schemeClr val="accent2"/>
          </a:solidFill>
          <a:ln w="88900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223718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89364"/>
            <a:ext cx="81339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Introduction to Distributed Ledger 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726" y="1730061"/>
            <a:ext cx="809567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/>
              <a:t>What is DLT?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Distributed Ledger Technology (DLT) is a decentralized database shared across multiple computers (nodes).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Every participant maintains a synchronized copy of the ledger.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Transactions are recorded securely and transparently.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Eliminates the need for a central authority. </a:t>
            </a:r>
          </a:p>
          <a:p>
            <a:r>
              <a:rPr lang="en-US" sz="1800" b="1" dirty="0"/>
              <a:t>Key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Decentralization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Transparency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Immutability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Security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Fault Tolerance</a:t>
            </a:r>
          </a:p>
        </p:txBody>
      </p:sp>
      <p:pic>
        <p:nvPicPr>
          <p:cNvPr id="3074" name="Picture 2" descr="Distributed Ledger Technology | Working, Types, Featur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099" y="3624792"/>
            <a:ext cx="4562475" cy="25347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04309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89364"/>
            <a:ext cx="74735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Working of Distributed Ledger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" y="1797158"/>
            <a:ext cx="49784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Main Characteristics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Decentralized Control:</a:t>
            </a:r>
            <a:r>
              <a:rPr lang="en-US" sz="2400" dirty="0"/>
              <a:t> No central administrator.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Distributed Storage:</a:t>
            </a:r>
            <a:r>
              <a:rPr lang="en-US" sz="2400" dirty="0"/>
              <a:t> Data stored on multiple nodes.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Consensus Mechanism:</a:t>
            </a:r>
            <a:r>
              <a:rPr lang="en-US" sz="2400" dirty="0"/>
              <a:t> Agreement among participants.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Transparency:</a:t>
            </a:r>
            <a:r>
              <a:rPr lang="en-US" sz="2400" dirty="0"/>
              <a:t> All transactions are visible.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Security:</a:t>
            </a:r>
            <a:r>
              <a:rPr lang="en-US" sz="2400" dirty="0"/>
              <a:t> Cryptographic protection.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Immutability:</a:t>
            </a:r>
            <a:r>
              <a:rPr lang="en-US" sz="2400" dirty="0"/>
              <a:t> Records cannot be altered easily.</a:t>
            </a:r>
          </a:p>
        </p:txBody>
      </p:sp>
      <p:pic>
        <p:nvPicPr>
          <p:cNvPr id="4098" name="Picture 2" descr="Distributed Ledger Technology - Overview, Importan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300" y="2914759"/>
            <a:ext cx="3085214" cy="202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7267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89364"/>
            <a:ext cx="74735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Working of Distributed Ledger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" y="1797158"/>
            <a:ext cx="83439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Main Characteristics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Decentralized Control:</a:t>
            </a:r>
            <a:r>
              <a:rPr lang="en-US" sz="2400" dirty="0"/>
              <a:t> No central administrator.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Distributed Storage:</a:t>
            </a:r>
            <a:r>
              <a:rPr lang="en-US" sz="2400" dirty="0"/>
              <a:t> Data stored on multiple nodes.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Consensus Mechanism:</a:t>
            </a:r>
            <a:r>
              <a:rPr lang="en-US" sz="2400" dirty="0"/>
              <a:t> Agreement among participants.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Transparency:</a:t>
            </a:r>
            <a:r>
              <a:rPr lang="en-US" sz="2400" dirty="0"/>
              <a:t> All transactions are visible.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Security:</a:t>
            </a:r>
            <a:r>
              <a:rPr lang="en-US" sz="2400" dirty="0"/>
              <a:t> Cryptographic protection.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Immutability:</a:t>
            </a:r>
            <a:r>
              <a:rPr lang="en-US" sz="2400" dirty="0"/>
              <a:t> Records cannot be altered easily.</a:t>
            </a:r>
          </a:p>
        </p:txBody>
      </p:sp>
    </p:spTree>
    <p:extLst>
      <p:ext uri="{BB962C8B-B14F-4D97-AF65-F5344CB8AC3E}">
        <p14:creationId xmlns:p14="http://schemas.microsoft.com/office/powerpoint/2010/main" val="1958951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89364"/>
            <a:ext cx="35798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Applications of DLT</a:t>
            </a:r>
          </a:p>
        </p:txBody>
      </p:sp>
      <p:sp>
        <p:nvSpPr>
          <p:cNvPr id="3" name="Rectangle 2"/>
          <p:cNvSpPr/>
          <p:nvPr/>
        </p:nvSpPr>
        <p:spPr>
          <a:xfrm>
            <a:off x="355600" y="1522154"/>
            <a:ext cx="75565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Applications of DLT</a:t>
            </a:r>
          </a:p>
          <a:p>
            <a:r>
              <a:rPr lang="en-US" sz="2000" b="1" dirty="0"/>
              <a:t>Real-World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Banking and Finance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Cryptocurrency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Supply Chain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Healthcare Records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Voting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Digital Identity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Insurance Industry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Government Services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Advantages</a:t>
            </a:r>
          </a:p>
          <a:p>
            <a:r>
              <a:rPr lang="en-US" sz="2000" dirty="0"/>
              <a:t>Cost Reduction </a:t>
            </a:r>
          </a:p>
          <a:p>
            <a:r>
              <a:rPr lang="en-US" sz="2000" dirty="0"/>
              <a:t>Enhanced Security </a:t>
            </a:r>
          </a:p>
          <a:p>
            <a:r>
              <a:rPr lang="en-US" sz="2000" dirty="0"/>
              <a:t>Improved Efficiency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676138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89364"/>
            <a:ext cx="80938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Introduction to Peer-to-Peer (P2P) 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300" y="1645216"/>
            <a:ext cx="85217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What is Peer-to-Peer Technology?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 network architecture where computers communicate directly with each other.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Every participant acts as both a client and a server.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No central server is required. </a:t>
            </a:r>
          </a:p>
          <a:p>
            <a:r>
              <a:rPr lang="en-US" sz="2400" b="1" dirty="0"/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Blockchain</a:t>
            </a:r>
            <a:r>
              <a:rPr lang="en-US" sz="2400" dirty="0"/>
              <a:t> Networks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File Sharing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Distributed Computing</a:t>
            </a:r>
          </a:p>
        </p:txBody>
      </p:sp>
    </p:spTree>
    <p:extLst>
      <p:ext uri="{BB962C8B-B14F-4D97-AF65-F5344CB8AC3E}">
        <p14:creationId xmlns:p14="http://schemas.microsoft.com/office/powerpoint/2010/main" val="1910919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89364"/>
            <a:ext cx="60163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Working of Peer-to-Peer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300" y="1645216"/>
            <a:ext cx="85217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P2P Network Operation</a:t>
            </a:r>
          </a:p>
          <a:p>
            <a:r>
              <a:rPr lang="en-US" sz="2400" dirty="0"/>
              <a:t>A peer joins the network. </a:t>
            </a:r>
          </a:p>
          <a:p>
            <a:r>
              <a:rPr lang="en-US" sz="2400" dirty="0"/>
              <a:t>Resources are shared among peers. </a:t>
            </a:r>
          </a:p>
          <a:p>
            <a:r>
              <a:rPr lang="en-US" sz="2400" dirty="0"/>
              <a:t>Requests are sent directly to other peers. </a:t>
            </a:r>
          </a:p>
          <a:p>
            <a:r>
              <a:rPr lang="en-US" sz="2400" dirty="0"/>
              <a:t>Data is exchanged without a central server. </a:t>
            </a:r>
          </a:p>
          <a:p>
            <a:r>
              <a:rPr lang="en-US" sz="2400" dirty="0"/>
              <a:t>Network continues functioning even if some peers fail. </a:t>
            </a:r>
          </a:p>
          <a:p>
            <a:r>
              <a:rPr lang="en-US" sz="2400" b="1" dirty="0"/>
              <a:t>Features</a:t>
            </a:r>
          </a:p>
          <a:p>
            <a:r>
              <a:rPr lang="en-US" sz="2400" dirty="0"/>
              <a:t>Resource Sharing </a:t>
            </a:r>
          </a:p>
          <a:p>
            <a:r>
              <a:rPr lang="en-US" sz="2400" dirty="0"/>
              <a:t>Direct Communication </a:t>
            </a:r>
          </a:p>
          <a:p>
            <a:r>
              <a:rPr lang="en-US" sz="2400" dirty="0"/>
              <a:t>Self-Organization </a:t>
            </a:r>
          </a:p>
        </p:txBody>
      </p:sp>
    </p:spTree>
    <p:extLst>
      <p:ext uri="{BB962C8B-B14F-4D97-AF65-F5344CB8AC3E}">
        <p14:creationId xmlns:p14="http://schemas.microsoft.com/office/powerpoint/2010/main" val="29616383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89364"/>
            <a:ext cx="56204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Types of Peer-to-Peer Networks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393700" y="1620729"/>
            <a:ext cx="81661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1. Pure P2P Network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No centralized server.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All nodes are equal. </a:t>
            </a:r>
          </a:p>
          <a:p>
            <a:r>
              <a:rPr lang="en-IN" sz="2000" b="1" dirty="0"/>
              <a:t>2. Hybrid P2P Network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Combination of centralized and decentralized components.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Central server assists in resource discovery. </a:t>
            </a:r>
          </a:p>
          <a:p>
            <a:r>
              <a:rPr lang="en-IN" sz="2000" b="1" dirty="0"/>
              <a:t>3. Structured P2P Network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Organized topology.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Efficient data searching. </a:t>
            </a:r>
          </a:p>
          <a:p>
            <a:r>
              <a:rPr lang="en-IN" sz="2000" b="1" dirty="0"/>
              <a:t>4. Unstructured P2P Network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Random node connections.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Easy to establish.</a:t>
            </a:r>
          </a:p>
        </p:txBody>
      </p:sp>
    </p:spTree>
    <p:extLst>
      <p:ext uri="{BB962C8B-B14F-4D97-AF65-F5344CB8AC3E}">
        <p14:creationId xmlns:p14="http://schemas.microsoft.com/office/powerpoint/2010/main" val="41267518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89364"/>
            <a:ext cx="56204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Types of Peer-to-Peer Networks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393700" y="1620729"/>
            <a:ext cx="81661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1. Pure P2P Network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No centralized server.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All nodes are equal. </a:t>
            </a:r>
          </a:p>
          <a:p>
            <a:r>
              <a:rPr lang="en-IN" sz="2000" b="1" dirty="0"/>
              <a:t>2. Hybrid P2P Network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Combination of centralized and decentralized components.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Central server assists in resource discovery. </a:t>
            </a:r>
          </a:p>
          <a:p>
            <a:r>
              <a:rPr lang="en-IN" sz="2000" b="1" dirty="0"/>
              <a:t>3. Structured P2P Network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Organized topology.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Efficient data searching. </a:t>
            </a:r>
          </a:p>
          <a:p>
            <a:r>
              <a:rPr lang="en-IN" sz="2000" b="1" dirty="0"/>
              <a:t>4. Unstructured P2P Network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Random node connections.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Easy to establish.</a:t>
            </a:r>
          </a:p>
        </p:txBody>
      </p:sp>
    </p:spTree>
    <p:extLst>
      <p:ext uri="{BB962C8B-B14F-4D97-AF65-F5344CB8AC3E}">
        <p14:creationId xmlns:p14="http://schemas.microsoft.com/office/powerpoint/2010/main" val="10623255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89364"/>
            <a:ext cx="42787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DLT vs P2P Technology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146271"/>
              </p:ext>
            </p:extLst>
          </p:nvPr>
        </p:nvGraphicFramePr>
        <p:xfrm>
          <a:off x="317500" y="2085181"/>
          <a:ext cx="8229600" cy="338328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04378858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5364719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2114419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DLT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P2P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6041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Maintain shared ledger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Direct resource sharing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4125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Data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Distributed ledger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Distributed resources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2474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Cryptographic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Depends on network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707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Consensus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Usually not required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5681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Transparency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Moderate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4941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Blockchain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 err="1"/>
                        <a:t>BitTorrent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4699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26380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89364"/>
            <a:ext cx="84753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Distributed Consensus and Fault Tolerance Mechanisms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4224" y="1620729"/>
            <a:ext cx="3349276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Introduction</a:t>
            </a:r>
          </a:p>
          <a:p>
            <a:r>
              <a:rPr lang="en-US" sz="1600" b="1" dirty="0"/>
              <a:t>What is Consensus?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Consensus is the process through which all nodes in a distributed network agree on a common state of the ledger.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It ensures that all participants have the same version of transaction records.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Consensus is essential in </a:t>
            </a:r>
            <a:r>
              <a:rPr lang="en-US" sz="1600" dirty="0" err="1"/>
              <a:t>blockchain</a:t>
            </a:r>
            <a:r>
              <a:rPr lang="en-US" sz="1600" dirty="0"/>
              <a:t> networks to maintain trust and consistency. </a:t>
            </a:r>
          </a:p>
          <a:p>
            <a:r>
              <a:rPr lang="en-US" sz="1600" b="1" dirty="0"/>
              <a:t>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Agreement among nodes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Data consistency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Security and trust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Prevention of double spending</a:t>
            </a:r>
          </a:p>
        </p:txBody>
      </p:sp>
      <p:pic>
        <p:nvPicPr>
          <p:cNvPr id="5122" name="Picture 2" descr="Blockchain Topics in Consensus and Fault Tolerance Mechanisms | S-Logix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405"/>
          <a:stretch/>
        </p:blipFill>
        <p:spPr bwMode="auto">
          <a:xfrm>
            <a:off x="3843072" y="2045275"/>
            <a:ext cx="4632325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95785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89364"/>
            <a:ext cx="84753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Distributed Consensus and Fault Tolerance Mechanisms</a:t>
            </a:r>
          </a:p>
        </p:txBody>
      </p:sp>
      <p:sp>
        <p:nvSpPr>
          <p:cNvPr id="3" name="Rectangle 2"/>
          <p:cNvSpPr/>
          <p:nvPr/>
        </p:nvSpPr>
        <p:spPr>
          <a:xfrm>
            <a:off x="355600" y="1538407"/>
            <a:ext cx="38481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/>
              <a:t>Distributed Consensus Mechanisms</a:t>
            </a:r>
          </a:p>
          <a:p>
            <a:r>
              <a:rPr lang="en-US" sz="1800" b="1" dirty="0"/>
              <a:t>Definition</a:t>
            </a:r>
          </a:p>
          <a:p>
            <a:r>
              <a:rPr lang="en-US" sz="1800" dirty="0"/>
              <a:t>A distributed consensus mechanism is a protocol that allows network participants to agree on the validity of transactions without relying on a central authority.</a:t>
            </a:r>
          </a:p>
          <a:p>
            <a:r>
              <a:rPr lang="en-US" sz="1800" b="1" dirty="0"/>
              <a:t>Key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Agreement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Validity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Integrity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Fault Tolerance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Availability </a:t>
            </a:r>
          </a:p>
          <a:p>
            <a:r>
              <a:rPr lang="en-US" sz="1800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Eliminates intermediaries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Enhances reliability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Supports decentralization</a:t>
            </a:r>
          </a:p>
        </p:txBody>
      </p:sp>
      <p:pic>
        <p:nvPicPr>
          <p:cNvPr id="6" name="Picture 2" descr="Blockchain Topics in Consensus and Fault Tolerance Mechanisms | S-Logix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405"/>
          <a:stretch/>
        </p:blipFill>
        <p:spPr bwMode="auto">
          <a:xfrm>
            <a:off x="4237698" y="2184975"/>
            <a:ext cx="4632325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43938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89364"/>
            <a:ext cx="84753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Distributed Consensus and Fault Tolerance Mechanisms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31800" y="1709629"/>
            <a:ext cx="8509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b="1" dirty="0"/>
              <a:t>Types of Consensus Mechanisms</a:t>
            </a:r>
          </a:p>
          <a:p>
            <a:r>
              <a:rPr lang="en-IN" sz="1800" b="1" dirty="0"/>
              <a:t>Common Consensus Algorithms</a:t>
            </a:r>
          </a:p>
          <a:p>
            <a:r>
              <a:rPr lang="en-IN" sz="1800" b="1" dirty="0"/>
              <a:t>1. Proof of Work (</a:t>
            </a:r>
            <a:r>
              <a:rPr lang="en-IN" sz="1800" b="1" dirty="0" err="1"/>
              <a:t>PoW</a:t>
            </a:r>
            <a:r>
              <a:rPr lang="en-IN" sz="18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Miners solve complex mathematical puzzles.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Used by Bitcoin. </a:t>
            </a:r>
          </a:p>
          <a:p>
            <a:r>
              <a:rPr lang="en-IN" sz="1800" b="1" dirty="0"/>
              <a:t>2. Proof of Stake (</a:t>
            </a:r>
            <a:r>
              <a:rPr lang="en-IN" sz="1800" b="1" dirty="0" err="1"/>
              <a:t>PoS</a:t>
            </a:r>
            <a:r>
              <a:rPr lang="en-IN" sz="18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Validators are selected based on stake ownership.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Energy efficient. </a:t>
            </a:r>
          </a:p>
          <a:p>
            <a:r>
              <a:rPr lang="en-IN" sz="1800" b="1" dirty="0"/>
              <a:t>3. Practical Byzantine Fault Tolerance (PBFT)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Suitable for permissioned </a:t>
            </a:r>
            <a:r>
              <a:rPr lang="en-IN" sz="1800" dirty="0" err="1"/>
              <a:t>blockchains</a:t>
            </a:r>
            <a:r>
              <a:rPr lang="en-IN" sz="18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Fast transaction processing. </a:t>
            </a:r>
          </a:p>
          <a:p>
            <a:r>
              <a:rPr lang="en-IN" sz="1800" b="1" dirty="0"/>
              <a:t>4. Raft Consensus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Leader-based consensus algorithm.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Used in enterprise </a:t>
            </a:r>
            <a:r>
              <a:rPr lang="en-IN" sz="1800" dirty="0" err="1"/>
              <a:t>blockchain</a:t>
            </a:r>
            <a:r>
              <a:rPr lang="en-IN" sz="1800" dirty="0"/>
              <a:t> systems. </a:t>
            </a:r>
          </a:p>
        </p:txBody>
      </p:sp>
    </p:spTree>
    <p:extLst>
      <p:ext uri="{BB962C8B-B14F-4D97-AF65-F5344CB8AC3E}">
        <p14:creationId xmlns:p14="http://schemas.microsoft.com/office/powerpoint/2010/main" val="19935512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89364"/>
            <a:ext cx="84753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Distributed Consensus and Fault Tolerance Mechanisms</a:t>
            </a:r>
          </a:p>
        </p:txBody>
      </p:sp>
      <p:sp>
        <p:nvSpPr>
          <p:cNvPr id="3" name="Rectangle 2"/>
          <p:cNvSpPr/>
          <p:nvPr/>
        </p:nvSpPr>
        <p:spPr>
          <a:xfrm>
            <a:off x="317500" y="1664494"/>
            <a:ext cx="86106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Byzantine Fault Tolerance (BFT)</a:t>
            </a:r>
          </a:p>
          <a:p>
            <a:r>
              <a:rPr lang="en-US" sz="2000" b="1" dirty="0"/>
              <a:t>What is Byzantine Fault Tolerance?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Ability of a distributed system to operate correctly even when some nodes behave maliciously or fail. </a:t>
            </a:r>
          </a:p>
          <a:p>
            <a:r>
              <a:rPr lang="en-US" sz="2000" b="1" dirty="0"/>
              <a:t>Byzantine Generals 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Multiple participants must agree on a strategy.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Some participants may provide false information. </a:t>
            </a:r>
          </a:p>
          <a:p>
            <a:r>
              <a:rPr lang="en-US" sz="2000" b="1" dirty="0"/>
              <a:t>Importance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Prevents fraudulent transactions.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Maintains network integrity.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Ensures trust among participants.</a:t>
            </a:r>
          </a:p>
        </p:txBody>
      </p:sp>
    </p:spTree>
    <p:extLst>
      <p:ext uri="{BB962C8B-B14F-4D97-AF65-F5344CB8AC3E}">
        <p14:creationId xmlns:p14="http://schemas.microsoft.com/office/powerpoint/2010/main" val="16801923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89364"/>
            <a:ext cx="84753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Distributed Consensus and Fault Tolerance Mechanisms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299" y="1525707"/>
            <a:ext cx="7980097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Fault Tolerance Mechanisms</a:t>
            </a:r>
          </a:p>
          <a:p>
            <a:r>
              <a:rPr lang="en-IN" sz="2000" b="1" dirty="0"/>
              <a:t>Fault Tolerance in </a:t>
            </a:r>
            <a:r>
              <a:rPr lang="en-IN" sz="2000" b="1" dirty="0" err="1"/>
              <a:t>Blockchain</a:t>
            </a:r>
            <a:endParaRPr lang="en-IN" sz="2000" b="1" dirty="0"/>
          </a:p>
          <a:p>
            <a:r>
              <a:rPr lang="en-IN" sz="2000" dirty="0"/>
              <a:t>Fault tolerance enables the system to continue functioning despite failures.</a:t>
            </a:r>
          </a:p>
          <a:p>
            <a:r>
              <a:rPr lang="en-IN" sz="2000" b="1" dirty="0"/>
              <a:t>Types of Faults</a:t>
            </a:r>
          </a:p>
          <a:p>
            <a:pPr marL="1168400" lvl="3"/>
            <a:r>
              <a:rPr lang="en-IN" sz="2000" b="1" dirty="0"/>
              <a:t>1. Crash Faults</a:t>
            </a:r>
          </a:p>
          <a:p>
            <a:pPr marL="1168400" lvl="3">
              <a:buFont typeface="Arial" panose="020B0604020202020204" pitchFamily="34" charset="0"/>
              <a:buChar char="•"/>
            </a:pPr>
            <a:r>
              <a:rPr lang="en-IN" sz="2000" dirty="0"/>
              <a:t>Node stops functioning. </a:t>
            </a:r>
          </a:p>
          <a:p>
            <a:pPr marL="1168400" lvl="3"/>
            <a:r>
              <a:rPr lang="en-IN" sz="2000" b="1" dirty="0"/>
              <a:t>2. Network Faults</a:t>
            </a:r>
          </a:p>
          <a:p>
            <a:pPr marL="1168400" lvl="3">
              <a:buFont typeface="Arial" panose="020B0604020202020204" pitchFamily="34" charset="0"/>
              <a:buChar char="•"/>
            </a:pPr>
            <a:r>
              <a:rPr lang="en-IN" sz="2000" dirty="0"/>
              <a:t>Communication interruptions. </a:t>
            </a:r>
          </a:p>
          <a:p>
            <a:pPr marL="1168400" lvl="3"/>
            <a:r>
              <a:rPr lang="en-IN" sz="2000" b="1" dirty="0"/>
              <a:t>3. Byzantine Faults</a:t>
            </a:r>
          </a:p>
          <a:p>
            <a:pPr marL="1168400" lvl="3">
              <a:buFont typeface="Arial" panose="020B0604020202020204" pitchFamily="34" charset="0"/>
              <a:buChar char="•"/>
            </a:pPr>
            <a:r>
              <a:rPr lang="en-IN" sz="2000" dirty="0"/>
              <a:t>Nodes send incorrect or malicious data. </a:t>
            </a:r>
          </a:p>
          <a:p>
            <a:r>
              <a:rPr lang="en-IN" sz="2000" b="1" dirty="0"/>
              <a:t>Benefits</a:t>
            </a:r>
          </a:p>
          <a:p>
            <a:pPr marL="1257300" lvl="2">
              <a:buFont typeface="Arial" panose="020B0604020202020204" pitchFamily="34" charset="0"/>
              <a:buChar char="•"/>
            </a:pPr>
            <a:r>
              <a:rPr lang="en-IN" sz="2000" dirty="0"/>
              <a:t>High Availability </a:t>
            </a:r>
          </a:p>
          <a:p>
            <a:pPr marL="1257300" lvl="2">
              <a:buFont typeface="Arial" panose="020B0604020202020204" pitchFamily="34" charset="0"/>
              <a:buChar char="•"/>
            </a:pPr>
            <a:r>
              <a:rPr lang="en-IN" sz="2000" dirty="0"/>
              <a:t>Reliability </a:t>
            </a:r>
          </a:p>
          <a:p>
            <a:pPr marL="1257300" lvl="2">
              <a:buFont typeface="Arial" panose="020B0604020202020204" pitchFamily="34" charset="0"/>
              <a:buChar char="•"/>
            </a:pPr>
            <a:r>
              <a:rPr lang="en-IN" sz="2000" dirty="0"/>
              <a:t>Continuous Operation </a:t>
            </a:r>
          </a:p>
        </p:txBody>
      </p:sp>
    </p:spTree>
    <p:extLst>
      <p:ext uri="{BB962C8B-B14F-4D97-AF65-F5344CB8AC3E}">
        <p14:creationId xmlns:p14="http://schemas.microsoft.com/office/powerpoint/2010/main" val="29507575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89364"/>
            <a:ext cx="84753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Distributed Consensus and Fault Tolerance Mechanisms</a:t>
            </a:r>
          </a:p>
        </p:txBody>
      </p:sp>
      <p:sp>
        <p:nvSpPr>
          <p:cNvPr id="3" name="Rectangle 2"/>
          <p:cNvSpPr/>
          <p:nvPr/>
        </p:nvSpPr>
        <p:spPr>
          <a:xfrm>
            <a:off x="381000" y="1646585"/>
            <a:ext cx="8305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b="1" dirty="0"/>
              <a:t>Practical Byzantine Fault Tolerance (PBFT)</a:t>
            </a:r>
          </a:p>
          <a:p>
            <a:r>
              <a:rPr lang="en-IN" sz="1800" b="1" dirty="0"/>
              <a:t>PBFT Working Process</a:t>
            </a:r>
          </a:p>
          <a:p>
            <a:r>
              <a:rPr lang="en-IN" sz="1800" b="1" dirty="0"/>
              <a:t>Step 1: Request</a:t>
            </a:r>
          </a:p>
          <a:p>
            <a:r>
              <a:rPr lang="en-IN" sz="1800" dirty="0"/>
              <a:t>Client sends transaction request.</a:t>
            </a:r>
          </a:p>
          <a:p>
            <a:r>
              <a:rPr lang="en-IN" sz="1800" b="1" dirty="0"/>
              <a:t>Step 2: Pre-Prepare</a:t>
            </a:r>
          </a:p>
          <a:p>
            <a:r>
              <a:rPr lang="en-IN" sz="1800" dirty="0"/>
              <a:t>Primary node broadcasts proposal.</a:t>
            </a:r>
          </a:p>
          <a:p>
            <a:r>
              <a:rPr lang="en-IN" sz="1800" b="1" dirty="0"/>
              <a:t>Step 3: Prepare</a:t>
            </a:r>
          </a:p>
          <a:p>
            <a:r>
              <a:rPr lang="en-IN" sz="1800" dirty="0"/>
              <a:t>Nodes verify transaction and exchange messages.</a:t>
            </a:r>
          </a:p>
          <a:p>
            <a:r>
              <a:rPr lang="en-IN" sz="1800" b="1" dirty="0"/>
              <a:t>Step 4: Commit</a:t>
            </a:r>
          </a:p>
          <a:p>
            <a:r>
              <a:rPr lang="en-IN" sz="1800" dirty="0"/>
              <a:t>Nodes agree on transaction.</a:t>
            </a:r>
          </a:p>
          <a:p>
            <a:r>
              <a:rPr lang="en-IN" sz="1800" b="1" dirty="0"/>
              <a:t>Step 5: Reply</a:t>
            </a:r>
          </a:p>
          <a:p>
            <a:r>
              <a:rPr lang="en-IN" sz="1800" dirty="0"/>
              <a:t>Transaction is finalized.</a:t>
            </a:r>
          </a:p>
          <a:p>
            <a:r>
              <a:rPr lang="en-IN" sz="1800" b="1" dirty="0"/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Fast confirmation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Low energy consumption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Suitable for consortium </a:t>
            </a:r>
            <a:r>
              <a:rPr lang="en-IN" sz="1800" dirty="0" err="1"/>
              <a:t>blockchains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1310608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89364"/>
            <a:ext cx="57567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Byzantine consensus in </a:t>
            </a:r>
            <a:r>
              <a:rPr lang="en-US" sz="2400" b="1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Blockchains</a:t>
            </a:r>
            <a:endParaRPr lang="en-US" sz="2400" b="1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2100" y="1491376"/>
            <a:ext cx="86233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/>
              <a:t>Introduction to Byzantine Consensus</a:t>
            </a:r>
          </a:p>
          <a:p>
            <a:r>
              <a:rPr lang="en-US" sz="1800" b="1" dirty="0"/>
              <a:t>What is Byzantine Consensus?</a:t>
            </a:r>
          </a:p>
          <a:p>
            <a:r>
              <a:rPr lang="en-US" sz="1800" dirty="0"/>
              <a:t>Byzantine Consensus is a fault-tolerant mechanism that enables distributed systems to reach agreement even when some participants behave incorrectly, maliciously, or unpredictably.</a:t>
            </a:r>
          </a:p>
          <a:p>
            <a:r>
              <a:rPr lang="en-US" sz="1800" b="1" dirty="0"/>
              <a:t>Origin</a:t>
            </a:r>
          </a:p>
          <a:p>
            <a:r>
              <a:rPr lang="en-US" sz="1800" dirty="0"/>
              <a:t>The concept originates from the </a:t>
            </a:r>
            <a:r>
              <a:rPr lang="en-US" sz="1800" b="1" dirty="0"/>
              <a:t>Byzantine Generals Problem</a:t>
            </a:r>
            <a:r>
              <a:rPr lang="en-US" sz="1800" dirty="0"/>
              <a:t>, proposed by Leslie </a:t>
            </a:r>
            <a:r>
              <a:rPr lang="en-US" sz="1800" dirty="0" err="1"/>
              <a:t>Lamport</a:t>
            </a:r>
            <a:r>
              <a:rPr lang="en-US" sz="1800" dirty="0"/>
              <a:t>, Robert </a:t>
            </a:r>
            <a:r>
              <a:rPr lang="en-US" sz="1800" dirty="0" err="1"/>
              <a:t>Shostak</a:t>
            </a:r>
            <a:r>
              <a:rPr lang="en-US" sz="1800" dirty="0"/>
              <a:t>, and Marshall Pease in 1982.</a:t>
            </a:r>
          </a:p>
          <a:p>
            <a:r>
              <a:rPr lang="en-US" sz="1800" b="1" dirty="0"/>
              <a:t>The Byzantine Generals 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Several generals surround a city.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They must agree on a common attack or retreat strategy.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Some generals may be traitors and send conflicting messages.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Loyal generals must still reach a common decision. </a:t>
            </a:r>
          </a:p>
          <a:p>
            <a:r>
              <a:rPr lang="en-US" sz="1800" b="1" dirty="0"/>
              <a:t>Importance in </a:t>
            </a:r>
            <a:r>
              <a:rPr lang="en-US" sz="1800" b="1" dirty="0" err="1"/>
              <a:t>Blockchain</a:t>
            </a:r>
            <a:endParaRPr lang="en-US" sz="1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Ensures all nodes agree on the same transaction history.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Prevents fraud and double-spending.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Maintains trust without a central authority.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Enables secure distributed operations.</a:t>
            </a:r>
          </a:p>
        </p:txBody>
      </p:sp>
    </p:spTree>
    <p:extLst>
      <p:ext uri="{BB962C8B-B14F-4D97-AF65-F5344CB8AC3E}">
        <p14:creationId xmlns:p14="http://schemas.microsoft.com/office/powerpoint/2010/main" val="33421019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89364"/>
            <a:ext cx="57567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Byzantine consensus in </a:t>
            </a:r>
            <a:r>
              <a:rPr lang="en-US" sz="2400" b="1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Blockchains</a:t>
            </a:r>
            <a:endParaRPr lang="en-US" sz="2400" b="1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6700" y="1583541"/>
            <a:ext cx="8559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/>
              <a:t>Byzantine Fault Tolerance (BFT):</a:t>
            </a:r>
          </a:p>
          <a:p>
            <a:endParaRPr lang="en-US" sz="1800" b="1" dirty="0"/>
          </a:p>
          <a:p>
            <a:r>
              <a:rPr lang="en-US" sz="1800" b="1" dirty="0"/>
              <a:t>Understanding Byzantine Faults</a:t>
            </a:r>
          </a:p>
          <a:p>
            <a:r>
              <a:rPr lang="en-US" sz="1800" dirty="0"/>
              <a:t>A Byzantine fault occurs when a node behaves arbitrarily, including:</a:t>
            </a:r>
          </a:p>
          <a:p>
            <a:r>
              <a:rPr lang="en-US" sz="1800" b="1" dirty="0"/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Sending incorrect transaction information.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Sending conflicting messages to different nodes.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Refusing to participate in consensus.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Acting maliciously due to hacking or insider attacks. </a:t>
            </a:r>
          </a:p>
          <a:p>
            <a:r>
              <a:rPr lang="en-US" sz="1800" b="1" dirty="0"/>
              <a:t>Byzantine Fault Tolerance (BFT)</a:t>
            </a:r>
          </a:p>
          <a:p>
            <a:r>
              <a:rPr lang="en-US" sz="1800" dirty="0"/>
              <a:t>BFT is the capability of a distributed system to continue functioning correctly despite the presence of faulty or malicious nodes.</a:t>
            </a:r>
          </a:p>
          <a:p>
            <a:r>
              <a:rPr lang="en-US" sz="1800" b="1" dirty="0"/>
              <a:t>Conditions for BFT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Honest nodes must reach agreement.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Invalid transactions must be rejected.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Network should remain operational even with faulty participants.</a:t>
            </a:r>
          </a:p>
        </p:txBody>
      </p:sp>
    </p:spTree>
    <p:extLst>
      <p:ext uri="{BB962C8B-B14F-4D97-AF65-F5344CB8AC3E}">
        <p14:creationId xmlns:p14="http://schemas.microsoft.com/office/powerpoint/2010/main" val="37896233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89364"/>
            <a:ext cx="57567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Byzantine consensus in </a:t>
            </a:r>
            <a:r>
              <a:rPr lang="en-US" sz="2400" b="1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Blockchains</a:t>
            </a:r>
            <a:endParaRPr lang="en-US" sz="2400" b="1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7500" y="1458496"/>
            <a:ext cx="83693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Working of Byzantine Consensus in </a:t>
            </a:r>
            <a:r>
              <a:rPr lang="en-US" sz="1600" b="1" dirty="0" err="1"/>
              <a:t>Blockchains</a:t>
            </a:r>
            <a:endParaRPr lang="en-US" sz="1600" b="1" dirty="0"/>
          </a:p>
          <a:p>
            <a:r>
              <a:rPr lang="en-US" sz="1600" b="1" dirty="0"/>
              <a:t>Consensus Process</a:t>
            </a:r>
          </a:p>
          <a:p>
            <a:r>
              <a:rPr lang="en-US" sz="1600" b="1" dirty="0"/>
              <a:t>Step 1: Transaction Submission</a:t>
            </a:r>
          </a:p>
          <a:p>
            <a:r>
              <a:rPr lang="en-US" sz="1600" dirty="0"/>
              <a:t>A user submits a transaction to the </a:t>
            </a:r>
            <a:r>
              <a:rPr lang="en-US" sz="1600" dirty="0" err="1"/>
              <a:t>blockchain</a:t>
            </a:r>
            <a:r>
              <a:rPr lang="en-US" sz="1600" dirty="0"/>
              <a:t> network.</a:t>
            </a:r>
          </a:p>
          <a:p>
            <a:r>
              <a:rPr lang="en-US" sz="1600" b="1" dirty="0"/>
              <a:t>Step 2: Transaction Broadcasting</a:t>
            </a:r>
          </a:p>
          <a:p>
            <a:r>
              <a:rPr lang="en-US" sz="1600" dirty="0"/>
              <a:t>The transaction is distributed to participating nodes.</a:t>
            </a:r>
          </a:p>
          <a:p>
            <a:r>
              <a:rPr lang="en-US" sz="1600" b="1" dirty="0"/>
              <a:t>Step 3: Validation</a:t>
            </a:r>
          </a:p>
          <a:p>
            <a:r>
              <a:rPr lang="en-US" sz="1600" dirty="0"/>
              <a:t>Nodes verify: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Digital signatures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Account balances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Transaction rules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Smart contract conditions </a:t>
            </a:r>
          </a:p>
          <a:p>
            <a:r>
              <a:rPr lang="en-US" sz="1600" b="1" dirty="0"/>
              <a:t>Step 4: Message Exchange</a:t>
            </a:r>
          </a:p>
          <a:p>
            <a:r>
              <a:rPr lang="en-US" sz="1600" dirty="0"/>
              <a:t>Nodes communicate with one another to determine transaction validity.</a:t>
            </a:r>
          </a:p>
          <a:p>
            <a:r>
              <a:rPr lang="en-US" sz="1600" b="1" dirty="0"/>
              <a:t>Step 5: Agreement</a:t>
            </a:r>
          </a:p>
          <a:p>
            <a:r>
              <a:rPr lang="en-US" sz="1600" dirty="0"/>
              <a:t>A sufficient majority of nodes agree on the transaction outcome.</a:t>
            </a:r>
          </a:p>
          <a:p>
            <a:r>
              <a:rPr lang="en-US" sz="1600" b="1" dirty="0"/>
              <a:t>Step 6: Block Commitment</a:t>
            </a:r>
          </a:p>
          <a:p>
            <a:r>
              <a:rPr lang="en-US" sz="1600" dirty="0"/>
              <a:t>The validated transaction is permanently added to the </a:t>
            </a:r>
            <a:r>
              <a:rPr lang="en-US" sz="1600" dirty="0" err="1"/>
              <a:t>blockchain</a:t>
            </a:r>
            <a:r>
              <a:rPr lang="en-US" sz="1600" dirty="0"/>
              <a:t> ledger.</a:t>
            </a:r>
          </a:p>
          <a:p>
            <a:r>
              <a:rPr lang="en-US" sz="1600" b="1" dirty="0"/>
              <a:t>Outcome</a:t>
            </a:r>
          </a:p>
          <a:p>
            <a:r>
              <a:rPr lang="en-US" sz="1600" dirty="0"/>
              <a:t>All honest nodes maintain an identical ledger state despite the presence of malicious nodes.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021" y="1458496"/>
            <a:ext cx="3657883" cy="292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8624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89364"/>
            <a:ext cx="57567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Byzantine consensus in </a:t>
            </a:r>
            <a:r>
              <a:rPr lang="en-US" sz="2400" b="1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Blockchains</a:t>
            </a:r>
            <a:endParaRPr lang="en-US" sz="2400" b="1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6700" y="1458496"/>
            <a:ext cx="86106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Practical Byzantine Fault Tolerance (PBFT)</a:t>
            </a:r>
          </a:p>
          <a:p>
            <a:r>
              <a:rPr lang="en-IN" b="1" dirty="0"/>
              <a:t>PBFT Algorithm</a:t>
            </a:r>
          </a:p>
          <a:p>
            <a:r>
              <a:rPr lang="en-IN" dirty="0"/>
              <a:t>Practical Byzantine Fault Tolerance (PBFT) is one of the most widely used Byzantine consensus algorithms in permissioned </a:t>
            </a:r>
            <a:r>
              <a:rPr lang="en-IN" dirty="0" err="1"/>
              <a:t>blockchains</a:t>
            </a:r>
            <a:r>
              <a:rPr lang="en-IN" dirty="0"/>
              <a:t>.</a:t>
            </a:r>
          </a:p>
          <a:p>
            <a:r>
              <a:rPr lang="en-IN" b="1" dirty="0"/>
              <a:t>PBFT Phases</a:t>
            </a:r>
          </a:p>
          <a:p>
            <a:r>
              <a:rPr lang="en-IN" b="1" dirty="0"/>
              <a:t>1. Request Phase</a:t>
            </a:r>
          </a:p>
          <a:p>
            <a:r>
              <a:rPr lang="en-IN" dirty="0"/>
              <a:t>Client sends a transaction request.</a:t>
            </a:r>
          </a:p>
          <a:p>
            <a:r>
              <a:rPr lang="en-IN" b="1" dirty="0"/>
              <a:t>2. Pre-Prepare Phase</a:t>
            </a:r>
          </a:p>
          <a:p>
            <a:r>
              <a:rPr lang="en-IN" dirty="0"/>
              <a:t>Primary (leader) node proposes the transaction.</a:t>
            </a:r>
          </a:p>
          <a:p>
            <a:r>
              <a:rPr lang="en-IN" b="1" dirty="0"/>
              <a:t>3. Prepare Phase</a:t>
            </a:r>
          </a:p>
          <a:p>
            <a:r>
              <a:rPr lang="en-IN" dirty="0"/>
              <a:t>Replica nodes verify and exchange messages.</a:t>
            </a:r>
          </a:p>
          <a:p>
            <a:r>
              <a:rPr lang="en-IN" b="1" dirty="0"/>
              <a:t>4. Commit Phase</a:t>
            </a:r>
          </a:p>
          <a:p>
            <a:r>
              <a:rPr lang="en-IN" dirty="0"/>
              <a:t>Nodes confirm agreement.</a:t>
            </a:r>
          </a:p>
          <a:p>
            <a:r>
              <a:rPr lang="en-IN" b="1" dirty="0"/>
              <a:t>5. Reply Phase</a:t>
            </a:r>
          </a:p>
          <a:p>
            <a:r>
              <a:rPr lang="en-IN" dirty="0"/>
              <a:t>Transaction is finalized and result is returned.</a:t>
            </a:r>
          </a:p>
          <a:p>
            <a:r>
              <a:rPr lang="en-IN" b="1" dirty="0"/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Fast transaction confirmation.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Low energy consumption.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High throughput.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Suitable for enterprise </a:t>
            </a:r>
            <a:r>
              <a:rPr lang="en-IN" dirty="0" err="1"/>
              <a:t>blockchains</a:t>
            </a:r>
            <a:r>
              <a:rPr lang="en-IN" dirty="0"/>
              <a:t>. </a:t>
            </a:r>
          </a:p>
          <a:p>
            <a:r>
              <a:rPr lang="en-IN" b="1" dirty="0"/>
              <a:t>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Hyperledger</a:t>
            </a:r>
            <a:r>
              <a:rPr lang="en-IN" dirty="0"/>
              <a:t> Fabric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Tendermint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Quorum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752" y="2265182"/>
            <a:ext cx="4852895" cy="388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5459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89364"/>
            <a:ext cx="57567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Byzantine consensus in </a:t>
            </a:r>
            <a:r>
              <a:rPr lang="en-US" sz="2400" b="1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Blockchains</a:t>
            </a:r>
            <a:endParaRPr lang="en-US" sz="2400" b="1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9152" y="1475820"/>
            <a:ext cx="829764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Byzantine Consensus in Modern </a:t>
            </a:r>
            <a:r>
              <a:rPr lang="en-US" sz="1600" b="1" dirty="0" err="1"/>
              <a:t>Blockchains</a:t>
            </a:r>
            <a:endParaRPr lang="en-US" sz="1600" b="1" dirty="0"/>
          </a:p>
          <a:p>
            <a:r>
              <a:rPr lang="en-US" sz="1600" b="1" dirty="0"/>
              <a:t>Benefits</a:t>
            </a:r>
          </a:p>
          <a:p>
            <a:r>
              <a:rPr lang="en-US" sz="1600" b="1" dirty="0"/>
              <a:t>Security</a:t>
            </a:r>
          </a:p>
          <a:p>
            <a:pPr marL="444500" lvl="1">
              <a:buFont typeface="Arial" panose="020B0604020202020204" pitchFamily="34" charset="0"/>
              <a:buChar char="•"/>
            </a:pPr>
            <a:r>
              <a:rPr lang="en-US" sz="1600" dirty="0"/>
              <a:t>Protects against malicious nodes. </a:t>
            </a:r>
          </a:p>
          <a:p>
            <a:pPr marL="444500" lvl="1">
              <a:buFont typeface="Arial" panose="020B0604020202020204" pitchFamily="34" charset="0"/>
              <a:buChar char="•"/>
            </a:pPr>
            <a:r>
              <a:rPr lang="en-US" sz="1600" dirty="0"/>
              <a:t>Prevents fraudulent transactions. </a:t>
            </a:r>
          </a:p>
          <a:p>
            <a:r>
              <a:rPr lang="en-US" sz="1600" b="1" dirty="0"/>
              <a:t>Reliability</a:t>
            </a:r>
          </a:p>
          <a:p>
            <a:pPr marL="533400">
              <a:buFont typeface="Arial" panose="020B0604020202020204" pitchFamily="34" charset="0"/>
              <a:buChar char="•"/>
              <a:tabLst>
                <a:tab pos="88900" algn="l"/>
              </a:tabLst>
            </a:pPr>
            <a:r>
              <a:rPr lang="en-US" sz="1600" dirty="0"/>
              <a:t>Continues operating despite failures. </a:t>
            </a:r>
          </a:p>
          <a:p>
            <a:r>
              <a:rPr lang="en-US" sz="1600" b="1" dirty="0"/>
              <a:t>Consistency</a:t>
            </a:r>
          </a:p>
          <a:p>
            <a:pPr marL="533400">
              <a:buFont typeface="Arial" panose="020B0604020202020204" pitchFamily="34" charset="0"/>
              <a:buChar char="•"/>
            </a:pPr>
            <a:r>
              <a:rPr lang="en-US" sz="1600" dirty="0"/>
              <a:t>All honest nodes maintain the same ledger. </a:t>
            </a:r>
          </a:p>
          <a:p>
            <a:r>
              <a:rPr lang="en-US" sz="1600" b="1" dirty="0"/>
              <a:t>Decentralization</a:t>
            </a:r>
          </a:p>
          <a:p>
            <a:pPr marL="533400">
              <a:buFont typeface="Arial" panose="020B0604020202020204" pitchFamily="34" charset="0"/>
              <a:buChar char="•"/>
            </a:pPr>
            <a:r>
              <a:rPr lang="en-US" sz="1600" dirty="0"/>
              <a:t>No central authority required. </a:t>
            </a:r>
          </a:p>
          <a:p>
            <a:r>
              <a:rPr lang="en-US" sz="1600" b="1" dirty="0"/>
              <a:t>Challenges</a:t>
            </a:r>
          </a:p>
          <a:p>
            <a:r>
              <a:rPr lang="en-US" sz="1600" b="1" dirty="0"/>
              <a:t>Scalability</a:t>
            </a:r>
          </a:p>
          <a:p>
            <a:pPr marL="533400" indent="-533400">
              <a:buFont typeface="Arial" panose="020B0604020202020204" pitchFamily="34" charset="0"/>
              <a:buChar char="•"/>
            </a:pPr>
            <a:r>
              <a:rPr lang="en-US" sz="1600" dirty="0"/>
              <a:t>Communication overhead increases with network size. </a:t>
            </a:r>
          </a:p>
          <a:p>
            <a:r>
              <a:rPr lang="en-US" sz="1600" b="1" dirty="0"/>
              <a:t>Complexity</a:t>
            </a:r>
          </a:p>
          <a:p>
            <a:pPr marL="533400" indent="-533400">
              <a:buFont typeface="Arial" panose="020B0604020202020204" pitchFamily="34" charset="0"/>
              <a:buChar char="•"/>
            </a:pPr>
            <a:r>
              <a:rPr lang="en-US" sz="1600" dirty="0"/>
              <a:t>Large number of message exchanges required. </a:t>
            </a:r>
          </a:p>
          <a:p>
            <a:r>
              <a:rPr lang="en-US" sz="1600" b="1" dirty="0"/>
              <a:t>Network Latency</a:t>
            </a:r>
          </a:p>
          <a:p>
            <a:pPr marL="533400" indent="-533400">
              <a:buFont typeface="Arial" panose="020B0604020202020204" pitchFamily="34" charset="0"/>
              <a:buChar char="•"/>
            </a:pPr>
            <a:r>
              <a:rPr lang="en-US" sz="1600" dirty="0"/>
              <a:t>Performance may decrease in geographically distributed systems.</a:t>
            </a:r>
          </a:p>
        </p:txBody>
      </p:sp>
    </p:spTree>
    <p:extLst>
      <p:ext uri="{BB962C8B-B14F-4D97-AF65-F5344CB8AC3E}">
        <p14:creationId xmlns:p14="http://schemas.microsoft.com/office/powerpoint/2010/main" val="37414835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89364"/>
            <a:ext cx="41008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Permissioned </a:t>
            </a:r>
            <a:r>
              <a:rPr lang="en-US" sz="2400" b="1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Blockchains</a:t>
            </a:r>
            <a:endParaRPr lang="en-US" sz="2400" b="1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9100" y="1531829"/>
            <a:ext cx="7848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What is a Permissioned </a:t>
            </a:r>
            <a:r>
              <a:rPr lang="en-US" sz="2000" b="1" dirty="0" err="1"/>
              <a:t>Blockchain</a:t>
            </a:r>
            <a:r>
              <a:rPr lang="en-US" sz="2000" b="1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/>
              <a:t>Blockchain</a:t>
            </a:r>
            <a:r>
              <a:rPr lang="en-US" sz="2000" dirty="0"/>
              <a:t> where participants are known and authorized.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Access rights are controlled by an organization or consortium. </a:t>
            </a:r>
          </a:p>
          <a:p>
            <a:r>
              <a:rPr lang="en-US" sz="2000" b="1" dirty="0"/>
              <a:t>Characteristics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Restricted membership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Identity verification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High transaction throughput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Enhanced privacy </a:t>
            </a:r>
          </a:p>
          <a:p>
            <a:r>
              <a:rPr lang="en-US" sz="2000" b="1" dirty="0"/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/>
              <a:t>Hyperledger</a:t>
            </a:r>
            <a:r>
              <a:rPr lang="en-US" sz="2000" dirty="0"/>
              <a:t> Fabric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R3 </a:t>
            </a:r>
            <a:r>
              <a:rPr lang="en-US" sz="2000" dirty="0" err="1"/>
              <a:t>Corda</a:t>
            </a:r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Quorum</a:t>
            </a:r>
          </a:p>
        </p:txBody>
      </p:sp>
    </p:spTree>
    <p:extLst>
      <p:ext uri="{BB962C8B-B14F-4D97-AF65-F5344CB8AC3E}">
        <p14:creationId xmlns:p14="http://schemas.microsoft.com/office/powerpoint/2010/main" val="39088845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789364"/>
            <a:ext cx="41008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Permissioned </a:t>
            </a:r>
            <a:r>
              <a:rPr lang="en-US" sz="2400" b="1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Blockchains</a:t>
            </a:r>
            <a:endParaRPr lang="en-US" sz="2400" b="1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6700" y="1660198"/>
            <a:ext cx="8572500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Validation Services for Permissioned </a:t>
            </a:r>
            <a:r>
              <a:rPr lang="en-US" sz="1600" b="1" dirty="0" err="1"/>
              <a:t>Blockchains</a:t>
            </a:r>
            <a:endParaRPr lang="en-US" sz="1600" b="1" dirty="0"/>
          </a:p>
          <a:p>
            <a:r>
              <a:rPr lang="en-US" sz="1600" b="1" dirty="0"/>
              <a:t>Validation Services</a:t>
            </a:r>
          </a:p>
          <a:p>
            <a:r>
              <a:rPr lang="en-US" sz="1600" dirty="0"/>
              <a:t>Validation services verify the correctness and authenticity of transactions before adding them to the </a:t>
            </a:r>
            <a:r>
              <a:rPr lang="en-US" sz="1600" dirty="0" err="1"/>
              <a:t>blockchain</a:t>
            </a:r>
            <a:r>
              <a:rPr lang="en-US" sz="1600" dirty="0"/>
              <a:t>.</a:t>
            </a:r>
          </a:p>
          <a:p>
            <a:r>
              <a:rPr lang="en-US" sz="1600" b="1" dirty="0"/>
              <a:t>Functions</a:t>
            </a:r>
          </a:p>
          <a:p>
            <a:r>
              <a:rPr lang="en-US" sz="1600" b="1" dirty="0"/>
              <a:t>Identity Verification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Confirms participant identity. </a:t>
            </a:r>
          </a:p>
          <a:p>
            <a:r>
              <a:rPr lang="en-US" sz="1600" b="1" dirty="0"/>
              <a:t>Transaction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Verifies transaction rules and policies. </a:t>
            </a:r>
          </a:p>
          <a:p>
            <a:r>
              <a:rPr lang="en-US" sz="1600" b="1" dirty="0"/>
              <a:t>Smart Contract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Ensures contract execution correctness. </a:t>
            </a:r>
          </a:p>
          <a:p>
            <a:r>
              <a:rPr lang="en-US" sz="1600" b="1" dirty="0"/>
              <a:t>Access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Restricts unauthorized actions. </a:t>
            </a:r>
          </a:p>
          <a:p>
            <a:r>
              <a:rPr lang="en-US" sz="1600" b="1" dirty="0"/>
              <a:t>Endorsement Policies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Requires approval from designated participants. </a:t>
            </a:r>
          </a:p>
          <a:p>
            <a:r>
              <a:rPr lang="en-US" sz="1600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Increased Security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Regulatory Compliance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Improved Trust</a:t>
            </a:r>
          </a:p>
        </p:txBody>
      </p:sp>
    </p:spTree>
    <p:extLst>
      <p:ext uri="{BB962C8B-B14F-4D97-AF65-F5344CB8AC3E}">
        <p14:creationId xmlns:p14="http://schemas.microsoft.com/office/powerpoint/2010/main" val="11515848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" name="Google Shape;696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528" y="404664"/>
            <a:ext cx="8496944" cy="6206082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60"/>
          <p:cNvSpPr txBox="1">
            <a:spLocks noGrp="1"/>
          </p:cNvSpPr>
          <p:nvPr>
            <p:ph type="ftr" idx="11"/>
          </p:nvPr>
        </p:nvSpPr>
        <p:spPr>
          <a:xfrm>
            <a:off x="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60"/>
          <p:cNvSpPr txBox="1">
            <a:spLocks noGrp="1"/>
          </p:cNvSpPr>
          <p:nvPr>
            <p:ph type="sldNum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41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07BA72441AEE45A3CAE1ADD5070980" ma:contentTypeVersion="7" ma:contentTypeDescription="Create a new document." ma:contentTypeScope="" ma:versionID="257639c9bae52cceea61322fecbfd23b">
  <xsd:schema xmlns:xsd="http://www.w3.org/2001/XMLSchema" xmlns:xs="http://www.w3.org/2001/XMLSchema" xmlns:p="http://schemas.microsoft.com/office/2006/metadata/properties" xmlns:ns2="2723f1bc-7802-4c44-b827-a549654b530e" targetNamespace="http://schemas.microsoft.com/office/2006/metadata/properties" ma:root="true" ma:fieldsID="146ed545e40a9bf03aef0bb26930a53e" ns2:_="">
    <xsd:import namespace="2723f1bc-7802-4c44-b827-a549654b53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23f1bc-7802-4c44-b827-a549654b53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1E61080-C1C8-4A48-BB68-A8F8B65FB8EA}"/>
</file>

<file path=customXml/itemProps2.xml><?xml version="1.0" encoding="utf-8"?>
<ds:datastoreItem xmlns:ds="http://schemas.openxmlformats.org/officeDocument/2006/customXml" ds:itemID="{4C918F17-5AB3-4E03-8130-810275334D35}"/>
</file>

<file path=customXml/itemProps3.xml><?xml version="1.0" encoding="utf-8"?>
<ds:datastoreItem xmlns:ds="http://schemas.openxmlformats.org/officeDocument/2006/customXml" ds:itemID="{CE747A22-B697-46FB-BEC1-E5A6D8BCE3D9}"/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3340</Words>
  <Application>Microsoft Macintosh PowerPoint</Application>
  <PresentationFormat>On-screen Show (4:3)</PresentationFormat>
  <Paragraphs>474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Helvetica Neue</vt:lpstr>
      <vt:lpstr>Arial Rounded</vt:lpstr>
      <vt:lpstr>Calibri</vt:lpstr>
      <vt:lpstr>Arial</vt:lpstr>
      <vt:lpstr>Office Theme</vt:lpstr>
      <vt:lpstr>1_Office Theme</vt:lpstr>
      <vt:lpstr>Blockchain Technologies &amp;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 Technologies &amp; Systems</dc:title>
  <dc:creator>Rohit WILP</dc:creator>
  <cp:lastModifiedBy>Prof Animesh Giri</cp:lastModifiedBy>
  <cp:revision>58</cp:revision>
  <dcterms:modified xsi:type="dcterms:W3CDTF">2026-08-22T07:42:34Z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0x0101008507BA72441AEE45A3CAE1ADD5070980</vt:lpwstr>
  </property>
</Properties>
</file>