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entation.xml" ContentType="application/vnd.openxmlformats-officedocument.presentationml.presentation.main+xml"/>
  <Override PartName="/ppt/slides/slide73.xml" ContentType="application/vnd.openxmlformats-officedocument.presentationml.slide+xml"/>
  <Override PartName="/ppt/slides/slide72.xml" ContentType="application/vnd.openxmlformats-officedocument.presentationml.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4.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5.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76"/>
  </p:notesMasterIdLst>
  <p:sldIdLst>
    <p:sldId id="256" r:id="rId3"/>
    <p:sldId id="257" r:id="rId4"/>
    <p:sldId id="260" r:id="rId5"/>
    <p:sldId id="261" r:id="rId6"/>
    <p:sldId id="340" r:id="rId7"/>
    <p:sldId id="341"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2" r:id="rId25"/>
    <p:sldId id="343" r:id="rId26"/>
    <p:sldId id="344" r:id="rId27"/>
    <p:sldId id="347" r:id="rId28"/>
    <p:sldId id="348" r:id="rId29"/>
    <p:sldId id="349" r:id="rId30"/>
    <p:sldId id="350" r:id="rId31"/>
    <p:sldId id="351" r:id="rId32"/>
    <p:sldId id="352" r:id="rId33"/>
    <p:sldId id="353" r:id="rId34"/>
    <p:sldId id="354" r:id="rId35"/>
    <p:sldId id="355" r:id="rId36"/>
    <p:sldId id="356" r:id="rId37"/>
    <p:sldId id="393" r:id="rId38"/>
    <p:sldId id="359" r:id="rId39"/>
    <p:sldId id="345" r:id="rId40"/>
    <p:sldId id="394" r:id="rId41"/>
    <p:sldId id="395" r:id="rId42"/>
    <p:sldId id="396" r:id="rId43"/>
    <p:sldId id="397" r:id="rId44"/>
    <p:sldId id="302" r:id="rId45"/>
    <p:sldId id="303" r:id="rId46"/>
    <p:sldId id="304" r:id="rId47"/>
    <p:sldId id="305" r:id="rId48"/>
    <p:sldId id="307" r:id="rId49"/>
    <p:sldId id="308" r:id="rId50"/>
    <p:sldId id="309" r:id="rId51"/>
    <p:sldId id="310" r:id="rId52"/>
    <p:sldId id="311" r:id="rId53"/>
    <p:sldId id="313" r:id="rId54"/>
    <p:sldId id="314" r:id="rId55"/>
    <p:sldId id="398" r:id="rId56"/>
    <p:sldId id="317" r:id="rId57"/>
    <p:sldId id="318" r:id="rId58"/>
    <p:sldId id="320" r:id="rId59"/>
    <p:sldId id="321" r:id="rId60"/>
    <p:sldId id="399" r:id="rId61"/>
    <p:sldId id="323" r:id="rId62"/>
    <p:sldId id="400" r:id="rId63"/>
    <p:sldId id="401" r:id="rId64"/>
    <p:sldId id="402" r:id="rId65"/>
    <p:sldId id="403" r:id="rId66"/>
    <p:sldId id="404" r:id="rId67"/>
    <p:sldId id="405" r:id="rId68"/>
    <p:sldId id="406" r:id="rId69"/>
    <p:sldId id="407" r:id="rId70"/>
    <p:sldId id="408" r:id="rId71"/>
    <p:sldId id="409" r:id="rId72"/>
    <p:sldId id="410" r:id="rId73"/>
    <p:sldId id="411" r:id="rId74"/>
    <p:sldId id="264" r:id="rId75"/>
  </p:sldIdLst>
  <p:sldSz cx="9144000" cy="6858000" type="screen4x3"/>
  <p:notesSz cx="6858000" cy="9144000"/>
  <p:embeddedFontLst>
    <p:embeddedFont>
      <p:font typeface="Cambria" panose="02040503050406030204" pitchFamily="18" charset="0"/>
      <p:regular r:id="rId77"/>
      <p:bold r:id="rId78"/>
      <p:italic r:id="rId79"/>
      <p:boldItalic r:id="rId80"/>
    </p:embeddedFont>
    <p:embeddedFont>
      <p:font typeface="Dosis" pitchFamily="2" charset="77"/>
      <p:regular r:id="rId81"/>
      <p:bold r:id="rId82"/>
    </p:embeddedFont>
    <p:embeddedFont>
      <p:font typeface="Roboto" panose="02000000000000000000" pitchFamily="2" charset="0"/>
      <p:regular r:id="rId83"/>
      <p:bold r:id="rId84"/>
      <p:italic r:id="rId85"/>
      <p:boldItalic r:id="rId86"/>
    </p:embeddedFont>
    <p:embeddedFont>
      <p:font typeface="Roboto Medium" panose="02000000000000000000" pitchFamily="2" charset="0"/>
      <p:regular r:id="rId87"/>
      <p:italic r:id="rId88"/>
    </p:embeddedFont>
    <p:embeddedFont>
      <p:font typeface="Roboto Thin" panose="02000000000000000000" pitchFamily="2" charset="0"/>
      <p:regular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6" roundtripDataSignature="AMtx7miuSeqmg832KJR4TrulSr/XVuIC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77"/>
  </p:normalViewPr>
  <p:slideViewPr>
    <p:cSldViewPr snapToGrid="0">
      <p:cViewPr varScale="1">
        <p:scale>
          <a:sx n="101" d="100"/>
          <a:sy n="101" d="100"/>
        </p:scale>
        <p:origin x="1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8.fntdata"/><Relationship Id="rId89" Type="http://schemas.openxmlformats.org/officeDocument/2006/relationships/font" Target="fonts/font13.fntdata"/><Relationship Id="rId112" Type="http://schemas.openxmlformats.org/officeDocument/2006/relationships/customXml" Target="../customXml/item2.xml"/><Relationship Id="rId16" Type="http://schemas.openxmlformats.org/officeDocument/2006/relationships/slide" Target="slides/slide14.xml"/><Relationship Id="rId107" Type="http://schemas.openxmlformats.org/officeDocument/2006/relationships/presProps" Target="pres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3.fntdata"/><Relationship Id="rId5" Type="http://schemas.openxmlformats.org/officeDocument/2006/relationships/slide" Target="slides/slide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customXml" Target="../customXml/item3.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8"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7.fntdata"/><Relationship Id="rId88" Type="http://schemas.openxmlformats.org/officeDocument/2006/relationships/font" Target="fonts/font12.fntdata"/><Relationship Id="rId11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customschemas.google.com/relationships/presentationmetadata" Target="meta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heme" Target="theme/theme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1.fntdata"/><Relationship Id="rId110"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4682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915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8730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404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000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893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1716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8052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092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1293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7428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5459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2527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6825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495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93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6243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005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9519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0048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367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7103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13986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8906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9535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21039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1886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4024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62223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5757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0824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56194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797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87269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type="tx">
  <p:cSld name="TITLE_AND_BODY">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62"/>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1" name="Google Shape;11;p62"/>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2" name="Google Shape;12;p62"/>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 name="Google Shape;13;p62"/>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pic>
        <p:nvPicPr>
          <p:cNvPr id="14" name="Google Shape;14;p62" descr="Picture 10"/>
          <p:cNvPicPr preferRelativeResize="0"/>
          <p:nvPr/>
        </p:nvPicPr>
        <p:blipFill rotWithShape="1">
          <a:blip r:embed="rId3">
            <a:alphaModFix/>
          </a:blip>
          <a:srcRect t="2" b="28592"/>
          <a:stretch/>
        </p:blipFill>
        <p:spPr>
          <a:xfrm>
            <a:off x="76200" y="3352800"/>
            <a:ext cx="2057400" cy="1979614"/>
          </a:xfrm>
          <a:prstGeom prst="rect">
            <a:avLst/>
          </a:prstGeom>
          <a:noFill/>
          <a:ln>
            <a:noFill/>
          </a:ln>
        </p:spPr>
      </p:pic>
      <p:sp>
        <p:nvSpPr>
          <p:cNvPr id="15" name="Google Shape;15;p62"/>
          <p:cNvSpPr txBox="1"/>
          <p:nvPr/>
        </p:nvSpPr>
        <p:spPr>
          <a:xfrm>
            <a:off x="-30481" y="5257800"/>
            <a:ext cx="2118362" cy="538569"/>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dirty="0">
                <a:solidFill>
                  <a:srgbClr val="FFFFFF"/>
                </a:solidFill>
                <a:latin typeface="Arial"/>
                <a:ea typeface="Arial"/>
                <a:cs typeface="Arial"/>
                <a:sym typeface="Arial"/>
              </a:rPr>
              <a:t>BITS</a:t>
            </a:r>
            <a:r>
              <a:rPr lang="en-US" sz="2900" b="0" i="0" u="none" strike="noStrike" cap="none" dirty="0">
                <a:solidFill>
                  <a:srgbClr val="FFFFFF"/>
                </a:solidFill>
                <a:latin typeface="Arial"/>
                <a:ea typeface="Arial"/>
                <a:cs typeface="Arial"/>
                <a:sym typeface="Arial"/>
              </a:rPr>
              <a:t> </a:t>
            </a:r>
            <a:r>
              <a:rPr lang="en-US" sz="2900" b="0" i="0" u="none" strike="noStrike" cap="none" dirty="0" err="1">
                <a:solidFill>
                  <a:srgbClr val="FFFFFF"/>
                </a:solidFill>
                <a:latin typeface="Arial"/>
                <a:ea typeface="Arial"/>
                <a:cs typeface="Arial"/>
                <a:sym typeface="Arial"/>
              </a:rPr>
              <a:t>Pilani</a:t>
            </a: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6" name="Google Shape;16;p62"/>
          <p:cNvSpPr txBox="1">
            <a:spLocks noGrp="1"/>
          </p:cNvSpPr>
          <p:nvPr>
            <p:ph type="body" idx="1"/>
          </p:nvPr>
        </p:nvSpPr>
        <p:spPr>
          <a:xfrm>
            <a:off x="2514600" y="5410200"/>
            <a:ext cx="6019800" cy="533400"/>
          </a:xfrm>
          <a:prstGeom prst="rect">
            <a:avLst/>
          </a:prstGeom>
          <a:noFill/>
          <a:ln>
            <a:noFill/>
          </a:ln>
        </p:spPr>
        <p:txBody>
          <a:bodyPr spcFirstLastPara="1" wrap="square" lIns="45700" tIns="45700" rIns="45700" bIns="45700" anchor="b" anchorCtr="0">
            <a:normAutofit/>
          </a:bodyPr>
          <a:lstStyle>
            <a:lvl1pPr marL="457200" lvl="0" indent="-228600" algn="r">
              <a:lnSpc>
                <a:spcPct val="100000"/>
              </a:lnSpc>
              <a:spcBef>
                <a:spcPts val="0"/>
              </a:spcBef>
              <a:spcAft>
                <a:spcPts val="0"/>
              </a:spcAft>
              <a:buClr>
                <a:srgbClr val="FFFFFF"/>
              </a:buClr>
              <a:buSzPts val="1800"/>
              <a:buFont typeface="Arial"/>
              <a:buNone/>
              <a:defRPr sz="1800">
                <a:solidFill>
                  <a:srgbClr val="FFFFFF"/>
                </a:solidFill>
              </a:defRPr>
            </a:lvl1pPr>
            <a:lvl2pPr marL="914400" lvl="1" indent="-342900" algn="r">
              <a:lnSpc>
                <a:spcPct val="100000"/>
              </a:lnSpc>
              <a:spcBef>
                <a:spcPts val="0"/>
              </a:spcBef>
              <a:spcAft>
                <a:spcPts val="0"/>
              </a:spcAft>
              <a:buClr>
                <a:srgbClr val="FFFFFF"/>
              </a:buClr>
              <a:buSzPts val="1800"/>
              <a:buFont typeface="Arial"/>
              <a:buChar char="–"/>
              <a:defRPr sz="1800">
                <a:solidFill>
                  <a:srgbClr val="FFFFFF"/>
                </a:solidFill>
              </a:defRPr>
            </a:lvl2pPr>
            <a:lvl3pPr marL="1371600" lvl="2" indent="-342900" algn="r">
              <a:lnSpc>
                <a:spcPct val="100000"/>
              </a:lnSpc>
              <a:spcBef>
                <a:spcPts val="0"/>
              </a:spcBef>
              <a:spcAft>
                <a:spcPts val="0"/>
              </a:spcAft>
              <a:buClr>
                <a:srgbClr val="FFFFFF"/>
              </a:buClr>
              <a:buSzPts val="1800"/>
              <a:buFont typeface="Arial"/>
              <a:buChar char="•"/>
              <a:defRPr sz="1800">
                <a:solidFill>
                  <a:srgbClr val="FFFFFF"/>
                </a:solidFill>
              </a:defRPr>
            </a:lvl3pPr>
            <a:lvl4pPr marL="1828800" lvl="3" indent="-342900" algn="r">
              <a:lnSpc>
                <a:spcPct val="100000"/>
              </a:lnSpc>
              <a:spcBef>
                <a:spcPts val="0"/>
              </a:spcBef>
              <a:spcAft>
                <a:spcPts val="0"/>
              </a:spcAft>
              <a:buClr>
                <a:srgbClr val="FFFFFF"/>
              </a:buClr>
              <a:buSzPts val="1800"/>
              <a:buFont typeface="Arial"/>
              <a:buChar char="–"/>
              <a:defRPr sz="1800">
                <a:solidFill>
                  <a:srgbClr val="FFFFFF"/>
                </a:solidFill>
              </a:defRPr>
            </a:lvl4pPr>
            <a:lvl5pPr marL="2286000" lvl="4" indent="-342900" algn="r">
              <a:lnSpc>
                <a:spcPct val="100000"/>
              </a:lnSpc>
              <a:spcBef>
                <a:spcPts val="0"/>
              </a:spcBef>
              <a:spcAft>
                <a:spcPts val="0"/>
              </a:spcAft>
              <a:buClr>
                <a:srgbClr val="FFFFFF"/>
              </a:buClr>
              <a:buSzPts val="1800"/>
              <a:buFont typeface="Arial"/>
              <a:buChar char="»"/>
              <a:defRPr sz="1800">
                <a:solidFill>
                  <a:srgbClr val="FFFFFF"/>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7" name="Google Shape;17;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8" name="Google Shape;18;p6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19"/>
        <p:cNvGrpSpPr/>
        <p:nvPr/>
      </p:nvGrpSpPr>
      <p:grpSpPr>
        <a:xfrm>
          <a:off x="0" y="0"/>
          <a:ext cx="0" cy="0"/>
          <a:chOff x="0" y="0"/>
          <a:chExt cx="0" cy="0"/>
        </a:xfrm>
      </p:grpSpPr>
      <p:pic>
        <p:nvPicPr>
          <p:cNvPr id="20" name="Google Shape;20;p63" descr="Picture 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 name="Google Shape;21;p63"/>
          <p:cNvSpPr/>
          <p:nvPr/>
        </p:nvSpPr>
        <p:spPr>
          <a:xfrm>
            <a:off x="0" y="4281488"/>
            <a:ext cx="9144000" cy="2576512"/>
          </a:xfrm>
          <a:prstGeom prst="rect">
            <a:avLst/>
          </a:prstGeom>
          <a:solidFill>
            <a:srgbClr val="FFFFFF"/>
          </a:solidFill>
          <a:ln w="9525" cap="flat" cmpd="sng">
            <a:solidFill>
              <a:srgbClr val="4A7EBB"/>
            </a:solidFill>
            <a:prstDash val="solid"/>
            <a:round/>
            <a:headEnd type="none" w="sm" len="sm"/>
            <a:tailEnd type="none" w="sm" len="sm"/>
          </a:ln>
          <a:effectLst>
            <a:outerShdw blurRad="38100" dist="23000" dir="5400000" rotWithShape="0">
              <a:srgbClr val="000000">
                <a:alpha val="34901"/>
              </a:srgbClr>
            </a:outerShdw>
          </a:effectLst>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pic>
        <p:nvPicPr>
          <p:cNvPr id="22" name="Google Shape;22;p63" descr="Picture 8"/>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23" name="Google Shape;23;p63"/>
          <p:cNvSpPr/>
          <p:nvPr/>
        </p:nvSpPr>
        <p:spPr>
          <a:xfrm>
            <a:off x="2882900" y="677545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24" name="Google Shape;24;p63"/>
          <p:cNvSpPr/>
          <p:nvPr/>
        </p:nvSpPr>
        <p:spPr>
          <a:xfrm>
            <a:off x="-12700" y="677545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25" name="Google Shape;25;p63"/>
          <p:cNvSpPr/>
          <p:nvPr/>
        </p:nvSpPr>
        <p:spPr>
          <a:xfrm>
            <a:off x="5778500" y="677545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26" name="Google Shape;26;p63"/>
          <p:cNvSpPr txBox="1"/>
          <p:nvPr/>
        </p:nvSpPr>
        <p:spPr>
          <a:xfrm>
            <a:off x="6903719" y="7620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7" name="Google Shape;27;p63"/>
          <p:cNvSpPr txBox="1">
            <a:spLocks noGrp="1"/>
          </p:cNvSpPr>
          <p:nvPr>
            <p:ph type="body" idx="1"/>
          </p:nvPr>
        </p:nvSpPr>
        <p:spPr>
          <a:xfrm>
            <a:off x="304800" y="4648200"/>
            <a:ext cx="8458200" cy="1600200"/>
          </a:xfrm>
          <a:prstGeom prst="rect">
            <a:avLst/>
          </a:prstGeom>
          <a:noFill/>
          <a:ln>
            <a:noFill/>
          </a:ln>
        </p:spPr>
        <p:txBody>
          <a:bodyPr spcFirstLastPara="1" wrap="square" lIns="45700" tIns="45700" rIns="45700" bIns="45700" anchor="t" anchorCtr="0">
            <a:normAutofit/>
          </a:bodyPr>
          <a:lstStyle>
            <a:lvl1pPr marL="457200" lvl="0" indent="-228600" algn="l">
              <a:lnSpc>
                <a:spcPct val="104999"/>
              </a:lnSpc>
              <a:spcBef>
                <a:spcPts val="0"/>
              </a:spcBef>
              <a:spcAft>
                <a:spcPts val="0"/>
              </a:spcAft>
              <a:buClr>
                <a:srgbClr val="000000"/>
              </a:buClr>
              <a:buSzPts val="4000"/>
              <a:buFont typeface="Arial"/>
              <a:buNone/>
              <a:defRPr sz="4000" b="1"/>
            </a:lvl1pPr>
            <a:lvl2pPr marL="914400" lvl="1" indent="-482600" algn="l">
              <a:lnSpc>
                <a:spcPct val="104999"/>
              </a:lnSpc>
              <a:spcBef>
                <a:spcPts val="0"/>
              </a:spcBef>
              <a:spcAft>
                <a:spcPts val="0"/>
              </a:spcAft>
              <a:buClr>
                <a:srgbClr val="000000"/>
              </a:buClr>
              <a:buSzPts val="4000"/>
              <a:buFont typeface="Arial"/>
              <a:buChar char="–"/>
              <a:defRPr sz="4000" b="1"/>
            </a:lvl2pPr>
            <a:lvl3pPr marL="1371600" lvl="2" indent="-482600" algn="l">
              <a:lnSpc>
                <a:spcPct val="104999"/>
              </a:lnSpc>
              <a:spcBef>
                <a:spcPts val="0"/>
              </a:spcBef>
              <a:spcAft>
                <a:spcPts val="0"/>
              </a:spcAft>
              <a:buClr>
                <a:srgbClr val="000000"/>
              </a:buClr>
              <a:buSzPts val="4000"/>
              <a:buFont typeface="Arial"/>
              <a:buChar char="•"/>
              <a:defRPr sz="4000" b="1"/>
            </a:lvl3pPr>
            <a:lvl4pPr marL="1828800" lvl="3" indent="-482600" algn="l">
              <a:lnSpc>
                <a:spcPct val="104999"/>
              </a:lnSpc>
              <a:spcBef>
                <a:spcPts val="0"/>
              </a:spcBef>
              <a:spcAft>
                <a:spcPts val="0"/>
              </a:spcAft>
              <a:buClr>
                <a:srgbClr val="000000"/>
              </a:buClr>
              <a:buSzPts val="4000"/>
              <a:buFont typeface="Arial"/>
              <a:buChar char="–"/>
              <a:defRPr sz="4000" b="1"/>
            </a:lvl4pPr>
            <a:lvl5pPr marL="2286000" lvl="4" indent="-482600" algn="l">
              <a:lnSpc>
                <a:spcPct val="104999"/>
              </a:lnSpc>
              <a:spcBef>
                <a:spcPts val="0"/>
              </a:spcBef>
              <a:spcAft>
                <a:spcPts val="0"/>
              </a:spcAft>
              <a:buClr>
                <a:srgbClr val="000000"/>
              </a:buClr>
              <a:buSzPts val="4000"/>
              <a:buFont typeface="Arial"/>
              <a:buChar char="»"/>
              <a:defRPr sz="40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3"/>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8"/>
        <p:cNvGrpSpPr/>
        <p:nvPr/>
      </p:nvGrpSpPr>
      <p:grpSpPr>
        <a:xfrm>
          <a:off x="0" y="0"/>
          <a:ext cx="0" cy="0"/>
          <a:chOff x="0" y="0"/>
          <a:chExt cx="0" cy="0"/>
        </a:xfrm>
      </p:grpSpPr>
      <p:sp>
        <p:nvSpPr>
          <p:cNvPr id="49" name="Google Shape;49;p67"/>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67"/>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51" name="Google Shape;51;p67"/>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52" name="Google Shape;52;p67"/>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53" name="Google Shape;53;p67"/>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pic>
        <p:nvPicPr>
          <p:cNvPr id="54" name="Google Shape;54;p67" descr="Picture 10"/>
          <p:cNvPicPr preferRelativeResize="0"/>
          <p:nvPr/>
        </p:nvPicPr>
        <p:blipFill rotWithShape="1">
          <a:blip r:embed="rId2">
            <a:alphaModFix/>
          </a:blip>
          <a:srcRect t="2" b="28592"/>
          <a:stretch/>
        </p:blipFill>
        <p:spPr>
          <a:xfrm>
            <a:off x="76200" y="3352800"/>
            <a:ext cx="2057400" cy="1979614"/>
          </a:xfrm>
          <a:prstGeom prst="rect">
            <a:avLst/>
          </a:prstGeom>
          <a:noFill/>
          <a:ln>
            <a:noFill/>
          </a:ln>
        </p:spPr>
      </p:pic>
      <p:sp>
        <p:nvSpPr>
          <p:cNvPr id="55" name="Google Shape;55;p67"/>
          <p:cNvSpPr txBox="1"/>
          <p:nvPr/>
        </p:nvSpPr>
        <p:spPr>
          <a:xfrm>
            <a:off x="-30481" y="5257800"/>
            <a:ext cx="2118362" cy="538569"/>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dirty="0">
                <a:solidFill>
                  <a:srgbClr val="FFFFFF"/>
                </a:solidFill>
                <a:latin typeface="Arial"/>
                <a:ea typeface="Arial"/>
                <a:cs typeface="Arial"/>
                <a:sym typeface="Arial"/>
              </a:rPr>
              <a:t>BITS</a:t>
            </a:r>
            <a:r>
              <a:rPr lang="en-US" sz="2900" b="0" i="0" u="none" strike="noStrike" cap="none" dirty="0">
                <a:solidFill>
                  <a:srgbClr val="FFFFFF"/>
                </a:solidFill>
                <a:latin typeface="Arial"/>
                <a:ea typeface="Arial"/>
                <a:cs typeface="Arial"/>
                <a:sym typeface="Arial"/>
              </a:rPr>
              <a:t> </a:t>
            </a:r>
            <a:r>
              <a:rPr lang="en-US" sz="2900" b="0" i="0" u="none" strike="noStrike" cap="none" dirty="0" err="1">
                <a:solidFill>
                  <a:srgbClr val="FFFFFF"/>
                </a:solidFill>
                <a:latin typeface="Arial"/>
                <a:ea typeface="Arial"/>
                <a:cs typeface="Arial"/>
                <a:sym typeface="Arial"/>
              </a:rPr>
              <a:t>Pilani</a:t>
            </a: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56" name="Google Shape;56;p67"/>
          <p:cNvSpPr txBox="1">
            <a:spLocks noGrp="1"/>
          </p:cNvSpPr>
          <p:nvPr>
            <p:ph type="title"/>
          </p:nvPr>
        </p:nvSpPr>
        <p:spPr>
          <a:xfrm>
            <a:off x="2667000" y="3898061"/>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FFFF"/>
        </a:solidFill>
        <a:effectLst/>
      </p:bgPr>
    </p:bg>
    <p:spTree>
      <p:nvGrpSpPr>
        <p:cNvPr id="1" name="Shape 57"/>
        <p:cNvGrpSpPr/>
        <p:nvPr/>
      </p:nvGrpSpPr>
      <p:grpSpPr>
        <a:xfrm>
          <a:off x="0" y="0"/>
          <a:ext cx="0" cy="0"/>
          <a:chOff x="0" y="0"/>
          <a:chExt cx="0" cy="0"/>
        </a:xfrm>
      </p:grpSpPr>
      <p:grpSp>
        <p:nvGrpSpPr>
          <p:cNvPr id="58" name="Google Shape;58;p68"/>
          <p:cNvGrpSpPr/>
          <p:nvPr/>
        </p:nvGrpSpPr>
        <p:grpSpPr>
          <a:xfrm>
            <a:off x="-702671" y="-883443"/>
            <a:ext cx="10499751" cy="9147815"/>
            <a:chOff x="-702671" y="-883443"/>
            <a:chExt cx="10499751" cy="9147815"/>
          </a:xfrm>
        </p:grpSpPr>
        <p:pic>
          <p:nvPicPr>
            <p:cNvPr id="59" name="Google Shape;59;p68"/>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60" name="Google Shape;60;p68"/>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61" name="Google Shape;61;p68"/>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62" name="Google Shape;62;p68"/>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63" name="Google Shape;63;p68"/>
            <p:cNvGrpSpPr/>
            <p:nvPr/>
          </p:nvGrpSpPr>
          <p:grpSpPr>
            <a:xfrm>
              <a:off x="-1" y="0"/>
              <a:ext cx="9144003" cy="6857673"/>
              <a:chOff x="-1" y="0"/>
              <a:chExt cx="9144003" cy="6857673"/>
            </a:xfrm>
          </p:grpSpPr>
          <p:grpSp>
            <p:nvGrpSpPr>
              <p:cNvPr id="64" name="Google Shape;64;p68"/>
              <p:cNvGrpSpPr/>
              <p:nvPr/>
            </p:nvGrpSpPr>
            <p:grpSpPr>
              <a:xfrm>
                <a:off x="-1" y="1295400"/>
                <a:ext cx="7010403" cy="46039"/>
                <a:chOff x="-1" y="0"/>
                <a:chExt cx="7010402" cy="46038"/>
              </a:xfrm>
            </p:grpSpPr>
            <p:sp>
              <p:nvSpPr>
                <p:cNvPr id="65" name="Google Shape;65;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66" name="Google Shape;66;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67" name="Google Shape;67;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68" name="Google Shape;68;p68"/>
              <p:cNvGrpSpPr/>
              <p:nvPr/>
            </p:nvGrpSpPr>
            <p:grpSpPr>
              <a:xfrm>
                <a:off x="2133599" y="6553200"/>
                <a:ext cx="7010403" cy="46039"/>
                <a:chOff x="-1" y="0"/>
                <a:chExt cx="7010402" cy="46038"/>
              </a:xfrm>
            </p:grpSpPr>
            <p:sp>
              <p:nvSpPr>
                <p:cNvPr id="69" name="Google Shape;69;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70" name="Google Shape;70;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71" name="Google Shape;71;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72" name="Google Shape;72;p68"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73" name="Google Shape;73;p68"/>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74" name="Google Shape;74;p68"/>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75" name="Google Shape;75;p68"/>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76" name="Google Shape;76;p68"/>
          <p:cNvSpPr txBox="1">
            <a:spLocks noGrp="1"/>
          </p:cNvSpPr>
          <p:nvPr>
            <p:ph type="body" idx="1"/>
          </p:nvPr>
        </p:nvSpPr>
        <p:spPr>
          <a:xfrm>
            <a:off x="4953000" y="1600200"/>
            <a:ext cx="4038600" cy="45259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600"/>
              </a:spcBef>
              <a:spcAft>
                <a:spcPts val="0"/>
              </a:spcAft>
              <a:buClr>
                <a:srgbClr val="000000"/>
              </a:buClr>
              <a:buSzPts val="2800"/>
              <a:buFont typeface="Arial"/>
              <a:buNone/>
              <a:defRPr sz="2800"/>
            </a:lvl1pPr>
            <a:lvl2pPr marL="914400" lvl="1" indent="-406400" algn="l">
              <a:lnSpc>
                <a:spcPct val="100000"/>
              </a:lnSpc>
              <a:spcBef>
                <a:spcPts val="600"/>
              </a:spcBef>
              <a:spcAft>
                <a:spcPts val="0"/>
              </a:spcAft>
              <a:buClr>
                <a:srgbClr val="000000"/>
              </a:buClr>
              <a:buSzPts val="2800"/>
              <a:buFont typeface="Arial"/>
              <a:buChar char="–"/>
              <a:defRPr sz="2800"/>
            </a:lvl2pPr>
            <a:lvl3pPr marL="1371600" lvl="2" indent="-406400" algn="l">
              <a:lnSpc>
                <a:spcPct val="100000"/>
              </a:lnSpc>
              <a:spcBef>
                <a:spcPts val="600"/>
              </a:spcBef>
              <a:spcAft>
                <a:spcPts val="0"/>
              </a:spcAft>
              <a:buClr>
                <a:srgbClr val="000000"/>
              </a:buClr>
              <a:buSzPts val="2800"/>
              <a:buFont typeface="Arial"/>
              <a:buChar char="•"/>
              <a:defRPr sz="2800"/>
            </a:lvl3pPr>
            <a:lvl4pPr marL="1828800" lvl="3" indent="-406400" algn="l">
              <a:lnSpc>
                <a:spcPct val="100000"/>
              </a:lnSpc>
              <a:spcBef>
                <a:spcPts val="600"/>
              </a:spcBef>
              <a:spcAft>
                <a:spcPts val="0"/>
              </a:spcAft>
              <a:buClr>
                <a:srgbClr val="000000"/>
              </a:buClr>
              <a:buSzPts val="2800"/>
              <a:buFont typeface="Arial"/>
              <a:buChar char="–"/>
              <a:defRPr sz="2800"/>
            </a:lvl4pPr>
            <a:lvl5pPr marL="2286000" lvl="4" indent="-406400" algn="l">
              <a:lnSpc>
                <a:spcPct val="100000"/>
              </a:lnSpc>
              <a:spcBef>
                <a:spcPts val="600"/>
              </a:spcBef>
              <a:spcAft>
                <a:spcPts val="0"/>
              </a:spcAft>
              <a:buClr>
                <a:srgbClr val="000000"/>
              </a:buClr>
              <a:buSzPts val="2800"/>
              <a:buFont typeface="Arial"/>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77" name="Google Shape;77;p68"/>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rgbClr val="FFFFFF"/>
        </a:solidFill>
        <a:effectLst/>
      </p:bgPr>
    </p:bg>
    <p:spTree>
      <p:nvGrpSpPr>
        <p:cNvPr id="1" name="Shape 78"/>
        <p:cNvGrpSpPr/>
        <p:nvPr/>
      </p:nvGrpSpPr>
      <p:grpSpPr>
        <a:xfrm>
          <a:off x="0" y="0"/>
          <a:ext cx="0" cy="0"/>
          <a:chOff x="0" y="0"/>
          <a:chExt cx="0" cy="0"/>
        </a:xfrm>
      </p:grpSpPr>
      <p:grpSp>
        <p:nvGrpSpPr>
          <p:cNvPr id="79" name="Google Shape;79;p69"/>
          <p:cNvGrpSpPr/>
          <p:nvPr/>
        </p:nvGrpSpPr>
        <p:grpSpPr>
          <a:xfrm>
            <a:off x="-702671" y="-883443"/>
            <a:ext cx="10499751" cy="9147815"/>
            <a:chOff x="-702671" y="-883443"/>
            <a:chExt cx="10499751" cy="9147815"/>
          </a:xfrm>
        </p:grpSpPr>
        <p:pic>
          <p:nvPicPr>
            <p:cNvPr id="80" name="Google Shape;80;p69"/>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81" name="Google Shape;81;p69"/>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82" name="Google Shape;82;p69"/>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83" name="Google Shape;83;p69"/>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84" name="Google Shape;84;p69"/>
            <p:cNvGrpSpPr/>
            <p:nvPr/>
          </p:nvGrpSpPr>
          <p:grpSpPr>
            <a:xfrm>
              <a:off x="-1" y="0"/>
              <a:ext cx="9144003" cy="6857673"/>
              <a:chOff x="-1" y="0"/>
              <a:chExt cx="9144003" cy="6857673"/>
            </a:xfrm>
          </p:grpSpPr>
          <p:grpSp>
            <p:nvGrpSpPr>
              <p:cNvPr id="85" name="Google Shape;85;p69"/>
              <p:cNvGrpSpPr/>
              <p:nvPr/>
            </p:nvGrpSpPr>
            <p:grpSpPr>
              <a:xfrm>
                <a:off x="-1" y="1295400"/>
                <a:ext cx="7010403" cy="46039"/>
                <a:chOff x="-1" y="0"/>
                <a:chExt cx="7010402" cy="46038"/>
              </a:xfrm>
            </p:grpSpPr>
            <p:sp>
              <p:nvSpPr>
                <p:cNvPr id="86" name="Google Shape;86;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87" name="Google Shape;87;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88" name="Google Shape;88;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89" name="Google Shape;89;p69"/>
              <p:cNvGrpSpPr/>
              <p:nvPr/>
            </p:nvGrpSpPr>
            <p:grpSpPr>
              <a:xfrm>
                <a:off x="2133599" y="6553200"/>
                <a:ext cx="7010403" cy="46039"/>
                <a:chOff x="-1" y="0"/>
                <a:chExt cx="7010402" cy="46038"/>
              </a:xfrm>
            </p:grpSpPr>
            <p:sp>
              <p:nvSpPr>
                <p:cNvPr id="90" name="Google Shape;90;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91" name="Google Shape;91;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92" name="Google Shape;92;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93" name="Google Shape;93;p69"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94" name="Google Shape;94;p69"/>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95" name="Google Shape;95;p69"/>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96" name="Google Shape;96;p69"/>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97" name="Google Shape;97;p69"/>
          <p:cNvSpPr txBox="1">
            <a:spLocks noGrp="1"/>
          </p:cNvSpPr>
          <p:nvPr>
            <p:ph type="body" idx="1"/>
          </p:nvPr>
        </p:nvSpPr>
        <p:spPr>
          <a:xfrm>
            <a:off x="457200" y="1535112"/>
            <a:ext cx="4040188" cy="8270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Arial"/>
              <a:buNone/>
              <a:defRPr sz="2400" b="1"/>
            </a:lvl1pPr>
            <a:lvl2pPr marL="914400" lvl="1" indent="-228600" algn="l">
              <a:lnSpc>
                <a:spcPct val="100000"/>
              </a:lnSpc>
              <a:spcBef>
                <a:spcPts val="500"/>
              </a:spcBef>
              <a:spcAft>
                <a:spcPts val="0"/>
              </a:spcAft>
              <a:buClr>
                <a:srgbClr val="000000"/>
              </a:buClr>
              <a:buSzPts val="2400"/>
              <a:buFont typeface="Arial"/>
              <a:buNone/>
              <a:defRPr sz="2400" b="1"/>
            </a:lvl2pPr>
            <a:lvl3pPr marL="1371600" lvl="2" indent="-228600" algn="l">
              <a:lnSpc>
                <a:spcPct val="100000"/>
              </a:lnSpc>
              <a:spcBef>
                <a:spcPts val="500"/>
              </a:spcBef>
              <a:spcAft>
                <a:spcPts val="0"/>
              </a:spcAft>
              <a:buClr>
                <a:srgbClr val="000000"/>
              </a:buClr>
              <a:buSzPts val="2400"/>
              <a:buFont typeface="Arial"/>
              <a:buNone/>
              <a:defRPr sz="2400" b="1"/>
            </a:lvl3pPr>
            <a:lvl4pPr marL="1828800" lvl="3" indent="-228600" algn="l">
              <a:lnSpc>
                <a:spcPct val="100000"/>
              </a:lnSpc>
              <a:spcBef>
                <a:spcPts val="500"/>
              </a:spcBef>
              <a:spcAft>
                <a:spcPts val="0"/>
              </a:spcAft>
              <a:buClr>
                <a:srgbClr val="000000"/>
              </a:buClr>
              <a:buSzPts val="2400"/>
              <a:buFont typeface="Arial"/>
              <a:buNone/>
              <a:defRPr sz="2400" b="1"/>
            </a:lvl4pPr>
            <a:lvl5pPr marL="2286000" lvl="4" indent="-228600" algn="l">
              <a:lnSpc>
                <a:spcPct val="100000"/>
              </a:lnSpc>
              <a:spcBef>
                <a:spcPts val="500"/>
              </a:spcBef>
              <a:spcAft>
                <a:spcPts val="0"/>
              </a:spcAft>
              <a:buClr>
                <a:srgbClr val="000000"/>
              </a:buClr>
              <a:buSzPts val="2400"/>
              <a:buFont typeface="Arial"/>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8" name="Google Shape;98;p69"/>
          <p:cNvSpPr txBox="1">
            <a:spLocks noGrp="1"/>
          </p:cNvSpPr>
          <p:nvPr>
            <p:ph type="body" idx="2"/>
          </p:nvPr>
        </p:nvSpPr>
        <p:spPr>
          <a:xfrm>
            <a:off x="4645025" y="1535112"/>
            <a:ext cx="4041775" cy="827088"/>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9" name="Google Shape;99;p69"/>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alpha val="72156"/>
          </a:srgbClr>
        </a:solidFill>
        <a:effectLst/>
      </p:bgPr>
    </p:bg>
    <p:spTree>
      <p:nvGrpSpPr>
        <p:cNvPr id="1" name="Shape 100"/>
        <p:cNvGrpSpPr/>
        <p:nvPr/>
      </p:nvGrpSpPr>
      <p:grpSpPr>
        <a:xfrm>
          <a:off x="0" y="0"/>
          <a:ext cx="0" cy="0"/>
          <a:chOff x="0" y="0"/>
          <a:chExt cx="0" cy="0"/>
        </a:xfrm>
      </p:grpSpPr>
      <p:grpSp>
        <p:nvGrpSpPr>
          <p:cNvPr id="101" name="Google Shape;101;p70"/>
          <p:cNvGrpSpPr/>
          <p:nvPr/>
        </p:nvGrpSpPr>
        <p:grpSpPr>
          <a:xfrm>
            <a:off x="-702671" y="-883443"/>
            <a:ext cx="10499751" cy="9147815"/>
            <a:chOff x="-702671" y="-883443"/>
            <a:chExt cx="10499751" cy="9147815"/>
          </a:xfrm>
        </p:grpSpPr>
        <p:pic>
          <p:nvPicPr>
            <p:cNvPr id="102" name="Google Shape;102;p70"/>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03" name="Google Shape;103;p70"/>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04" name="Google Shape;104;p70"/>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05" name="Google Shape;105;p70"/>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06" name="Google Shape;106;p70"/>
            <p:cNvGrpSpPr/>
            <p:nvPr/>
          </p:nvGrpSpPr>
          <p:grpSpPr>
            <a:xfrm>
              <a:off x="-1" y="0"/>
              <a:ext cx="9144003" cy="6857673"/>
              <a:chOff x="-1" y="0"/>
              <a:chExt cx="9144003" cy="6857673"/>
            </a:xfrm>
          </p:grpSpPr>
          <p:grpSp>
            <p:nvGrpSpPr>
              <p:cNvPr id="107" name="Google Shape;107;p70"/>
              <p:cNvGrpSpPr/>
              <p:nvPr/>
            </p:nvGrpSpPr>
            <p:grpSpPr>
              <a:xfrm>
                <a:off x="-1" y="1295400"/>
                <a:ext cx="7010403" cy="46039"/>
                <a:chOff x="-1" y="0"/>
                <a:chExt cx="7010402" cy="46038"/>
              </a:xfrm>
            </p:grpSpPr>
            <p:sp>
              <p:nvSpPr>
                <p:cNvPr id="108" name="Google Shape;108;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09" name="Google Shape;109;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10" name="Google Shape;110;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1" name="Google Shape;111;p70"/>
              <p:cNvGrpSpPr/>
              <p:nvPr/>
            </p:nvGrpSpPr>
            <p:grpSpPr>
              <a:xfrm>
                <a:off x="2133599" y="6553200"/>
                <a:ext cx="7010403" cy="46039"/>
                <a:chOff x="-1" y="0"/>
                <a:chExt cx="7010402" cy="46038"/>
              </a:xfrm>
            </p:grpSpPr>
            <p:sp>
              <p:nvSpPr>
                <p:cNvPr id="112" name="Google Shape;112;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13" name="Google Shape;113;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14" name="Google Shape;114;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15" name="Google Shape;115;p70"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16" name="Google Shape;116;p70"/>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17" name="Google Shape;117;p70"/>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18" name="Google Shape;118;p70"/>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19" name="Google Shape;119;p70"/>
          <p:cNvSpPr txBox="1">
            <a:spLocks noGrp="1"/>
          </p:cNvSpPr>
          <p:nvPr>
            <p:ph type="body" idx="1"/>
          </p:nvPr>
        </p:nvSpPr>
        <p:spPr>
          <a:xfrm>
            <a:off x="304800" y="152400"/>
            <a:ext cx="6324600" cy="1143000"/>
          </a:xfrm>
          <a:prstGeom prst="rect">
            <a:avLst/>
          </a:prstGeom>
          <a:noFill/>
          <a:ln>
            <a:noFill/>
          </a:ln>
        </p:spPr>
        <p:txBody>
          <a:bodyPr spcFirstLastPara="1" wrap="square" lIns="45700" tIns="45700" rIns="45700" bIns="45700" anchor="ctr" anchorCtr="0">
            <a:normAutofit/>
          </a:bodyPr>
          <a:lstStyle>
            <a:lvl1pPr marL="457200" lvl="0" indent="-228600" algn="l">
              <a:lnSpc>
                <a:spcPct val="100000"/>
              </a:lnSpc>
              <a:spcBef>
                <a:spcPts val="0"/>
              </a:spcBef>
              <a:spcAft>
                <a:spcPts val="0"/>
              </a:spcAft>
              <a:buClr>
                <a:srgbClr val="000000"/>
              </a:buClr>
              <a:buSzPts val="3600"/>
              <a:buFont typeface="Arial"/>
              <a:buNone/>
              <a:defRPr sz="3600" b="1"/>
            </a:lvl1pPr>
            <a:lvl2pPr marL="914400" lvl="1" indent="-457200" algn="l">
              <a:lnSpc>
                <a:spcPct val="100000"/>
              </a:lnSpc>
              <a:spcBef>
                <a:spcPts val="0"/>
              </a:spcBef>
              <a:spcAft>
                <a:spcPts val="0"/>
              </a:spcAft>
              <a:buClr>
                <a:srgbClr val="000000"/>
              </a:buClr>
              <a:buSzPts val="3600"/>
              <a:buFont typeface="Arial"/>
              <a:buChar char="–"/>
              <a:defRPr sz="3600" b="1"/>
            </a:lvl2pPr>
            <a:lvl3pPr marL="1371600" lvl="2" indent="-457200" algn="l">
              <a:lnSpc>
                <a:spcPct val="100000"/>
              </a:lnSpc>
              <a:spcBef>
                <a:spcPts val="0"/>
              </a:spcBef>
              <a:spcAft>
                <a:spcPts val="0"/>
              </a:spcAft>
              <a:buClr>
                <a:srgbClr val="000000"/>
              </a:buClr>
              <a:buSzPts val="3600"/>
              <a:buFont typeface="Arial"/>
              <a:buChar char="•"/>
              <a:defRPr sz="3600" b="1"/>
            </a:lvl3pPr>
            <a:lvl4pPr marL="1828800" lvl="3" indent="-457200" algn="l">
              <a:lnSpc>
                <a:spcPct val="100000"/>
              </a:lnSpc>
              <a:spcBef>
                <a:spcPts val="0"/>
              </a:spcBef>
              <a:spcAft>
                <a:spcPts val="0"/>
              </a:spcAft>
              <a:buClr>
                <a:srgbClr val="000000"/>
              </a:buClr>
              <a:buSzPts val="3600"/>
              <a:buFont typeface="Arial"/>
              <a:buChar char="–"/>
              <a:defRPr sz="3600" b="1"/>
            </a:lvl4pPr>
            <a:lvl5pPr marL="2286000" lvl="4" indent="-457200" algn="l">
              <a:lnSpc>
                <a:spcPct val="100000"/>
              </a:lnSpc>
              <a:spcBef>
                <a:spcPts val="0"/>
              </a:spcBef>
              <a:spcAft>
                <a:spcPts val="0"/>
              </a:spcAft>
              <a:buClr>
                <a:srgbClr val="000000"/>
              </a:buClr>
              <a:buSzPts val="3600"/>
              <a:buFont typeface="Arial"/>
              <a:buChar char="»"/>
              <a:defRPr sz="36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0" name="Google Shape;120;p70"/>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121"/>
        <p:cNvGrpSpPr/>
        <p:nvPr/>
      </p:nvGrpSpPr>
      <p:grpSpPr>
        <a:xfrm>
          <a:off x="0" y="0"/>
          <a:ext cx="0" cy="0"/>
          <a:chOff x="0" y="0"/>
          <a:chExt cx="0" cy="0"/>
        </a:xfrm>
      </p:grpSpPr>
      <p:grpSp>
        <p:nvGrpSpPr>
          <p:cNvPr id="122" name="Google Shape;122;p71"/>
          <p:cNvGrpSpPr/>
          <p:nvPr/>
        </p:nvGrpSpPr>
        <p:grpSpPr>
          <a:xfrm>
            <a:off x="-702671" y="-883443"/>
            <a:ext cx="10499751" cy="9147815"/>
            <a:chOff x="-702671" y="-883443"/>
            <a:chExt cx="10499751" cy="9147815"/>
          </a:xfrm>
        </p:grpSpPr>
        <p:pic>
          <p:nvPicPr>
            <p:cNvPr id="123" name="Google Shape;123;p71"/>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24" name="Google Shape;124;p71"/>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25" name="Google Shape;125;p71"/>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26" name="Google Shape;126;p71"/>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27" name="Google Shape;127;p71"/>
            <p:cNvGrpSpPr/>
            <p:nvPr/>
          </p:nvGrpSpPr>
          <p:grpSpPr>
            <a:xfrm>
              <a:off x="-1" y="0"/>
              <a:ext cx="9144003" cy="6857673"/>
              <a:chOff x="-1" y="0"/>
              <a:chExt cx="9144003" cy="6857673"/>
            </a:xfrm>
          </p:grpSpPr>
          <p:grpSp>
            <p:nvGrpSpPr>
              <p:cNvPr id="128" name="Google Shape;128;p71"/>
              <p:cNvGrpSpPr/>
              <p:nvPr/>
            </p:nvGrpSpPr>
            <p:grpSpPr>
              <a:xfrm>
                <a:off x="-1" y="1295400"/>
                <a:ext cx="7010403" cy="46039"/>
                <a:chOff x="-1" y="0"/>
                <a:chExt cx="7010402" cy="46038"/>
              </a:xfrm>
            </p:grpSpPr>
            <p:sp>
              <p:nvSpPr>
                <p:cNvPr id="129" name="Google Shape;129;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0" name="Google Shape;130;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1" name="Google Shape;131;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32" name="Google Shape;132;p71"/>
              <p:cNvGrpSpPr/>
              <p:nvPr/>
            </p:nvGrpSpPr>
            <p:grpSpPr>
              <a:xfrm>
                <a:off x="2133599" y="6553200"/>
                <a:ext cx="7010403" cy="46039"/>
                <a:chOff x="-1" y="0"/>
                <a:chExt cx="7010402" cy="46038"/>
              </a:xfrm>
            </p:grpSpPr>
            <p:sp>
              <p:nvSpPr>
                <p:cNvPr id="133" name="Google Shape;133;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4" name="Google Shape;134;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5" name="Google Shape;135;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36" name="Google Shape;136;p71"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37" name="Google Shape;137;p71"/>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38" name="Google Shape;138;p71"/>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39" name="Google Shape;139;p71"/>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40" name="Google Shape;140;p71"/>
          <p:cNvSpPr txBox="1">
            <a:spLocks noGrp="1"/>
          </p:cNvSpPr>
          <p:nvPr>
            <p:ph type="body" idx="1"/>
          </p:nvPr>
        </p:nvSpPr>
        <p:spPr>
          <a:xfrm>
            <a:off x="3575050" y="1600200"/>
            <a:ext cx="511175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1" name="Google Shape;141;p71"/>
          <p:cNvSpPr txBox="1">
            <a:spLocks noGrp="1"/>
          </p:cNvSpPr>
          <p:nvPr>
            <p:ph type="body" idx="2"/>
          </p:nvPr>
        </p:nvSpPr>
        <p:spPr>
          <a:xfrm>
            <a:off x="457199" y="1600200"/>
            <a:ext cx="3008315"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2" name="Google Shape;142;p7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143"/>
        <p:cNvGrpSpPr/>
        <p:nvPr/>
      </p:nvGrpSpPr>
      <p:grpSpPr>
        <a:xfrm>
          <a:off x="0" y="0"/>
          <a:ext cx="0" cy="0"/>
          <a:chOff x="0" y="0"/>
          <a:chExt cx="0" cy="0"/>
        </a:xfrm>
      </p:grpSpPr>
      <p:grpSp>
        <p:nvGrpSpPr>
          <p:cNvPr id="144" name="Google Shape;144;p72"/>
          <p:cNvGrpSpPr/>
          <p:nvPr/>
        </p:nvGrpSpPr>
        <p:grpSpPr>
          <a:xfrm>
            <a:off x="-702671" y="-883443"/>
            <a:ext cx="10499751" cy="9147815"/>
            <a:chOff x="-702671" y="-883443"/>
            <a:chExt cx="10499751" cy="9147815"/>
          </a:xfrm>
        </p:grpSpPr>
        <p:pic>
          <p:nvPicPr>
            <p:cNvPr id="145" name="Google Shape;145;p72"/>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46" name="Google Shape;146;p72"/>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47" name="Google Shape;147;p72"/>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48" name="Google Shape;148;p72"/>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49" name="Google Shape;149;p72"/>
            <p:cNvGrpSpPr/>
            <p:nvPr/>
          </p:nvGrpSpPr>
          <p:grpSpPr>
            <a:xfrm>
              <a:off x="-1" y="0"/>
              <a:ext cx="9144003" cy="6857673"/>
              <a:chOff x="-1" y="0"/>
              <a:chExt cx="9144003" cy="6857673"/>
            </a:xfrm>
          </p:grpSpPr>
          <p:grpSp>
            <p:nvGrpSpPr>
              <p:cNvPr id="150" name="Google Shape;150;p72"/>
              <p:cNvGrpSpPr/>
              <p:nvPr/>
            </p:nvGrpSpPr>
            <p:grpSpPr>
              <a:xfrm>
                <a:off x="-1" y="1295400"/>
                <a:ext cx="7010403" cy="46039"/>
                <a:chOff x="-1" y="0"/>
                <a:chExt cx="7010402" cy="46038"/>
              </a:xfrm>
            </p:grpSpPr>
            <p:sp>
              <p:nvSpPr>
                <p:cNvPr id="151" name="Google Shape;151;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2" name="Google Shape;152;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3" name="Google Shape;153;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54" name="Google Shape;154;p72"/>
              <p:cNvGrpSpPr/>
              <p:nvPr/>
            </p:nvGrpSpPr>
            <p:grpSpPr>
              <a:xfrm>
                <a:off x="2133599" y="6553200"/>
                <a:ext cx="7010403" cy="46039"/>
                <a:chOff x="-1" y="0"/>
                <a:chExt cx="7010402" cy="46038"/>
              </a:xfrm>
            </p:grpSpPr>
            <p:sp>
              <p:nvSpPr>
                <p:cNvPr id="155" name="Google Shape;155;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6" name="Google Shape;156;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7" name="Google Shape;157;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58" name="Google Shape;158;p72"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59" name="Google Shape;159;p72"/>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60" name="Google Shape;160;p72"/>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61" name="Google Shape;161;p72"/>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62" name="Google Shape;162;p72"/>
          <p:cNvSpPr txBox="1">
            <a:spLocks noGrp="1"/>
          </p:cNvSpPr>
          <p:nvPr>
            <p:ph type="title"/>
          </p:nvPr>
        </p:nvSpPr>
        <p:spPr>
          <a:xfrm>
            <a:off x="1792288" y="5407025"/>
            <a:ext cx="5486401"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0000"/>
              </a:buClr>
              <a:buSzPts val="1800"/>
              <a:buFont typeface="Arial"/>
              <a:buNone/>
              <a:defRPr sz="1800">
                <a:solidFill>
                  <a:srgbClr val="000000"/>
                </a:solidFill>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63" name="Google Shape;163;p72"/>
          <p:cNvSpPr txBox="1">
            <a:spLocks noGrp="1"/>
          </p:cNvSpPr>
          <p:nvPr>
            <p:ph type="body" idx="1"/>
          </p:nvPr>
        </p:nvSpPr>
        <p:spPr>
          <a:xfrm>
            <a:off x="1792288" y="5711825"/>
            <a:ext cx="5486401" cy="30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600"/>
              <a:buFont typeface="Arial"/>
              <a:buNone/>
              <a:defRPr sz="1600"/>
            </a:lvl1pPr>
            <a:lvl2pPr marL="914400" lvl="1" indent="-228600" algn="l">
              <a:lnSpc>
                <a:spcPct val="100000"/>
              </a:lnSpc>
              <a:spcBef>
                <a:spcPts val="300"/>
              </a:spcBef>
              <a:spcAft>
                <a:spcPts val="0"/>
              </a:spcAft>
              <a:buClr>
                <a:srgbClr val="000000"/>
              </a:buClr>
              <a:buSzPts val="1600"/>
              <a:buFont typeface="Arial"/>
              <a:buNone/>
              <a:defRPr sz="1600"/>
            </a:lvl2pPr>
            <a:lvl3pPr marL="1371600" lvl="2" indent="-228600" algn="l">
              <a:lnSpc>
                <a:spcPct val="100000"/>
              </a:lnSpc>
              <a:spcBef>
                <a:spcPts val="300"/>
              </a:spcBef>
              <a:spcAft>
                <a:spcPts val="0"/>
              </a:spcAft>
              <a:buClr>
                <a:srgbClr val="000000"/>
              </a:buClr>
              <a:buSzPts val="1600"/>
              <a:buFont typeface="Arial"/>
              <a:buNone/>
              <a:defRPr sz="1600"/>
            </a:lvl3pPr>
            <a:lvl4pPr marL="1828800" lvl="3" indent="-228600" algn="l">
              <a:lnSpc>
                <a:spcPct val="100000"/>
              </a:lnSpc>
              <a:spcBef>
                <a:spcPts val="300"/>
              </a:spcBef>
              <a:spcAft>
                <a:spcPts val="0"/>
              </a:spcAft>
              <a:buClr>
                <a:srgbClr val="000000"/>
              </a:buClr>
              <a:buSzPts val="1600"/>
              <a:buFont typeface="Arial"/>
              <a:buNone/>
              <a:defRPr sz="1600"/>
            </a:lvl4pPr>
            <a:lvl5pPr marL="2286000" lvl="4" indent="-228600" algn="l">
              <a:lnSpc>
                <a:spcPct val="100000"/>
              </a:lnSpc>
              <a:spcBef>
                <a:spcPts val="300"/>
              </a:spcBef>
              <a:spcAft>
                <a:spcPts val="0"/>
              </a:spcAft>
              <a:buClr>
                <a:srgbClr val="000000"/>
              </a:buClr>
              <a:buSzPts val="1600"/>
              <a:buFont typeface="Arial"/>
              <a:buNone/>
              <a:defRPr sz="16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4" name="Google Shape;164;p72"/>
          <p:cNvSpPr>
            <a:spLocks noGrp="1"/>
          </p:cNvSpPr>
          <p:nvPr>
            <p:ph type="pic" idx="2"/>
          </p:nvPr>
        </p:nvSpPr>
        <p:spPr>
          <a:xfrm>
            <a:off x="1792288" y="1828800"/>
            <a:ext cx="5486401" cy="3429000"/>
          </a:xfrm>
          <a:prstGeom prst="rect">
            <a:avLst/>
          </a:prstGeom>
          <a:noFill/>
          <a:ln w="57150" cap="flat" cmpd="sng">
            <a:solidFill>
              <a:srgbClr val="DCE6F2"/>
            </a:solidFill>
            <a:prstDash val="solid"/>
            <a:round/>
            <a:headEnd type="none" w="sm" len="sm"/>
            <a:tailEnd type="none" w="sm" len="sm"/>
          </a:ln>
        </p:spPr>
      </p:sp>
      <p:sp>
        <p:nvSpPr>
          <p:cNvPr id="165" name="Google Shape;165;p7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type="tx">
  <p:cSld name="TITLE_AND_BODY">
    <p:bg>
      <p:bgPr>
        <a:solidFill>
          <a:srgbClr val="FFFFFF"/>
        </a:solidFill>
        <a:effectLst/>
      </p:bgPr>
    </p:bg>
    <p:spTree>
      <p:nvGrpSpPr>
        <p:cNvPr id="1" name="Shape 172"/>
        <p:cNvGrpSpPr/>
        <p:nvPr/>
      </p:nvGrpSpPr>
      <p:grpSpPr>
        <a:xfrm>
          <a:off x="0" y="0"/>
          <a:ext cx="0" cy="0"/>
          <a:chOff x="0" y="0"/>
          <a:chExt cx="0" cy="0"/>
        </a:xfrm>
      </p:grpSpPr>
      <p:grpSp>
        <p:nvGrpSpPr>
          <p:cNvPr id="173" name="Google Shape;173;p65"/>
          <p:cNvGrpSpPr/>
          <p:nvPr/>
        </p:nvGrpSpPr>
        <p:grpSpPr>
          <a:xfrm>
            <a:off x="-702671" y="-883443"/>
            <a:ext cx="10499751" cy="9147815"/>
            <a:chOff x="-702671" y="-883443"/>
            <a:chExt cx="10499751" cy="9147815"/>
          </a:xfrm>
        </p:grpSpPr>
        <p:pic>
          <p:nvPicPr>
            <p:cNvPr id="174" name="Google Shape;174;p65"/>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75" name="Google Shape;175;p65"/>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76" name="Google Shape;176;p65"/>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77" name="Google Shape;177;p65"/>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78" name="Google Shape;178;p65"/>
            <p:cNvGrpSpPr/>
            <p:nvPr/>
          </p:nvGrpSpPr>
          <p:grpSpPr>
            <a:xfrm>
              <a:off x="-1" y="0"/>
              <a:ext cx="9144003" cy="6857673"/>
              <a:chOff x="-1" y="0"/>
              <a:chExt cx="9144003" cy="6857673"/>
            </a:xfrm>
          </p:grpSpPr>
          <p:grpSp>
            <p:nvGrpSpPr>
              <p:cNvPr id="179" name="Google Shape;179;p65"/>
              <p:cNvGrpSpPr/>
              <p:nvPr/>
            </p:nvGrpSpPr>
            <p:grpSpPr>
              <a:xfrm>
                <a:off x="-1" y="1295400"/>
                <a:ext cx="7010403" cy="46039"/>
                <a:chOff x="-1" y="0"/>
                <a:chExt cx="7010402" cy="46038"/>
              </a:xfrm>
            </p:grpSpPr>
            <p:sp>
              <p:nvSpPr>
                <p:cNvPr id="180" name="Google Shape;180;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1" name="Google Shape;181;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2" name="Google Shape;182;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83" name="Google Shape;183;p65"/>
              <p:cNvGrpSpPr/>
              <p:nvPr/>
            </p:nvGrpSpPr>
            <p:grpSpPr>
              <a:xfrm>
                <a:off x="2133599" y="6553200"/>
                <a:ext cx="7010403" cy="46039"/>
                <a:chOff x="-1" y="0"/>
                <a:chExt cx="7010402" cy="46038"/>
              </a:xfrm>
            </p:grpSpPr>
            <p:sp>
              <p:nvSpPr>
                <p:cNvPr id="184" name="Google Shape;184;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5" name="Google Shape;185;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6" name="Google Shape;186;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87" name="Google Shape;187;p65"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88" name="Google Shape;188;p65"/>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89" name="Google Shape;189;p65"/>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90" name="Google Shape;190;p65"/>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91" name="Google Shape;191;p6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600"/>
              <a:buFont typeface="Calibri"/>
              <a:buNone/>
              <a:defRPr sz="3600" b="1">
                <a:latin typeface="Arial" panose="020B0604020202020204" pitchFamily="34" charset="0"/>
                <a:cs typeface="Arial" panose="020B0604020202020204" pitchFamily="34" charset="0"/>
              </a:defRPr>
            </a:lvl1pPr>
            <a:lvl2pPr marL="914400" lvl="1" indent="-406400" algn="l">
              <a:lnSpc>
                <a:spcPct val="100000"/>
              </a:lnSpc>
              <a:spcBef>
                <a:spcPts val="0"/>
              </a:spcBef>
              <a:spcAft>
                <a:spcPts val="0"/>
              </a:spcAft>
              <a:buSzPts val="2800"/>
              <a:buFont typeface="Calibri"/>
              <a:buChar char="–"/>
              <a:defRPr sz="3600" b="1"/>
            </a:lvl2pPr>
            <a:lvl3pPr marL="1371600" lvl="2" indent="-381000" algn="l">
              <a:lnSpc>
                <a:spcPct val="100000"/>
              </a:lnSpc>
              <a:spcBef>
                <a:spcPts val="0"/>
              </a:spcBef>
              <a:spcAft>
                <a:spcPts val="0"/>
              </a:spcAft>
              <a:buSzPts val="2400"/>
              <a:buFont typeface="Calibri"/>
              <a:buChar char="•"/>
              <a:defRPr sz="3600" b="1"/>
            </a:lvl3pPr>
            <a:lvl4pPr marL="1828800" lvl="3" indent="-355600" algn="l">
              <a:lnSpc>
                <a:spcPct val="100000"/>
              </a:lnSpc>
              <a:spcBef>
                <a:spcPts val="0"/>
              </a:spcBef>
              <a:spcAft>
                <a:spcPts val="0"/>
              </a:spcAft>
              <a:buSzPts val="2000"/>
              <a:buFont typeface="Calibri"/>
              <a:buChar char="–"/>
              <a:defRPr sz="3600" b="1"/>
            </a:lvl4pPr>
            <a:lvl5pPr marL="2286000" lvl="4" indent="-355600" algn="l">
              <a:lnSpc>
                <a:spcPct val="100000"/>
              </a:lnSpc>
              <a:spcBef>
                <a:spcPts val="0"/>
              </a:spcBef>
              <a:spcAft>
                <a:spcPts val="0"/>
              </a:spcAft>
              <a:buSzPts val="2000"/>
              <a:buFont typeface="Calibri"/>
              <a:buChar char="»"/>
              <a:defRPr sz="3600" b="1"/>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dirty="0"/>
          </a:p>
        </p:txBody>
      </p:sp>
      <p:sp>
        <p:nvSpPr>
          <p:cNvPr id="192" name="Google Shape;19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28"/>
        <p:cNvGrpSpPr/>
        <p:nvPr/>
      </p:nvGrpSpPr>
      <p:grpSpPr>
        <a:xfrm>
          <a:off x="0" y="0"/>
          <a:ext cx="0" cy="0"/>
          <a:chOff x="0" y="0"/>
          <a:chExt cx="0" cy="0"/>
        </a:xfrm>
      </p:grpSpPr>
      <p:sp>
        <p:nvSpPr>
          <p:cNvPr id="229" name="Google Shape;229;p7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0" name="Google Shape;230;p7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atin typeface="Arial" panose="020B0604020202020204" pitchFamily="34" charset="0"/>
                <a:cs typeface="Arial" panose="020B0604020202020204" pitchFamily="34" charset="0"/>
              </a:defRPr>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dirty="0"/>
          </a:p>
        </p:txBody>
      </p:sp>
      <p:sp>
        <p:nvSpPr>
          <p:cNvPr id="231" name="Google Shape;231;p7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atin typeface="Arial" panose="020B0604020202020204" pitchFamily="34" charset="0"/>
                <a:cs typeface="Arial" panose="020B0604020202020204" pitchFamily="34" charset="0"/>
              </a:defRPr>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dirty="0"/>
          </a:p>
        </p:txBody>
      </p:sp>
      <p:sp>
        <p:nvSpPr>
          <p:cNvPr id="232" name="Google Shape;232;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33" name="Google Shape;233;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34" name="Google Shape;234;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5"/>
        <p:cNvGrpSpPr/>
        <p:nvPr/>
      </p:nvGrpSpPr>
      <p:grpSpPr>
        <a:xfrm>
          <a:off x="0" y="0"/>
          <a:ext cx="0" cy="0"/>
          <a:chOff x="0" y="0"/>
          <a:chExt cx="0" cy="0"/>
        </a:xfrm>
      </p:grpSpPr>
      <p:sp>
        <p:nvSpPr>
          <p:cNvPr id="236" name="Google Shape;236;p7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7" name="Google Shape;237;p79"/>
          <p:cNvSpPr>
            <a:spLocks noGrp="1"/>
          </p:cNvSpPr>
          <p:nvPr>
            <p:ph type="pic" idx="2"/>
          </p:nvPr>
        </p:nvSpPr>
        <p:spPr>
          <a:xfrm>
            <a:off x="1792288" y="612775"/>
            <a:ext cx="5486400" cy="4114800"/>
          </a:xfrm>
          <a:prstGeom prst="rect">
            <a:avLst/>
          </a:prstGeom>
          <a:noFill/>
          <a:ln>
            <a:noFill/>
          </a:ln>
        </p:spPr>
      </p:sp>
      <p:sp>
        <p:nvSpPr>
          <p:cNvPr id="238" name="Google Shape;238;p7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atin typeface="Arial" panose="020B0604020202020204" pitchFamily="34" charset="0"/>
                <a:cs typeface="Arial" panose="020B0604020202020204" pitchFamily="34" charset="0"/>
              </a:defRPr>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dirty="0"/>
          </a:p>
        </p:txBody>
      </p:sp>
      <p:sp>
        <p:nvSpPr>
          <p:cNvPr id="239" name="Google Shape;239;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40" name="Google Shape;240;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41" name="Google Shape;241;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2"/>
        <p:cNvGrpSpPr/>
        <p:nvPr/>
      </p:nvGrpSpPr>
      <p:grpSpPr>
        <a:xfrm>
          <a:off x="0" y="0"/>
          <a:ext cx="0" cy="0"/>
          <a:chOff x="0" y="0"/>
          <a:chExt cx="0" cy="0"/>
        </a:xfrm>
      </p:grpSpPr>
      <p:sp>
        <p:nvSpPr>
          <p:cNvPr id="243" name="Google Shape;243;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44" name="Google Shape;244;p8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atin typeface="Arial" panose="020B0604020202020204" pitchFamily="34" charset="0"/>
                <a:cs typeface="Arial" panose="020B0604020202020204" pitchFamily="34" charset="0"/>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dirty="0"/>
          </a:p>
        </p:txBody>
      </p:sp>
      <p:sp>
        <p:nvSpPr>
          <p:cNvPr id="245" name="Google Shape;245;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46" name="Google Shape;246;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47" name="Google Shape;247;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8"/>
        <p:cNvGrpSpPr/>
        <p:nvPr/>
      </p:nvGrpSpPr>
      <p:grpSpPr>
        <a:xfrm>
          <a:off x="0" y="0"/>
          <a:ext cx="0" cy="0"/>
          <a:chOff x="0" y="0"/>
          <a:chExt cx="0" cy="0"/>
        </a:xfrm>
      </p:grpSpPr>
      <p:sp>
        <p:nvSpPr>
          <p:cNvPr id="249" name="Google Shape;249;p8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50" name="Google Shape;250;p8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atin typeface="Arial" panose="020B0604020202020204" pitchFamily="34" charset="0"/>
                <a:cs typeface="Arial" panose="020B0604020202020204" pitchFamily="34" charset="0"/>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dirty="0"/>
          </a:p>
        </p:txBody>
      </p:sp>
      <p:sp>
        <p:nvSpPr>
          <p:cNvPr id="251" name="Google Shape;251;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52" name="Google Shape;252;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53" name="Google Shape;253;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82"/>
          <p:cNvSpPr txBox="1"/>
          <p:nvPr/>
        </p:nvSpPr>
        <p:spPr>
          <a:xfrm>
            <a:off x="3276600" y="6596065"/>
            <a:ext cx="5867400" cy="21929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25"/>
              <a:buFont typeface="Arial"/>
              <a:buNone/>
            </a:pPr>
            <a:r>
              <a:rPr lang="en-US" sz="825" b="1" i="0" u="none" strike="noStrike" cap="none">
                <a:solidFill>
                  <a:srgbClr val="101141"/>
                </a:solidFill>
                <a:latin typeface="Arial"/>
                <a:ea typeface="Arial"/>
                <a:cs typeface="Arial"/>
                <a:sym typeface="Arial"/>
              </a:rPr>
              <a:t>BITS </a:t>
            </a:r>
            <a:r>
              <a:rPr lang="en-US" sz="825" b="0" i="0" u="none" strike="noStrike" cap="none">
                <a:solidFill>
                  <a:srgbClr val="101141"/>
                </a:solidFill>
                <a:latin typeface="Arial"/>
                <a:ea typeface="Arial"/>
                <a:cs typeface="Arial"/>
                <a:sym typeface="Arial"/>
              </a:rPr>
              <a:t>Pilani, Pilani Campus</a:t>
            </a:r>
            <a:endParaRPr/>
          </a:p>
        </p:txBody>
      </p:sp>
      <p:grpSp>
        <p:nvGrpSpPr>
          <p:cNvPr id="256" name="Google Shape;256;p82"/>
          <p:cNvGrpSpPr/>
          <p:nvPr/>
        </p:nvGrpSpPr>
        <p:grpSpPr>
          <a:xfrm>
            <a:off x="2084388" y="6550027"/>
            <a:ext cx="7059612" cy="49213"/>
            <a:chOff x="2083888" y="6550671"/>
            <a:chExt cx="7060112" cy="48665"/>
          </a:xfrm>
        </p:grpSpPr>
        <p:sp>
          <p:nvSpPr>
            <p:cNvPr id="257" name="Google Shape;257;p8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58" name="Google Shape;258;p8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59" name="Google Shape;259;p8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grpSp>
      <p:pic>
        <p:nvPicPr>
          <p:cNvPr id="260" name="Google Shape;260;p82"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261" name="Google Shape;261;p82"/>
          <p:cNvGrpSpPr/>
          <p:nvPr/>
        </p:nvGrpSpPr>
        <p:grpSpPr>
          <a:xfrm>
            <a:off x="2133600" y="6553200"/>
            <a:ext cx="7010400" cy="46038"/>
            <a:chOff x="1905000" y="6553200"/>
            <a:chExt cx="7010400" cy="45719"/>
          </a:xfrm>
        </p:grpSpPr>
        <p:sp>
          <p:nvSpPr>
            <p:cNvPr id="262" name="Google Shape;262;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63" name="Google Shape;263;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64" name="Google Shape;264;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5" name="Google Shape;265;p82"/>
          <p:cNvGrpSpPr/>
          <p:nvPr/>
        </p:nvGrpSpPr>
        <p:grpSpPr>
          <a:xfrm>
            <a:off x="0" y="1295400"/>
            <a:ext cx="7010400" cy="46038"/>
            <a:chOff x="1905000" y="6553200"/>
            <a:chExt cx="7010400" cy="45719"/>
          </a:xfrm>
        </p:grpSpPr>
        <p:sp>
          <p:nvSpPr>
            <p:cNvPr id="266" name="Google Shape;266;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67" name="Google Shape;267;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268" name="Google Shape;268;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grpSp>
      <p:sp>
        <p:nvSpPr>
          <p:cNvPr id="269" name="Google Shape;269;p82"/>
          <p:cNvSpPr txBox="1">
            <a:spLocks noGrp="1"/>
          </p:cNvSpPr>
          <p:nvPr>
            <p:ph type="body" idx="1"/>
          </p:nvPr>
        </p:nvSpPr>
        <p:spPr>
          <a:xfrm>
            <a:off x="304800" y="1493839"/>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dirty="0"/>
          </a:p>
        </p:txBody>
      </p:sp>
      <p:sp>
        <p:nvSpPr>
          <p:cNvPr id="270" name="Google Shape;270;p8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200"/>
              <a:buNone/>
              <a:defRPr sz="2700" b="1">
                <a:latin typeface="Arial"/>
                <a:ea typeface="Arial"/>
                <a:cs typeface="Arial"/>
                <a:sym typeface="Arial"/>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grpSp>
        <p:nvGrpSpPr>
          <p:cNvPr id="2" name="Google Shape;30;p66">
            <a:extLst>
              <a:ext uri="{FF2B5EF4-FFF2-40B4-BE49-F238E27FC236}">
                <a16:creationId xmlns:a16="http://schemas.microsoft.com/office/drawing/2014/main" id="{3792999D-E55C-1316-108B-92F4734804CD}"/>
              </a:ext>
            </a:extLst>
          </p:cNvPr>
          <p:cNvGrpSpPr/>
          <p:nvPr userDrawn="1"/>
        </p:nvGrpSpPr>
        <p:grpSpPr>
          <a:xfrm>
            <a:off x="-702671" y="-883443"/>
            <a:ext cx="10499751" cy="9147815"/>
            <a:chOff x="-702671" y="-883443"/>
            <a:chExt cx="10499751" cy="9147815"/>
          </a:xfrm>
        </p:grpSpPr>
        <p:pic>
          <p:nvPicPr>
            <p:cNvPr id="3" name="Google Shape;31;p66">
              <a:extLst>
                <a:ext uri="{FF2B5EF4-FFF2-40B4-BE49-F238E27FC236}">
                  <a16:creationId xmlns:a16="http://schemas.microsoft.com/office/drawing/2014/main" id="{BE6E4F4D-5649-E653-FD49-8E0AF7F566E2}"/>
                </a:ext>
              </a:extLst>
            </p:cNvPr>
            <p:cNvPicPr preferRelativeResize="0"/>
            <p:nvPr/>
          </p:nvPicPr>
          <p:blipFill rotWithShape="1">
            <a:blip r:embed="rId3">
              <a:alphaModFix/>
            </a:blip>
            <a:srcRect/>
            <a:stretch/>
          </p:blipFill>
          <p:spPr>
            <a:xfrm rot="4121095">
              <a:off x="-211367" y="4076943"/>
              <a:ext cx="3329835" cy="3329835"/>
            </a:xfrm>
            <a:prstGeom prst="rect">
              <a:avLst/>
            </a:prstGeom>
            <a:noFill/>
            <a:ln>
              <a:noFill/>
            </a:ln>
          </p:spPr>
        </p:pic>
        <p:pic>
          <p:nvPicPr>
            <p:cNvPr id="4" name="Google Shape;32;p66">
              <a:extLst>
                <a:ext uri="{FF2B5EF4-FFF2-40B4-BE49-F238E27FC236}">
                  <a16:creationId xmlns:a16="http://schemas.microsoft.com/office/drawing/2014/main" id="{6B7F5F19-FA57-37A8-DB8A-249D944DA44C}"/>
                </a:ext>
              </a:extLst>
            </p:cNvPr>
            <p:cNvPicPr preferRelativeResize="0"/>
            <p:nvPr/>
          </p:nvPicPr>
          <p:blipFill rotWithShape="1">
            <a:blip r:embed="rId3">
              <a:alphaModFix/>
            </a:blip>
            <a:srcRect/>
            <a:stretch/>
          </p:blipFill>
          <p:spPr>
            <a:xfrm>
              <a:off x="5883072" y="4248324"/>
              <a:ext cx="3329835" cy="3329835"/>
            </a:xfrm>
            <a:prstGeom prst="rect">
              <a:avLst/>
            </a:prstGeom>
            <a:noFill/>
            <a:ln>
              <a:noFill/>
            </a:ln>
          </p:spPr>
        </p:pic>
        <p:pic>
          <p:nvPicPr>
            <p:cNvPr id="5" name="Google Shape;33;p66">
              <a:extLst>
                <a:ext uri="{FF2B5EF4-FFF2-40B4-BE49-F238E27FC236}">
                  <a16:creationId xmlns:a16="http://schemas.microsoft.com/office/drawing/2014/main" id="{E205E4F3-9D7F-6908-A2F0-CC0F1182DB6D}"/>
                </a:ext>
              </a:extLst>
            </p:cNvPr>
            <p:cNvPicPr preferRelativeResize="0"/>
            <p:nvPr/>
          </p:nvPicPr>
          <p:blipFill rotWithShape="1">
            <a:blip r:embed="rId3">
              <a:alphaModFix/>
            </a:blip>
            <a:srcRect/>
            <a:stretch/>
          </p:blipFill>
          <p:spPr>
            <a:xfrm>
              <a:off x="0" y="-654317"/>
              <a:ext cx="3329835" cy="3329835"/>
            </a:xfrm>
            <a:prstGeom prst="rect">
              <a:avLst/>
            </a:prstGeom>
            <a:noFill/>
            <a:ln>
              <a:noFill/>
            </a:ln>
          </p:spPr>
        </p:pic>
        <p:pic>
          <p:nvPicPr>
            <p:cNvPr id="6" name="Google Shape;34;p66">
              <a:extLst>
                <a:ext uri="{FF2B5EF4-FFF2-40B4-BE49-F238E27FC236}">
                  <a16:creationId xmlns:a16="http://schemas.microsoft.com/office/drawing/2014/main" id="{858E2B50-59D1-5E74-42B8-4AA984BA38EC}"/>
                </a:ext>
              </a:extLst>
            </p:cNvPr>
            <p:cNvPicPr preferRelativeResize="0"/>
            <p:nvPr/>
          </p:nvPicPr>
          <p:blipFill rotWithShape="1">
            <a:blip r:embed="rId3">
              <a:alphaModFix/>
            </a:blip>
            <a:srcRect/>
            <a:stretch/>
          </p:blipFill>
          <p:spPr>
            <a:xfrm rot="4121095">
              <a:off x="5975941" y="-392139"/>
              <a:ext cx="3329835" cy="3329835"/>
            </a:xfrm>
            <a:prstGeom prst="rect">
              <a:avLst/>
            </a:prstGeom>
            <a:noFill/>
            <a:ln>
              <a:noFill/>
            </a:ln>
          </p:spPr>
        </p:pic>
        <p:grpSp>
          <p:nvGrpSpPr>
            <p:cNvPr id="7" name="Google Shape;35;p66">
              <a:extLst>
                <a:ext uri="{FF2B5EF4-FFF2-40B4-BE49-F238E27FC236}">
                  <a16:creationId xmlns:a16="http://schemas.microsoft.com/office/drawing/2014/main" id="{33C19E61-826C-C498-663C-9097FD17F557}"/>
                </a:ext>
              </a:extLst>
            </p:cNvPr>
            <p:cNvGrpSpPr/>
            <p:nvPr/>
          </p:nvGrpSpPr>
          <p:grpSpPr>
            <a:xfrm>
              <a:off x="-1" y="0"/>
              <a:ext cx="9144003" cy="6857673"/>
              <a:chOff x="-1" y="0"/>
              <a:chExt cx="9144003" cy="6857673"/>
            </a:xfrm>
          </p:grpSpPr>
          <p:grpSp>
            <p:nvGrpSpPr>
              <p:cNvPr id="10" name="Google Shape;36;p66">
                <a:extLst>
                  <a:ext uri="{FF2B5EF4-FFF2-40B4-BE49-F238E27FC236}">
                    <a16:creationId xmlns:a16="http://schemas.microsoft.com/office/drawing/2014/main" id="{BD96A390-8265-C071-AA27-AEF777BCBA5C}"/>
                  </a:ext>
                </a:extLst>
              </p:cNvPr>
              <p:cNvGrpSpPr/>
              <p:nvPr/>
            </p:nvGrpSpPr>
            <p:grpSpPr>
              <a:xfrm>
                <a:off x="-1" y="1295400"/>
                <a:ext cx="7010403" cy="46039"/>
                <a:chOff x="-1" y="0"/>
                <a:chExt cx="7010402" cy="46038"/>
              </a:xfrm>
            </p:grpSpPr>
            <p:sp>
              <p:nvSpPr>
                <p:cNvPr id="17" name="Google Shape;37;p66">
                  <a:extLst>
                    <a:ext uri="{FF2B5EF4-FFF2-40B4-BE49-F238E27FC236}">
                      <a16:creationId xmlns:a16="http://schemas.microsoft.com/office/drawing/2014/main" id="{9348FF98-D5E1-A97A-F173-3B02DFF458D5}"/>
                    </a:ext>
                  </a:extLst>
                </p:cNvPr>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 name="Google Shape;38;p66">
                  <a:extLst>
                    <a:ext uri="{FF2B5EF4-FFF2-40B4-BE49-F238E27FC236}">
                      <a16:creationId xmlns:a16="http://schemas.microsoft.com/office/drawing/2014/main" id="{A7FB9FF7-988F-042C-1B82-BE56179EAA3C}"/>
                    </a:ext>
                  </a:extLst>
                </p:cNvPr>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9" name="Google Shape;39;p66">
                  <a:extLst>
                    <a:ext uri="{FF2B5EF4-FFF2-40B4-BE49-F238E27FC236}">
                      <a16:creationId xmlns:a16="http://schemas.microsoft.com/office/drawing/2014/main" id="{F6B9DB50-D333-5BB3-4791-845C706A4B26}"/>
                    </a:ext>
                  </a:extLst>
                </p:cNvPr>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 name="Google Shape;40;p66">
                <a:extLst>
                  <a:ext uri="{FF2B5EF4-FFF2-40B4-BE49-F238E27FC236}">
                    <a16:creationId xmlns:a16="http://schemas.microsoft.com/office/drawing/2014/main" id="{EE8DF26E-189F-9B18-736C-A12D0429D6B9}"/>
                  </a:ext>
                </a:extLst>
              </p:cNvPr>
              <p:cNvGrpSpPr/>
              <p:nvPr/>
            </p:nvGrpSpPr>
            <p:grpSpPr>
              <a:xfrm>
                <a:off x="2133599" y="6553200"/>
                <a:ext cx="7010403" cy="46039"/>
                <a:chOff x="-1" y="0"/>
                <a:chExt cx="7010402" cy="46038"/>
              </a:xfrm>
            </p:grpSpPr>
            <p:sp>
              <p:nvSpPr>
                <p:cNvPr id="14" name="Google Shape;41;p66">
                  <a:extLst>
                    <a:ext uri="{FF2B5EF4-FFF2-40B4-BE49-F238E27FC236}">
                      <a16:creationId xmlns:a16="http://schemas.microsoft.com/office/drawing/2014/main" id="{808042D5-79CF-A548-59B0-38A0D38A2814}"/>
                    </a:ext>
                  </a:extLst>
                </p:cNvPr>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 name="Google Shape;42;p66">
                  <a:extLst>
                    <a:ext uri="{FF2B5EF4-FFF2-40B4-BE49-F238E27FC236}">
                      <a16:creationId xmlns:a16="http://schemas.microsoft.com/office/drawing/2014/main" id="{FBC50A95-B47D-6037-4BB6-0C89549F17CA}"/>
                    </a:ext>
                  </a:extLst>
                </p:cNvPr>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6" name="Google Shape;43;p66">
                  <a:extLst>
                    <a:ext uri="{FF2B5EF4-FFF2-40B4-BE49-F238E27FC236}">
                      <a16:creationId xmlns:a16="http://schemas.microsoft.com/office/drawing/2014/main" id="{BCA563BE-3AA6-9DEE-1986-F8737964903E}"/>
                    </a:ext>
                  </a:extLst>
                </p:cNvPr>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2" name="Google Shape;44;p66" descr="Picture 14">
                <a:extLst>
                  <a:ext uri="{FF2B5EF4-FFF2-40B4-BE49-F238E27FC236}">
                    <a16:creationId xmlns:a16="http://schemas.microsoft.com/office/drawing/2014/main" id="{AB693342-677D-EE42-9C08-C9F70EF01006}"/>
                  </a:ext>
                </a:extLst>
              </p:cNvPr>
              <p:cNvPicPr preferRelativeResize="0"/>
              <p:nvPr/>
            </p:nvPicPr>
            <p:blipFill rotWithShape="1">
              <a:blip r:embed="rId4">
                <a:alphaModFix/>
              </a:blip>
              <a:srcRect t="2677" b="2676"/>
              <a:stretch/>
            </p:blipFill>
            <p:spPr>
              <a:xfrm>
                <a:off x="6629400" y="0"/>
                <a:ext cx="2193925" cy="692150"/>
              </a:xfrm>
              <a:prstGeom prst="rect">
                <a:avLst/>
              </a:prstGeom>
              <a:noFill/>
              <a:ln>
                <a:noFill/>
              </a:ln>
            </p:spPr>
          </p:pic>
          <p:sp>
            <p:nvSpPr>
              <p:cNvPr id="13" name="Google Shape;45;p66">
                <a:extLst>
                  <a:ext uri="{FF2B5EF4-FFF2-40B4-BE49-F238E27FC236}">
                    <a16:creationId xmlns:a16="http://schemas.microsoft.com/office/drawing/2014/main" id="{BF7A4775-6FC2-6E4B-67BD-977E17468426}"/>
                  </a:ext>
                </a:extLst>
              </p:cNvPr>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8" name="Google Shape;46;p66">
              <a:extLst>
                <a:ext uri="{FF2B5EF4-FFF2-40B4-BE49-F238E27FC236}">
                  <a16:creationId xmlns:a16="http://schemas.microsoft.com/office/drawing/2014/main" id="{3661236F-EDB9-B10D-6E07-B9C6F707EF8E}"/>
                </a:ext>
              </a:extLst>
            </p:cNvPr>
            <p:cNvPicPr preferRelativeResize="0"/>
            <p:nvPr/>
          </p:nvPicPr>
          <p:blipFill rotWithShape="1">
            <a:blip r:embed="rId5">
              <a:alphaModFix/>
            </a:blip>
            <a:srcRect/>
            <a:stretch/>
          </p:blipFill>
          <p:spPr>
            <a:xfrm>
              <a:off x="3866657" y="2807158"/>
              <a:ext cx="1410686" cy="1410686"/>
            </a:xfrm>
            <a:prstGeom prst="rect">
              <a:avLst/>
            </a:prstGeom>
            <a:noFill/>
            <a:ln>
              <a:noFill/>
            </a:ln>
          </p:spPr>
        </p:pic>
        <p:pic>
          <p:nvPicPr>
            <p:cNvPr id="9" name="Google Shape;47;p66">
              <a:extLst>
                <a:ext uri="{FF2B5EF4-FFF2-40B4-BE49-F238E27FC236}">
                  <a16:creationId xmlns:a16="http://schemas.microsoft.com/office/drawing/2014/main" id="{99BF8825-ED1A-39B7-6769-4E9F75DD9C97}"/>
                </a:ext>
              </a:extLst>
            </p:cNvPr>
            <p:cNvPicPr preferRelativeResize="0"/>
            <p:nvPr/>
          </p:nvPicPr>
          <p:blipFill rotWithShape="1">
            <a:blip r:embed="rId3">
              <a:alphaModFix/>
            </a:blip>
            <a:srcRect/>
            <a:stretch/>
          </p:blipFill>
          <p:spPr>
            <a:xfrm rot="1789776">
              <a:off x="1980952" y="2061094"/>
              <a:ext cx="5246055" cy="5246055"/>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1"/>
        <p:cNvGrpSpPr/>
        <p:nvPr/>
      </p:nvGrpSpPr>
      <p:grpSpPr>
        <a:xfrm>
          <a:off x="0" y="0"/>
          <a:ext cx="0" cy="0"/>
          <a:chOff x="0" y="0"/>
          <a:chExt cx="0" cy="0"/>
        </a:xfrm>
      </p:grpSpPr>
      <p:sp>
        <p:nvSpPr>
          <p:cNvPr id="272" name="Google Shape;272;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atin typeface="Arial" panose="020B0604020202020204" pitchFamily="34"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73" name="Google Shape;273;p8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atin typeface="Arial" panose="020B0604020202020204" pitchFamily="34" charset="0"/>
                <a:cs typeface="Arial" panose="020B0604020202020204" pitchFamily="34" charset="0"/>
              </a:defRPr>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dirty="0"/>
          </a:p>
        </p:txBody>
      </p:sp>
      <p:sp>
        <p:nvSpPr>
          <p:cNvPr id="274" name="Google Shape;274;p8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atin typeface="Arial" panose="020B0604020202020204" pitchFamily="34" charset="0"/>
                <a:cs typeface="Arial" panose="020B0604020202020204" pitchFamily="34" charset="0"/>
              </a:defRPr>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dirty="0"/>
          </a:p>
        </p:txBody>
      </p:sp>
      <p:sp>
        <p:nvSpPr>
          <p:cNvPr id="275" name="Google Shape;275;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76" name="Google Shape;276;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lang="en-IN" dirty="0"/>
          </a:p>
        </p:txBody>
      </p:sp>
      <p:sp>
        <p:nvSpPr>
          <p:cNvPr id="277" name="Google Shape;277;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339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rgbClr val="2B2C2D"/>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8/20/26</a:t>
            </a:fld>
            <a:endParaRPr lang="en-US"/>
          </a:p>
        </p:txBody>
      </p:sp>
      <p:sp>
        <p:nvSpPr>
          <p:cNvPr id="6" name="Holder 6"/>
          <p:cNvSpPr>
            <a:spLocks noGrp="1"/>
          </p:cNvSpPr>
          <p:nvPr>
            <p:ph type="sldNum" sz="quarter" idx="7"/>
          </p:nvPr>
        </p:nvSpPr>
        <p:spPr/>
        <p:txBody>
          <a:bodyPr lIns="0" tIns="0" rIns="0" bIns="0"/>
          <a:lstStyle>
            <a:lvl1pPr>
              <a:defRPr sz="1000" b="1" i="0">
                <a:solidFill>
                  <a:srgbClr val="2B2C2D"/>
                </a:solidFill>
                <a:latin typeface="Arial"/>
                <a:cs typeface="Arial"/>
              </a:defRPr>
            </a:lvl1pPr>
          </a:lstStyle>
          <a:p>
            <a:pPr marL="12700">
              <a:lnSpc>
                <a:spcPct val="100000"/>
              </a:lnSpc>
            </a:pPr>
            <a:fld id="{81D60167-4931-47E6-BA6A-407CBD079E47}" type="slidenum">
              <a:rPr spc="-25" dirty="0"/>
              <a:t>‹#›</a:t>
            </a:fld>
            <a:endParaRPr spc="-25" dirty="0"/>
          </a:p>
        </p:txBody>
      </p:sp>
    </p:spTree>
    <p:extLst>
      <p:ext uri="{BB962C8B-B14F-4D97-AF65-F5344CB8AC3E}">
        <p14:creationId xmlns:p14="http://schemas.microsoft.com/office/powerpoint/2010/main" val="3589768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8/20/26</a:t>
            </a:fld>
            <a:endParaRPr lang="en-US"/>
          </a:p>
        </p:txBody>
      </p:sp>
      <p:sp>
        <p:nvSpPr>
          <p:cNvPr id="4" name="Holder 4"/>
          <p:cNvSpPr>
            <a:spLocks noGrp="1"/>
          </p:cNvSpPr>
          <p:nvPr>
            <p:ph type="sldNum" sz="quarter" idx="7"/>
          </p:nvPr>
        </p:nvSpPr>
        <p:spPr/>
        <p:txBody>
          <a:bodyPr lIns="0" tIns="0" rIns="0" bIns="0"/>
          <a:lstStyle>
            <a:lvl1pPr>
              <a:defRPr sz="1000" b="1" i="0">
                <a:solidFill>
                  <a:srgbClr val="2B2C2D"/>
                </a:solidFill>
                <a:latin typeface="Arial"/>
                <a:cs typeface="Arial"/>
              </a:defRPr>
            </a:lvl1pPr>
          </a:lstStyle>
          <a:p>
            <a:pPr marL="12700">
              <a:lnSpc>
                <a:spcPct val="100000"/>
              </a:lnSpc>
            </a:pPr>
            <a:fld id="{81D60167-4931-47E6-BA6A-407CBD079E47}" type="slidenum">
              <a:rPr spc="-25" dirty="0"/>
              <a:t>‹#›</a:t>
            </a:fld>
            <a:endParaRPr spc="-25" dirty="0"/>
          </a:p>
        </p:txBody>
      </p:sp>
    </p:spTree>
    <p:extLst>
      <p:ext uri="{BB962C8B-B14F-4D97-AF65-F5344CB8AC3E}">
        <p14:creationId xmlns:p14="http://schemas.microsoft.com/office/powerpoint/2010/main" val="3703693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339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8/20/26</a:t>
            </a:fld>
            <a:endParaRPr lang="en-US"/>
          </a:p>
        </p:txBody>
      </p:sp>
      <p:sp>
        <p:nvSpPr>
          <p:cNvPr id="5" name="Holder 5"/>
          <p:cNvSpPr>
            <a:spLocks noGrp="1"/>
          </p:cNvSpPr>
          <p:nvPr>
            <p:ph type="sldNum" sz="quarter" idx="7"/>
          </p:nvPr>
        </p:nvSpPr>
        <p:spPr/>
        <p:txBody>
          <a:bodyPr lIns="0" tIns="0" rIns="0" bIns="0"/>
          <a:lstStyle>
            <a:lvl1pPr>
              <a:defRPr sz="1000" b="1" i="0">
                <a:solidFill>
                  <a:srgbClr val="2B2C2D"/>
                </a:solidFill>
                <a:latin typeface="Arial"/>
                <a:cs typeface="Arial"/>
              </a:defRPr>
            </a:lvl1pPr>
          </a:lstStyle>
          <a:p>
            <a:pPr marL="12700">
              <a:lnSpc>
                <a:spcPct val="100000"/>
              </a:lnSpc>
            </a:pPr>
            <a:fld id="{81D60167-4931-47E6-BA6A-407CBD079E47}" type="slidenum">
              <a:rPr spc="-25" dirty="0"/>
              <a:t>‹#›</a:t>
            </a:fld>
            <a:endParaRPr spc="-25" dirty="0"/>
          </a:p>
        </p:txBody>
      </p:sp>
    </p:spTree>
    <p:extLst>
      <p:ext uri="{BB962C8B-B14F-4D97-AF65-F5344CB8AC3E}">
        <p14:creationId xmlns:p14="http://schemas.microsoft.com/office/powerpoint/2010/main" val="3318486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339F"/>
                </a:solidFill>
                <a:latin typeface="Arial"/>
                <a:cs typeface="Arial"/>
              </a:defRPr>
            </a:lvl1pPr>
          </a:lstStyle>
          <a:p>
            <a:endParaRPr/>
          </a:p>
        </p:txBody>
      </p:sp>
      <p:sp>
        <p:nvSpPr>
          <p:cNvPr id="3" name="Holder 3"/>
          <p:cNvSpPr>
            <a:spLocks noGrp="1"/>
          </p:cNvSpPr>
          <p:nvPr>
            <p:ph sz="half" idx="2"/>
          </p:nvPr>
        </p:nvSpPr>
        <p:spPr>
          <a:xfrm>
            <a:off x="936752" y="1286332"/>
            <a:ext cx="3002915" cy="4225925"/>
          </a:xfrm>
          <a:prstGeom prst="rect">
            <a:avLst/>
          </a:prstGeom>
        </p:spPr>
        <p:txBody>
          <a:bodyPr wrap="square" lIns="0" tIns="0" rIns="0" bIns="0">
            <a:spAutoFit/>
          </a:bodyPr>
          <a:lstStyle>
            <a:lvl1pPr>
              <a:defRPr sz="2600" b="1" i="0">
                <a:solidFill>
                  <a:srgbClr val="2B2C2D"/>
                </a:solidFill>
                <a:latin typeface="Arial"/>
                <a:cs typeface="Arial"/>
              </a:defRPr>
            </a:lvl1pPr>
          </a:lstStyle>
          <a:p>
            <a:endParaRPr/>
          </a:p>
        </p:txBody>
      </p:sp>
      <p:sp>
        <p:nvSpPr>
          <p:cNvPr id="4" name="Holder 4"/>
          <p:cNvSpPr>
            <a:spLocks noGrp="1"/>
          </p:cNvSpPr>
          <p:nvPr>
            <p:ph sz="half" idx="3"/>
          </p:nvPr>
        </p:nvSpPr>
        <p:spPr>
          <a:xfrm>
            <a:off x="4623180" y="1286332"/>
            <a:ext cx="3403600" cy="4622165"/>
          </a:xfrm>
          <a:prstGeom prst="rect">
            <a:avLst/>
          </a:prstGeom>
        </p:spPr>
        <p:txBody>
          <a:bodyPr wrap="square" lIns="0" tIns="0" rIns="0" bIns="0">
            <a:spAutoFit/>
          </a:bodyPr>
          <a:lstStyle>
            <a:lvl1pPr>
              <a:defRPr sz="2600" b="1" i="0">
                <a:solidFill>
                  <a:srgbClr val="2B2C2D"/>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8/20/26</a:t>
            </a:fld>
            <a:endParaRPr lang="en-US"/>
          </a:p>
        </p:txBody>
      </p:sp>
      <p:sp>
        <p:nvSpPr>
          <p:cNvPr id="7" name="Holder 7"/>
          <p:cNvSpPr>
            <a:spLocks noGrp="1"/>
          </p:cNvSpPr>
          <p:nvPr>
            <p:ph type="sldNum" sz="quarter" idx="7"/>
          </p:nvPr>
        </p:nvSpPr>
        <p:spPr/>
        <p:txBody>
          <a:bodyPr lIns="0" tIns="0" rIns="0" bIns="0"/>
          <a:lstStyle>
            <a:lvl1pPr>
              <a:defRPr sz="1000" b="1" i="0">
                <a:solidFill>
                  <a:srgbClr val="2B2C2D"/>
                </a:solidFill>
                <a:latin typeface="Arial"/>
                <a:cs typeface="Arial"/>
              </a:defRPr>
            </a:lvl1pPr>
          </a:lstStyle>
          <a:p>
            <a:pPr marL="12700">
              <a:lnSpc>
                <a:spcPct val="100000"/>
              </a:lnSpc>
            </a:pPr>
            <a:fld id="{81D60167-4931-47E6-BA6A-407CBD079E47}" type="slidenum">
              <a:rPr spc="-25" dirty="0"/>
              <a:t>‹#›</a:t>
            </a:fld>
            <a:endParaRPr spc="-25" dirty="0"/>
          </a:p>
        </p:txBody>
      </p:sp>
    </p:spTree>
    <p:extLst>
      <p:ext uri="{BB962C8B-B14F-4D97-AF65-F5344CB8AC3E}">
        <p14:creationId xmlns:p14="http://schemas.microsoft.com/office/powerpoint/2010/main" val="132592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273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image" Target="../media/image4.jp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9pPr>
          </a:lstStyle>
          <a:p>
            <a:endParaRPr/>
          </a:p>
        </p:txBody>
      </p:sp>
      <p:sp>
        <p:nvSpPr>
          <p:cNvPr id="7" name="Google Shape;7;p6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 name="Google Shape;8;p6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1pPr>
            <a:lvl2pPr marR="0" lvl="1"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2pPr>
            <a:lvl3pPr marR="0" lvl="2"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3pPr>
            <a:lvl4pPr marR="0" lvl="3"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4pPr>
            <a:lvl5pPr marR="0" lvl="4"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5pPr>
            <a:lvl6pPr marR="0" lvl="5"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6pPr>
            <a:lvl7pPr marR="0" lvl="6"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7pPr>
            <a:lvl8pPr marR="0" lvl="7"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8pPr>
            <a:lvl9pPr marR="0" lvl="8"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68" name="Google Shape;16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69" name="Google Shape;16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lang="en-IN" dirty="0"/>
          </a:p>
        </p:txBody>
      </p:sp>
      <p:sp>
        <p:nvSpPr>
          <p:cNvPr id="170" name="Google Shape;17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lang="en-IN" dirty="0"/>
          </a:p>
        </p:txBody>
      </p:sp>
      <p:sp>
        <p:nvSpPr>
          <p:cNvPr id="171" name="Google Shape;171;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Arial" panose="020B0604020202020204" pitchFamily="34" charset="0"/>
                <a:ea typeface="Calibri"/>
                <a:cs typeface="Arial" panose="020B0604020202020204" pitchFamily="34" charset="0"/>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grpSp>
        <p:nvGrpSpPr>
          <p:cNvPr id="2" name="Google Shape;30;p66">
            <a:extLst>
              <a:ext uri="{FF2B5EF4-FFF2-40B4-BE49-F238E27FC236}">
                <a16:creationId xmlns:a16="http://schemas.microsoft.com/office/drawing/2014/main" id="{C272A86F-AB3F-CF13-AD51-69C5A91F7C4A}"/>
              </a:ext>
            </a:extLst>
          </p:cNvPr>
          <p:cNvGrpSpPr/>
          <p:nvPr userDrawn="1"/>
        </p:nvGrpSpPr>
        <p:grpSpPr>
          <a:xfrm>
            <a:off x="-702671" y="-883443"/>
            <a:ext cx="10499751" cy="9147815"/>
            <a:chOff x="-702671" y="-883443"/>
            <a:chExt cx="10499751" cy="9147815"/>
          </a:xfrm>
        </p:grpSpPr>
        <p:pic>
          <p:nvPicPr>
            <p:cNvPr id="3" name="Google Shape;31;p66">
              <a:extLst>
                <a:ext uri="{FF2B5EF4-FFF2-40B4-BE49-F238E27FC236}">
                  <a16:creationId xmlns:a16="http://schemas.microsoft.com/office/drawing/2014/main" id="{4D75C89F-AC7D-03C9-BFC4-1635D6F8FC32}"/>
                </a:ext>
              </a:extLst>
            </p:cNvPr>
            <p:cNvPicPr preferRelativeResize="0"/>
            <p:nvPr/>
          </p:nvPicPr>
          <p:blipFill rotWithShape="1">
            <a:blip r:embed="rId14">
              <a:alphaModFix/>
            </a:blip>
            <a:srcRect/>
            <a:stretch/>
          </p:blipFill>
          <p:spPr>
            <a:xfrm rot="4121095">
              <a:off x="-211367" y="4076943"/>
              <a:ext cx="3329835" cy="3329835"/>
            </a:xfrm>
            <a:prstGeom prst="rect">
              <a:avLst/>
            </a:prstGeom>
            <a:noFill/>
            <a:ln>
              <a:noFill/>
            </a:ln>
          </p:spPr>
        </p:pic>
        <p:pic>
          <p:nvPicPr>
            <p:cNvPr id="4" name="Google Shape;32;p66">
              <a:extLst>
                <a:ext uri="{FF2B5EF4-FFF2-40B4-BE49-F238E27FC236}">
                  <a16:creationId xmlns:a16="http://schemas.microsoft.com/office/drawing/2014/main" id="{35C6A6CD-5EF3-8885-6E07-B945AAD89E46}"/>
                </a:ext>
              </a:extLst>
            </p:cNvPr>
            <p:cNvPicPr preferRelativeResize="0"/>
            <p:nvPr/>
          </p:nvPicPr>
          <p:blipFill rotWithShape="1">
            <a:blip r:embed="rId14">
              <a:alphaModFix/>
            </a:blip>
            <a:srcRect/>
            <a:stretch/>
          </p:blipFill>
          <p:spPr>
            <a:xfrm>
              <a:off x="5883072" y="4248324"/>
              <a:ext cx="3329835" cy="3329835"/>
            </a:xfrm>
            <a:prstGeom prst="rect">
              <a:avLst/>
            </a:prstGeom>
            <a:noFill/>
            <a:ln>
              <a:noFill/>
            </a:ln>
          </p:spPr>
        </p:pic>
        <p:pic>
          <p:nvPicPr>
            <p:cNvPr id="5" name="Google Shape;33;p66">
              <a:extLst>
                <a:ext uri="{FF2B5EF4-FFF2-40B4-BE49-F238E27FC236}">
                  <a16:creationId xmlns:a16="http://schemas.microsoft.com/office/drawing/2014/main" id="{FDD194A4-CEEB-47CE-8F8D-5D02AB825A47}"/>
                </a:ext>
              </a:extLst>
            </p:cNvPr>
            <p:cNvPicPr preferRelativeResize="0"/>
            <p:nvPr/>
          </p:nvPicPr>
          <p:blipFill rotWithShape="1">
            <a:blip r:embed="rId14">
              <a:alphaModFix/>
            </a:blip>
            <a:srcRect/>
            <a:stretch/>
          </p:blipFill>
          <p:spPr>
            <a:xfrm>
              <a:off x="0" y="-654317"/>
              <a:ext cx="3329835" cy="3329835"/>
            </a:xfrm>
            <a:prstGeom prst="rect">
              <a:avLst/>
            </a:prstGeom>
            <a:noFill/>
            <a:ln>
              <a:noFill/>
            </a:ln>
          </p:spPr>
        </p:pic>
        <p:pic>
          <p:nvPicPr>
            <p:cNvPr id="6" name="Google Shape;34;p66">
              <a:extLst>
                <a:ext uri="{FF2B5EF4-FFF2-40B4-BE49-F238E27FC236}">
                  <a16:creationId xmlns:a16="http://schemas.microsoft.com/office/drawing/2014/main" id="{C4216528-52C1-FCB9-C762-CAA58C3655B1}"/>
                </a:ext>
              </a:extLst>
            </p:cNvPr>
            <p:cNvPicPr preferRelativeResize="0"/>
            <p:nvPr/>
          </p:nvPicPr>
          <p:blipFill rotWithShape="1">
            <a:blip r:embed="rId14">
              <a:alphaModFix/>
            </a:blip>
            <a:srcRect/>
            <a:stretch/>
          </p:blipFill>
          <p:spPr>
            <a:xfrm rot="4121095">
              <a:off x="5975941" y="-392139"/>
              <a:ext cx="3329835" cy="3329835"/>
            </a:xfrm>
            <a:prstGeom prst="rect">
              <a:avLst/>
            </a:prstGeom>
            <a:noFill/>
            <a:ln>
              <a:noFill/>
            </a:ln>
          </p:spPr>
        </p:pic>
        <p:grpSp>
          <p:nvGrpSpPr>
            <p:cNvPr id="7" name="Google Shape;35;p66">
              <a:extLst>
                <a:ext uri="{FF2B5EF4-FFF2-40B4-BE49-F238E27FC236}">
                  <a16:creationId xmlns:a16="http://schemas.microsoft.com/office/drawing/2014/main" id="{21048123-965C-5C5A-FC83-F1FA81DAED56}"/>
                </a:ext>
              </a:extLst>
            </p:cNvPr>
            <p:cNvGrpSpPr/>
            <p:nvPr/>
          </p:nvGrpSpPr>
          <p:grpSpPr>
            <a:xfrm>
              <a:off x="-1" y="0"/>
              <a:ext cx="9144003" cy="6857673"/>
              <a:chOff x="-1" y="0"/>
              <a:chExt cx="9144003" cy="6857673"/>
            </a:xfrm>
          </p:grpSpPr>
          <p:grpSp>
            <p:nvGrpSpPr>
              <p:cNvPr id="10" name="Google Shape;36;p66">
                <a:extLst>
                  <a:ext uri="{FF2B5EF4-FFF2-40B4-BE49-F238E27FC236}">
                    <a16:creationId xmlns:a16="http://schemas.microsoft.com/office/drawing/2014/main" id="{F02B227F-F63B-01A3-C34D-75A935136E3D}"/>
                  </a:ext>
                </a:extLst>
              </p:cNvPr>
              <p:cNvGrpSpPr/>
              <p:nvPr/>
            </p:nvGrpSpPr>
            <p:grpSpPr>
              <a:xfrm>
                <a:off x="-1" y="1295400"/>
                <a:ext cx="7010403" cy="46039"/>
                <a:chOff x="-1" y="0"/>
                <a:chExt cx="7010402" cy="46038"/>
              </a:xfrm>
            </p:grpSpPr>
            <p:sp>
              <p:nvSpPr>
                <p:cNvPr id="17" name="Google Shape;37;p66">
                  <a:extLst>
                    <a:ext uri="{FF2B5EF4-FFF2-40B4-BE49-F238E27FC236}">
                      <a16:creationId xmlns:a16="http://schemas.microsoft.com/office/drawing/2014/main" id="{7820394A-94C6-27F9-8C56-CFAADB2D19DA}"/>
                    </a:ext>
                  </a:extLst>
                </p:cNvPr>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8" name="Google Shape;38;p66">
                  <a:extLst>
                    <a:ext uri="{FF2B5EF4-FFF2-40B4-BE49-F238E27FC236}">
                      <a16:creationId xmlns:a16="http://schemas.microsoft.com/office/drawing/2014/main" id="{FE23CE7F-0144-3B05-50FE-EF4493A91458}"/>
                    </a:ext>
                  </a:extLst>
                </p:cNvPr>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9" name="Google Shape;39;p66">
                  <a:extLst>
                    <a:ext uri="{FF2B5EF4-FFF2-40B4-BE49-F238E27FC236}">
                      <a16:creationId xmlns:a16="http://schemas.microsoft.com/office/drawing/2014/main" id="{E9201A15-1D94-DA46-FFE5-C1ADD3CB9C29}"/>
                    </a:ext>
                  </a:extLst>
                </p:cNvPr>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grpSp>
            <p:nvGrpSpPr>
              <p:cNvPr id="11" name="Google Shape;40;p66">
                <a:extLst>
                  <a:ext uri="{FF2B5EF4-FFF2-40B4-BE49-F238E27FC236}">
                    <a16:creationId xmlns:a16="http://schemas.microsoft.com/office/drawing/2014/main" id="{98E599C5-B4C2-97AF-0EA2-BB566AD54181}"/>
                  </a:ext>
                </a:extLst>
              </p:cNvPr>
              <p:cNvGrpSpPr/>
              <p:nvPr/>
            </p:nvGrpSpPr>
            <p:grpSpPr>
              <a:xfrm>
                <a:off x="2133599" y="6553200"/>
                <a:ext cx="7010403" cy="46039"/>
                <a:chOff x="-1" y="0"/>
                <a:chExt cx="7010402" cy="46038"/>
              </a:xfrm>
            </p:grpSpPr>
            <p:sp>
              <p:nvSpPr>
                <p:cNvPr id="14" name="Google Shape;41;p66">
                  <a:extLst>
                    <a:ext uri="{FF2B5EF4-FFF2-40B4-BE49-F238E27FC236}">
                      <a16:creationId xmlns:a16="http://schemas.microsoft.com/office/drawing/2014/main" id="{C304E42A-79EC-A478-B3F7-17B4E1BE9F85}"/>
                    </a:ext>
                  </a:extLst>
                </p:cNvPr>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5" name="Google Shape;42;p66">
                  <a:extLst>
                    <a:ext uri="{FF2B5EF4-FFF2-40B4-BE49-F238E27FC236}">
                      <a16:creationId xmlns:a16="http://schemas.microsoft.com/office/drawing/2014/main" id="{9BCDA98B-D26E-0256-72E5-3E9C72AF4744}"/>
                    </a:ext>
                  </a:extLst>
                </p:cNvPr>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6" name="Google Shape;43;p66">
                  <a:extLst>
                    <a:ext uri="{FF2B5EF4-FFF2-40B4-BE49-F238E27FC236}">
                      <a16:creationId xmlns:a16="http://schemas.microsoft.com/office/drawing/2014/main" id="{E225FA12-8292-76A8-98B9-C291EAC50E9E}"/>
                    </a:ext>
                  </a:extLst>
                </p:cNvPr>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grpSp>
          <p:pic>
            <p:nvPicPr>
              <p:cNvPr id="12" name="Google Shape;44;p66" descr="Picture 14">
                <a:extLst>
                  <a:ext uri="{FF2B5EF4-FFF2-40B4-BE49-F238E27FC236}">
                    <a16:creationId xmlns:a16="http://schemas.microsoft.com/office/drawing/2014/main" id="{BD545235-C2DB-A4F6-2E15-F610109BC5B9}"/>
                  </a:ext>
                </a:extLst>
              </p:cNvPr>
              <p:cNvPicPr preferRelativeResize="0"/>
              <p:nvPr/>
            </p:nvPicPr>
            <p:blipFill rotWithShape="1">
              <a:blip r:embed="rId15">
                <a:alphaModFix/>
              </a:blip>
              <a:srcRect t="2677" b="2676"/>
              <a:stretch/>
            </p:blipFill>
            <p:spPr>
              <a:xfrm>
                <a:off x="6629400" y="0"/>
                <a:ext cx="2193925" cy="692150"/>
              </a:xfrm>
              <a:prstGeom prst="rect">
                <a:avLst/>
              </a:prstGeom>
              <a:noFill/>
              <a:ln>
                <a:noFill/>
              </a:ln>
            </p:spPr>
          </p:pic>
          <p:sp>
            <p:nvSpPr>
              <p:cNvPr id="13" name="Google Shape;45;p66">
                <a:extLst>
                  <a:ext uri="{FF2B5EF4-FFF2-40B4-BE49-F238E27FC236}">
                    <a16:creationId xmlns:a16="http://schemas.microsoft.com/office/drawing/2014/main" id="{7CA37998-2A8A-B33C-33C3-F806C64E6C23}"/>
                  </a:ext>
                </a:extLst>
              </p:cNvPr>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8" name="Google Shape;46;p66">
              <a:extLst>
                <a:ext uri="{FF2B5EF4-FFF2-40B4-BE49-F238E27FC236}">
                  <a16:creationId xmlns:a16="http://schemas.microsoft.com/office/drawing/2014/main" id="{8107F8A2-7DCE-E8EC-86BA-7545F0A5AA92}"/>
                </a:ext>
              </a:extLst>
            </p:cNvPr>
            <p:cNvPicPr preferRelativeResize="0"/>
            <p:nvPr/>
          </p:nvPicPr>
          <p:blipFill rotWithShape="1">
            <a:blip r:embed="rId16">
              <a:alphaModFix/>
            </a:blip>
            <a:srcRect/>
            <a:stretch/>
          </p:blipFill>
          <p:spPr>
            <a:xfrm>
              <a:off x="3866657" y="2807158"/>
              <a:ext cx="1410686" cy="1410686"/>
            </a:xfrm>
            <a:prstGeom prst="rect">
              <a:avLst/>
            </a:prstGeom>
            <a:noFill/>
            <a:ln>
              <a:noFill/>
            </a:ln>
          </p:spPr>
        </p:pic>
        <p:pic>
          <p:nvPicPr>
            <p:cNvPr id="9" name="Google Shape;47;p66">
              <a:extLst>
                <a:ext uri="{FF2B5EF4-FFF2-40B4-BE49-F238E27FC236}">
                  <a16:creationId xmlns:a16="http://schemas.microsoft.com/office/drawing/2014/main" id="{804A2F1A-891C-77DD-F125-E3D389605AED}"/>
                </a:ext>
              </a:extLst>
            </p:cNvPr>
            <p:cNvPicPr preferRelativeResize="0"/>
            <p:nvPr/>
          </p:nvPicPr>
          <p:blipFill rotWithShape="1">
            <a:blip r:embed="rId14">
              <a:alphaModFix/>
            </a:blip>
            <a:srcRect/>
            <a:stretch/>
          </p:blipFill>
          <p:spPr>
            <a:xfrm rot="1789776">
              <a:off x="1980952" y="2061094"/>
              <a:ext cx="5246055" cy="524605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59" r:id="rId1"/>
    <p:sldLayoutId id="2147483665" r:id="rId2"/>
    <p:sldLayoutId id="2147483666" r:id="rId3"/>
    <p:sldLayoutId id="2147483667" r:id="rId4"/>
    <p:sldLayoutId id="2147483668" r:id="rId5"/>
    <p:sldLayoutId id="2147483669" r:id="rId6"/>
    <p:sldLayoutId id="2147483670" r:id="rId7"/>
    <p:sldLayoutId id="2147483672" r:id="rId8"/>
    <p:sldLayoutId id="2147483673" r:id="rId9"/>
    <p:sldLayoutId id="2147483674" r:id="rId10"/>
    <p:sldLayoutId id="2147483675" r:id="rId11"/>
    <p:sldLayoutId id="214748367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
          <p:cNvSpPr txBox="1">
            <a:spLocks noGrp="1"/>
          </p:cNvSpPr>
          <p:nvPr>
            <p:ph type="title"/>
          </p:nvPr>
        </p:nvSpPr>
        <p:spPr>
          <a:xfrm>
            <a:off x="1944210" y="3810000"/>
            <a:ext cx="6590190" cy="1524000"/>
          </a:xfrm>
          <a:prstGeom prst="rect">
            <a:avLst/>
          </a:prstGeom>
          <a:noFill/>
          <a:ln>
            <a:noFill/>
          </a:ln>
        </p:spPr>
        <p:txBody>
          <a:bodyPr spcFirstLastPara="1" wrap="square" lIns="91425" tIns="45700" rIns="91425" bIns="45700" anchor="ctr" anchorCtr="0">
            <a:normAutofit/>
          </a:bodyPr>
          <a:lstStyle/>
          <a:p>
            <a:pPr lvl="0" algn="r">
              <a:lnSpc>
                <a:spcPct val="90909"/>
              </a:lnSpc>
              <a:buSzPts val="4400"/>
            </a:pPr>
            <a:r>
              <a:rPr lang="en-IN" sz="2800" dirty="0" err="1"/>
              <a:t>Blockchain</a:t>
            </a:r>
            <a:r>
              <a:rPr lang="en-IN" sz="2800" dirty="0"/>
              <a:t> Technologies &amp; Systems</a:t>
            </a:r>
            <a:endParaRPr sz="2800" i="0" u="none" strike="noStrike" cap="none" dirty="0">
              <a:solidFill>
                <a:srgbClr val="FFFFFF"/>
              </a:solidFil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
          <p:cNvSpPr txBox="1">
            <a:spLocks noGrp="1"/>
          </p:cNvSpPr>
          <p:nvPr>
            <p:ph type="body" idx="1"/>
          </p:nvPr>
        </p:nvSpPr>
        <p:spPr>
          <a:xfrm>
            <a:off x="342900" y="4977984"/>
            <a:ext cx="8458200" cy="1167984"/>
          </a:xfrm>
          <a:prstGeom prst="rect">
            <a:avLst/>
          </a:prstGeom>
          <a:noFill/>
          <a:ln>
            <a:noFill/>
          </a:ln>
        </p:spPr>
        <p:txBody>
          <a:bodyPr spcFirstLastPara="1" wrap="square" lIns="45700" tIns="45700" rIns="45700" bIns="45700" anchor="t" anchorCtr="0">
            <a:normAutofit fontScale="62500" lnSpcReduction="20000"/>
          </a:bodyPr>
          <a:lstStyle/>
          <a:p>
            <a:pPr marL="0" lvl="0" indent="0" algn="ctr"/>
            <a:r>
              <a:rPr lang="en-US" dirty="0"/>
              <a:t>Blockchain Technologies &amp; Systems</a:t>
            </a:r>
            <a:br>
              <a:rPr lang="en-US" dirty="0"/>
            </a:br>
            <a:endParaRPr dirty="0"/>
          </a:p>
          <a:p>
            <a:pPr marL="0" lvl="0" indent="0" algn="ctr" rtl="0">
              <a:lnSpc>
                <a:spcPct val="104999"/>
              </a:lnSpc>
              <a:spcBef>
                <a:spcPts val="0"/>
              </a:spcBef>
              <a:spcAft>
                <a:spcPts val="0"/>
              </a:spcAft>
              <a:buClr>
                <a:srgbClr val="000000"/>
              </a:buClr>
              <a:buSzPts val="4000"/>
              <a:buNone/>
            </a:pPr>
            <a:r>
              <a:rPr lang="en-US" dirty="0"/>
              <a:t>Lecture No. 04</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5" name="Text Placeholder 4">
            <a:extLst>
              <a:ext uri="{FF2B5EF4-FFF2-40B4-BE49-F238E27FC236}">
                <a16:creationId xmlns:a16="http://schemas.microsoft.com/office/drawing/2014/main" id="{E4D779A2-6506-C387-CB5C-A33EACAE9DD9}"/>
              </a:ext>
            </a:extLst>
          </p:cNvPr>
          <p:cNvSpPr>
            <a:spLocks noGrp="1"/>
          </p:cNvSpPr>
          <p:nvPr>
            <p:ph type="body" idx="1"/>
          </p:nvPr>
        </p:nvSpPr>
        <p:spPr/>
        <p:txBody>
          <a:bodyPr/>
          <a:lstStyle/>
          <a:p>
            <a:pPr marL="514350" indent="-285750">
              <a:buFont typeface="Arial" panose="020B0604020202020204" pitchFamily="34" charset="0"/>
              <a:buChar char="•"/>
            </a:pPr>
            <a:r>
              <a:rPr lang="en-US" sz="2800" dirty="0"/>
              <a:t>Blockchain Design consequences, properties</a:t>
            </a:r>
          </a:p>
          <a:p>
            <a:pPr marL="514350" indent="-285750">
              <a:buFont typeface="Arial" panose="020B0604020202020204" pitchFamily="34" charset="0"/>
              <a:buChar char="•"/>
            </a:pPr>
            <a:r>
              <a:rPr lang="en-US" sz="2800" dirty="0"/>
              <a:t>Security &amp; Privacy in Blockchain System Page</a:t>
            </a:r>
          </a:p>
          <a:p>
            <a:pPr marL="514350" indent="-285750">
              <a:buFont typeface="Arial" panose="020B0604020202020204" pitchFamily="34" charset="0"/>
              <a:buChar char="•"/>
            </a:pPr>
            <a:r>
              <a:rPr lang="en-US" sz="2800" dirty="0"/>
              <a:t>Performance aspect of blockchain</a:t>
            </a:r>
          </a:p>
          <a:p>
            <a:pPr marL="514350" indent="-285750">
              <a:buFont typeface="Arial" panose="020B0604020202020204" pitchFamily="34" charset="0"/>
              <a:buChar char="•"/>
            </a:pPr>
            <a:r>
              <a:rPr lang="en-US" sz="2800" dirty="0"/>
              <a:t>Blockchain as an Architectural Element</a:t>
            </a:r>
          </a:p>
          <a:p>
            <a:pPr marL="514350" indent="-285750">
              <a:buFont typeface="Arial" panose="020B0604020202020204" pitchFamily="34" charset="0"/>
              <a:buChar char="•"/>
            </a:pPr>
            <a:r>
              <a:rPr lang="en-US" sz="2800" dirty="0"/>
              <a:t>Blockchain as Storage Element</a:t>
            </a:r>
          </a:p>
          <a:p>
            <a:pPr marL="514350" indent="-285750">
              <a:buFont typeface="Arial" panose="020B0604020202020204" pitchFamily="34" charset="0"/>
              <a:buChar char="•"/>
            </a:pPr>
            <a:r>
              <a:rPr lang="en-US" sz="2800" dirty="0"/>
              <a:t>Creating Smart contracts and assessing the security aspect</a:t>
            </a:r>
          </a:p>
          <a:p>
            <a:pPr marL="514350" indent="-285750">
              <a:buFont typeface="Arial" panose="020B0604020202020204" pitchFamily="34" charset="0"/>
              <a:buChar char="•"/>
            </a:pPr>
            <a:endParaRPr lang="en-US" dirty="0"/>
          </a:p>
        </p:txBody>
      </p:sp>
      <p:sp>
        <p:nvSpPr>
          <p:cNvPr id="306" name="Google Shape;306;p5"/>
          <p:cNvSpPr txBox="1">
            <a:spLocks noGrp="1"/>
          </p:cNvSpPr>
          <p:nvPr>
            <p:ph type="sldNum" idx="4294967295"/>
          </p:nvPr>
        </p:nvSpPr>
        <p:spPr>
          <a:xfrm>
            <a:off x="70104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dirty="0"/>
          </a:p>
        </p:txBody>
      </p:sp>
      <p:sp>
        <p:nvSpPr>
          <p:cNvPr id="307" name="Google Shape;307;p5"/>
          <p:cNvSpPr txBox="1"/>
          <p:nvPr/>
        </p:nvSpPr>
        <p:spPr>
          <a:xfrm>
            <a:off x="220575" y="536204"/>
            <a:ext cx="6120680" cy="850106"/>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tx1"/>
                </a:solidFill>
                <a:latin typeface="+mj-lt"/>
                <a:ea typeface="Times New Roman"/>
                <a:cs typeface="Times New Roman"/>
                <a:sym typeface="Times New Roman"/>
              </a:rPr>
              <a:t>Contents</a:t>
            </a:r>
            <a:endParaRPr sz="1400" b="0" i="0" u="none" strike="noStrike" cap="none" dirty="0">
              <a:solidFill>
                <a:schemeClr val="tx1"/>
              </a:solidFill>
              <a:latin typeface="+mj-lt"/>
              <a:sym typeface="Arial"/>
            </a:endParaRPr>
          </a:p>
        </p:txBody>
      </p:sp>
      <p:sp>
        <p:nvSpPr>
          <p:cNvPr id="308" name="Google Shape;308;p5"/>
          <p:cNvSpPr txBox="1"/>
          <p:nvPr/>
        </p:nvSpPr>
        <p:spPr>
          <a:xfrm>
            <a:off x="398107" y="6195823"/>
            <a:ext cx="611560" cy="2931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Calibri"/>
              <a:buNone/>
            </a:pPr>
            <a:fld id="{00000000-1234-1234-1234-123412341234}" type="slidenum">
              <a:rPr lang="en-US" sz="1400" b="0" i="0" u="none" strike="noStrike" cap="none">
                <a:solidFill>
                  <a:schemeClr val="dk1"/>
                </a:solidFill>
                <a:latin typeface="Arial" panose="020B0604020202020204" pitchFamily="34" charset="0"/>
                <a:ea typeface="Calibri"/>
                <a:cs typeface="Arial" panose="020B0604020202020204" pitchFamily="34" charset="0"/>
                <a:sym typeface="Calibri"/>
              </a:rPr>
              <a:t>3</a:t>
            </a:fld>
            <a:endParaRPr sz="1400" b="0"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5834108" y="629466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4</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3" name="Rectangle 2"/>
          <p:cNvSpPr/>
          <p:nvPr/>
        </p:nvSpPr>
        <p:spPr>
          <a:xfrm>
            <a:off x="0" y="822679"/>
            <a:ext cx="7415813" cy="523220"/>
          </a:xfrm>
          <a:prstGeom prst="rect">
            <a:avLst/>
          </a:prstGeom>
        </p:spPr>
        <p:txBody>
          <a:bodyPr wrap="none">
            <a:spAutoFit/>
          </a:bodyPr>
          <a:lstStyle/>
          <a:p>
            <a:r>
              <a:rPr lang="en-US" sz="2800" b="1" dirty="0" err="1"/>
              <a:t>Blockchain</a:t>
            </a:r>
            <a:r>
              <a:rPr lang="en-US" sz="2800" b="1" dirty="0"/>
              <a:t> Design Paradigm and Patterns</a:t>
            </a:r>
            <a:endParaRPr lang="en-IN" sz="2800" b="1" dirty="0"/>
          </a:p>
        </p:txBody>
      </p:sp>
      <p:sp>
        <p:nvSpPr>
          <p:cNvPr id="7" name="Google Shape;54;gd8bdb46773_0_19"/>
          <p:cNvSpPr txBox="1">
            <a:spLocks noGrp="1"/>
          </p:cNvSpPr>
          <p:nvPr>
            <p:ph type="body" idx="4294967295"/>
          </p:nvPr>
        </p:nvSpPr>
        <p:spPr>
          <a:xfrm>
            <a:off x="89550" y="1534990"/>
            <a:ext cx="11196900" cy="395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1C1573"/>
              </a:buClr>
              <a:buSzPts val="1500"/>
              <a:buNone/>
            </a:pPr>
            <a:r>
              <a:rPr lang="en-US" sz="1800" b="1" dirty="0"/>
              <a:t>Blockchain design consequences</a:t>
            </a:r>
            <a:endParaRPr sz="1800" b="1" dirty="0"/>
          </a:p>
        </p:txBody>
      </p:sp>
      <p:sp>
        <p:nvSpPr>
          <p:cNvPr id="8" name="Google Shape;55;gd8bdb46773_0_19"/>
          <p:cNvSpPr txBox="1"/>
          <p:nvPr/>
        </p:nvSpPr>
        <p:spPr>
          <a:xfrm>
            <a:off x="-129825" y="1930390"/>
            <a:ext cx="10160100" cy="395400"/>
          </a:xfrm>
          <a:prstGeom prst="rect">
            <a:avLst/>
          </a:prstGeom>
          <a:noFill/>
          <a:ln>
            <a:noFill/>
          </a:ln>
        </p:spPr>
        <p:txBody>
          <a:bodyPr spcFirstLastPara="1" wrap="square" lIns="91425" tIns="45700" rIns="91425" bIns="45700" anchor="t" anchorCtr="0">
            <a:noAutofit/>
          </a:bodyPr>
          <a:lstStyle/>
          <a:p>
            <a:pPr marL="466849" marR="0" lvl="0" indent="-285750" algn="l" rtl="0">
              <a:lnSpc>
                <a:spcPct val="200000"/>
              </a:lnSpc>
              <a:spcBef>
                <a:spcPts val="0"/>
              </a:spcBef>
              <a:spcAft>
                <a:spcPts val="0"/>
              </a:spcAft>
              <a:buClr>
                <a:srgbClr val="000000"/>
              </a:buClr>
              <a:buSzPts val="1400"/>
              <a:buFont typeface="Arial" panose="020B0604020202020204" pitchFamily="34" charset="0"/>
              <a:buChar char="•"/>
            </a:pPr>
            <a:r>
              <a:rPr lang="en-US" sz="1800" dirty="0">
                <a:latin typeface="Helvetica" panose="020B0604020202020204" pitchFamily="34" charset="0"/>
                <a:ea typeface="Helvetica Neue"/>
                <a:cs typeface="Helvetica" panose="020B0604020202020204" pitchFamily="34" charset="0"/>
                <a:sym typeface="Helvetica Neue"/>
              </a:rPr>
              <a:t>The </a:t>
            </a:r>
            <a:r>
              <a:rPr lang="en-US" sz="1800" b="1" i="1" dirty="0">
                <a:latin typeface="Helvetica" panose="020B0604020202020204" pitchFamily="34" charset="0"/>
                <a:ea typeface="Helvetica Neue"/>
                <a:cs typeface="Helvetica" panose="020B0604020202020204" pitchFamily="34" charset="0"/>
                <a:sym typeface="Helvetica Neue"/>
              </a:rPr>
              <a:t>Zero state challenge </a:t>
            </a:r>
            <a:r>
              <a:rPr lang="en-US" sz="1800" dirty="0">
                <a:latin typeface="Helvetica" panose="020B0604020202020204" pitchFamily="34" charset="0"/>
                <a:ea typeface="Helvetica Neue"/>
                <a:cs typeface="Helvetica" panose="020B0604020202020204" pitchFamily="34" charset="0"/>
                <a:sym typeface="Helvetica Neue"/>
              </a:rPr>
              <a:t>- What you feed is what gets fed !</a:t>
            </a:r>
            <a:endParaRPr sz="1800" dirty="0">
              <a:latin typeface="Helvetica" panose="020B0604020202020204" pitchFamily="34" charset="0"/>
              <a:ea typeface="Helvetica Neue"/>
              <a:cs typeface="Helvetica" panose="020B0604020202020204" pitchFamily="34" charset="0"/>
              <a:sym typeface="Helvetica Neue"/>
            </a:endParaRPr>
          </a:p>
        </p:txBody>
      </p:sp>
      <p:sp>
        <p:nvSpPr>
          <p:cNvPr id="9" name="Google Shape;56;gd8bdb46773_0_19"/>
          <p:cNvSpPr txBox="1"/>
          <p:nvPr/>
        </p:nvSpPr>
        <p:spPr>
          <a:xfrm>
            <a:off x="-111139" y="2350137"/>
            <a:ext cx="8568000" cy="738633"/>
          </a:xfrm>
          <a:prstGeom prst="rect">
            <a:avLst/>
          </a:prstGeom>
          <a:noFill/>
          <a:ln>
            <a:noFill/>
          </a:ln>
        </p:spPr>
        <p:txBody>
          <a:bodyPr spcFirstLastPara="1" wrap="square" lIns="91425" tIns="91425" rIns="91425" bIns="91425" anchor="t" anchorCtr="0">
            <a:spAutoFit/>
          </a:bodyPr>
          <a:lstStyle/>
          <a:p>
            <a:pPr marL="441449" lvl="0" indent="-285750" algn="l" rtl="0">
              <a:lnSpc>
                <a:spcPct val="200000"/>
              </a:lnSpc>
              <a:spcBef>
                <a:spcPts val="0"/>
              </a:spcBef>
              <a:spcAft>
                <a:spcPts val="0"/>
              </a:spcAft>
              <a:buClr>
                <a:schemeClr val="dk1"/>
              </a:buClr>
              <a:buSzPts val="1800"/>
              <a:buFont typeface="Arial" panose="020B0604020202020204" pitchFamily="34" charset="0"/>
              <a:buChar char="•"/>
            </a:pPr>
            <a:r>
              <a:rPr lang="en-US" sz="1800" b="1" i="1" dirty="0">
                <a:solidFill>
                  <a:schemeClr val="dk1"/>
                </a:solidFill>
                <a:latin typeface="Helvetica" panose="020B0604020202020204" pitchFamily="34" charset="0"/>
                <a:ea typeface="Helvetica Neue"/>
                <a:cs typeface="Helvetica" panose="020B0604020202020204" pitchFamily="34" charset="0"/>
                <a:sym typeface="Helvetica Neue"/>
              </a:rPr>
              <a:t>Reliance on private keys </a:t>
            </a:r>
            <a:r>
              <a:rPr lang="en-US" sz="1800" dirty="0">
                <a:solidFill>
                  <a:schemeClr val="dk1"/>
                </a:solidFill>
                <a:latin typeface="Helvetica" panose="020B0604020202020204" pitchFamily="34" charset="0"/>
                <a:ea typeface="Helvetica Neue"/>
                <a:cs typeface="Helvetica" panose="020B0604020202020204" pitchFamily="34" charset="0"/>
                <a:sym typeface="Helvetica Neue"/>
              </a:rPr>
              <a:t>- Everything lost if private lost?</a:t>
            </a:r>
            <a:endParaRPr sz="1800" dirty="0">
              <a:latin typeface="Helvetica" panose="020B0604020202020204" pitchFamily="34" charset="0"/>
              <a:ea typeface="Calibri"/>
              <a:cs typeface="Helvetica" panose="020B0604020202020204" pitchFamily="34" charset="0"/>
              <a:sym typeface="Calibri"/>
            </a:endParaRPr>
          </a:p>
        </p:txBody>
      </p:sp>
      <p:sp>
        <p:nvSpPr>
          <p:cNvPr id="10" name="Google Shape;57;gd8bdb46773_0_19"/>
          <p:cNvSpPr txBox="1"/>
          <p:nvPr/>
        </p:nvSpPr>
        <p:spPr>
          <a:xfrm>
            <a:off x="-129825" y="2874392"/>
            <a:ext cx="8927596" cy="1015632"/>
          </a:xfrm>
          <a:prstGeom prst="rect">
            <a:avLst/>
          </a:prstGeom>
          <a:noFill/>
          <a:ln>
            <a:noFill/>
          </a:ln>
        </p:spPr>
        <p:txBody>
          <a:bodyPr spcFirstLastPara="1" wrap="square" lIns="91425" tIns="91425" rIns="91425" bIns="91425" anchor="t" anchorCtr="0">
            <a:spAutoFit/>
          </a:bodyPr>
          <a:lstStyle/>
          <a:p>
            <a:pPr marL="466849" lvl="0" indent="-285750">
              <a:lnSpc>
                <a:spcPct val="150000"/>
              </a:lnSpc>
              <a:buClr>
                <a:schemeClr val="dk1"/>
              </a:buClr>
              <a:buSzPts val="1400"/>
              <a:buFont typeface="Arial" panose="020B0604020202020204" pitchFamily="34" charset="0"/>
              <a:buChar char="•"/>
            </a:pPr>
            <a:r>
              <a:rPr lang="en-US" sz="1800" dirty="0"/>
              <a:t>Blockchain security depends on strong encryption and secure key management; </a:t>
            </a:r>
            <a:r>
              <a:rPr lang="en-US" sz="1800" b="1" dirty="0">
                <a:solidFill>
                  <a:srgbClr val="FF0000"/>
                </a:solidFill>
              </a:rPr>
              <a:t>if encryption fails, blockchain fails</a:t>
            </a:r>
            <a:r>
              <a:rPr lang="en-US" sz="1800" dirty="0"/>
              <a:t>.</a:t>
            </a:r>
            <a:endParaRPr sz="1800" dirty="0">
              <a:latin typeface="Helvetica" panose="020B0604020202020204" pitchFamily="34" charset="0"/>
              <a:ea typeface="Calibri"/>
              <a:cs typeface="Helvetica" panose="020B0604020202020204" pitchFamily="34" charset="0"/>
              <a:sym typeface="Calibri"/>
            </a:endParaRPr>
          </a:p>
        </p:txBody>
      </p:sp>
      <p:sp>
        <p:nvSpPr>
          <p:cNvPr id="11" name="Google Shape;58;gd8bdb46773_0_19"/>
          <p:cNvSpPr txBox="1"/>
          <p:nvPr/>
        </p:nvSpPr>
        <p:spPr>
          <a:xfrm>
            <a:off x="-111139" y="3601303"/>
            <a:ext cx="8908910" cy="1015632"/>
          </a:xfrm>
          <a:prstGeom prst="rect">
            <a:avLst/>
          </a:prstGeom>
          <a:noFill/>
          <a:ln>
            <a:noFill/>
          </a:ln>
        </p:spPr>
        <p:txBody>
          <a:bodyPr spcFirstLastPara="1" wrap="square" lIns="91425" tIns="91425" rIns="91425" bIns="91425" anchor="t" anchorCtr="0">
            <a:spAutoFit/>
          </a:bodyPr>
          <a:lstStyle/>
          <a:p>
            <a:pPr marL="441449" lvl="0" indent="-285750">
              <a:lnSpc>
                <a:spcPct val="150000"/>
              </a:lnSpc>
              <a:buClr>
                <a:schemeClr val="dk1"/>
              </a:buClr>
              <a:buSzPts val="1800"/>
              <a:buFont typeface="Arial" panose="020B0604020202020204" pitchFamily="34" charset="0"/>
              <a:buChar char="•"/>
            </a:pPr>
            <a:r>
              <a:rPr lang="en-US" sz="1800" b="1" i="1" dirty="0"/>
              <a:t>Identity, ownership, and lawfulness</a:t>
            </a:r>
            <a:r>
              <a:rPr lang="en-US" sz="1800" dirty="0"/>
              <a:t>: Balancing user anonymity with legal and regulatory compliance is a key blockchain design trade-off.</a:t>
            </a:r>
            <a:endParaRPr sz="1800" dirty="0">
              <a:latin typeface="Helvetica" panose="020B0604020202020204" pitchFamily="34" charset="0"/>
              <a:ea typeface="Calibri"/>
              <a:cs typeface="Helvetica" panose="020B0604020202020204" pitchFamily="34" charset="0"/>
              <a:sym typeface="Calibri"/>
            </a:endParaRPr>
          </a:p>
        </p:txBody>
      </p:sp>
      <p:sp>
        <p:nvSpPr>
          <p:cNvPr id="12" name="Google Shape;59;gd8bdb46773_0_19"/>
          <p:cNvSpPr txBox="1"/>
          <p:nvPr/>
        </p:nvSpPr>
        <p:spPr>
          <a:xfrm>
            <a:off x="-111139" y="4347683"/>
            <a:ext cx="9095341" cy="1015632"/>
          </a:xfrm>
          <a:prstGeom prst="rect">
            <a:avLst/>
          </a:prstGeom>
          <a:noFill/>
          <a:ln>
            <a:noFill/>
          </a:ln>
        </p:spPr>
        <p:txBody>
          <a:bodyPr spcFirstLastPara="1" wrap="square" lIns="91425" tIns="91425" rIns="91425" bIns="91425" anchor="t" anchorCtr="0">
            <a:spAutoFit/>
          </a:bodyPr>
          <a:lstStyle/>
          <a:p>
            <a:pPr marL="441449" lvl="0" indent="-285750" algn="l" rtl="0">
              <a:lnSpc>
                <a:spcPct val="150000"/>
              </a:lnSpc>
              <a:spcBef>
                <a:spcPts val="0"/>
              </a:spcBef>
              <a:spcAft>
                <a:spcPts val="0"/>
              </a:spcAft>
              <a:buClr>
                <a:schemeClr val="dk1"/>
              </a:buClr>
              <a:buSzPts val="1800"/>
              <a:buFont typeface="Arial" panose="020B0604020202020204" pitchFamily="34" charset="0"/>
              <a:buChar char="•"/>
            </a:pPr>
            <a:r>
              <a:rPr lang="en-US" sz="1800" b="1" i="1" dirty="0">
                <a:solidFill>
                  <a:schemeClr val="dk1"/>
                </a:solidFill>
                <a:latin typeface="Helvetica" panose="020B0604020202020204" pitchFamily="34" charset="0"/>
                <a:ea typeface="Helvetica Neue"/>
                <a:cs typeface="Helvetica" panose="020B0604020202020204" pitchFamily="34" charset="0"/>
                <a:sym typeface="Helvetica Neue"/>
              </a:rPr>
              <a:t>Transparency and Immutability </a:t>
            </a:r>
            <a:r>
              <a:rPr lang="en-US" sz="1800" dirty="0">
                <a:solidFill>
                  <a:schemeClr val="dk1"/>
                </a:solidFill>
                <a:latin typeface="Helvetica" panose="020B0604020202020204" pitchFamily="34" charset="0"/>
                <a:ea typeface="Helvetica Neue"/>
                <a:cs typeface="Helvetica" panose="020B0604020202020204" pitchFamily="34" charset="0"/>
                <a:sym typeface="Helvetica Neue"/>
              </a:rPr>
              <a:t>- How would privacy fit within an immutable systems transparent to everyone?</a:t>
            </a:r>
            <a:endParaRPr sz="1800" dirty="0">
              <a:latin typeface="Helvetica" panose="020B0604020202020204" pitchFamily="34" charset="0"/>
              <a:ea typeface="Calibri"/>
              <a:cs typeface="Helvetica" panose="020B0604020202020204" pitchFamily="34" charset="0"/>
              <a:sym typeface="Calibri"/>
            </a:endParaRPr>
          </a:p>
        </p:txBody>
      </p:sp>
      <p:sp>
        <p:nvSpPr>
          <p:cNvPr id="13" name="Google Shape;60;gd8bdb46773_0_19"/>
          <p:cNvSpPr txBox="1"/>
          <p:nvPr/>
        </p:nvSpPr>
        <p:spPr>
          <a:xfrm>
            <a:off x="-111139" y="5098368"/>
            <a:ext cx="9603000" cy="738633"/>
          </a:xfrm>
          <a:prstGeom prst="rect">
            <a:avLst/>
          </a:prstGeom>
          <a:noFill/>
          <a:ln>
            <a:noFill/>
          </a:ln>
        </p:spPr>
        <p:txBody>
          <a:bodyPr spcFirstLastPara="1" wrap="square" lIns="91425" tIns="91425" rIns="91425" bIns="91425" anchor="t" anchorCtr="0">
            <a:spAutoFit/>
          </a:bodyPr>
          <a:lstStyle/>
          <a:p>
            <a:pPr marL="441449" lvl="0" indent="-285750" algn="l" rtl="0">
              <a:lnSpc>
                <a:spcPct val="200000"/>
              </a:lnSpc>
              <a:spcBef>
                <a:spcPts val="0"/>
              </a:spcBef>
              <a:spcAft>
                <a:spcPts val="0"/>
              </a:spcAft>
              <a:buClr>
                <a:schemeClr val="dk1"/>
              </a:buClr>
              <a:buSzPts val="1800"/>
              <a:buFont typeface="Arial" panose="020B0604020202020204" pitchFamily="34" charset="0"/>
              <a:buChar char="•"/>
            </a:pPr>
            <a:r>
              <a:rPr lang="en-US" sz="1800" b="1" i="1" dirty="0">
                <a:solidFill>
                  <a:schemeClr val="dk1"/>
                </a:solidFill>
                <a:latin typeface="Helvetica" panose="020B0604020202020204" pitchFamily="34" charset="0"/>
                <a:ea typeface="Helvetica Neue"/>
                <a:cs typeface="Helvetica" panose="020B0604020202020204" pitchFamily="34" charset="0"/>
                <a:sym typeface="Helvetica Neue"/>
              </a:rPr>
              <a:t>Consensus and impact </a:t>
            </a:r>
            <a:r>
              <a:rPr lang="en-US" sz="1800" dirty="0">
                <a:solidFill>
                  <a:schemeClr val="dk1"/>
                </a:solidFill>
                <a:latin typeface="Helvetica" panose="020B0604020202020204" pitchFamily="34" charset="0"/>
                <a:ea typeface="Helvetica Neue"/>
                <a:cs typeface="Helvetica" panose="020B0604020202020204" pitchFamily="34" charset="0"/>
                <a:sym typeface="Helvetica Neue"/>
              </a:rPr>
              <a:t>- How would agreements be taken and its impact? </a:t>
            </a:r>
            <a:endParaRPr sz="1800" dirty="0">
              <a:latin typeface="Helvetica" panose="020B0604020202020204" pitchFamily="34" charset="0"/>
              <a:ea typeface="Calibri"/>
              <a:cs typeface="Helvetica" panose="020B0604020202020204" pitchFamily="34" charset="0"/>
              <a:sym typeface="Calibri"/>
            </a:endParaRPr>
          </a:p>
        </p:txBody>
      </p:sp>
      <p:sp>
        <p:nvSpPr>
          <p:cNvPr id="14" name="Google Shape;61;gd8bdb46773_0_19"/>
          <p:cNvSpPr txBox="1"/>
          <p:nvPr/>
        </p:nvSpPr>
        <p:spPr>
          <a:xfrm>
            <a:off x="-129825" y="5563591"/>
            <a:ext cx="9714300" cy="738633"/>
          </a:xfrm>
          <a:prstGeom prst="rect">
            <a:avLst/>
          </a:prstGeom>
          <a:noFill/>
          <a:ln>
            <a:noFill/>
          </a:ln>
        </p:spPr>
        <p:txBody>
          <a:bodyPr spcFirstLastPara="1" wrap="square" lIns="91425" tIns="91425" rIns="91425" bIns="91425" anchor="t" anchorCtr="0">
            <a:spAutoFit/>
          </a:bodyPr>
          <a:lstStyle/>
          <a:p>
            <a:pPr marL="441449" lvl="0" indent="-285750" algn="l" rtl="0">
              <a:lnSpc>
                <a:spcPct val="200000"/>
              </a:lnSpc>
              <a:spcBef>
                <a:spcPts val="0"/>
              </a:spcBef>
              <a:spcAft>
                <a:spcPts val="0"/>
              </a:spcAft>
              <a:buClr>
                <a:schemeClr val="dk1"/>
              </a:buClr>
              <a:buSzPts val="1800"/>
              <a:buFont typeface="Arial" panose="020B0604020202020204" pitchFamily="34" charset="0"/>
              <a:buChar char="•"/>
            </a:pPr>
            <a:r>
              <a:rPr lang="en-US" sz="1800" b="1" i="1" dirty="0">
                <a:solidFill>
                  <a:schemeClr val="dk1"/>
                </a:solidFill>
                <a:latin typeface="Helvetica" panose="020B0604020202020204" pitchFamily="34" charset="0"/>
                <a:ea typeface="Helvetica Neue"/>
                <a:cs typeface="Helvetica" panose="020B0604020202020204" pitchFamily="34" charset="0"/>
                <a:sym typeface="Helvetica Neue"/>
              </a:rPr>
              <a:t>Enterprise connect </a:t>
            </a:r>
            <a:r>
              <a:rPr lang="en-US" sz="1800" dirty="0">
                <a:solidFill>
                  <a:schemeClr val="dk1"/>
                </a:solidFill>
                <a:latin typeface="Helvetica" panose="020B0604020202020204" pitchFamily="34" charset="0"/>
                <a:ea typeface="Helvetica Neue"/>
                <a:cs typeface="Helvetica" panose="020B0604020202020204" pitchFamily="34" charset="0"/>
                <a:sym typeface="Helvetica Neue"/>
              </a:rPr>
              <a:t>- Data validation, interoperability/integration with enterprise tools</a:t>
            </a:r>
            <a:endParaRPr sz="1800" dirty="0">
              <a:latin typeface="Helvetica" panose="020B0604020202020204" pitchFamily="34" charset="0"/>
              <a:ea typeface="Calibri"/>
              <a:cs typeface="Helvetica" panose="020B060402020202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5834108" y="629466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5</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3" name="Rectangle 2"/>
          <p:cNvSpPr/>
          <p:nvPr/>
        </p:nvSpPr>
        <p:spPr>
          <a:xfrm>
            <a:off x="0" y="822679"/>
            <a:ext cx="4400564" cy="480131"/>
          </a:xfrm>
          <a:prstGeom prst="rect">
            <a:avLst/>
          </a:prstGeom>
        </p:spPr>
        <p:txBody>
          <a:bodyPr wrap="none">
            <a:spAutoFit/>
          </a:bodyPr>
          <a:lstStyle/>
          <a:p>
            <a:pPr lvl="0">
              <a:lnSpc>
                <a:spcPct val="90000"/>
              </a:lnSpc>
              <a:buClr>
                <a:srgbClr val="1C1573"/>
              </a:buClr>
              <a:buSzPts val="1500"/>
            </a:pPr>
            <a:r>
              <a:rPr lang="en-US" sz="2800" b="1" dirty="0"/>
              <a:t>Blockchain design goals</a:t>
            </a:r>
          </a:p>
        </p:txBody>
      </p:sp>
      <p:sp>
        <p:nvSpPr>
          <p:cNvPr id="15" name="Google Shape;67;p3"/>
          <p:cNvSpPr txBox="1">
            <a:spLocks noGrp="1"/>
          </p:cNvSpPr>
          <p:nvPr>
            <p:ph type="body" idx="4294967295"/>
          </p:nvPr>
        </p:nvSpPr>
        <p:spPr>
          <a:xfrm>
            <a:off x="-16393" y="1371236"/>
            <a:ext cx="9293164" cy="25687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1C1573"/>
              </a:buClr>
              <a:buSzPts val="1500"/>
              <a:buNone/>
            </a:pPr>
            <a:endParaRPr sz="1600" b="1" dirty="0"/>
          </a:p>
        </p:txBody>
      </p:sp>
      <p:grpSp>
        <p:nvGrpSpPr>
          <p:cNvPr id="16" name="Group 15">
            <a:extLst>
              <a:ext uri="{FF2B5EF4-FFF2-40B4-BE49-F238E27FC236}">
                <a16:creationId xmlns:a16="http://schemas.microsoft.com/office/drawing/2014/main" id="{04E33B33-FD10-E1D2-154F-EA1CDEAD98F2}"/>
              </a:ext>
            </a:extLst>
          </p:cNvPr>
          <p:cNvGrpSpPr/>
          <p:nvPr/>
        </p:nvGrpSpPr>
        <p:grpSpPr>
          <a:xfrm>
            <a:off x="0" y="1669003"/>
            <a:ext cx="9144000" cy="4884557"/>
            <a:chOff x="2123948" y="1756609"/>
            <a:chExt cx="7943872" cy="4331361"/>
          </a:xfrm>
        </p:grpSpPr>
        <p:grpSp>
          <p:nvGrpSpPr>
            <p:cNvPr id="17" name="Google Shape;68;p3"/>
            <p:cNvGrpSpPr/>
            <p:nvPr/>
          </p:nvGrpSpPr>
          <p:grpSpPr>
            <a:xfrm>
              <a:off x="2123948" y="4693248"/>
              <a:ext cx="7943872" cy="721428"/>
              <a:chOff x="1593000" y="2322568"/>
              <a:chExt cx="5958053" cy="643500"/>
            </a:xfrm>
          </p:grpSpPr>
          <p:sp>
            <p:nvSpPr>
              <p:cNvPr id="58" name="Google Shape;69;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59" name="Google Shape;70;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60" name="Google Shape;71;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61" name="Google Shape;72;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Data ownership</a:t>
                </a:r>
                <a:endParaRPr sz="1200" dirty="0">
                  <a:solidFill>
                    <a:srgbClr val="FFFFFF"/>
                  </a:solidFill>
                  <a:latin typeface="Roboto"/>
                  <a:ea typeface="Roboto"/>
                  <a:cs typeface="Roboto"/>
                  <a:sym typeface="Roboto"/>
                </a:endParaRPr>
              </a:p>
            </p:txBody>
          </p:sp>
          <p:sp>
            <p:nvSpPr>
              <p:cNvPr id="62" name="Google Shape;73;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63" name="Google Shape;74;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05</a:t>
                </a:r>
                <a:endParaRPr sz="2800" dirty="0">
                  <a:solidFill>
                    <a:srgbClr val="FFFFFF"/>
                  </a:solidFill>
                  <a:latin typeface="Roboto Thin"/>
                  <a:ea typeface="Roboto Thin"/>
                  <a:cs typeface="Roboto Thin"/>
                  <a:sym typeface="Roboto Thin"/>
                </a:endParaRPr>
              </a:p>
            </p:txBody>
          </p:sp>
          <p:sp>
            <p:nvSpPr>
              <p:cNvPr id="64" name="Google Shape;75;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Data storage, changes, ownership, access</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Accountability for data misuse/overuse/lawful-use </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Ability of owners to control access, storage, changes</a:t>
                </a:r>
                <a:endParaRPr sz="1200" dirty="0">
                  <a:solidFill>
                    <a:srgbClr val="A72A1E"/>
                  </a:solidFill>
                  <a:latin typeface="Roboto"/>
                  <a:ea typeface="Roboto"/>
                  <a:cs typeface="Roboto"/>
                  <a:sym typeface="Roboto"/>
                </a:endParaRPr>
              </a:p>
            </p:txBody>
          </p:sp>
        </p:grpSp>
        <p:grpSp>
          <p:nvGrpSpPr>
            <p:cNvPr id="18" name="Google Shape;76;p3"/>
            <p:cNvGrpSpPr/>
            <p:nvPr/>
          </p:nvGrpSpPr>
          <p:grpSpPr>
            <a:xfrm>
              <a:off x="2123948" y="3959095"/>
              <a:ext cx="7943872" cy="721428"/>
              <a:chOff x="1593000" y="2322568"/>
              <a:chExt cx="5958053" cy="643500"/>
            </a:xfrm>
          </p:grpSpPr>
          <p:sp>
            <p:nvSpPr>
              <p:cNvPr id="51" name="Google Shape;77;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52" name="Google Shape;78;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53" name="Google Shape;79;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54" name="Google Shape;80;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Access</a:t>
                </a:r>
                <a:endParaRPr sz="1200" dirty="0">
                  <a:solidFill>
                    <a:srgbClr val="FFFFFF"/>
                  </a:solidFill>
                  <a:latin typeface="Roboto"/>
                  <a:ea typeface="Roboto"/>
                  <a:cs typeface="Roboto"/>
                  <a:sym typeface="Roboto"/>
                </a:endParaRPr>
              </a:p>
            </p:txBody>
          </p:sp>
          <p:sp>
            <p:nvSpPr>
              <p:cNvPr id="55" name="Google Shape;81;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56" name="Google Shape;82;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04</a:t>
                </a:r>
                <a:endParaRPr sz="2800" dirty="0">
                  <a:solidFill>
                    <a:srgbClr val="FFFFFF"/>
                  </a:solidFill>
                  <a:latin typeface="Roboto Thin"/>
                  <a:ea typeface="Roboto Thin"/>
                  <a:cs typeface="Roboto Thin"/>
                  <a:sym typeface="Roboto Thin"/>
                </a:endParaRPr>
              </a:p>
            </p:txBody>
          </p:sp>
          <p:sp>
            <p:nvSpPr>
              <p:cNvPr id="57" name="Google Shape;83;p3"/>
              <p:cNvSpPr/>
              <p:nvPr/>
            </p:nvSpPr>
            <p:spPr>
              <a:xfrm>
                <a:off x="4387853" y="2323754"/>
                <a:ext cx="3163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Definition, granting, execution, revocation of access</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Access to regulatory or law agencies, enterprises</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Stakeholders stake vs level of access</a:t>
                </a:r>
                <a:endParaRPr sz="1200" dirty="0">
                  <a:solidFill>
                    <a:srgbClr val="A72A1E"/>
                  </a:solidFill>
                  <a:latin typeface="Roboto"/>
                  <a:ea typeface="Roboto"/>
                  <a:cs typeface="Roboto"/>
                  <a:sym typeface="Roboto"/>
                </a:endParaRPr>
              </a:p>
            </p:txBody>
          </p:sp>
        </p:grpSp>
        <p:grpSp>
          <p:nvGrpSpPr>
            <p:cNvPr id="19" name="Google Shape;84;p3"/>
            <p:cNvGrpSpPr/>
            <p:nvPr/>
          </p:nvGrpSpPr>
          <p:grpSpPr>
            <a:xfrm>
              <a:off x="2123948" y="3224914"/>
              <a:ext cx="7943872" cy="721428"/>
              <a:chOff x="1593000" y="2322568"/>
              <a:chExt cx="5958053" cy="643500"/>
            </a:xfrm>
          </p:grpSpPr>
          <p:sp>
            <p:nvSpPr>
              <p:cNvPr id="44" name="Google Shape;85;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5" name="Google Shape;86;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6" name="Google Shape;87;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7" name="Google Shape;88;p3"/>
              <p:cNvSpPr/>
              <p:nvPr/>
            </p:nvSpPr>
            <p:spPr>
              <a:xfrm>
                <a:off x="2342627" y="2399957"/>
                <a:ext cx="21903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Verification &amp; Authentication</a:t>
                </a:r>
                <a:endParaRPr sz="1200" dirty="0">
                  <a:solidFill>
                    <a:srgbClr val="FFFFFF"/>
                  </a:solidFill>
                  <a:latin typeface="Roboto"/>
                  <a:ea typeface="Roboto"/>
                  <a:cs typeface="Roboto"/>
                  <a:sym typeface="Roboto"/>
                </a:endParaRPr>
              </a:p>
            </p:txBody>
          </p:sp>
          <p:sp>
            <p:nvSpPr>
              <p:cNvPr id="48" name="Google Shape;89;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9" name="Google Shape;90;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03</a:t>
                </a:r>
                <a:endParaRPr sz="2800" dirty="0">
                  <a:solidFill>
                    <a:srgbClr val="FFFFFF"/>
                  </a:solidFill>
                  <a:latin typeface="Roboto Thin"/>
                  <a:ea typeface="Roboto Thin"/>
                  <a:cs typeface="Roboto Thin"/>
                  <a:sym typeface="Roboto Thin"/>
                </a:endParaRPr>
              </a:p>
            </p:txBody>
          </p:sp>
          <p:sp>
            <p:nvSpPr>
              <p:cNvPr id="50" name="Google Shape;91;p3"/>
              <p:cNvSpPr/>
              <p:nvPr/>
            </p:nvSpPr>
            <p:spPr>
              <a:xfrm>
                <a:off x="4387853" y="2323760"/>
                <a:ext cx="3163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How inputs are verified &amp; authentication in ledgers?</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Data authentication vs transaction authentication</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Legal and territorial aspects if humans involve</a:t>
                </a:r>
                <a:endParaRPr sz="1200" dirty="0">
                  <a:solidFill>
                    <a:srgbClr val="A72A1E"/>
                  </a:solidFill>
                  <a:latin typeface="Roboto"/>
                  <a:ea typeface="Roboto"/>
                  <a:cs typeface="Roboto"/>
                  <a:sym typeface="Roboto"/>
                </a:endParaRPr>
              </a:p>
            </p:txBody>
          </p:sp>
        </p:grpSp>
        <p:grpSp>
          <p:nvGrpSpPr>
            <p:cNvPr id="20" name="Google Shape;92;p3"/>
            <p:cNvGrpSpPr/>
            <p:nvPr/>
          </p:nvGrpSpPr>
          <p:grpSpPr>
            <a:xfrm>
              <a:off x="2123948" y="2490770"/>
              <a:ext cx="7943872" cy="721428"/>
              <a:chOff x="1593000" y="2322568"/>
              <a:chExt cx="5958053" cy="643500"/>
            </a:xfrm>
          </p:grpSpPr>
          <p:sp>
            <p:nvSpPr>
              <p:cNvPr id="37" name="Google Shape;93;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8" name="Google Shape;94;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9" name="Google Shape;95;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0" name="Google Shape;96;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Identity</a:t>
                </a:r>
                <a:endParaRPr sz="1200" dirty="0">
                  <a:solidFill>
                    <a:srgbClr val="FFFFFF"/>
                  </a:solidFill>
                  <a:latin typeface="Roboto"/>
                  <a:ea typeface="Roboto"/>
                  <a:cs typeface="Roboto"/>
                  <a:sym typeface="Roboto"/>
                </a:endParaRPr>
              </a:p>
            </p:txBody>
          </p:sp>
          <p:sp>
            <p:nvSpPr>
              <p:cNvPr id="41" name="Google Shape;97;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42" name="Google Shape;98;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02</a:t>
                </a:r>
                <a:endParaRPr sz="2800" dirty="0">
                  <a:solidFill>
                    <a:srgbClr val="FFFFFF"/>
                  </a:solidFill>
                  <a:latin typeface="Roboto Thin"/>
                  <a:ea typeface="Roboto Thin"/>
                  <a:cs typeface="Roboto Thin"/>
                  <a:sym typeface="Roboto Thin"/>
                </a:endParaRPr>
              </a:p>
            </p:txBody>
          </p:sp>
          <p:sp>
            <p:nvSpPr>
              <p:cNvPr id="43" name="Google Shape;99;p3"/>
              <p:cNvSpPr/>
              <p:nvPr/>
            </p:nvSpPr>
            <p:spPr>
              <a:xfrm>
                <a:off x="4387853" y="2323754"/>
                <a:ext cx="3163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How is identity defined and established?</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Digital identity, Anonymous stakes</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How identity is used, accessed, protected, revealed</a:t>
                </a:r>
                <a:endParaRPr sz="1200" dirty="0">
                  <a:solidFill>
                    <a:srgbClr val="A72A1E"/>
                  </a:solidFill>
                  <a:latin typeface="Roboto"/>
                  <a:ea typeface="Roboto"/>
                  <a:cs typeface="Roboto"/>
                  <a:sym typeface="Roboto"/>
                </a:endParaRPr>
              </a:p>
            </p:txBody>
          </p:sp>
        </p:grpSp>
        <p:grpSp>
          <p:nvGrpSpPr>
            <p:cNvPr id="21" name="Google Shape;100;p3"/>
            <p:cNvGrpSpPr/>
            <p:nvPr/>
          </p:nvGrpSpPr>
          <p:grpSpPr>
            <a:xfrm>
              <a:off x="2123948" y="1756609"/>
              <a:ext cx="7943768" cy="721428"/>
              <a:chOff x="1593000" y="2322568"/>
              <a:chExt cx="5957975" cy="643500"/>
            </a:xfrm>
          </p:grpSpPr>
          <p:sp>
            <p:nvSpPr>
              <p:cNvPr id="30" name="Google Shape;101;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1" name="Google Shape;102;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2" name="Google Shape;103;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3" name="Google Shape;104;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Governance</a:t>
                </a:r>
                <a:endParaRPr sz="1200" dirty="0">
                  <a:solidFill>
                    <a:srgbClr val="FFFFFF"/>
                  </a:solidFill>
                  <a:latin typeface="Roboto"/>
                  <a:ea typeface="Roboto"/>
                  <a:cs typeface="Roboto"/>
                  <a:sym typeface="Roboto"/>
                </a:endParaRPr>
              </a:p>
            </p:txBody>
          </p:sp>
          <p:sp>
            <p:nvSpPr>
              <p:cNvPr id="34" name="Google Shape;105;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35" name="Google Shape;106;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01</a:t>
                </a:r>
                <a:endParaRPr sz="2800" dirty="0">
                  <a:solidFill>
                    <a:srgbClr val="FFFFFF"/>
                  </a:solidFill>
                  <a:latin typeface="Roboto Thin"/>
                  <a:ea typeface="Roboto Thin"/>
                  <a:cs typeface="Roboto Thin"/>
                  <a:sym typeface="Roboto Thin"/>
                </a:endParaRPr>
              </a:p>
            </p:txBody>
          </p:sp>
          <p:sp>
            <p:nvSpPr>
              <p:cNvPr id="36" name="Google Shape;107;p3"/>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Set of rules for overall governance &amp; monitoring</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Consensus, Permission(less), Public Vs Private</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Lawful support and Enterprise connect</a:t>
                </a:r>
                <a:endParaRPr sz="1200" dirty="0">
                  <a:solidFill>
                    <a:srgbClr val="A72A1E"/>
                  </a:solidFill>
                  <a:latin typeface="Roboto"/>
                  <a:ea typeface="Roboto"/>
                  <a:cs typeface="Roboto"/>
                  <a:sym typeface="Roboto"/>
                </a:endParaRPr>
              </a:p>
            </p:txBody>
          </p:sp>
        </p:grpSp>
        <p:grpSp>
          <p:nvGrpSpPr>
            <p:cNvPr id="22" name="Google Shape;108;p3"/>
            <p:cNvGrpSpPr/>
            <p:nvPr/>
          </p:nvGrpSpPr>
          <p:grpSpPr>
            <a:xfrm>
              <a:off x="2123948" y="5366542"/>
              <a:ext cx="7943768" cy="721428"/>
              <a:chOff x="1593000" y="2322568"/>
              <a:chExt cx="5957975" cy="643500"/>
            </a:xfrm>
          </p:grpSpPr>
          <p:sp>
            <p:nvSpPr>
              <p:cNvPr id="23" name="Google Shape;109;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24" name="Google Shape;110;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25" name="Google Shape;111;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26" name="Google Shape;112;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200" dirty="0">
                    <a:solidFill>
                      <a:srgbClr val="FFFFFF"/>
                    </a:solidFill>
                    <a:latin typeface="Roboto Medium"/>
                    <a:ea typeface="Roboto Medium"/>
                    <a:cs typeface="Roboto Medium"/>
                    <a:sym typeface="Roboto Medium"/>
                  </a:rPr>
                  <a:t>Security</a:t>
                </a:r>
                <a:endParaRPr sz="1200" dirty="0">
                  <a:solidFill>
                    <a:srgbClr val="FFFFFF"/>
                  </a:solidFill>
                  <a:latin typeface="Roboto"/>
                  <a:ea typeface="Roboto"/>
                  <a:cs typeface="Roboto"/>
                  <a:sym typeface="Roboto"/>
                </a:endParaRPr>
              </a:p>
            </p:txBody>
          </p:sp>
          <p:sp>
            <p:nvSpPr>
              <p:cNvPr id="27" name="Google Shape;113;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100" dirty="0"/>
              </a:p>
            </p:txBody>
          </p:sp>
          <p:sp>
            <p:nvSpPr>
              <p:cNvPr id="28" name="Google Shape;114;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800" dirty="0">
                    <a:solidFill>
                      <a:srgbClr val="FFFFFF"/>
                    </a:solidFill>
                    <a:latin typeface="Roboto Thin"/>
                    <a:ea typeface="Roboto Thin"/>
                    <a:cs typeface="Roboto Thin"/>
                    <a:sym typeface="Roboto Thin"/>
                  </a:rPr>
                  <a:t>06</a:t>
                </a:r>
                <a:endParaRPr sz="2800" dirty="0">
                  <a:solidFill>
                    <a:srgbClr val="FFFFFF"/>
                  </a:solidFill>
                  <a:latin typeface="Roboto Thin"/>
                  <a:ea typeface="Roboto Thin"/>
                  <a:cs typeface="Roboto Thin"/>
                  <a:sym typeface="Roboto Thin"/>
                </a:endParaRPr>
              </a:p>
            </p:txBody>
          </p:sp>
          <p:sp>
            <p:nvSpPr>
              <p:cNvPr id="29" name="Google Shape;115;p3"/>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Key/keypair management, wallet integration</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Encryption strength, impact on performance</a:t>
                </a:r>
                <a:endParaRPr sz="1200" dirty="0">
                  <a:solidFill>
                    <a:srgbClr val="A72A1E"/>
                  </a:solidFill>
                  <a:latin typeface="Roboto"/>
                  <a:ea typeface="Roboto"/>
                  <a:cs typeface="Roboto"/>
                  <a:sym typeface="Roboto"/>
                </a:endParaRPr>
              </a:p>
              <a:p>
                <a:pPr marL="609600" lvl="0" indent="-374650" algn="l" rtl="0">
                  <a:lnSpc>
                    <a:spcPct val="115000"/>
                  </a:lnSpc>
                  <a:spcBef>
                    <a:spcPts val="0"/>
                  </a:spcBef>
                  <a:spcAft>
                    <a:spcPts val="0"/>
                  </a:spcAft>
                  <a:buClr>
                    <a:srgbClr val="A72A1E"/>
                  </a:buClr>
                  <a:buSzPts val="1100"/>
                  <a:buFont typeface="Roboto"/>
                  <a:buChar char="●"/>
                </a:pPr>
                <a:r>
                  <a:rPr lang="en-US" sz="1200" dirty="0">
                    <a:solidFill>
                      <a:srgbClr val="A72A1E"/>
                    </a:solidFill>
                    <a:latin typeface="Roboto"/>
                    <a:ea typeface="Roboto"/>
                    <a:cs typeface="Roboto"/>
                    <a:sym typeface="Roboto"/>
                  </a:rPr>
                  <a:t>What if keys are lost?</a:t>
                </a:r>
                <a:endParaRPr sz="1200" dirty="0">
                  <a:solidFill>
                    <a:srgbClr val="A72A1E"/>
                  </a:solidFill>
                  <a:latin typeface="Roboto"/>
                  <a:ea typeface="Roboto"/>
                  <a:cs typeface="Roboto"/>
                  <a:sym typeface="Roboto"/>
                </a:endParaRPr>
              </a:p>
            </p:txBody>
          </p:sp>
        </p:grpSp>
      </p:grpSp>
    </p:spTree>
    <p:extLst>
      <p:ext uri="{BB962C8B-B14F-4D97-AF65-F5344CB8AC3E}">
        <p14:creationId xmlns:p14="http://schemas.microsoft.com/office/powerpoint/2010/main" val="1707216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5834108" y="629466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6</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3" name="Rectangle 2"/>
          <p:cNvSpPr/>
          <p:nvPr/>
        </p:nvSpPr>
        <p:spPr>
          <a:xfrm>
            <a:off x="0" y="822679"/>
            <a:ext cx="5081840" cy="480131"/>
          </a:xfrm>
          <a:prstGeom prst="rect">
            <a:avLst/>
          </a:prstGeom>
        </p:spPr>
        <p:txBody>
          <a:bodyPr wrap="none">
            <a:spAutoFit/>
          </a:bodyPr>
          <a:lstStyle/>
          <a:p>
            <a:pPr lvl="0">
              <a:lnSpc>
                <a:spcPct val="90000"/>
              </a:lnSpc>
              <a:buClr>
                <a:srgbClr val="1C1573"/>
              </a:buClr>
              <a:buSzPts val="1500"/>
            </a:pPr>
            <a:r>
              <a:rPr lang="en-US" sz="2800" b="1" dirty="0"/>
              <a:t>Blockchain reference design</a:t>
            </a:r>
          </a:p>
        </p:txBody>
      </p:sp>
      <p:pic>
        <p:nvPicPr>
          <p:cNvPr id="20" name="Google Shape;120;gd8ee4bd241_0_612"/>
          <p:cNvPicPr preferRelativeResize="0"/>
          <p:nvPr/>
        </p:nvPicPr>
        <p:blipFill>
          <a:blip r:embed="rId3">
            <a:alphaModFix/>
          </a:blip>
          <a:stretch>
            <a:fillRect/>
          </a:stretch>
        </p:blipFill>
        <p:spPr>
          <a:xfrm>
            <a:off x="1800335" y="1466471"/>
            <a:ext cx="6986726" cy="4916575"/>
          </a:xfrm>
          <a:prstGeom prst="rect">
            <a:avLst/>
          </a:prstGeom>
          <a:noFill/>
          <a:ln>
            <a:noFill/>
          </a:ln>
        </p:spPr>
      </p:pic>
      <p:sp>
        <p:nvSpPr>
          <p:cNvPr id="21" name="Google Shape;124;gd8ee4bd241_0_612"/>
          <p:cNvSpPr/>
          <p:nvPr/>
        </p:nvSpPr>
        <p:spPr>
          <a:xfrm>
            <a:off x="7093258" y="4856085"/>
            <a:ext cx="1739294" cy="603682"/>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25;gd8ee4bd241_0_612"/>
          <p:cNvSpPr/>
          <p:nvPr/>
        </p:nvSpPr>
        <p:spPr>
          <a:xfrm>
            <a:off x="7003902" y="2949577"/>
            <a:ext cx="1804200" cy="31205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Rectangle 1"/>
          <p:cNvSpPr/>
          <p:nvPr/>
        </p:nvSpPr>
        <p:spPr>
          <a:xfrm>
            <a:off x="0" y="4582028"/>
            <a:ext cx="4119239" cy="1938992"/>
          </a:xfrm>
          <a:prstGeom prst="rect">
            <a:avLst/>
          </a:prstGeom>
        </p:spPr>
        <p:txBody>
          <a:bodyPr wrap="square">
            <a:spAutoFit/>
          </a:bodyPr>
          <a:lstStyle/>
          <a:p>
            <a:r>
              <a:rPr lang="en-US" sz="2000" dirty="0">
                <a:solidFill>
                  <a:srgbClr val="002060"/>
                </a:solidFill>
              </a:rPr>
              <a:t>The blockchain architecture is divided into four layers:</a:t>
            </a:r>
          </a:p>
          <a:p>
            <a:pPr marL="285750" lvl="1" indent="-285750">
              <a:buFont typeface="Arial" panose="020B0604020202020204" pitchFamily="34" charset="0"/>
              <a:buChar char="•"/>
            </a:pPr>
            <a:r>
              <a:rPr lang="en-US" sz="2000" b="1" dirty="0">
                <a:solidFill>
                  <a:srgbClr val="002060"/>
                </a:solidFill>
              </a:rPr>
              <a:t>infrastructure </a:t>
            </a:r>
          </a:p>
          <a:p>
            <a:pPr marL="285750" lvl="1" indent="-285750">
              <a:buFont typeface="Arial" panose="020B0604020202020204" pitchFamily="34" charset="0"/>
              <a:buChar char="•"/>
            </a:pPr>
            <a:r>
              <a:rPr lang="en-US" sz="2000" b="1" dirty="0">
                <a:solidFill>
                  <a:srgbClr val="002060"/>
                </a:solidFill>
              </a:rPr>
              <a:t>platform </a:t>
            </a:r>
          </a:p>
          <a:p>
            <a:pPr marL="285750" lvl="1" indent="-285750">
              <a:buFont typeface="Arial" panose="020B0604020202020204" pitchFamily="34" charset="0"/>
              <a:buChar char="•"/>
            </a:pPr>
            <a:r>
              <a:rPr lang="en-US" sz="2000" b="1" dirty="0">
                <a:solidFill>
                  <a:srgbClr val="002060"/>
                </a:solidFill>
              </a:rPr>
              <a:t>distributed computing </a:t>
            </a:r>
          </a:p>
          <a:p>
            <a:pPr marL="285750" lvl="1" indent="-285750">
              <a:buFont typeface="Arial" panose="020B0604020202020204" pitchFamily="34" charset="0"/>
              <a:buChar char="•"/>
            </a:pPr>
            <a:r>
              <a:rPr lang="en-US" sz="2000" b="1" dirty="0">
                <a:solidFill>
                  <a:srgbClr val="002060"/>
                </a:solidFill>
              </a:rPr>
              <a:t>application</a:t>
            </a:r>
          </a:p>
        </p:txBody>
      </p:sp>
    </p:spTree>
    <p:extLst>
      <p:ext uri="{BB962C8B-B14F-4D97-AF65-F5344CB8AC3E}">
        <p14:creationId xmlns:p14="http://schemas.microsoft.com/office/powerpoint/2010/main" val="231422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7</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3462807" cy="523220"/>
          </a:xfrm>
          <a:prstGeom prst="rect">
            <a:avLst/>
          </a:prstGeom>
        </p:spPr>
        <p:txBody>
          <a:bodyPr wrap="none">
            <a:spAutoFit/>
          </a:bodyPr>
          <a:lstStyle/>
          <a:p>
            <a:r>
              <a:rPr lang="en-US" sz="2800" b="1" dirty="0"/>
              <a:t>Infrastructure layer</a:t>
            </a:r>
            <a:endParaRPr lang="en-IN" sz="2800" b="1" dirty="0"/>
          </a:p>
        </p:txBody>
      </p:sp>
      <p:sp>
        <p:nvSpPr>
          <p:cNvPr id="6" name="Text Placeholder 2">
            <a:extLst>
              <a:ext uri="{FF2B5EF4-FFF2-40B4-BE49-F238E27FC236}">
                <a16:creationId xmlns:a16="http://schemas.microsoft.com/office/drawing/2014/main" id="{E4EC5C30-446C-3691-9EB8-72C8496C337C}"/>
              </a:ext>
            </a:extLst>
          </p:cNvPr>
          <p:cNvSpPr>
            <a:spLocks noGrp="1"/>
          </p:cNvSpPr>
          <p:nvPr>
            <p:ph type="body" idx="1"/>
          </p:nvPr>
        </p:nvSpPr>
        <p:spPr>
          <a:xfrm>
            <a:off x="-86847" y="221942"/>
            <a:ext cx="8955639" cy="6409677"/>
          </a:xfrm>
        </p:spPr>
        <p:txBody>
          <a:bodyPr>
            <a:normAutofit/>
          </a:bodyPr>
          <a:lstStyle/>
          <a:p>
            <a:pPr marL="571500" indent="-342900">
              <a:buFont typeface="Arial" panose="020B0604020202020204" pitchFamily="34" charset="0"/>
              <a:buChar char="•"/>
            </a:pPr>
            <a:r>
              <a:rPr lang="en-US" sz="2000" b="0" dirty="0"/>
              <a:t>The infrastructure layer consists of all the hardware components required to run the blockchain, such as nodes, storage, and network facilities. </a:t>
            </a:r>
          </a:p>
          <a:p>
            <a:pPr marL="571500" indent="-342900">
              <a:buFont typeface="Arial" panose="020B0604020202020204" pitchFamily="34" charset="0"/>
              <a:buChar char="•"/>
            </a:pPr>
            <a:r>
              <a:rPr lang="en-US" sz="2000" b="0" dirty="0"/>
              <a:t>The nodes are the network participants. </a:t>
            </a:r>
          </a:p>
          <a:p>
            <a:pPr marL="571500" indent="-342900">
              <a:buFont typeface="Arial" panose="020B0604020202020204" pitchFamily="34" charset="0"/>
              <a:buChar char="•"/>
            </a:pPr>
            <a:r>
              <a:rPr lang="en-US" sz="2000" b="0" dirty="0"/>
              <a:t>A typical blockchain network has three different types of nodes: </a:t>
            </a:r>
            <a:r>
              <a:rPr lang="en-US" sz="2000" i="1" dirty="0"/>
              <a:t>simple (also referred to as a light node), full, and mining. </a:t>
            </a:r>
          </a:p>
          <a:p>
            <a:pPr marL="571500" indent="-342900">
              <a:buFont typeface="Arial" panose="020B0604020202020204" pitchFamily="34" charset="0"/>
              <a:buChar char="•"/>
            </a:pPr>
            <a:r>
              <a:rPr lang="en-US" sz="2000" b="0" dirty="0"/>
              <a:t>A </a:t>
            </a:r>
            <a:r>
              <a:rPr lang="en-US" sz="2000" dirty="0">
                <a:solidFill>
                  <a:srgbClr val="002060"/>
                </a:solidFill>
              </a:rPr>
              <a:t>simple node </a:t>
            </a:r>
            <a:r>
              <a:rPr lang="en-US" sz="2000" b="0" dirty="0"/>
              <a:t>in the network can just send and receive transactions and does not store a copy of the ledger, neither validate a transaction, whereas a full node does. </a:t>
            </a:r>
          </a:p>
          <a:p>
            <a:pPr marL="571500" indent="-342900">
              <a:buFont typeface="Arial" panose="020B0604020202020204" pitchFamily="34" charset="0"/>
              <a:buChar char="•"/>
            </a:pPr>
            <a:r>
              <a:rPr lang="en-US" sz="2000" dirty="0">
                <a:solidFill>
                  <a:srgbClr val="002060"/>
                </a:solidFill>
              </a:rPr>
              <a:t>Full node</a:t>
            </a:r>
            <a:r>
              <a:rPr lang="en-US" sz="2000" dirty="0"/>
              <a:t>: </a:t>
            </a:r>
            <a:r>
              <a:rPr lang="en-US" sz="2000" b="0" dirty="0"/>
              <a:t>Stores the complete blockchain ledger and validates transactions and blocks to maintain network integrity</a:t>
            </a:r>
            <a:r>
              <a:rPr lang="en-US" sz="2000" dirty="0"/>
              <a:t>.</a:t>
            </a:r>
            <a:endParaRPr lang="en-US" sz="2000" b="0" dirty="0"/>
          </a:p>
          <a:p>
            <a:pPr marL="571500" indent="-342900">
              <a:buFont typeface="Arial" panose="020B0604020202020204" pitchFamily="34" charset="0"/>
              <a:buChar char="•"/>
            </a:pPr>
            <a:r>
              <a:rPr lang="en-US" sz="2000" b="0" dirty="0"/>
              <a:t>A </a:t>
            </a:r>
            <a:r>
              <a:rPr lang="en-US" sz="2000" dirty="0">
                <a:solidFill>
                  <a:srgbClr val="002060"/>
                </a:solidFill>
              </a:rPr>
              <a:t>mining node </a:t>
            </a:r>
            <a:r>
              <a:rPr lang="en-US" sz="2000" b="0" dirty="0"/>
              <a:t>(also referred to as a block generator) is a full node with the capability of mining, i.e., the process of generating a new block. The storage component stores the ledger of the transaction records. </a:t>
            </a:r>
          </a:p>
        </p:txBody>
      </p:sp>
    </p:spTree>
    <p:extLst>
      <p:ext uri="{BB962C8B-B14F-4D97-AF65-F5344CB8AC3E}">
        <p14:creationId xmlns:p14="http://schemas.microsoft.com/office/powerpoint/2010/main" val="1377704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8</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2680542" cy="523220"/>
          </a:xfrm>
          <a:prstGeom prst="rect">
            <a:avLst/>
          </a:prstGeom>
        </p:spPr>
        <p:txBody>
          <a:bodyPr wrap="none">
            <a:spAutoFit/>
          </a:bodyPr>
          <a:lstStyle/>
          <a:p>
            <a:r>
              <a:rPr lang="en-US" sz="2800" b="1" dirty="0"/>
              <a:t>Platform layer </a:t>
            </a:r>
            <a:endParaRPr lang="en-IN" sz="2800" b="1" dirty="0"/>
          </a:p>
        </p:txBody>
      </p:sp>
      <p:sp>
        <p:nvSpPr>
          <p:cNvPr id="3" name="Rectangle 2"/>
          <p:cNvSpPr/>
          <p:nvPr/>
        </p:nvSpPr>
        <p:spPr>
          <a:xfrm>
            <a:off x="0" y="1778904"/>
            <a:ext cx="9064101" cy="2459071"/>
          </a:xfrm>
          <a:prstGeom prst="rect">
            <a:avLst/>
          </a:prstGeom>
        </p:spPr>
        <p:txBody>
          <a:bodyPr wrap="square">
            <a:spAutoFit/>
          </a:bodyPr>
          <a:lstStyle/>
          <a:p>
            <a:pPr marL="285750" indent="-285750">
              <a:lnSpc>
                <a:spcPct val="200000"/>
              </a:lnSpc>
              <a:buFont typeface="Arial" panose="020B0604020202020204" pitchFamily="34" charset="0"/>
              <a:buChar char="•"/>
            </a:pPr>
            <a:r>
              <a:rPr lang="en-US" sz="2000" dirty="0"/>
              <a:t>Provides </a:t>
            </a:r>
            <a:r>
              <a:rPr lang="en-US" sz="2000" b="1" dirty="0"/>
              <a:t>RPC</a:t>
            </a:r>
            <a:r>
              <a:rPr lang="en-US" sz="2000" dirty="0"/>
              <a:t>, </a:t>
            </a:r>
            <a:r>
              <a:rPr lang="en-US" sz="2000" b="1" dirty="0"/>
              <a:t>Web APIs</a:t>
            </a:r>
            <a:r>
              <a:rPr lang="en-US" sz="2000" dirty="0"/>
              <a:t>, and </a:t>
            </a:r>
            <a:r>
              <a:rPr lang="en-US" sz="2000" b="1" dirty="0"/>
              <a:t>REST APIs</a:t>
            </a:r>
            <a:r>
              <a:rPr lang="en-US" sz="2000" dirty="0"/>
              <a:t> for communication.</a:t>
            </a:r>
          </a:p>
          <a:p>
            <a:pPr marL="285750" indent="-285750">
              <a:lnSpc>
                <a:spcPct val="200000"/>
              </a:lnSpc>
              <a:buFont typeface="Arial" panose="020B0604020202020204" pitchFamily="34" charset="0"/>
              <a:buChar char="•"/>
            </a:pPr>
            <a:r>
              <a:rPr lang="en-US" sz="2000" dirty="0"/>
              <a:t>Enables interaction between </a:t>
            </a:r>
            <a:r>
              <a:rPr lang="en-US" sz="2000" b="1" dirty="0"/>
              <a:t>blockchain network participants</a:t>
            </a:r>
            <a:r>
              <a:rPr lang="en-US" sz="2000" dirty="0"/>
              <a:t>.</a:t>
            </a:r>
          </a:p>
          <a:p>
            <a:pPr marL="285750" indent="-285750">
              <a:lnSpc>
                <a:spcPct val="200000"/>
              </a:lnSpc>
              <a:buFont typeface="Arial" panose="020B0604020202020204" pitchFamily="34" charset="0"/>
              <a:buChar char="•"/>
            </a:pPr>
            <a:r>
              <a:rPr lang="en-US" sz="2000" dirty="0"/>
              <a:t>Supports </a:t>
            </a:r>
            <a:r>
              <a:rPr lang="en-US" sz="2000" b="1" dirty="0"/>
              <a:t>application integration</a:t>
            </a:r>
            <a:r>
              <a:rPr lang="en-US" sz="2000" dirty="0"/>
              <a:t> with the blockchain network.</a:t>
            </a:r>
          </a:p>
          <a:p>
            <a:pPr marL="285750" indent="-285750">
              <a:lnSpc>
                <a:spcPct val="200000"/>
              </a:lnSpc>
              <a:buFont typeface="Arial" panose="020B0604020202020204" pitchFamily="34" charset="0"/>
              <a:buChar char="•"/>
            </a:pPr>
            <a:r>
              <a:rPr lang="en-US" sz="2000" dirty="0"/>
              <a:t>Facilitates </a:t>
            </a:r>
            <a:r>
              <a:rPr lang="en-US" sz="2000" b="1" dirty="0"/>
              <a:t>data exchange</a:t>
            </a:r>
            <a:r>
              <a:rPr lang="en-US" sz="2000" dirty="0"/>
              <a:t> and </a:t>
            </a:r>
            <a:r>
              <a:rPr lang="en-US" sz="2000" b="1" dirty="0"/>
              <a:t>service access</a:t>
            </a:r>
            <a:r>
              <a:rPr lang="en-US" sz="2000" dirty="0"/>
              <a:t> across the platform.</a:t>
            </a:r>
            <a:endParaRPr lang="en-IN" sz="2000" dirty="0"/>
          </a:p>
        </p:txBody>
      </p:sp>
    </p:spTree>
    <p:extLst>
      <p:ext uri="{BB962C8B-B14F-4D97-AF65-F5344CB8AC3E}">
        <p14:creationId xmlns:p14="http://schemas.microsoft.com/office/powerpoint/2010/main" val="293065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9</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4958409" cy="523220"/>
          </a:xfrm>
          <a:prstGeom prst="rect">
            <a:avLst/>
          </a:prstGeom>
        </p:spPr>
        <p:txBody>
          <a:bodyPr wrap="none">
            <a:spAutoFit/>
          </a:bodyPr>
          <a:lstStyle/>
          <a:p>
            <a:r>
              <a:rPr lang="en-US" sz="2800" b="1" dirty="0"/>
              <a:t>Distributed computing layer</a:t>
            </a:r>
            <a:endParaRPr lang="en-IN" sz="2800" b="1" dirty="0"/>
          </a:p>
        </p:txBody>
      </p:sp>
      <p:sp>
        <p:nvSpPr>
          <p:cNvPr id="3" name="Rectangle 2"/>
          <p:cNvSpPr/>
          <p:nvPr/>
        </p:nvSpPr>
        <p:spPr>
          <a:xfrm>
            <a:off x="168675" y="1587043"/>
            <a:ext cx="8691240" cy="4921284"/>
          </a:xfrm>
          <a:prstGeom prst="rect">
            <a:avLst/>
          </a:prstGeom>
        </p:spPr>
        <p:txBody>
          <a:bodyPr wrap="square">
            <a:spAutoFit/>
          </a:bodyPr>
          <a:lstStyle/>
          <a:p>
            <a:pPr marL="342900" indent="-342900">
              <a:lnSpc>
                <a:spcPct val="200000"/>
              </a:lnSpc>
              <a:buFont typeface="Wingdings" panose="05000000000000000000" pitchFamily="2" charset="2"/>
              <a:buChar char="q"/>
            </a:pPr>
            <a:r>
              <a:rPr lang="en-US" sz="2000" dirty="0"/>
              <a:t>Ensures </a:t>
            </a:r>
            <a:r>
              <a:rPr lang="en-US" sz="2000" b="1" dirty="0"/>
              <a:t>local data access</a:t>
            </a:r>
            <a:r>
              <a:rPr lang="en-US" sz="2000" dirty="0"/>
              <a:t>, </a:t>
            </a:r>
            <a:r>
              <a:rPr lang="en-US" sz="2000" b="1" dirty="0"/>
              <a:t>fault tolerance</a:t>
            </a:r>
            <a:r>
              <a:rPr lang="en-US" sz="2000" dirty="0"/>
              <a:t>, </a:t>
            </a:r>
            <a:r>
              <a:rPr lang="en-US" sz="2000" b="1" dirty="0"/>
              <a:t>immutability</a:t>
            </a:r>
            <a:r>
              <a:rPr lang="en-US" sz="2000" dirty="0"/>
              <a:t>, </a:t>
            </a:r>
            <a:r>
              <a:rPr lang="en-US" sz="2000" b="1" dirty="0"/>
              <a:t>privacy</a:t>
            </a:r>
            <a:r>
              <a:rPr lang="en-US" sz="2000" dirty="0"/>
              <a:t>, </a:t>
            </a:r>
            <a:r>
              <a:rPr lang="en-US" sz="2000" b="1" dirty="0"/>
              <a:t>authenticity</a:t>
            </a:r>
            <a:r>
              <a:rPr lang="en-US" sz="2000" dirty="0"/>
              <a:t>, and </a:t>
            </a:r>
            <a:r>
              <a:rPr lang="en-US" sz="2000" b="1" dirty="0"/>
              <a:t>security</a:t>
            </a:r>
            <a:r>
              <a:rPr lang="en-US" sz="2000" dirty="0"/>
              <a:t> of transactions.</a:t>
            </a:r>
          </a:p>
          <a:p>
            <a:pPr marL="342900" indent="-342900">
              <a:lnSpc>
                <a:spcPct val="200000"/>
              </a:lnSpc>
              <a:buFont typeface="Wingdings" panose="05000000000000000000" pitchFamily="2" charset="2"/>
              <a:buChar char="q"/>
            </a:pPr>
            <a:r>
              <a:rPr lang="en-US" sz="2000" dirty="0"/>
              <a:t>Maintains </a:t>
            </a:r>
            <a:r>
              <a:rPr lang="en-US" sz="2000" b="1" dirty="0"/>
              <a:t>immutability</a:t>
            </a:r>
            <a:r>
              <a:rPr lang="en-US" sz="2000" dirty="0"/>
              <a:t>, preventing modification of transaction records once added to the ledger.</a:t>
            </a:r>
          </a:p>
          <a:p>
            <a:pPr marL="342900" indent="-342900">
              <a:lnSpc>
                <a:spcPct val="200000"/>
              </a:lnSpc>
              <a:buFont typeface="Wingdings" panose="05000000000000000000" pitchFamily="2" charset="2"/>
              <a:buChar char="q"/>
            </a:pPr>
            <a:r>
              <a:rPr lang="en-US" sz="2000" dirty="0"/>
              <a:t>Uses a </a:t>
            </a:r>
            <a:r>
              <a:rPr lang="en-US" sz="2000" b="1" dirty="0"/>
              <a:t>consensus protocol</a:t>
            </a:r>
            <a:r>
              <a:rPr lang="en-US" sz="2000" dirty="0"/>
              <a:t> to agree on transaction order, ledger updates, and miner selection.</a:t>
            </a:r>
          </a:p>
          <a:p>
            <a:pPr marL="342900" indent="-342900">
              <a:lnSpc>
                <a:spcPct val="200000"/>
              </a:lnSpc>
              <a:buFont typeface="Wingdings" panose="05000000000000000000" pitchFamily="2" charset="2"/>
              <a:buChar char="q"/>
            </a:pPr>
            <a:r>
              <a:rPr lang="en-US" sz="2000" dirty="0"/>
              <a:t>Provides </a:t>
            </a:r>
            <a:r>
              <a:rPr lang="en-US" sz="2000" b="1" dirty="0"/>
              <a:t>user authentication (encryption)</a:t>
            </a:r>
            <a:r>
              <a:rPr lang="en-US" sz="2000" dirty="0"/>
              <a:t> and </a:t>
            </a:r>
            <a:r>
              <a:rPr lang="en-US" sz="2000" b="1" dirty="0"/>
              <a:t>data privacy (hashing techniques)</a:t>
            </a:r>
            <a:r>
              <a:rPr lang="en-US" sz="2000" dirty="0"/>
              <a:t>.</a:t>
            </a:r>
            <a:endParaRPr lang="en-IN" sz="2000" dirty="0"/>
          </a:p>
        </p:txBody>
      </p:sp>
    </p:spTree>
    <p:extLst>
      <p:ext uri="{BB962C8B-B14F-4D97-AF65-F5344CB8AC3E}">
        <p14:creationId xmlns:p14="http://schemas.microsoft.com/office/powerpoint/2010/main" val="1461920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10</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3081293" cy="523220"/>
          </a:xfrm>
          <a:prstGeom prst="rect">
            <a:avLst/>
          </a:prstGeom>
        </p:spPr>
        <p:txBody>
          <a:bodyPr wrap="none">
            <a:spAutoFit/>
          </a:bodyPr>
          <a:lstStyle/>
          <a:p>
            <a:r>
              <a:rPr lang="en-US" sz="2800" b="1" dirty="0"/>
              <a:t>Application layer</a:t>
            </a:r>
            <a:endParaRPr lang="en-IN" sz="2800" b="1" dirty="0"/>
          </a:p>
        </p:txBody>
      </p:sp>
      <p:sp>
        <p:nvSpPr>
          <p:cNvPr id="3" name="Rectangle 2"/>
          <p:cNvSpPr/>
          <p:nvPr/>
        </p:nvSpPr>
        <p:spPr>
          <a:xfrm>
            <a:off x="190869" y="1587042"/>
            <a:ext cx="8775577" cy="1631216"/>
          </a:xfrm>
          <a:prstGeom prst="rect">
            <a:avLst/>
          </a:prstGeom>
        </p:spPr>
        <p:txBody>
          <a:bodyPr wrap="square">
            <a:spAutoFit/>
          </a:bodyPr>
          <a:lstStyle/>
          <a:p>
            <a:pPr marL="342900" indent="-342900">
              <a:buFont typeface="Arial" panose="020B0604020202020204" pitchFamily="34" charset="0"/>
              <a:buChar char="•"/>
            </a:pPr>
            <a:r>
              <a:rPr lang="en-US" sz="2000" dirty="0"/>
              <a:t>The application layer is the business logic for digital asset transactions and the execution of smart contracts. </a:t>
            </a:r>
          </a:p>
          <a:p>
            <a:pPr marL="4572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An application developed on top of a </a:t>
            </a:r>
            <a:r>
              <a:rPr lang="en-US" sz="2000" dirty="0" err="1"/>
              <a:t>blockchain</a:t>
            </a:r>
            <a:r>
              <a:rPr lang="en-US" sz="2000" dirty="0"/>
              <a:t> network can be accessed by the clients using the platform layer. </a:t>
            </a:r>
          </a:p>
        </p:txBody>
      </p:sp>
    </p:spTree>
    <p:extLst>
      <p:ext uri="{BB962C8B-B14F-4D97-AF65-F5344CB8AC3E}">
        <p14:creationId xmlns:p14="http://schemas.microsoft.com/office/powerpoint/2010/main" val="681139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11</a:t>
            </a:fld>
            <a:endParaRPr dirty="0"/>
          </a:p>
        </p:txBody>
      </p:sp>
      <p:sp>
        <p:nvSpPr>
          <p:cNvPr id="5" name="Google Shape;77;p16"/>
          <p:cNvSpPr txBox="1">
            <a:spLocks/>
          </p:cNvSpPr>
          <p:nvPr/>
        </p:nvSpPr>
        <p:spPr>
          <a:xfrm>
            <a:off x="0" y="462410"/>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166580" y="1507785"/>
            <a:ext cx="8666702" cy="4801314"/>
          </a:xfrm>
          <a:prstGeom prst="rect">
            <a:avLst/>
          </a:prstGeom>
        </p:spPr>
        <p:txBody>
          <a:bodyPr wrap="square">
            <a:spAutoFit/>
          </a:bodyPr>
          <a:lstStyle/>
          <a:p>
            <a:pPr algn="just"/>
            <a:r>
              <a:rPr lang="en-US" sz="1800" dirty="0">
                <a:latin typeface="+mn-lt"/>
              </a:rPr>
              <a:t>The layers of the </a:t>
            </a:r>
            <a:r>
              <a:rPr lang="en-US" sz="1800" dirty="0" err="1">
                <a:latin typeface="+mn-lt"/>
              </a:rPr>
              <a:t>blockchain</a:t>
            </a:r>
            <a:r>
              <a:rPr lang="en-US" sz="1800" dirty="0">
                <a:latin typeface="+mn-lt"/>
              </a:rPr>
              <a:t> architecture have the following characteristics. </a:t>
            </a:r>
          </a:p>
          <a:p>
            <a:pPr marL="285750" lvl="1" indent="-285750" algn="just">
              <a:buFont typeface="Arial" panose="020B0604020202020204" pitchFamily="34" charset="0"/>
              <a:buChar char="•"/>
            </a:pPr>
            <a:r>
              <a:rPr lang="en-US" sz="1600" b="1" dirty="0">
                <a:latin typeface="+mn-lt"/>
                <a:cs typeface="Times New Roman" panose="02020603050405020304" pitchFamily="18" charset="0"/>
              </a:rPr>
              <a:t>Decentralization</a:t>
            </a:r>
            <a:r>
              <a:rPr lang="en-US" sz="1600" dirty="0">
                <a:latin typeface="+mn-lt"/>
                <a:cs typeface="Times New Roman" panose="02020603050405020304" pitchFamily="18" charset="0"/>
              </a:rPr>
              <a:t>: The transactions in </a:t>
            </a:r>
            <a:r>
              <a:rPr lang="en-US" sz="1600" dirty="0" err="1">
                <a:latin typeface="+mn-lt"/>
                <a:cs typeface="Times New Roman" panose="02020603050405020304" pitchFamily="18" charset="0"/>
              </a:rPr>
              <a:t>blockchain</a:t>
            </a:r>
            <a:r>
              <a:rPr lang="en-US" sz="1600" dirty="0">
                <a:latin typeface="+mn-lt"/>
                <a:cs typeface="Times New Roman" panose="02020603050405020304" pitchFamily="18" charset="0"/>
              </a:rPr>
              <a:t> are processed and validated by the consensus of most network nodes. They are replicated on the nodes in a ledger. This eliminates the need for an intermediary to share and maintain the transactions data. </a:t>
            </a:r>
          </a:p>
          <a:p>
            <a:pPr marL="285750" lvl="1" indent="-285750" algn="just">
              <a:buFont typeface="Arial" panose="020B0604020202020204" pitchFamily="34" charset="0"/>
              <a:buChar char="•"/>
            </a:pPr>
            <a:r>
              <a:rPr lang="en-US" sz="1600" b="1" dirty="0">
                <a:latin typeface="+mn-lt"/>
                <a:cs typeface="Times New Roman" panose="02020603050405020304" pitchFamily="18" charset="0"/>
              </a:rPr>
              <a:t>Immutability</a:t>
            </a:r>
            <a:r>
              <a:rPr lang="en-US" sz="1600" dirty="0">
                <a:latin typeface="+mn-lt"/>
                <a:cs typeface="Times New Roman" panose="02020603050405020304" pitchFamily="18" charset="0"/>
              </a:rPr>
              <a:t>: The transactions in </a:t>
            </a:r>
            <a:r>
              <a:rPr lang="en-US" sz="1600" dirty="0" err="1">
                <a:latin typeface="+mn-lt"/>
                <a:cs typeface="Times New Roman" panose="02020603050405020304" pitchFamily="18" charset="0"/>
              </a:rPr>
              <a:t>blockchain</a:t>
            </a:r>
            <a:r>
              <a:rPr lang="en-US" sz="1600" dirty="0">
                <a:latin typeface="+mn-lt"/>
                <a:cs typeface="Times New Roman" panose="02020603050405020304" pitchFamily="18" charset="0"/>
              </a:rPr>
              <a:t> are stored into blocks. Each block in the chain is linked to the previous block using a cryptographic hash function. Any attempt to modify the content of a block will affect the subsequent blocks in the chain. Consequently, a malicious attacker needs to change all the succeeding blocks in the chain to modify a particular block, which is computationally difficult because the chained blocks are replicated over multiple nodes. </a:t>
            </a:r>
          </a:p>
          <a:p>
            <a:pPr marL="285750" lvl="1" indent="-285750" algn="just">
              <a:buFont typeface="Arial" panose="020B0604020202020204" pitchFamily="34" charset="0"/>
              <a:buChar char="•"/>
            </a:pPr>
            <a:r>
              <a:rPr lang="en-US" sz="1600" b="1" dirty="0">
                <a:latin typeface="+mn-lt"/>
                <a:cs typeface="Times New Roman" panose="02020603050405020304" pitchFamily="18" charset="0"/>
              </a:rPr>
              <a:t>Transparency</a:t>
            </a:r>
            <a:r>
              <a:rPr lang="en-US" sz="1600" dirty="0">
                <a:latin typeface="+mn-lt"/>
                <a:cs typeface="Times New Roman" panose="02020603050405020304" pitchFamily="18" charset="0"/>
              </a:rPr>
              <a:t>: The ledger is only updated when most of the nodes reach a consensus. Changes in the network are publicly visible ensuring transparency and security.</a:t>
            </a:r>
          </a:p>
          <a:p>
            <a:pPr marL="285750" lvl="1" indent="-285750" algn="just">
              <a:buFont typeface="Arial" panose="020B0604020202020204" pitchFamily="34" charset="0"/>
              <a:buChar char="•"/>
            </a:pPr>
            <a:r>
              <a:rPr lang="en-US" sz="1600" b="1" dirty="0">
                <a:latin typeface="+mn-lt"/>
                <a:cs typeface="Times New Roman" panose="02020603050405020304" pitchFamily="18" charset="0"/>
              </a:rPr>
              <a:t>Traceability</a:t>
            </a:r>
            <a:r>
              <a:rPr lang="en-US" sz="1600" dirty="0">
                <a:latin typeface="+mn-lt"/>
                <a:cs typeface="Times New Roman" panose="02020603050405020304" pitchFamily="18" charset="0"/>
              </a:rPr>
              <a:t>: The distributed and transparent nature of </a:t>
            </a:r>
            <a:r>
              <a:rPr lang="en-US" sz="1600" dirty="0" err="1">
                <a:latin typeface="+mn-lt"/>
                <a:cs typeface="Times New Roman" panose="02020603050405020304" pitchFamily="18" charset="0"/>
              </a:rPr>
              <a:t>blockchain</a:t>
            </a:r>
            <a:r>
              <a:rPr lang="en-US" sz="1600" dirty="0">
                <a:latin typeface="+mn-lt"/>
                <a:cs typeface="Times New Roman" panose="02020603050405020304" pitchFamily="18" charset="0"/>
              </a:rPr>
              <a:t> makes it easier to trace any transaction event. Each update in the state of an asset can be traced down back to its origin. This helps in making the network more secure, efficient and transparent. </a:t>
            </a:r>
          </a:p>
          <a:p>
            <a:pPr marL="285750" lvl="1" indent="-285750" algn="just">
              <a:buFont typeface="Arial" panose="020B0604020202020204" pitchFamily="34" charset="0"/>
              <a:buChar char="•"/>
            </a:pPr>
            <a:r>
              <a:rPr lang="en-US" sz="1600" b="1" dirty="0">
                <a:latin typeface="+mn-lt"/>
                <a:cs typeface="Times New Roman" panose="02020603050405020304" pitchFamily="18" charset="0"/>
              </a:rPr>
              <a:t>Trustless</a:t>
            </a:r>
            <a:r>
              <a:rPr lang="en-US" sz="1600" dirty="0">
                <a:latin typeface="+mn-lt"/>
                <a:cs typeface="Times New Roman" panose="02020603050405020304" pitchFamily="18" charset="0"/>
              </a:rPr>
              <a:t>: </a:t>
            </a:r>
            <a:r>
              <a:rPr lang="en-US" sz="1600" dirty="0" err="1">
                <a:latin typeface="+mn-lt"/>
                <a:cs typeface="Times New Roman" panose="02020603050405020304" pitchFamily="18" charset="0"/>
              </a:rPr>
              <a:t>Blockchain</a:t>
            </a:r>
            <a:r>
              <a:rPr lang="en-US" sz="1600" dirty="0">
                <a:latin typeface="+mn-lt"/>
                <a:cs typeface="Times New Roman" panose="02020603050405020304" pitchFamily="18" charset="0"/>
              </a:rPr>
              <a:t> allows transaction of assets between unknown parties who do not trust each other. By distributing the ledger across several nodes in the network and updating this ledger via a consensus ensures the validity of transactions in an untrusted environment.</a:t>
            </a:r>
            <a:endParaRPr lang="en-IN" sz="1600" dirty="0">
              <a:latin typeface="+mn-lt"/>
              <a:cs typeface="Times New Roman" panose="02020603050405020304" pitchFamily="18" charset="0"/>
            </a:endParaRPr>
          </a:p>
        </p:txBody>
      </p:sp>
    </p:spTree>
    <p:extLst>
      <p:ext uri="{BB962C8B-B14F-4D97-AF65-F5344CB8AC3E}">
        <p14:creationId xmlns:p14="http://schemas.microsoft.com/office/powerpoint/2010/main" val="122585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7859844" cy="480131"/>
          </a:xfrm>
          <a:prstGeom prst="rect">
            <a:avLst/>
          </a:prstGeom>
        </p:spPr>
        <p:txBody>
          <a:bodyPr wrap="none">
            <a:spAutoFit/>
          </a:bodyPr>
          <a:lstStyle/>
          <a:p>
            <a:pPr lvl="0">
              <a:lnSpc>
                <a:spcPct val="90000"/>
              </a:lnSpc>
              <a:buClr>
                <a:srgbClr val="1C1573"/>
              </a:buClr>
              <a:buSzPts val="1500"/>
            </a:pPr>
            <a:r>
              <a:rPr lang="en-US" sz="2800" b="1" dirty="0"/>
              <a:t>Blockchain Enterprise reference architecture</a:t>
            </a:r>
          </a:p>
        </p:txBody>
      </p:sp>
      <p:pic>
        <p:nvPicPr>
          <p:cNvPr id="11" name="Google Shape;133;gd8ee4bd241_0_667"/>
          <p:cNvPicPr preferRelativeResize="0"/>
          <p:nvPr/>
        </p:nvPicPr>
        <p:blipFill rotWithShape="1">
          <a:blip r:embed="rId3">
            <a:alphaModFix/>
          </a:blip>
          <a:srcRect l="4185" b="4616"/>
          <a:stretch/>
        </p:blipFill>
        <p:spPr>
          <a:xfrm>
            <a:off x="52924" y="1587043"/>
            <a:ext cx="8218685" cy="4751613"/>
          </a:xfrm>
          <a:prstGeom prst="rect">
            <a:avLst/>
          </a:prstGeom>
          <a:noFill/>
          <a:ln>
            <a:noFill/>
          </a:ln>
        </p:spPr>
      </p:pic>
      <p:pic>
        <p:nvPicPr>
          <p:cNvPr id="12" name="Google Shape;134;gd8ee4bd241_0_667"/>
          <p:cNvPicPr preferRelativeResize="0"/>
          <p:nvPr/>
        </p:nvPicPr>
        <p:blipFill>
          <a:blip r:embed="rId4">
            <a:alphaModFix/>
          </a:blip>
          <a:stretch>
            <a:fillRect/>
          </a:stretch>
        </p:blipFill>
        <p:spPr>
          <a:xfrm>
            <a:off x="4770939" y="5238558"/>
            <a:ext cx="648399" cy="648399"/>
          </a:xfrm>
          <a:prstGeom prst="rect">
            <a:avLst/>
          </a:prstGeom>
          <a:noFill/>
          <a:ln>
            <a:noFill/>
          </a:ln>
        </p:spPr>
      </p:pic>
      <p:pic>
        <p:nvPicPr>
          <p:cNvPr id="13" name="Google Shape;135;gd8ee4bd241_0_667"/>
          <p:cNvPicPr preferRelativeResize="0"/>
          <p:nvPr/>
        </p:nvPicPr>
        <p:blipFill>
          <a:blip r:embed="rId4">
            <a:alphaModFix/>
          </a:blip>
          <a:stretch>
            <a:fillRect/>
          </a:stretch>
        </p:blipFill>
        <p:spPr>
          <a:xfrm>
            <a:off x="7623210" y="3136500"/>
            <a:ext cx="648399" cy="648399"/>
          </a:xfrm>
          <a:prstGeom prst="rect">
            <a:avLst/>
          </a:prstGeom>
          <a:noFill/>
          <a:ln>
            <a:noFill/>
          </a:ln>
        </p:spPr>
      </p:pic>
      <p:sp>
        <p:nvSpPr>
          <p:cNvPr id="4" name="Rectangle 3"/>
          <p:cNvSpPr/>
          <p:nvPr/>
        </p:nvSpPr>
        <p:spPr>
          <a:xfrm>
            <a:off x="3224983" y="6338656"/>
            <a:ext cx="6948827" cy="276999"/>
          </a:xfrm>
          <a:prstGeom prst="rect">
            <a:avLst/>
          </a:prstGeom>
        </p:spPr>
        <p:txBody>
          <a:bodyPr wrap="square">
            <a:spAutoFit/>
          </a:bodyPr>
          <a:lstStyle/>
          <a:p>
            <a:r>
              <a:rPr lang="en-IN" sz="1200" dirty="0"/>
              <a:t>https://cloudsolutions.academy/how-to/blockchain-reference-architecture/application/</a:t>
            </a:r>
          </a:p>
        </p:txBody>
      </p:sp>
    </p:spTree>
    <p:extLst>
      <p:ext uri="{BB962C8B-B14F-4D97-AF65-F5344CB8AC3E}">
        <p14:creationId xmlns:p14="http://schemas.microsoft.com/office/powerpoint/2010/main" val="94220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13</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1951175" cy="523220"/>
          </a:xfrm>
          <a:prstGeom prst="rect">
            <a:avLst/>
          </a:prstGeom>
        </p:spPr>
        <p:txBody>
          <a:bodyPr wrap="none">
            <a:spAutoFit/>
          </a:bodyPr>
          <a:lstStyle/>
          <a:p>
            <a:r>
              <a:rPr lang="en-US" sz="2800" b="1" dirty="0">
                <a:solidFill>
                  <a:schemeClr val="tx1"/>
                </a:solidFill>
                <a:latin typeface="Dosis" panose="020B0604020202020204" pitchFamily="2" charset="0"/>
              </a:rPr>
              <a:t>Application</a:t>
            </a:r>
            <a:endParaRPr lang="en-IN" sz="2800" b="1" dirty="0">
              <a:solidFill>
                <a:schemeClr val="tx1"/>
              </a:solidFill>
            </a:endParaRPr>
          </a:p>
        </p:txBody>
      </p:sp>
      <p:sp>
        <p:nvSpPr>
          <p:cNvPr id="3" name="Rectangle 2"/>
          <p:cNvSpPr/>
          <p:nvPr/>
        </p:nvSpPr>
        <p:spPr>
          <a:xfrm>
            <a:off x="221940" y="1587043"/>
            <a:ext cx="8327255" cy="5078313"/>
          </a:xfrm>
          <a:prstGeom prst="rect">
            <a:avLst/>
          </a:prstGeom>
        </p:spPr>
        <p:txBody>
          <a:bodyPr wrap="square">
            <a:spAutoFit/>
          </a:bodyPr>
          <a:lstStyle/>
          <a:p>
            <a:pPr marL="285750" indent="-285750">
              <a:buFont typeface="Arial" panose="020B0604020202020204" pitchFamily="34" charset="0"/>
              <a:buChar char="•"/>
            </a:pPr>
            <a:r>
              <a:rPr lang="en-US" sz="1800" b="1" dirty="0">
                <a:solidFill>
                  <a:schemeClr val="tx1"/>
                </a:solidFill>
                <a:latin typeface="+mn-lt"/>
              </a:rPr>
              <a:t>The application layer is where your end user or client application sits. </a:t>
            </a:r>
          </a:p>
          <a:p>
            <a:pPr marL="285750" indent="-285750">
              <a:buFont typeface="Arial" panose="020B0604020202020204" pitchFamily="34" charset="0"/>
              <a:buChar char="•"/>
            </a:pPr>
            <a:r>
              <a:rPr lang="en-US" sz="1800" dirty="0">
                <a:solidFill>
                  <a:schemeClr val="tx1"/>
                </a:solidFill>
                <a:latin typeface="+mn-lt"/>
              </a:rPr>
              <a:t>The client application typically kick starts your business workflow by initiating a transaction. The transactions are executed by the nodes using </a:t>
            </a:r>
            <a:r>
              <a:rPr lang="en-US" sz="1800" b="1" dirty="0">
                <a:solidFill>
                  <a:srgbClr val="FF0000"/>
                </a:solidFill>
                <a:latin typeface="+mn-lt"/>
              </a:rPr>
              <a:t>smart contract. </a:t>
            </a:r>
          </a:p>
          <a:p>
            <a:pPr marL="285750" indent="-285750">
              <a:buFont typeface="Arial" panose="020B0604020202020204" pitchFamily="34" charset="0"/>
              <a:buChar char="•"/>
            </a:pPr>
            <a:r>
              <a:rPr lang="en-US" sz="1800" dirty="0">
                <a:solidFill>
                  <a:schemeClr val="tx1"/>
                </a:solidFill>
                <a:latin typeface="+mn-lt"/>
              </a:rPr>
              <a:t>The client application could be implemented in any software language and can run on a wide variety of operating systems.</a:t>
            </a:r>
          </a:p>
          <a:p>
            <a:pPr marL="285750" indent="-285750">
              <a:buFont typeface="Arial" panose="020B0604020202020204" pitchFamily="34" charset="0"/>
              <a:buChar char="•"/>
            </a:pPr>
            <a:r>
              <a:rPr lang="en-US" sz="1800" dirty="0">
                <a:solidFill>
                  <a:schemeClr val="tx1"/>
                </a:solidFill>
                <a:latin typeface="+mn-lt"/>
              </a:rPr>
              <a:t> The application could use a </a:t>
            </a:r>
            <a:r>
              <a:rPr lang="en-US" sz="1800" b="1" dirty="0">
                <a:solidFill>
                  <a:srgbClr val="FF0000"/>
                </a:solidFill>
                <a:latin typeface="+mn-lt"/>
              </a:rPr>
              <a:t>command line interface (CLI) tool</a:t>
            </a:r>
            <a:r>
              <a:rPr lang="en-US" sz="1800" dirty="0">
                <a:solidFill>
                  <a:schemeClr val="tx1"/>
                </a:solidFill>
                <a:latin typeface="+mn-lt"/>
              </a:rPr>
              <a:t> as provided by any </a:t>
            </a:r>
            <a:r>
              <a:rPr lang="en-US" sz="1800" dirty="0" err="1">
                <a:solidFill>
                  <a:schemeClr val="tx1"/>
                </a:solidFill>
                <a:latin typeface="+mn-lt"/>
              </a:rPr>
              <a:t>blockchain</a:t>
            </a:r>
            <a:r>
              <a:rPr lang="en-US" sz="1800" dirty="0">
                <a:solidFill>
                  <a:schemeClr val="tx1"/>
                </a:solidFill>
                <a:latin typeface="+mn-lt"/>
              </a:rPr>
              <a:t> framework implementation or it could use </a:t>
            </a:r>
            <a:r>
              <a:rPr lang="en-US" sz="1800" b="1" dirty="0">
                <a:solidFill>
                  <a:srgbClr val="FF0000"/>
                </a:solidFill>
                <a:latin typeface="+mn-lt"/>
              </a:rPr>
              <a:t>language specific SDK (Software Development Kit)</a:t>
            </a:r>
            <a:r>
              <a:rPr lang="en-US" sz="1800" dirty="0">
                <a:solidFill>
                  <a:schemeClr val="tx1"/>
                </a:solidFill>
                <a:latin typeface="+mn-lt"/>
              </a:rPr>
              <a:t> to communicate with nodes on the network. </a:t>
            </a:r>
          </a:p>
          <a:p>
            <a:pPr marL="285750" indent="-285750">
              <a:buFont typeface="Arial" panose="020B0604020202020204" pitchFamily="34" charset="0"/>
              <a:buChar char="•"/>
            </a:pPr>
            <a:r>
              <a:rPr lang="en-US" sz="1800" dirty="0">
                <a:solidFill>
                  <a:schemeClr val="tx1"/>
                </a:solidFill>
                <a:latin typeface="+mn-lt"/>
              </a:rPr>
              <a:t>As the </a:t>
            </a:r>
            <a:r>
              <a:rPr lang="en-US" sz="1800" dirty="0" err="1">
                <a:solidFill>
                  <a:schemeClr val="tx1"/>
                </a:solidFill>
                <a:latin typeface="+mn-lt"/>
              </a:rPr>
              <a:t>blockchain</a:t>
            </a:r>
            <a:r>
              <a:rPr lang="en-US" sz="1800" dirty="0">
                <a:solidFill>
                  <a:schemeClr val="tx1"/>
                </a:solidFill>
                <a:latin typeface="+mn-lt"/>
              </a:rPr>
              <a:t> evolves beyond its traditional image of digital crypto currency based network, we are seeing different types of clients and tools supporting the </a:t>
            </a:r>
            <a:r>
              <a:rPr lang="en-US" sz="1800" dirty="0" err="1">
                <a:solidFill>
                  <a:schemeClr val="tx1"/>
                </a:solidFill>
                <a:latin typeface="+mn-lt"/>
              </a:rPr>
              <a:t>blockchain</a:t>
            </a:r>
            <a:r>
              <a:rPr lang="en-US" sz="1800" dirty="0">
                <a:solidFill>
                  <a:schemeClr val="tx1"/>
                </a:solidFill>
                <a:latin typeface="+mn-lt"/>
              </a:rPr>
              <a:t> framework. </a:t>
            </a:r>
          </a:p>
          <a:p>
            <a:pPr marL="285750" indent="-285750">
              <a:buFont typeface="Arial" panose="020B0604020202020204" pitchFamily="34" charset="0"/>
              <a:buChar char="•"/>
            </a:pPr>
            <a:r>
              <a:rPr lang="en-US" sz="1800" dirty="0">
                <a:solidFill>
                  <a:schemeClr val="tx1"/>
                </a:solidFill>
                <a:latin typeface="+mn-lt"/>
              </a:rPr>
              <a:t>The client application can also listen to various types of events occurring on the blockchain network and perform the necessary actions on those events.</a:t>
            </a:r>
          </a:p>
          <a:p>
            <a:pPr marL="285750" indent="-285750">
              <a:buFont typeface="Arial" panose="020B0604020202020204" pitchFamily="34" charset="0"/>
              <a:buChar char="•"/>
            </a:pPr>
            <a:r>
              <a:rPr lang="en-US" sz="1800" dirty="0">
                <a:solidFill>
                  <a:schemeClr val="tx1"/>
                </a:solidFill>
                <a:latin typeface="+mn-lt"/>
              </a:rPr>
              <a:t>The event may be as simple as providing status update to the application from the network. One can also have a separate dedicated application to monitor the </a:t>
            </a:r>
            <a:r>
              <a:rPr lang="en-US" sz="1800" dirty="0" err="1">
                <a:solidFill>
                  <a:schemeClr val="tx1"/>
                </a:solidFill>
                <a:latin typeface="+mn-lt"/>
              </a:rPr>
              <a:t>blockchain</a:t>
            </a:r>
            <a:r>
              <a:rPr lang="en-US" sz="1800" dirty="0">
                <a:solidFill>
                  <a:schemeClr val="tx1"/>
                </a:solidFill>
                <a:latin typeface="+mn-lt"/>
              </a:rPr>
              <a:t> network.</a:t>
            </a:r>
          </a:p>
        </p:txBody>
      </p:sp>
    </p:spTree>
    <p:extLst>
      <p:ext uri="{BB962C8B-B14F-4D97-AF65-F5344CB8AC3E}">
        <p14:creationId xmlns:p14="http://schemas.microsoft.com/office/powerpoint/2010/main" val="1609241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14</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2722220" cy="523220"/>
          </a:xfrm>
          <a:prstGeom prst="rect">
            <a:avLst/>
          </a:prstGeom>
        </p:spPr>
        <p:txBody>
          <a:bodyPr wrap="none">
            <a:spAutoFit/>
          </a:bodyPr>
          <a:lstStyle/>
          <a:p>
            <a:r>
              <a:rPr lang="en-US" sz="2800" b="1" dirty="0">
                <a:solidFill>
                  <a:schemeClr val="tx1"/>
                </a:solidFill>
                <a:latin typeface="+mn-lt"/>
              </a:rPr>
              <a:t>Smart contract</a:t>
            </a:r>
            <a:endParaRPr lang="en-IN" sz="2800" dirty="0">
              <a:solidFill>
                <a:schemeClr val="tx1"/>
              </a:solidFill>
              <a:latin typeface="+mn-lt"/>
            </a:endParaRPr>
          </a:p>
        </p:txBody>
      </p:sp>
      <p:sp>
        <p:nvSpPr>
          <p:cNvPr id="3" name="Rectangle 2"/>
          <p:cNvSpPr/>
          <p:nvPr/>
        </p:nvSpPr>
        <p:spPr>
          <a:xfrm>
            <a:off x="148824" y="1372254"/>
            <a:ext cx="9024151" cy="5355312"/>
          </a:xfrm>
          <a:prstGeom prst="rect">
            <a:avLst/>
          </a:prstGeom>
        </p:spPr>
        <p:txBody>
          <a:bodyPr wrap="square">
            <a:spAutoFit/>
          </a:bodyPr>
          <a:lstStyle/>
          <a:p>
            <a:pPr marL="285750" indent="-285750">
              <a:buFont typeface="Arial" panose="020B0604020202020204" pitchFamily="34" charset="0"/>
              <a:buChar char="•"/>
            </a:pPr>
            <a:r>
              <a:rPr lang="en-US" sz="1800" b="1" dirty="0">
                <a:solidFill>
                  <a:schemeClr val="tx1"/>
                </a:solidFill>
              </a:rPr>
              <a:t>Smart contract is a software code that represents transactions in the </a:t>
            </a:r>
            <a:r>
              <a:rPr lang="en-US" sz="1800" b="1" dirty="0" err="1">
                <a:solidFill>
                  <a:schemeClr val="tx1"/>
                </a:solidFill>
              </a:rPr>
              <a:t>blockchain</a:t>
            </a:r>
            <a:r>
              <a:rPr lang="en-US" sz="1800" b="1" dirty="0">
                <a:solidFill>
                  <a:schemeClr val="tx1"/>
                </a:solidFill>
              </a:rPr>
              <a:t> network. </a:t>
            </a:r>
          </a:p>
          <a:p>
            <a:pPr marL="285750" indent="-285750">
              <a:buFont typeface="Arial" panose="020B0604020202020204" pitchFamily="34" charset="0"/>
              <a:buChar char="•"/>
            </a:pPr>
            <a:r>
              <a:rPr lang="en-US" sz="1800" dirty="0">
                <a:solidFill>
                  <a:schemeClr val="tx1"/>
                </a:solidFill>
              </a:rPr>
              <a:t>It is a collection of </a:t>
            </a:r>
            <a:r>
              <a:rPr lang="en-US" sz="1800" i="1" dirty="0">
                <a:solidFill>
                  <a:schemeClr val="tx1"/>
                </a:solidFill>
              </a:rPr>
              <a:t>business rules or conditions </a:t>
            </a:r>
            <a:r>
              <a:rPr lang="en-US" sz="1800" dirty="0">
                <a:solidFill>
                  <a:schemeClr val="tx1"/>
                </a:solidFill>
              </a:rPr>
              <a:t>that are invoked by the nodes in the </a:t>
            </a:r>
            <a:r>
              <a:rPr lang="en-US" sz="1800" dirty="0" err="1">
                <a:solidFill>
                  <a:schemeClr val="tx1"/>
                </a:solidFill>
              </a:rPr>
              <a:t>blockchain</a:t>
            </a:r>
            <a:r>
              <a:rPr lang="en-US" sz="1800" dirty="0">
                <a:solidFill>
                  <a:schemeClr val="tx1"/>
                </a:solidFill>
              </a:rPr>
              <a:t> network. </a:t>
            </a:r>
          </a:p>
          <a:p>
            <a:pPr marL="285750" indent="-285750">
              <a:buFont typeface="Arial" panose="020B0604020202020204" pitchFamily="34" charset="0"/>
              <a:buChar char="•"/>
            </a:pPr>
            <a:r>
              <a:rPr lang="en-US" sz="1800" dirty="0">
                <a:solidFill>
                  <a:schemeClr val="tx1"/>
                </a:solidFill>
              </a:rPr>
              <a:t>Smart contract can have its own execution runtime or a virtual machine environment. </a:t>
            </a:r>
          </a:p>
          <a:p>
            <a:pPr marL="285750" indent="-285750">
              <a:buFont typeface="Arial" panose="020B0604020202020204" pitchFamily="34" charset="0"/>
              <a:buChar char="•"/>
            </a:pPr>
            <a:r>
              <a:rPr lang="en-US" sz="1800" dirty="0">
                <a:solidFill>
                  <a:schemeClr val="tx1"/>
                </a:solidFill>
              </a:rPr>
              <a:t>It can be made to run in a secured context, like a virtualized container. </a:t>
            </a:r>
          </a:p>
          <a:p>
            <a:pPr marL="285750" indent="-285750">
              <a:buFont typeface="Arial" panose="020B0604020202020204" pitchFamily="34" charset="0"/>
              <a:buChar char="•"/>
            </a:pPr>
            <a:r>
              <a:rPr lang="en-US" sz="1800" dirty="0">
                <a:solidFill>
                  <a:schemeClr val="tx1"/>
                </a:solidFill>
              </a:rPr>
              <a:t>Smart contract can be implemented in any software languages, the popular being, but not limited to, Java, Python, Go, JavaScript and Scala. </a:t>
            </a:r>
          </a:p>
          <a:p>
            <a:pPr marL="285750" indent="-285750">
              <a:buFont typeface="Arial" panose="020B0604020202020204" pitchFamily="34" charset="0"/>
              <a:buChar char="•"/>
            </a:pPr>
            <a:r>
              <a:rPr lang="en-US" sz="1800" dirty="0">
                <a:solidFill>
                  <a:schemeClr val="tx1"/>
                </a:solidFill>
              </a:rPr>
              <a:t>Smart contract can be also written as services and placed in registries so that client can look up for the same in a location independent way. </a:t>
            </a:r>
          </a:p>
          <a:p>
            <a:pPr marL="285750" indent="-285750">
              <a:buFont typeface="Arial" panose="020B0604020202020204" pitchFamily="34" charset="0"/>
              <a:buChar char="•"/>
            </a:pPr>
            <a:r>
              <a:rPr lang="en-US" sz="1800" dirty="0">
                <a:solidFill>
                  <a:schemeClr val="tx1"/>
                </a:solidFill>
              </a:rPr>
              <a:t>The registries can be secured, and access can be controlled so that only authorized clients can act upon that contract. </a:t>
            </a:r>
          </a:p>
          <a:p>
            <a:pPr marL="285750" indent="-285750">
              <a:buFont typeface="Arial" panose="020B0604020202020204" pitchFamily="34" charset="0"/>
              <a:buChar char="•"/>
            </a:pPr>
            <a:r>
              <a:rPr lang="en-US" sz="1800" dirty="0">
                <a:solidFill>
                  <a:schemeClr val="tx1"/>
                </a:solidFill>
              </a:rPr>
              <a:t>Smart contract itself can be made secured using cryptographic hash algorithms so that it’s content (software code and related metadata) are made confidential. </a:t>
            </a:r>
          </a:p>
          <a:p>
            <a:pPr marL="285750" indent="-285750">
              <a:buFont typeface="Arial" panose="020B0604020202020204" pitchFamily="34" charset="0"/>
              <a:buChar char="•"/>
            </a:pPr>
            <a:r>
              <a:rPr lang="en-US" sz="1800" dirty="0">
                <a:solidFill>
                  <a:schemeClr val="tx1"/>
                </a:solidFill>
              </a:rPr>
              <a:t>Smart contract can also be programmed to communicate or broadcast transaction state transitions in the form of events. It could be lifecycle events of the contract itself. </a:t>
            </a:r>
          </a:p>
          <a:p>
            <a:pPr marL="285750" indent="-285750">
              <a:buFont typeface="Arial" panose="020B0604020202020204" pitchFamily="34" charset="0"/>
              <a:buChar char="•"/>
            </a:pPr>
            <a:r>
              <a:rPr lang="en-US" sz="1800" dirty="0">
                <a:solidFill>
                  <a:schemeClr val="tx1"/>
                </a:solidFill>
              </a:rPr>
              <a:t>The application client can listen to these events and handle them accordingly.</a:t>
            </a:r>
          </a:p>
        </p:txBody>
      </p:sp>
    </p:spTree>
    <p:extLst>
      <p:ext uri="{BB962C8B-B14F-4D97-AF65-F5344CB8AC3E}">
        <p14:creationId xmlns:p14="http://schemas.microsoft.com/office/powerpoint/2010/main" val="1111939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15</a:t>
            </a:fld>
            <a:endParaRPr dirty="0"/>
          </a:p>
        </p:txBody>
      </p:sp>
      <p:sp>
        <p:nvSpPr>
          <p:cNvPr id="5" name="Google Shape;77;p16"/>
          <p:cNvSpPr txBox="1">
            <a:spLocks/>
          </p:cNvSpPr>
          <p:nvPr/>
        </p:nvSpPr>
        <p:spPr>
          <a:xfrm>
            <a:off x="-177800" y="228414"/>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2042547" cy="523220"/>
          </a:xfrm>
          <a:prstGeom prst="rect">
            <a:avLst/>
          </a:prstGeom>
        </p:spPr>
        <p:txBody>
          <a:bodyPr wrap="none">
            <a:spAutoFit/>
          </a:bodyPr>
          <a:lstStyle/>
          <a:p>
            <a:r>
              <a:rPr lang="en-US" sz="2800" b="1" dirty="0">
                <a:solidFill>
                  <a:schemeClr val="tx1"/>
                </a:solidFill>
                <a:latin typeface="+mn-lt"/>
              </a:rPr>
              <a:t>Integration</a:t>
            </a:r>
            <a:endParaRPr lang="en-IN" sz="2800" dirty="0">
              <a:solidFill>
                <a:schemeClr val="tx1"/>
              </a:solidFill>
              <a:latin typeface="+mn-lt"/>
            </a:endParaRPr>
          </a:p>
        </p:txBody>
      </p:sp>
      <p:sp>
        <p:nvSpPr>
          <p:cNvPr id="6" name="Text Placeholder 2">
            <a:extLst>
              <a:ext uri="{FF2B5EF4-FFF2-40B4-BE49-F238E27FC236}">
                <a16:creationId xmlns:a16="http://schemas.microsoft.com/office/drawing/2014/main" id="{CAEE19E2-E1E5-F795-E40A-F77CF5ECD7DA}"/>
              </a:ext>
            </a:extLst>
          </p:cNvPr>
          <p:cNvSpPr>
            <a:spLocks noGrp="1"/>
          </p:cNvSpPr>
          <p:nvPr>
            <p:ph type="body" idx="1"/>
          </p:nvPr>
        </p:nvSpPr>
        <p:spPr>
          <a:xfrm>
            <a:off x="-177800" y="1496378"/>
            <a:ext cx="9082103" cy="5225097"/>
          </a:xfrm>
        </p:spPr>
        <p:txBody>
          <a:bodyPr>
            <a:noAutofit/>
          </a:bodyPr>
          <a:lstStyle/>
          <a:p>
            <a:pPr marL="514350" indent="-285750" algn="l">
              <a:buFont typeface="Arial" panose="020B0604020202020204" pitchFamily="34" charset="0"/>
              <a:buChar char="•"/>
            </a:pPr>
            <a:r>
              <a:rPr lang="en-US" sz="1800" b="0" i="0" dirty="0">
                <a:solidFill>
                  <a:schemeClr val="tx1"/>
                </a:solidFill>
                <a:effectLst/>
                <a:latin typeface="+mn-lt"/>
              </a:rPr>
              <a:t>In today’s world of disruptive technologies where application integration and communication has become so imperative, no one platform can stand in isolation. Blockchain is no different.</a:t>
            </a:r>
          </a:p>
          <a:p>
            <a:pPr marL="514350" indent="-285750" algn="l">
              <a:buFont typeface="Arial" panose="020B0604020202020204" pitchFamily="34" charset="0"/>
              <a:buChar char="•"/>
            </a:pPr>
            <a:endParaRPr lang="en-US" sz="1800" b="0" i="0" dirty="0">
              <a:solidFill>
                <a:schemeClr val="tx1"/>
              </a:solidFill>
              <a:effectLst/>
              <a:latin typeface="+mn-lt"/>
            </a:endParaRPr>
          </a:p>
          <a:p>
            <a:pPr marL="514350" indent="-285750" algn="l">
              <a:buFont typeface="Arial" panose="020B0604020202020204" pitchFamily="34" charset="0"/>
              <a:buChar char="•"/>
            </a:pPr>
            <a:r>
              <a:rPr lang="en-US" sz="1800" b="0" i="0" dirty="0" err="1">
                <a:solidFill>
                  <a:schemeClr val="tx1"/>
                </a:solidFill>
                <a:effectLst/>
                <a:latin typeface="+mn-lt"/>
              </a:rPr>
              <a:t>Blockchain</a:t>
            </a:r>
            <a:r>
              <a:rPr lang="en-US" sz="1800" b="0" i="0" dirty="0">
                <a:solidFill>
                  <a:schemeClr val="tx1"/>
                </a:solidFill>
                <a:effectLst/>
                <a:latin typeface="+mn-lt"/>
              </a:rPr>
              <a:t> network should be able to access any data outside of the network. The data could be part of any external application or system that can provide significant value to the blockchain workflow.  Similarly, external system must also be able to communicate with the blockchain network. One approach could be to setup an external event hub, as a medium to exchange data with external systems through event processing. </a:t>
            </a:r>
          </a:p>
          <a:p>
            <a:pPr marL="514350" indent="-285750" algn="l">
              <a:buFont typeface="Arial" panose="020B0604020202020204" pitchFamily="34" charset="0"/>
              <a:buChar char="•"/>
            </a:pPr>
            <a:endParaRPr lang="en-US" sz="1800" b="0" i="0" dirty="0">
              <a:solidFill>
                <a:schemeClr val="tx1"/>
              </a:solidFill>
              <a:effectLst/>
              <a:latin typeface="+mn-lt"/>
            </a:endParaRPr>
          </a:p>
          <a:p>
            <a:pPr marL="514350" indent="-285750" algn="l">
              <a:buFont typeface="Arial" panose="020B0604020202020204" pitchFamily="34" charset="0"/>
              <a:buChar char="•"/>
            </a:pPr>
            <a:r>
              <a:rPr lang="en-US" sz="1800" b="0" i="0" dirty="0">
                <a:solidFill>
                  <a:schemeClr val="tx1"/>
                </a:solidFill>
                <a:effectLst/>
                <a:latin typeface="+mn-lt"/>
              </a:rPr>
              <a:t>An external application can listen on to a specific event on the hub and accordingly perform some task. On the other hand, a smart contract can listen to events coming from external systems and accordingly execute the business function. The following section explains some other interesting use cases in the integration scenario:</a:t>
            </a:r>
          </a:p>
          <a:p>
            <a:pPr lvl="1"/>
            <a:r>
              <a:rPr lang="en-US" sz="1800" b="1" i="0" dirty="0">
                <a:solidFill>
                  <a:schemeClr val="tx1"/>
                </a:solidFill>
                <a:effectLst/>
                <a:latin typeface="+mn-lt"/>
                <a:cs typeface="Times New Roman" panose="02020603050405020304" pitchFamily="18" charset="0"/>
              </a:rPr>
              <a:t>Artificial Intelligence (AI) Integration</a:t>
            </a:r>
          </a:p>
          <a:p>
            <a:pPr lvl="1"/>
            <a:r>
              <a:rPr lang="en-US" sz="1800" b="1" i="0" dirty="0">
                <a:solidFill>
                  <a:schemeClr val="tx1"/>
                </a:solidFill>
                <a:effectLst/>
                <a:latin typeface="+mn-lt"/>
                <a:cs typeface="Times New Roman" panose="02020603050405020304" pitchFamily="18" charset="0"/>
              </a:rPr>
              <a:t>Cloud Integration &amp; IoT Integration</a:t>
            </a:r>
            <a:endParaRPr lang="en-US" sz="2800" b="0" i="0" dirty="0">
              <a:solidFill>
                <a:schemeClr val="tx1"/>
              </a:solidFill>
              <a:effectLst/>
              <a:latin typeface="+mn-lt"/>
              <a:cs typeface="Times New Roman" panose="02020603050405020304" pitchFamily="18" charset="0"/>
            </a:endParaRPr>
          </a:p>
          <a:p>
            <a:pPr marL="685800" indent="-457200">
              <a:buFont typeface="Arial" panose="020B0604020202020204" pitchFamily="34" charset="0"/>
              <a:buChar char="•"/>
            </a:pPr>
            <a:endParaRPr lang="en-IN" sz="2800" dirty="0">
              <a:solidFill>
                <a:schemeClr val="tx1"/>
              </a:solidFill>
            </a:endParaRPr>
          </a:p>
        </p:txBody>
      </p:sp>
    </p:spTree>
    <p:extLst>
      <p:ext uri="{BB962C8B-B14F-4D97-AF65-F5344CB8AC3E}">
        <p14:creationId xmlns:p14="http://schemas.microsoft.com/office/powerpoint/2010/main" val="3337661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16</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6356227" cy="523220"/>
          </a:xfrm>
          <a:prstGeom prst="rect">
            <a:avLst/>
          </a:prstGeom>
        </p:spPr>
        <p:txBody>
          <a:bodyPr wrap="none">
            <a:spAutoFit/>
          </a:bodyPr>
          <a:lstStyle/>
          <a:p>
            <a:r>
              <a:rPr lang="en-US" sz="2800" b="1">
                <a:solidFill>
                  <a:schemeClr val="tx1"/>
                </a:solidFill>
                <a:latin typeface="+mn-lt"/>
              </a:rPr>
              <a:t>Artificial Intelligence (AI) Integration</a:t>
            </a:r>
            <a:endParaRPr lang="en-IN" sz="2800" b="1" dirty="0">
              <a:solidFill>
                <a:schemeClr val="tx1"/>
              </a:solidFill>
              <a:latin typeface="+mn-lt"/>
            </a:endParaRPr>
          </a:p>
        </p:txBody>
      </p:sp>
      <p:sp>
        <p:nvSpPr>
          <p:cNvPr id="7" name="Rectangle 6"/>
          <p:cNvSpPr/>
          <p:nvPr/>
        </p:nvSpPr>
        <p:spPr>
          <a:xfrm>
            <a:off x="93215" y="1587043"/>
            <a:ext cx="8802210" cy="4651979"/>
          </a:xfrm>
          <a:prstGeom prst="rect">
            <a:avLst/>
          </a:prstGeom>
        </p:spPr>
        <p:txBody>
          <a:bodyPr wrap="square">
            <a:spAutoFit/>
          </a:bodyPr>
          <a:lstStyle/>
          <a:p>
            <a:pPr>
              <a:lnSpc>
                <a:spcPct val="150000"/>
              </a:lnSpc>
            </a:pPr>
            <a:r>
              <a:rPr lang="en-US" sz="2000" dirty="0">
                <a:solidFill>
                  <a:srgbClr val="F9AC26"/>
                </a:solidFill>
              </a:rPr>
              <a:t> </a:t>
            </a:r>
            <a:r>
              <a:rPr lang="en-US" sz="2000" dirty="0"/>
              <a:t>• </a:t>
            </a:r>
            <a:r>
              <a:rPr lang="en-US" sz="2000" b="1" dirty="0"/>
              <a:t>Blockchain</a:t>
            </a:r>
            <a:r>
              <a:rPr lang="en-US" sz="2000" dirty="0"/>
              <a:t> provides a decentralized and secure ledger for storing transaction data.</a:t>
            </a:r>
          </a:p>
          <a:p>
            <a:pPr>
              <a:lnSpc>
                <a:spcPct val="150000"/>
              </a:lnSpc>
            </a:pPr>
            <a:r>
              <a:rPr lang="en-US" sz="2000" dirty="0"/>
              <a:t>• </a:t>
            </a:r>
            <a:r>
              <a:rPr lang="en-US" sz="2000" b="1" dirty="0"/>
              <a:t>AI</a:t>
            </a:r>
            <a:r>
              <a:rPr lang="en-US" sz="2000" dirty="0"/>
              <a:t> can analyze blockchain data using </a:t>
            </a:r>
            <a:r>
              <a:rPr lang="en-US" sz="2000" b="1" dirty="0"/>
              <a:t>machine learning</a:t>
            </a:r>
            <a:r>
              <a:rPr lang="en-US" sz="2000" dirty="0"/>
              <a:t> and advanced algorithms.</a:t>
            </a:r>
          </a:p>
          <a:p>
            <a:pPr>
              <a:lnSpc>
                <a:spcPct val="150000"/>
              </a:lnSpc>
            </a:pPr>
            <a:r>
              <a:rPr lang="en-US" sz="2000" dirty="0"/>
              <a:t>• AI helps in </a:t>
            </a:r>
            <a:r>
              <a:rPr lang="en-US" sz="2000" b="1" dirty="0"/>
              <a:t>anomaly detection</a:t>
            </a:r>
            <a:r>
              <a:rPr lang="en-US" sz="2000" dirty="0"/>
              <a:t>, </a:t>
            </a:r>
            <a:r>
              <a:rPr lang="en-US" sz="2000" b="1" dirty="0"/>
              <a:t>predictive analysis</a:t>
            </a:r>
            <a:r>
              <a:rPr lang="en-US" sz="2000" dirty="0"/>
              <a:t>, and </a:t>
            </a:r>
            <a:r>
              <a:rPr lang="en-US" sz="2000" b="1" dirty="0"/>
              <a:t>business process optimization</a:t>
            </a:r>
            <a:r>
              <a:rPr lang="en-US" sz="2000" dirty="0"/>
              <a:t>.</a:t>
            </a:r>
          </a:p>
          <a:p>
            <a:pPr>
              <a:lnSpc>
                <a:spcPct val="150000"/>
              </a:lnSpc>
            </a:pPr>
            <a:r>
              <a:rPr lang="en-US" sz="2000" dirty="0"/>
              <a:t>• AI can reduce </a:t>
            </a:r>
            <a:r>
              <a:rPr lang="en-US" sz="2000" b="1" dirty="0"/>
              <a:t>transaction costs</a:t>
            </a:r>
            <a:r>
              <a:rPr lang="en-US" sz="2000" dirty="0"/>
              <a:t>, improve </a:t>
            </a:r>
            <a:r>
              <a:rPr lang="en-US" sz="2000" b="1" dirty="0"/>
              <a:t>efficiency</a:t>
            </a:r>
            <a:r>
              <a:rPr lang="en-US" sz="2000" dirty="0"/>
              <a:t>, and increase </a:t>
            </a:r>
            <a:r>
              <a:rPr lang="en-US" sz="2000" b="1" dirty="0"/>
              <a:t>business value</a:t>
            </a:r>
            <a:r>
              <a:rPr lang="en-US" sz="2000" dirty="0"/>
              <a:t>.</a:t>
            </a:r>
          </a:p>
          <a:p>
            <a:pPr>
              <a:lnSpc>
                <a:spcPct val="150000"/>
              </a:lnSpc>
            </a:pPr>
            <a:r>
              <a:rPr lang="en-US" sz="2000" dirty="0"/>
              <a:t>• The combination of </a:t>
            </a:r>
            <a:r>
              <a:rPr lang="en-US" sz="2000" b="1" dirty="0"/>
              <a:t>AI and Blockchain</a:t>
            </a:r>
            <a:r>
              <a:rPr lang="en-US" sz="2000" dirty="0"/>
              <a:t> enables smarter, autonomous, and more secure systems.</a:t>
            </a:r>
          </a:p>
        </p:txBody>
      </p:sp>
    </p:spTree>
    <p:extLst>
      <p:ext uri="{BB962C8B-B14F-4D97-AF65-F5344CB8AC3E}">
        <p14:creationId xmlns:p14="http://schemas.microsoft.com/office/powerpoint/2010/main" val="1651843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17</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3159839" cy="523220"/>
          </a:xfrm>
          <a:prstGeom prst="rect">
            <a:avLst/>
          </a:prstGeom>
        </p:spPr>
        <p:txBody>
          <a:bodyPr wrap="none">
            <a:spAutoFit/>
          </a:bodyPr>
          <a:lstStyle/>
          <a:p>
            <a:r>
              <a:rPr lang="en-US" sz="2800" b="1" dirty="0">
                <a:solidFill>
                  <a:schemeClr val="tx1"/>
                </a:solidFill>
                <a:latin typeface="+mn-lt"/>
              </a:rPr>
              <a:t>Cloud Integration</a:t>
            </a:r>
            <a:endParaRPr lang="en-IN" sz="2800" dirty="0">
              <a:solidFill>
                <a:schemeClr val="tx1"/>
              </a:solidFill>
              <a:latin typeface="+mn-lt"/>
            </a:endParaRPr>
          </a:p>
        </p:txBody>
      </p:sp>
      <p:sp>
        <p:nvSpPr>
          <p:cNvPr id="3" name="Rectangle 2"/>
          <p:cNvSpPr/>
          <p:nvPr/>
        </p:nvSpPr>
        <p:spPr>
          <a:xfrm>
            <a:off x="137604" y="1466471"/>
            <a:ext cx="8695678" cy="4524315"/>
          </a:xfrm>
          <a:prstGeom prst="rect">
            <a:avLst/>
          </a:prstGeom>
        </p:spPr>
        <p:txBody>
          <a:bodyPr wrap="square">
            <a:spAutoFit/>
          </a:bodyPr>
          <a:lstStyle/>
          <a:p>
            <a:pPr>
              <a:lnSpc>
                <a:spcPct val="150000"/>
              </a:lnSpc>
            </a:pPr>
            <a:r>
              <a:rPr lang="en-US" sz="1800" dirty="0">
                <a:solidFill>
                  <a:schemeClr val="tx1"/>
                </a:solidFill>
              </a:rPr>
              <a:t> </a:t>
            </a:r>
            <a:r>
              <a:rPr lang="en-US" sz="1800" dirty="0"/>
              <a:t>• </a:t>
            </a:r>
            <a:r>
              <a:rPr lang="en-US" sz="1800" b="1" dirty="0"/>
              <a:t>Blockchain architecture</a:t>
            </a:r>
            <a:r>
              <a:rPr lang="en-US" sz="1800" dirty="0"/>
              <a:t> can be extended with a </a:t>
            </a:r>
            <a:r>
              <a:rPr lang="en-US" sz="1800" b="1" dirty="0"/>
              <a:t>cloud-hosted component</a:t>
            </a:r>
            <a:r>
              <a:rPr lang="en-US" sz="1800" dirty="0"/>
              <a:t> that provides </a:t>
            </a:r>
            <a:r>
              <a:rPr lang="en-US" sz="1800" b="1" dirty="0"/>
              <a:t>application integration services</a:t>
            </a:r>
            <a:r>
              <a:rPr lang="en-US" sz="1800" dirty="0"/>
              <a:t> such as </a:t>
            </a:r>
            <a:r>
              <a:rPr lang="en-US" sz="1800" b="1" dirty="0"/>
              <a:t>routing, data transformation, protocol translation, and certificate authority services</a:t>
            </a:r>
            <a:r>
              <a:rPr lang="en-US" sz="1800" dirty="0"/>
              <a:t>.</a:t>
            </a:r>
          </a:p>
          <a:p>
            <a:pPr>
              <a:lnSpc>
                <a:spcPct val="150000"/>
              </a:lnSpc>
            </a:pPr>
            <a:r>
              <a:rPr lang="en-US" sz="1800" dirty="0"/>
              <a:t>• This component acts as a </a:t>
            </a:r>
            <a:r>
              <a:rPr lang="en-US" sz="1800" b="1" dirty="0"/>
              <a:t>middleware</a:t>
            </a:r>
            <a:r>
              <a:rPr lang="en-US" sz="1800" dirty="0"/>
              <a:t>, offering its capabilities as </a:t>
            </a:r>
            <a:r>
              <a:rPr lang="en-US" sz="1800" b="1" dirty="0"/>
              <a:t>Blockchain as a Service (BaaS)</a:t>
            </a:r>
            <a:r>
              <a:rPr lang="en-US" sz="1800" dirty="0"/>
              <a:t> in the cloud.</a:t>
            </a:r>
          </a:p>
          <a:p>
            <a:pPr>
              <a:lnSpc>
                <a:spcPct val="150000"/>
              </a:lnSpc>
            </a:pPr>
            <a:r>
              <a:rPr lang="en-US" sz="1800" dirty="0"/>
              <a:t>• The blockchain implementation can provide </a:t>
            </a:r>
            <a:r>
              <a:rPr lang="en-US" sz="1800" b="1" dirty="0"/>
              <a:t>adapters</a:t>
            </a:r>
            <a:r>
              <a:rPr lang="en-US" sz="1800" dirty="0"/>
              <a:t> to connect the blockchain network with the middleware component, both </a:t>
            </a:r>
            <a:r>
              <a:rPr lang="en-US" sz="1800" b="1" dirty="0"/>
              <a:t>within and outside the network</a:t>
            </a:r>
            <a:r>
              <a:rPr lang="en-US" sz="1800" dirty="0"/>
              <a:t>.</a:t>
            </a:r>
          </a:p>
          <a:p>
            <a:pPr>
              <a:lnSpc>
                <a:spcPct val="150000"/>
              </a:lnSpc>
            </a:pPr>
            <a:r>
              <a:rPr lang="en-US" sz="1800" dirty="0"/>
              <a:t>• The blockchain middleware can be hosted in a </a:t>
            </a:r>
            <a:r>
              <a:rPr lang="en-US" sz="1800" b="1" dirty="0"/>
              <a:t>secure sandboxed environment</a:t>
            </a:r>
            <a:r>
              <a:rPr lang="en-US" sz="1800" dirty="0"/>
              <a:t> or a </a:t>
            </a:r>
            <a:r>
              <a:rPr lang="en-US" sz="1800" b="1" dirty="0"/>
              <a:t>virtualized container</a:t>
            </a:r>
            <a:r>
              <a:rPr lang="en-US" sz="1800" dirty="0"/>
              <a:t>, enabling external applications to interact with the blockchain through </a:t>
            </a:r>
            <a:r>
              <a:rPr lang="en-US" sz="1800" b="1" dirty="0"/>
              <a:t>adapters and valid access certificates</a:t>
            </a:r>
            <a:r>
              <a:rPr lang="en-US" sz="1800" dirty="0"/>
              <a:t>.</a:t>
            </a:r>
          </a:p>
          <a:p>
            <a:pPr marL="285750" indent="-285750">
              <a:buFont typeface="Arial" panose="020B0604020202020204" pitchFamily="34" charset="0"/>
              <a:buChar char="•"/>
            </a:pPr>
            <a:endParaRPr lang="en-IN" sz="1800" dirty="0">
              <a:solidFill>
                <a:schemeClr val="tx1"/>
              </a:solidFill>
            </a:endParaRPr>
          </a:p>
        </p:txBody>
      </p:sp>
    </p:spTree>
    <p:extLst>
      <p:ext uri="{BB962C8B-B14F-4D97-AF65-F5344CB8AC3E}">
        <p14:creationId xmlns:p14="http://schemas.microsoft.com/office/powerpoint/2010/main" val="2974798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18</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2680542" cy="523220"/>
          </a:xfrm>
          <a:prstGeom prst="rect">
            <a:avLst/>
          </a:prstGeom>
        </p:spPr>
        <p:txBody>
          <a:bodyPr wrap="none">
            <a:spAutoFit/>
          </a:bodyPr>
          <a:lstStyle/>
          <a:p>
            <a:r>
              <a:rPr lang="en-US" sz="2800" b="1" dirty="0">
                <a:solidFill>
                  <a:schemeClr val="tx1"/>
                </a:solidFill>
                <a:latin typeface="+mn-lt"/>
              </a:rPr>
              <a:t>IoT Integration</a:t>
            </a:r>
            <a:endParaRPr lang="en-IN" sz="2800" b="1" dirty="0">
              <a:solidFill>
                <a:schemeClr val="tx1"/>
              </a:solidFill>
              <a:latin typeface="+mn-lt"/>
            </a:endParaRPr>
          </a:p>
        </p:txBody>
      </p:sp>
      <p:sp>
        <p:nvSpPr>
          <p:cNvPr id="3" name="Rectangle 2"/>
          <p:cNvSpPr/>
          <p:nvPr/>
        </p:nvSpPr>
        <p:spPr>
          <a:xfrm>
            <a:off x="97655" y="1587043"/>
            <a:ext cx="8762260" cy="4555093"/>
          </a:xfrm>
          <a:prstGeom prst="rect">
            <a:avLst/>
          </a:prstGeom>
        </p:spPr>
        <p:txBody>
          <a:bodyPr wrap="square">
            <a:spAutoFit/>
          </a:bodyPr>
          <a:lstStyle/>
          <a:p>
            <a:pPr>
              <a:lnSpc>
                <a:spcPct val="150000"/>
              </a:lnSpc>
            </a:pPr>
            <a:r>
              <a:rPr lang="en-US" sz="2000" dirty="0"/>
              <a:t>• A new wave of integration enables </a:t>
            </a:r>
            <a:r>
              <a:rPr lang="en-US" sz="2000" b="1" dirty="0"/>
              <a:t>IoT devices and sensors</a:t>
            </a:r>
            <a:r>
              <a:rPr lang="en-US" sz="2000" dirty="0"/>
              <a:t> to communicate directly with the </a:t>
            </a:r>
            <a:r>
              <a:rPr lang="en-US" sz="2000" b="1" dirty="0"/>
              <a:t>blockchain network</a:t>
            </a:r>
            <a:r>
              <a:rPr lang="en-US" sz="2000" dirty="0"/>
              <a:t>.</a:t>
            </a:r>
          </a:p>
          <a:p>
            <a:pPr>
              <a:lnSpc>
                <a:spcPct val="150000"/>
              </a:lnSpc>
            </a:pPr>
            <a:r>
              <a:rPr lang="en-US" sz="2000" dirty="0"/>
              <a:t>• Different types of </a:t>
            </a:r>
            <a:r>
              <a:rPr lang="en-US" sz="2000" b="1" dirty="0"/>
              <a:t>IoT devices</a:t>
            </a:r>
            <a:r>
              <a:rPr lang="en-US" sz="2000" dirty="0"/>
              <a:t> can inject data into the blockchain, which is then </a:t>
            </a:r>
            <a:r>
              <a:rPr lang="en-US" sz="2000" b="1" dirty="0"/>
              <a:t>validated by blockchain nodes</a:t>
            </a:r>
            <a:r>
              <a:rPr lang="en-US" sz="2000" dirty="0"/>
              <a:t>.</a:t>
            </a:r>
          </a:p>
          <a:p>
            <a:pPr>
              <a:lnSpc>
                <a:spcPct val="150000"/>
              </a:lnSpc>
            </a:pPr>
            <a:r>
              <a:rPr lang="en-US" sz="2000" dirty="0"/>
              <a:t>• A </a:t>
            </a:r>
            <a:r>
              <a:rPr lang="en-US" sz="2000" b="1" dirty="0"/>
              <a:t>standardized middleware</a:t>
            </a:r>
            <a:r>
              <a:rPr lang="en-US" sz="2000" dirty="0"/>
              <a:t> can collect device data and perform the necessary </a:t>
            </a:r>
            <a:r>
              <a:rPr lang="en-US" sz="2000" b="1" dirty="0"/>
              <a:t>data conversion and transformation</a:t>
            </a:r>
            <a:r>
              <a:rPr lang="en-US" sz="2000" dirty="0"/>
              <a:t> required by the blockchain network.</a:t>
            </a:r>
          </a:p>
          <a:p>
            <a:pPr>
              <a:lnSpc>
                <a:spcPct val="150000"/>
              </a:lnSpc>
            </a:pPr>
            <a:r>
              <a:rPr lang="en-US" sz="2000" dirty="0"/>
              <a:t>• The </a:t>
            </a:r>
            <a:r>
              <a:rPr lang="en-US" sz="2000" b="1" dirty="0"/>
              <a:t>peers/nodes</a:t>
            </a:r>
            <a:r>
              <a:rPr lang="en-US" sz="2000" dirty="0"/>
              <a:t> validate the received data using a </a:t>
            </a:r>
            <a:r>
              <a:rPr lang="en-US" sz="2000" b="1" dirty="0"/>
              <a:t>consensus algorithm</a:t>
            </a:r>
            <a:r>
              <a:rPr lang="en-US" sz="2000" dirty="0"/>
              <a:t> and </a:t>
            </a:r>
            <a:r>
              <a:rPr lang="en-US" sz="2000" b="1" dirty="0"/>
              <a:t>smart contracts</a:t>
            </a:r>
            <a:r>
              <a:rPr lang="en-US" sz="2000" dirty="0"/>
              <a:t>.</a:t>
            </a:r>
          </a:p>
          <a:p>
            <a:pPr marL="285750" indent="-285750">
              <a:buFont typeface="Arial" panose="020B0604020202020204" pitchFamily="34" charset="0"/>
              <a:buChar char="•"/>
            </a:pPr>
            <a:endParaRPr lang="en-IN" sz="2000" dirty="0">
              <a:solidFill>
                <a:schemeClr val="tx1"/>
              </a:solidFill>
              <a:latin typeface="+mn-lt"/>
            </a:endParaRPr>
          </a:p>
        </p:txBody>
      </p:sp>
    </p:spTree>
    <p:extLst>
      <p:ext uri="{BB962C8B-B14F-4D97-AF65-F5344CB8AC3E}">
        <p14:creationId xmlns:p14="http://schemas.microsoft.com/office/powerpoint/2010/main" val="1076571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19</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3381054" cy="523220"/>
          </a:xfrm>
          <a:prstGeom prst="rect">
            <a:avLst/>
          </a:prstGeom>
        </p:spPr>
        <p:txBody>
          <a:bodyPr wrap="none">
            <a:spAutoFit/>
          </a:bodyPr>
          <a:lstStyle/>
          <a:p>
            <a:r>
              <a:rPr lang="en-US" sz="2800" b="1" dirty="0">
                <a:solidFill>
                  <a:schemeClr val="tx1"/>
                </a:solidFill>
                <a:latin typeface="+mn-lt"/>
              </a:rPr>
              <a:t>Distributed Ledger</a:t>
            </a:r>
            <a:endParaRPr lang="en-IN" sz="2800" b="1" dirty="0">
              <a:solidFill>
                <a:schemeClr val="tx1"/>
              </a:solidFill>
              <a:latin typeface="+mn-lt"/>
            </a:endParaRPr>
          </a:p>
        </p:txBody>
      </p:sp>
      <p:sp>
        <p:nvSpPr>
          <p:cNvPr id="3" name="Rectangle 2"/>
          <p:cNvSpPr/>
          <p:nvPr/>
        </p:nvSpPr>
        <p:spPr>
          <a:xfrm>
            <a:off x="88898" y="1466471"/>
            <a:ext cx="9055101" cy="4576702"/>
          </a:xfrm>
          <a:prstGeom prst="rect">
            <a:avLst/>
          </a:prstGeom>
        </p:spPr>
        <p:txBody>
          <a:bodyPr wrap="square">
            <a:spAutoFit/>
          </a:bodyPr>
          <a:lstStyle/>
          <a:p>
            <a:pPr>
              <a:lnSpc>
                <a:spcPct val="150000"/>
              </a:lnSpc>
            </a:pPr>
            <a:r>
              <a:rPr lang="en-US" dirty="0"/>
              <a:t>• The </a:t>
            </a:r>
            <a:r>
              <a:rPr lang="en-US" b="1" dirty="0"/>
              <a:t>distributed ledger</a:t>
            </a:r>
            <a:r>
              <a:rPr lang="en-US" dirty="0"/>
              <a:t> is the </a:t>
            </a:r>
            <a:r>
              <a:rPr lang="en-US" b="1" dirty="0"/>
              <a:t>core persistent layer</a:t>
            </a:r>
            <a:r>
              <a:rPr lang="en-US" dirty="0"/>
              <a:t> of blockchain, providing a </a:t>
            </a:r>
            <a:r>
              <a:rPr lang="en-US" b="1" dirty="0"/>
              <a:t>decentralized and distributed database</a:t>
            </a:r>
            <a:r>
              <a:rPr lang="en-US" dirty="0"/>
              <a:t> of transaction records.</a:t>
            </a:r>
          </a:p>
          <a:p>
            <a:pPr>
              <a:lnSpc>
                <a:spcPct val="150000"/>
              </a:lnSpc>
            </a:pPr>
            <a:r>
              <a:rPr lang="en-US" dirty="0"/>
              <a:t>• Transactions are recorded in chronological order and grouped into </a:t>
            </a:r>
            <a:r>
              <a:rPr lang="en-US" b="1" dirty="0"/>
              <a:t>hashed blocks</a:t>
            </a:r>
            <a:r>
              <a:rPr lang="en-US" dirty="0"/>
              <a:t>.</a:t>
            </a:r>
          </a:p>
          <a:p>
            <a:pPr>
              <a:lnSpc>
                <a:spcPct val="150000"/>
              </a:lnSpc>
            </a:pPr>
            <a:r>
              <a:rPr lang="en-US" dirty="0"/>
              <a:t>• The ledger forms a </a:t>
            </a:r>
            <a:r>
              <a:rPr lang="en-US" b="1" dirty="0"/>
              <a:t>chain of blocks</a:t>
            </a:r>
            <a:r>
              <a:rPr lang="en-US" dirty="0"/>
              <a:t>, where each block references the </a:t>
            </a:r>
            <a:r>
              <a:rPr lang="en-US" b="1" dirty="0"/>
              <a:t>previous block</a:t>
            </a:r>
            <a:r>
              <a:rPr lang="en-US" dirty="0"/>
              <a:t> using cryptographic hashes.</a:t>
            </a:r>
          </a:p>
          <a:p>
            <a:pPr>
              <a:lnSpc>
                <a:spcPct val="150000"/>
              </a:lnSpc>
            </a:pPr>
            <a:r>
              <a:rPr lang="en-US" dirty="0"/>
              <a:t>• The ledger is </a:t>
            </a:r>
            <a:r>
              <a:rPr lang="en-US" b="1" dirty="0"/>
              <a:t>shared across all nodes</a:t>
            </a:r>
            <a:r>
              <a:rPr lang="en-US" dirty="0"/>
              <a:t>, and each node maintains a copy and </a:t>
            </a:r>
            <a:r>
              <a:rPr lang="en-US" b="1" dirty="0"/>
              <a:t>independently verifies transactions</a:t>
            </a:r>
            <a:r>
              <a:rPr lang="en-US" dirty="0"/>
              <a:t>.</a:t>
            </a:r>
          </a:p>
          <a:p>
            <a:pPr>
              <a:lnSpc>
                <a:spcPct val="150000"/>
              </a:lnSpc>
            </a:pPr>
            <a:r>
              <a:rPr lang="en-US" dirty="0"/>
              <a:t>• When nodes agree on the validity of transactions, the network reaches </a:t>
            </a:r>
            <a:r>
              <a:rPr lang="en-US" b="1" dirty="0"/>
              <a:t>consensus</a:t>
            </a:r>
            <a:r>
              <a:rPr lang="en-US" dirty="0"/>
              <a:t>.</a:t>
            </a:r>
          </a:p>
          <a:p>
            <a:pPr>
              <a:lnSpc>
                <a:spcPct val="150000"/>
              </a:lnSpc>
            </a:pPr>
            <a:r>
              <a:rPr lang="en-US" dirty="0"/>
              <a:t>• </a:t>
            </a:r>
            <a:r>
              <a:rPr lang="en-US" b="1" dirty="0"/>
              <a:t>Consensus algorithms</a:t>
            </a:r>
            <a:r>
              <a:rPr lang="en-US" dirty="0"/>
              <a:t> define the rules and conditions for validating transactions and updating the ledger.</a:t>
            </a:r>
          </a:p>
          <a:p>
            <a:pPr>
              <a:lnSpc>
                <a:spcPct val="150000"/>
              </a:lnSpc>
            </a:pPr>
            <a:r>
              <a:rPr lang="en-US" dirty="0"/>
              <a:t>• </a:t>
            </a:r>
            <a:r>
              <a:rPr lang="en-US" b="1" dirty="0"/>
              <a:t>Permissionless ledgers</a:t>
            </a:r>
            <a:r>
              <a:rPr lang="en-US" dirty="0"/>
              <a:t> are typically used in public blockchains, while </a:t>
            </a:r>
            <a:r>
              <a:rPr lang="en-US" b="1" dirty="0"/>
              <a:t>permissioned ledgers</a:t>
            </a:r>
            <a:r>
              <a:rPr lang="en-US" dirty="0"/>
              <a:t> in private or consortium blockchains provide </a:t>
            </a:r>
            <a:r>
              <a:rPr lang="en-US" b="1" dirty="0"/>
              <a:t>access control</a:t>
            </a:r>
            <a:r>
              <a:rPr lang="en-US" dirty="0"/>
              <a:t> over transactions and data.</a:t>
            </a:r>
          </a:p>
          <a:p>
            <a:pPr>
              <a:lnSpc>
                <a:spcPct val="150000"/>
              </a:lnSpc>
            </a:pPr>
            <a:r>
              <a:rPr lang="en-US" b="1" dirty="0"/>
              <a:t>Key Components</a:t>
            </a:r>
            <a:br>
              <a:rPr lang="en-US" dirty="0"/>
            </a:br>
            <a:r>
              <a:rPr lang="en-US" dirty="0"/>
              <a:t>• </a:t>
            </a:r>
            <a:r>
              <a:rPr lang="en-US" b="1" dirty="0"/>
              <a:t>Ledger Conduits</a:t>
            </a:r>
            <a:r>
              <a:rPr lang="en-US" dirty="0"/>
              <a:t> – Mechanisms for transaction propagation and ledger synchronization.</a:t>
            </a:r>
            <a:br>
              <a:rPr lang="en-US" dirty="0"/>
            </a:br>
            <a:r>
              <a:rPr lang="en-US" dirty="0"/>
              <a:t>• </a:t>
            </a:r>
            <a:r>
              <a:rPr lang="en-US" b="1" dirty="0"/>
              <a:t>Consensus Algorithms</a:t>
            </a:r>
            <a:r>
              <a:rPr lang="en-US" dirty="0"/>
              <a:t> – Protocols used to achieve agreement among network participants.</a:t>
            </a:r>
          </a:p>
        </p:txBody>
      </p:sp>
    </p:spTree>
    <p:extLst>
      <p:ext uri="{BB962C8B-B14F-4D97-AF65-F5344CB8AC3E}">
        <p14:creationId xmlns:p14="http://schemas.microsoft.com/office/powerpoint/2010/main" val="542310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20</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3041217" cy="523220"/>
          </a:xfrm>
          <a:prstGeom prst="rect">
            <a:avLst/>
          </a:prstGeom>
        </p:spPr>
        <p:txBody>
          <a:bodyPr wrap="none">
            <a:spAutoFit/>
          </a:bodyPr>
          <a:lstStyle/>
          <a:p>
            <a:r>
              <a:rPr lang="en-US" sz="2800" b="1" dirty="0">
                <a:solidFill>
                  <a:schemeClr val="tx1"/>
                </a:solidFill>
                <a:latin typeface="+mn-lt"/>
              </a:rPr>
              <a:t>Ledger Conduits</a:t>
            </a:r>
            <a:endParaRPr lang="en-IN" sz="2800" b="1" dirty="0">
              <a:solidFill>
                <a:schemeClr val="tx1"/>
              </a:solidFill>
              <a:latin typeface="+mn-lt"/>
            </a:endParaRPr>
          </a:p>
        </p:txBody>
      </p:sp>
      <p:sp>
        <p:nvSpPr>
          <p:cNvPr id="3" name="Rectangle 2"/>
          <p:cNvSpPr/>
          <p:nvPr/>
        </p:nvSpPr>
        <p:spPr>
          <a:xfrm>
            <a:off x="66582" y="1466471"/>
            <a:ext cx="8855475" cy="3884397"/>
          </a:xfrm>
          <a:prstGeom prst="rect">
            <a:avLst/>
          </a:prstGeom>
        </p:spPr>
        <p:txBody>
          <a:bodyPr wrap="square">
            <a:spAutoFit/>
          </a:bodyPr>
          <a:lstStyle/>
          <a:p>
            <a:pPr>
              <a:lnSpc>
                <a:spcPct val="200000"/>
              </a:lnSpc>
            </a:pPr>
            <a:r>
              <a:rPr lang="en-US" sz="1800" dirty="0"/>
              <a:t>• </a:t>
            </a:r>
            <a:r>
              <a:rPr lang="en-US" sz="1800" b="1" dirty="0"/>
              <a:t>Ledger conduits</a:t>
            </a:r>
            <a:r>
              <a:rPr lang="en-US" sz="1800" dirty="0"/>
              <a:t> are </a:t>
            </a:r>
            <a:r>
              <a:rPr lang="en-US" sz="1800" b="1" dirty="0"/>
              <a:t>private channels</a:t>
            </a:r>
            <a:r>
              <a:rPr lang="en-US" sz="1800" dirty="0"/>
              <a:t> within a </a:t>
            </a:r>
            <a:r>
              <a:rPr lang="en-US" sz="1800" b="1" dirty="0"/>
              <a:t>permissioned blockchain network</a:t>
            </a:r>
            <a:r>
              <a:rPr lang="en-US" sz="1800" dirty="0"/>
              <a:t> that enable secure transactions between authorized nodes.</a:t>
            </a:r>
          </a:p>
          <a:p>
            <a:pPr>
              <a:lnSpc>
                <a:spcPct val="200000"/>
              </a:lnSpc>
            </a:pPr>
            <a:r>
              <a:rPr lang="en-US" sz="1800" dirty="0"/>
              <a:t>• Only </a:t>
            </a:r>
            <a:r>
              <a:rPr lang="en-US" sz="1800" b="1" dirty="0"/>
              <a:t>authorized members</a:t>
            </a:r>
            <a:r>
              <a:rPr lang="en-US" sz="1800" dirty="0"/>
              <a:t> can participate in a conduit, ensuring enhanced privacy and access control.</a:t>
            </a:r>
          </a:p>
          <a:p>
            <a:pPr>
              <a:lnSpc>
                <a:spcPct val="200000"/>
              </a:lnSpc>
            </a:pPr>
            <a:r>
              <a:rPr lang="en-US" sz="1800" dirty="0"/>
              <a:t>• Conduits act as </a:t>
            </a:r>
            <a:r>
              <a:rPr lang="en-US" sz="1800" b="1" dirty="0"/>
              <a:t>small private networks within a larger blockchain network</a:t>
            </a:r>
            <a:r>
              <a:rPr lang="en-US" sz="1800" dirty="0"/>
              <a:t>.</a:t>
            </a:r>
          </a:p>
          <a:p>
            <a:pPr>
              <a:lnSpc>
                <a:spcPct val="200000"/>
              </a:lnSpc>
            </a:pPr>
            <a:r>
              <a:rPr lang="en-US" sz="1800" dirty="0"/>
              <a:t>• This pattern provides </a:t>
            </a:r>
            <a:r>
              <a:rPr lang="en-US" sz="1800" b="1" dirty="0"/>
              <a:t>additional security and confidentiality</a:t>
            </a:r>
            <a:r>
              <a:rPr lang="en-US" sz="1800" dirty="0"/>
              <a:t> for enterprise blockchain applications.</a:t>
            </a:r>
          </a:p>
        </p:txBody>
      </p:sp>
    </p:spTree>
    <p:extLst>
      <p:ext uri="{BB962C8B-B14F-4D97-AF65-F5344CB8AC3E}">
        <p14:creationId xmlns:p14="http://schemas.microsoft.com/office/powerpoint/2010/main" val="2584242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solidFill>
                  <a:schemeClr val="tx1"/>
                </a:solidFill>
              </a:rPr>
              <a:t>21</a:t>
            </a:fld>
            <a:endParaRPr dirty="0">
              <a:solidFill>
                <a:schemeClr val="tx1"/>
              </a:solidFill>
            </a:endParaRPr>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solidFill>
                <a:schemeClr val="tx1"/>
              </a:solidFill>
              <a:latin typeface="+mn-lt"/>
              <a:ea typeface="Calibri"/>
              <a:cs typeface="Arial" panose="020B0604020202020204" pitchFamily="34" charset="0"/>
              <a:sym typeface="Calibri"/>
            </a:endParaRPr>
          </a:p>
        </p:txBody>
      </p:sp>
      <p:sp>
        <p:nvSpPr>
          <p:cNvPr id="2" name="Rectangle 1"/>
          <p:cNvSpPr/>
          <p:nvPr/>
        </p:nvSpPr>
        <p:spPr>
          <a:xfrm>
            <a:off x="0" y="822679"/>
            <a:ext cx="4120039" cy="523220"/>
          </a:xfrm>
          <a:prstGeom prst="rect">
            <a:avLst/>
          </a:prstGeom>
        </p:spPr>
        <p:txBody>
          <a:bodyPr wrap="none">
            <a:spAutoFit/>
          </a:bodyPr>
          <a:lstStyle/>
          <a:p>
            <a:r>
              <a:rPr lang="en-US" sz="2800" b="1" dirty="0">
                <a:solidFill>
                  <a:schemeClr val="tx1"/>
                </a:solidFill>
                <a:latin typeface="+mn-lt"/>
              </a:rPr>
              <a:t>Consensus Algorithms</a:t>
            </a:r>
            <a:endParaRPr lang="en-IN" sz="2800" b="1" dirty="0">
              <a:solidFill>
                <a:schemeClr val="tx1"/>
              </a:solidFill>
              <a:latin typeface="+mn-lt"/>
            </a:endParaRPr>
          </a:p>
        </p:txBody>
      </p:sp>
      <p:sp>
        <p:nvSpPr>
          <p:cNvPr id="3" name="Rectangle 2"/>
          <p:cNvSpPr/>
          <p:nvPr/>
        </p:nvSpPr>
        <p:spPr>
          <a:xfrm>
            <a:off x="0" y="1432616"/>
            <a:ext cx="8877670" cy="5016758"/>
          </a:xfrm>
          <a:prstGeom prst="rect">
            <a:avLst/>
          </a:prstGeom>
        </p:spPr>
        <p:txBody>
          <a:bodyPr wrap="square">
            <a:spAutoFit/>
          </a:bodyPr>
          <a:lstStyle/>
          <a:p>
            <a:pPr marL="285750" indent="-285750">
              <a:buFont typeface="Arial" panose="020B0604020202020204" pitchFamily="34" charset="0"/>
              <a:buChar char="•"/>
            </a:pPr>
            <a:r>
              <a:rPr lang="en-US" sz="2000" dirty="0">
                <a:solidFill>
                  <a:schemeClr val="tx1"/>
                </a:solidFill>
              </a:rPr>
              <a:t>The </a:t>
            </a:r>
            <a:r>
              <a:rPr lang="en-US" sz="2000" dirty="0" err="1">
                <a:solidFill>
                  <a:schemeClr val="tx1"/>
                </a:solidFill>
              </a:rPr>
              <a:t>blockchain</a:t>
            </a:r>
            <a:r>
              <a:rPr lang="en-US" sz="2000" dirty="0">
                <a:solidFill>
                  <a:schemeClr val="tx1"/>
                </a:solidFill>
              </a:rPr>
              <a:t> network typically is governed by </a:t>
            </a:r>
            <a:r>
              <a:rPr lang="en-US" sz="2000" b="1" dirty="0">
                <a:solidFill>
                  <a:schemeClr val="tx1"/>
                </a:solidFill>
              </a:rPr>
              <a:t>anonymous entities or nodes </a:t>
            </a:r>
            <a:r>
              <a:rPr lang="en-US" sz="2000" dirty="0">
                <a:solidFill>
                  <a:schemeClr val="tx1"/>
                </a:solidFill>
              </a:rPr>
              <a:t>that are not trusted. </a:t>
            </a:r>
          </a:p>
          <a:p>
            <a:pPr marL="285750" indent="-285750">
              <a:buFont typeface="Arial" panose="020B0604020202020204" pitchFamily="34" charset="0"/>
              <a:buChar char="•"/>
            </a:pPr>
            <a:endParaRPr lang="en-US" sz="2000" dirty="0">
              <a:solidFill>
                <a:schemeClr val="tx1"/>
              </a:solidFill>
            </a:endParaRPr>
          </a:p>
          <a:p>
            <a:pPr marL="285750" indent="-285750">
              <a:buFont typeface="Arial" panose="020B0604020202020204" pitchFamily="34" charset="0"/>
              <a:buChar char="•"/>
            </a:pPr>
            <a:r>
              <a:rPr lang="en-US" sz="2000" dirty="0">
                <a:solidFill>
                  <a:schemeClr val="tx1"/>
                </a:solidFill>
              </a:rPr>
              <a:t>The consensus is all about providing the trust factor in the network. </a:t>
            </a:r>
          </a:p>
          <a:p>
            <a:pPr marL="285750" indent="-285750">
              <a:buFont typeface="Arial" panose="020B0604020202020204" pitchFamily="34" charset="0"/>
              <a:buChar char="•"/>
            </a:pPr>
            <a:r>
              <a:rPr lang="en-US" sz="2000" dirty="0">
                <a:solidFill>
                  <a:schemeClr val="tx1"/>
                </a:solidFill>
              </a:rPr>
              <a:t>Each node can update the blockchain network with data in the form of transaction that eventually needs to be verified before it can be officially recorded as part of block in the ledger. </a:t>
            </a:r>
          </a:p>
          <a:p>
            <a:pPr marL="285750" indent="-285750">
              <a:buFont typeface="Arial" panose="020B0604020202020204" pitchFamily="34" charset="0"/>
              <a:buChar char="•"/>
            </a:pPr>
            <a:endParaRPr lang="en-US" sz="2000" dirty="0">
              <a:solidFill>
                <a:schemeClr val="tx1"/>
              </a:solidFill>
            </a:endParaRPr>
          </a:p>
          <a:p>
            <a:pPr marL="285750" indent="-285750">
              <a:buFont typeface="Arial" panose="020B0604020202020204" pitchFamily="34" charset="0"/>
              <a:buChar char="•"/>
            </a:pPr>
            <a:r>
              <a:rPr lang="en-US" sz="2000" dirty="0">
                <a:solidFill>
                  <a:schemeClr val="tx1"/>
                </a:solidFill>
              </a:rPr>
              <a:t>There are different consensus algorithms that convey how the block (of transactions) is created and validated, thereby enforcing trust in the network.</a:t>
            </a:r>
          </a:p>
          <a:p>
            <a:pPr marL="285750" lvl="1" indent="-285750">
              <a:buFont typeface="Arial" panose="020B0604020202020204" pitchFamily="34" charset="0"/>
              <a:buChar char="•"/>
            </a:pPr>
            <a:endParaRPr lang="en-US" sz="2000" b="1" dirty="0">
              <a:solidFill>
                <a:schemeClr val="tx1"/>
              </a:solidFill>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endParaRPr lang="en-US" sz="2000" b="1" dirty="0">
              <a:solidFill>
                <a:schemeClr val="tx1"/>
              </a:solidFill>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endParaRPr lang="en-US" sz="2000" b="1" dirty="0">
              <a:solidFill>
                <a:schemeClr val="tx1"/>
              </a:solidFill>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solidFill>
                <a:schemeClr val="tx1"/>
              </a:solidFill>
            </a:endParaRPr>
          </a:p>
        </p:txBody>
      </p:sp>
      <p:sp>
        <p:nvSpPr>
          <p:cNvPr id="4" name="Rectangle 3"/>
          <p:cNvSpPr/>
          <p:nvPr/>
        </p:nvSpPr>
        <p:spPr>
          <a:xfrm>
            <a:off x="661386" y="4888467"/>
            <a:ext cx="5064711" cy="830997"/>
          </a:xfrm>
          <a:prstGeom prst="rect">
            <a:avLst/>
          </a:prstGeom>
        </p:spPr>
        <p:txBody>
          <a:bodyPr wrap="square">
            <a:spAutoFit/>
          </a:bodyPr>
          <a:lstStyle/>
          <a:p>
            <a:pPr marL="285750" lvl="1" indent="-285750">
              <a:buFont typeface="Arial" panose="020B0604020202020204" pitchFamily="34" charset="0"/>
              <a:buChar char="•"/>
            </a:pPr>
            <a:r>
              <a:rPr lang="en-US" sz="1600" b="1" dirty="0">
                <a:solidFill>
                  <a:schemeClr val="tx1"/>
                </a:solidFill>
                <a:latin typeface="+mn-lt"/>
                <a:cs typeface="Times New Roman" panose="02020603050405020304" pitchFamily="18" charset="0"/>
              </a:rPr>
              <a:t>Practical Byzantine Fault Tolerance (PBFT)</a:t>
            </a:r>
          </a:p>
          <a:p>
            <a:pPr marL="285750" lvl="1" indent="-285750">
              <a:buFont typeface="Arial" panose="020B0604020202020204" pitchFamily="34" charset="0"/>
              <a:buChar char="•"/>
            </a:pPr>
            <a:r>
              <a:rPr lang="en-US" sz="1600" b="1" dirty="0">
                <a:solidFill>
                  <a:schemeClr val="tx1"/>
                </a:solidFill>
                <a:latin typeface="+mn-lt"/>
                <a:cs typeface="Times New Roman" panose="02020603050405020304" pitchFamily="18" charset="0"/>
              </a:rPr>
              <a:t>Proof-Of-Work (</a:t>
            </a:r>
            <a:r>
              <a:rPr lang="en-US" sz="1600" b="1" dirty="0" err="1">
                <a:solidFill>
                  <a:schemeClr val="tx1"/>
                </a:solidFill>
                <a:latin typeface="+mn-lt"/>
                <a:cs typeface="Times New Roman" panose="02020603050405020304" pitchFamily="18" charset="0"/>
              </a:rPr>
              <a:t>PoW</a:t>
            </a:r>
            <a:r>
              <a:rPr lang="en-US" sz="1600" b="1" dirty="0">
                <a:solidFill>
                  <a:schemeClr val="tx1"/>
                </a:solidFill>
                <a:latin typeface="+mn-lt"/>
                <a:cs typeface="Times New Roman" panose="02020603050405020304" pitchFamily="18" charset="0"/>
              </a:rPr>
              <a:t>)</a:t>
            </a:r>
          </a:p>
          <a:p>
            <a:pPr marL="285750" lvl="1" indent="-285750">
              <a:buFont typeface="Arial" panose="020B0604020202020204" pitchFamily="34" charset="0"/>
              <a:buChar char="•"/>
            </a:pPr>
            <a:r>
              <a:rPr lang="en-US" sz="1600" b="1" dirty="0">
                <a:solidFill>
                  <a:schemeClr val="tx1"/>
                </a:solidFill>
                <a:latin typeface="+mn-lt"/>
                <a:cs typeface="Times New Roman" panose="02020603050405020304" pitchFamily="18" charset="0"/>
              </a:rPr>
              <a:t>Proof-Of-Stake (</a:t>
            </a:r>
            <a:r>
              <a:rPr lang="en-US" sz="1600" b="1" dirty="0" err="1">
                <a:solidFill>
                  <a:schemeClr val="tx1"/>
                </a:solidFill>
                <a:latin typeface="+mn-lt"/>
                <a:cs typeface="Times New Roman" panose="02020603050405020304" pitchFamily="18" charset="0"/>
              </a:rPr>
              <a:t>PoS</a:t>
            </a:r>
            <a:r>
              <a:rPr lang="en-US" sz="1600" b="1" dirty="0">
                <a:solidFill>
                  <a:schemeClr val="tx1"/>
                </a:solidFill>
                <a:latin typeface="+mn-lt"/>
                <a:cs typeface="Times New Roman" panose="02020603050405020304" pitchFamily="18" charset="0"/>
              </a:rPr>
              <a:t>)</a:t>
            </a:r>
          </a:p>
        </p:txBody>
      </p:sp>
    </p:spTree>
    <p:extLst>
      <p:ext uri="{BB962C8B-B14F-4D97-AF65-F5344CB8AC3E}">
        <p14:creationId xmlns:p14="http://schemas.microsoft.com/office/powerpoint/2010/main" val="1757903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22</a:t>
            </a:fld>
            <a:endParaRPr dirty="0"/>
          </a:p>
        </p:txBody>
      </p:sp>
      <p:sp>
        <p:nvSpPr>
          <p:cNvPr id="5" name="Google Shape;77;p16"/>
          <p:cNvSpPr txBox="1">
            <a:spLocks/>
          </p:cNvSpPr>
          <p:nvPr/>
        </p:nvSpPr>
        <p:spPr>
          <a:xfrm>
            <a:off x="0" y="702107"/>
            <a:ext cx="9321800" cy="76436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lt1"/>
              </a:buClr>
              <a:buSzPts val="3200"/>
              <a:buFont typeface="Helvetica Neue"/>
              <a:buNone/>
            </a:pPr>
            <a:endParaRPr lang="en-US" sz="2800" b="1" dirty="0">
              <a:latin typeface="+mn-lt"/>
              <a:ea typeface="Calibri"/>
              <a:cs typeface="Arial" panose="020B0604020202020204" pitchFamily="34" charset="0"/>
              <a:sym typeface="Calibri"/>
            </a:endParaRPr>
          </a:p>
        </p:txBody>
      </p:sp>
      <p:sp>
        <p:nvSpPr>
          <p:cNvPr id="2" name="Rectangle 1"/>
          <p:cNvSpPr/>
          <p:nvPr/>
        </p:nvSpPr>
        <p:spPr>
          <a:xfrm>
            <a:off x="0" y="822679"/>
            <a:ext cx="7516801" cy="523220"/>
          </a:xfrm>
          <a:prstGeom prst="rect">
            <a:avLst/>
          </a:prstGeom>
        </p:spPr>
        <p:txBody>
          <a:bodyPr wrap="none">
            <a:spAutoFit/>
          </a:bodyPr>
          <a:lstStyle/>
          <a:p>
            <a:r>
              <a:rPr lang="en-US" sz="2800" b="1" dirty="0">
                <a:solidFill>
                  <a:schemeClr val="tx1"/>
                </a:solidFill>
                <a:latin typeface="+mn-lt"/>
              </a:rPr>
              <a:t>Practical Byzantine Fault Tolerance (PBFT)</a:t>
            </a:r>
            <a:endParaRPr lang="en-IN" sz="2800" b="1" dirty="0">
              <a:solidFill>
                <a:schemeClr val="tx1"/>
              </a:solidFill>
              <a:latin typeface="+mn-lt"/>
            </a:endParaRPr>
          </a:p>
        </p:txBody>
      </p:sp>
      <p:sp>
        <p:nvSpPr>
          <p:cNvPr id="3" name="Rectangle 2"/>
          <p:cNvSpPr/>
          <p:nvPr/>
        </p:nvSpPr>
        <p:spPr>
          <a:xfrm>
            <a:off x="88900" y="1466471"/>
            <a:ext cx="8904180" cy="4093428"/>
          </a:xfrm>
          <a:prstGeom prst="rect">
            <a:avLst/>
          </a:prstGeom>
        </p:spPr>
        <p:txBody>
          <a:bodyPr wrap="square">
            <a:spAutoFit/>
          </a:bodyPr>
          <a:lstStyle/>
          <a:p>
            <a:pPr>
              <a:lnSpc>
                <a:spcPct val="150000"/>
              </a:lnSpc>
            </a:pPr>
            <a:r>
              <a:rPr lang="en-US" sz="2000" dirty="0"/>
              <a:t>• A </a:t>
            </a:r>
            <a:r>
              <a:rPr lang="en-US" sz="2000" b="1" dirty="0"/>
              <a:t>consensus algorithm</a:t>
            </a:r>
            <a:r>
              <a:rPr lang="en-US" sz="2000" dirty="0"/>
              <a:t> enables nodes to </a:t>
            </a:r>
            <a:r>
              <a:rPr lang="en-US" sz="2000" b="1" dirty="0"/>
              <a:t>validate transactions and update the blockchain</a:t>
            </a:r>
            <a:r>
              <a:rPr lang="en-US" sz="2000" dirty="0"/>
              <a:t> according to predefined rules.</a:t>
            </a:r>
          </a:p>
          <a:p>
            <a:pPr>
              <a:lnSpc>
                <a:spcPct val="150000"/>
              </a:lnSpc>
            </a:pPr>
            <a:r>
              <a:rPr lang="en-US" sz="2000" dirty="0"/>
              <a:t>• The network reaches </a:t>
            </a:r>
            <a:r>
              <a:rPr lang="en-US" sz="2000" b="1" dirty="0"/>
              <a:t>consensus</a:t>
            </a:r>
            <a:r>
              <a:rPr lang="en-US" sz="2000" dirty="0"/>
              <a:t> when a </a:t>
            </a:r>
            <a:r>
              <a:rPr lang="en-US" sz="2000" b="1" dirty="0"/>
              <a:t>majority of nodes</a:t>
            </a:r>
            <a:r>
              <a:rPr lang="en-US" sz="2000" dirty="0"/>
              <a:t> agree on the same result.</a:t>
            </a:r>
          </a:p>
          <a:p>
            <a:pPr>
              <a:lnSpc>
                <a:spcPct val="150000"/>
              </a:lnSpc>
            </a:pPr>
            <a:r>
              <a:rPr lang="en-US" sz="2000" dirty="0"/>
              <a:t>• </a:t>
            </a:r>
            <a:r>
              <a:rPr lang="en-US" sz="2000" b="1" dirty="0"/>
              <a:t>Rogue or malicious nodes</a:t>
            </a:r>
            <a:r>
              <a:rPr lang="en-US" sz="2000" dirty="0"/>
              <a:t> that violate the rules are ignored, as their outcomes are not accepted by the network.</a:t>
            </a:r>
          </a:p>
          <a:p>
            <a:pPr>
              <a:lnSpc>
                <a:spcPct val="150000"/>
              </a:lnSpc>
            </a:pPr>
            <a:r>
              <a:rPr lang="en-US" sz="2000" dirty="0"/>
              <a:t>• All participating nodes must follow and execute the </a:t>
            </a:r>
            <a:r>
              <a:rPr lang="en-US" sz="2000" b="1" dirty="0"/>
              <a:t>same set of rules and conditions</a:t>
            </a:r>
            <a:r>
              <a:rPr lang="en-US" sz="2000" dirty="0"/>
              <a:t> to achieve a valid and consistent outcome.</a:t>
            </a:r>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3841459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23</a:t>
            </a:fld>
            <a:endParaRPr dirty="0"/>
          </a:p>
        </p:txBody>
      </p:sp>
      <p:sp>
        <p:nvSpPr>
          <p:cNvPr id="4" name="Rectangle 3"/>
          <p:cNvSpPr/>
          <p:nvPr/>
        </p:nvSpPr>
        <p:spPr>
          <a:xfrm>
            <a:off x="0" y="789365"/>
            <a:ext cx="3796232" cy="523220"/>
          </a:xfrm>
          <a:prstGeom prst="rect">
            <a:avLst/>
          </a:prstGeom>
        </p:spPr>
        <p:txBody>
          <a:bodyPr wrap="none">
            <a:spAutoFit/>
          </a:bodyPr>
          <a:lstStyle/>
          <a:p>
            <a:r>
              <a:rPr lang="en-US" sz="2800" b="1" dirty="0">
                <a:solidFill>
                  <a:schemeClr val="tx1"/>
                </a:solidFill>
                <a:latin typeface="+mn-lt"/>
              </a:rPr>
              <a:t>Proof-Of-Work (</a:t>
            </a:r>
            <a:r>
              <a:rPr lang="en-US" sz="2800" b="1" dirty="0" err="1">
                <a:solidFill>
                  <a:schemeClr val="tx1"/>
                </a:solidFill>
                <a:latin typeface="+mn-lt"/>
              </a:rPr>
              <a:t>PoW</a:t>
            </a:r>
            <a:r>
              <a:rPr lang="en-US" sz="2800" b="1" dirty="0">
                <a:solidFill>
                  <a:schemeClr val="tx1"/>
                </a:solidFill>
                <a:latin typeface="+mn-lt"/>
              </a:rPr>
              <a:t>)</a:t>
            </a:r>
            <a:endParaRPr lang="en-IN" sz="2800" b="1" dirty="0">
              <a:solidFill>
                <a:schemeClr val="tx1"/>
              </a:solidFill>
              <a:latin typeface="+mn-lt"/>
            </a:endParaRPr>
          </a:p>
        </p:txBody>
      </p:sp>
      <p:sp>
        <p:nvSpPr>
          <p:cNvPr id="6" name="Rectangle 5"/>
          <p:cNvSpPr/>
          <p:nvPr/>
        </p:nvSpPr>
        <p:spPr>
          <a:xfrm>
            <a:off x="0" y="1424347"/>
            <a:ext cx="9144000" cy="4651979"/>
          </a:xfrm>
          <a:prstGeom prst="rect">
            <a:avLst/>
          </a:prstGeom>
        </p:spPr>
        <p:txBody>
          <a:bodyPr wrap="square">
            <a:spAutoFit/>
          </a:bodyPr>
          <a:lstStyle/>
          <a:p>
            <a:pPr>
              <a:lnSpc>
                <a:spcPct val="150000"/>
              </a:lnSpc>
            </a:pPr>
            <a:r>
              <a:rPr lang="en-US" sz="2000" dirty="0"/>
              <a:t>• </a:t>
            </a:r>
            <a:r>
              <a:rPr lang="en-US" sz="2000" b="1" dirty="0"/>
              <a:t>Proof of Work (PoW)</a:t>
            </a:r>
            <a:r>
              <a:rPr lang="en-US" sz="2000" dirty="0"/>
              <a:t> is one of the earliest and most widely used </a:t>
            </a:r>
            <a:r>
              <a:rPr lang="en-US" sz="2000" b="1" dirty="0"/>
              <a:t>consensus algorithms</a:t>
            </a:r>
            <a:r>
              <a:rPr lang="en-US" sz="2000" dirty="0"/>
              <a:t>, used in </a:t>
            </a:r>
            <a:r>
              <a:rPr lang="en-US" sz="2000" b="1" dirty="0"/>
              <a:t>Bitcoin</a:t>
            </a:r>
            <a:r>
              <a:rPr lang="en-US" sz="2000" dirty="0"/>
              <a:t> and earlier versions of </a:t>
            </a:r>
            <a:r>
              <a:rPr lang="en-US" sz="2000" b="1" dirty="0"/>
              <a:t>Ethereum</a:t>
            </a:r>
            <a:r>
              <a:rPr lang="en-US" sz="2000" dirty="0"/>
              <a:t>.</a:t>
            </a:r>
          </a:p>
          <a:p>
            <a:pPr>
              <a:lnSpc>
                <a:spcPct val="150000"/>
              </a:lnSpc>
            </a:pPr>
            <a:r>
              <a:rPr lang="en-US" sz="2000" dirty="0"/>
              <a:t>• PoW requires </a:t>
            </a:r>
            <a:r>
              <a:rPr lang="en-US" sz="2000" b="1" dirty="0"/>
              <a:t>significant computational effort</a:t>
            </a:r>
            <a:r>
              <a:rPr lang="en-US" sz="2000" dirty="0"/>
              <a:t> to solve complex mathematical or cryptographic puzzles.</a:t>
            </a:r>
          </a:p>
          <a:p>
            <a:pPr>
              <a:lnSpc>
                <a:spcPct val="150000"/>
              </a:lnSpc>
            </a:pPr>
            <a:r>
              <a:rPr lang="en-US" sz="2000" dirty="0"/>
              <a:t>• Nodes with higher </a:t>
            </a:r>
            <a:r>
              <a:rPr lang="en-US" sz="2000" b="1" dirty="0"/>
              <a:t>computing power</a:t>
            </a:r>
            <a:r>
              <a:rPr lang="en-US" sz="2000" dirty="0"/>
              <a:t> have a greater chance of solving the puzzle first.</a:t>
            </a:r>
          </a:p>
          <a:p>
            <a:pPr>
              <a:lnSpc>
                <a:spcPct val="150000"/>
              </a:lnSpc>
            </a:pPr>
            <a:r>
              <a:rPr lang="en-US" sz="2000" dirty="0"/>
              <a:t>• The first node to achieve the required result earns the right to </a:t>
            </a:r>
            <a:r>
              <a:rPr lang="en-US" sz="2000" b="1" dirty="0"/>
              <a:t>create the next block</a:t>
            </a:r>
            <a:r>
              <a:rPr lang="en-US" sz="2000" dirty="0"/>
              <a:t> and receives a </a:t>
            </a:r>
            <a:r>
              <a:rPr lang="en-US" sz="2000" b="1" dirty="0"/>
              <a:t>reward</a:t>
            </a:r>
            <a:r>
              <a:rPr lang="en-US" sz="2000" dirty="0"/>
              <a:t>.</a:t>
            </a:r>
          </a:p>
          <a:p>
            <a:pPr>
              <a:lnSpc>
                <a:spcPct val="150000"/>
              </a:lnSpc>
            </a:pPr>
            <a:r>
              <a:rPr lang="en-US" sz="2000" dirty="0"/>
              <a:t>• PoW typically relies on </a:t>
            </a:r>
            <a:r>
              <a:rPr lang="en-US" sz="2000" b="1" dirty="0"/>
              <a:t>cryptographic hashing</a:t>
            </a:r>
            <a:r>
              <a:rPr lang="en-US" sz="2000" dirty="0"/>
              <a:t> to meet a predefined target and secure the network.</a:t>
            </a:r>
          </a:p>
        </p:txBody>
      </p:sp>
    </p:spTree>
    <p:extLst>
      <p:ext uri="{BB962C8B-B14F-4D97-AF65-F5344CB8AC3E}">
        <p14:creationId xmlns:p14="http://schemas.microsoft.com/office/powerpoint/2010/main" val="2712610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24</a:t>
            </a:fld>
            <a:endParaRPr dirty="0"/>
          </a:p>
        </p:txBody>
      </p:sp>
      <p:sp>
        <p:nvSpPr>
          <p:cNvPr id="2" name="Rectangle 1"/>
          <p:cNvSpPr/>
          <p:nvPr/>
        </p:nvSpPr>
        <p:spPr>
          <a:xfrm>
            <a:off x="0" y="815997"/>
            <a:ext cx="3759362" cy="523220"/>
          </a:xfrm>
          <a:prstGeom prst="rect">
            <a:avLst/>
          </a:prstGeom>
        </p:spPr>
        <p:txBody>
          <a:bodyPr wrap="none">
            <a:spAutoFit/>
          </a:bodyPr>
          <a:lstStyle/>
          <a:p>
            <a:r>
              <a:rPr lang="en-US" sz="2800" b="1" dirty="0">
                <a:solidFill>
                  <a:schemeClr val="tx1"/>
                </a:solidFill>
                <a:latin typeface="+mn-lt"/>
              </a:rPr>
              <a:t>Proof-Of-Stake (</a:t>
            </a:r>
            <a:r>
              <a:rPr lang="en-US" sz="2800" b="1" dirty="0" err="1">
                <a:solidFill>
                  <a:schemeClr val="tx1"/>
                </a:solidFill>
                <a:latin typeface="+mn-lt"/>
              </a:rPr>
              <a:t>PoS</a:t>
            </a:r>
            <a:r>
              <a:rPr lang="en-US" sz="2800" b="1" dirty="0">
                <a:solidFill>
                  <a:schemeClr val="tx1"/>
                </a:solidFill>
                <a:latin typeface="+mn-lt"/>
              </a:rPr>
              <a:t>)</a:t>
            </a:r>
            <a:endParaRPr lang="en-IN" sz="2800" dirty="0">
              <a:solidFill>
                <a:schemeClr val="tx1"/>
              </a:solidFill>
              <a:latin typeface="+mn-lt"/>
            </a:endParaRPr>
          </a:p>
        </p:txBody>
      </p:sp>
      <p:sp>
        <p:nvSpPr>
          <p:cNvPr id="3" name="Rectangle 2"/>
          <p:cNvSpPr/>
          <p:nvPr/>
        </p:nvSpPr>
        <p:spPr>
          <a:xfrm>
            <a:off x="0" y="1424346"/>
            <a:ext cx="8993080" cy="5016758"/>
          </a:xfrm>
          <a:prstGeom prst="rect">
            <a:avLst/>
          </a:prstGeom>
        </p:spPr>
        <p:txBody>
          <a:bodyPr wrap="square">
            <a:spAutoFit/>
          </a:bodyPr>
          <a:lstStyle/>
          <a:p>
            <a:pPr>
              <a:lnSpc>
                <a:spcPct val="150000"/>
              </a:lnSpc>
            </a:pPr>
            <a:r>
              <a:rPr lang="en-US" sz="2000" dirty="0">
                <a:solidFill>
                  <a:srgbClr val="F9AC26"/>
                </a:solidFill>
                <a:latin typeface="+mn-lt"/>
              </a:rPr>
              <a:t> </a:t>
            </a:r>
            <a:r>
              <a:rPr lang="en-US" sz="2000" dirty="0"/>
              <a:t>• </a:t>
            </a:r>
            <a:r>
              <a:rPr lang="en-US" sz="2000" b="1" dirty="0"/>
              <a:t>Proof of Stake (</a:t>
            </a:r>
            <a:r>
              <a:rPr lang="en-US" sz="2000" b="1" dirty="0" err="1"/>
              <a:t>PoS</a:t>
            </a:r>
            <a:r>
              <a:rPr lang="en-US" sz="2000" b="1" dirty="0"/>
              <a:t>)</a:t>
            </a:r>
            <a:r>
              <a:rPr lang="en-US" sz="2000" dirty="0"/>
              <a:t> was introduced as an alternative to </a:t>
            </a:r>
            <a:r>
              <a:rPr lang="en-US" sz="2000" b="1" dirty="0"/>
              <a:t>PoW</a:t>
            </a:r>
            <a:r>
              <a:rPr lang="en-US" sz="2000" dirty="0"/>
              <a:t> to reduce </a:t>
            </a:r>
            <a:r>
              <a:rPr lang="en-US" sz="2000" b="1" dirty="0"/>
              <a:t>high energy consumption</a:t>
            </a:r>
            <a:r>
              <a:rPr lang="en-US" sz="2000" dirty="0"/>
              <a:t> and computational costs.</a:t>
            </a:r>
          </a:p>
          <a:p>
            <a:pPr>
              <a:lnSpc>
                <a:spcPct val="150000"/>
              </a:lnSpc>
            </a:pPr>
            <a:r>
              <a:rPr lang="en-US" sz="2000" dirty="0"/>
              <a:t>• In </a:t>
            </a:r>
            <a:r>
              <a:rPr lang="en-US" sz="2000" dirty="0" err="1"/>
              <a:t>PoS</a:t>
            </a:r>
            <a:r>
              <a:rPr lang="en-US" sz="2000" dirty="0"/>
              <a:t>, the probability of creating a new block depends on a participant’s </a:t>
            </a:r>
            <a:r>
              <a:rPr lang="en-US" sz="2000" b="1" dirty="0"/>
              <a:t>stake</a:t>
            </a:r>
            <a:r>
              <a:rPr lang="en-US" sz="2000" dirty="0"/>
              <a:t> (ownership of cryptocurrency or digital assets).</a:t>
            </a:r>
          </a:p>
          <a:p>
            <a:pPr>
              <a:lnSpc>
                <a:spcPct val="150000"/>
              </a:lnSpc>
            </a:pPr>
            <a:r>
              <a:rPr lang="en-US" sz="2000" dirty="0"/>
              <a:t>• Users with a </a:t>
            </a:r>
            <a:r>
              <a:rPr lang="en-US" sz="2000" b="1" dirty="0"/>
              <a:t>higher stake</a:t>
            </a:r>
            <a:r>
              <a:rPr lang="en-US" sz="2000" dirty="0"/>
              <a:t> have a greater chance of being selected to validate transactions and create new blocks.</a:t>
            </a:r>
          </a:p>
          <a:p>
            <a:pPr>
              <a:lnSpc>
                <a:spcPct val="150000"/>
              </a:lnSpc>
            </a:pPr>
            <a:r>
              <a:rPr lang="en-US" sz="2000" dirty="0"/>
              <a:t>• </a:t>
            </a:r>
            <a:r>
              <a:rPr lang="en-US" sz="2000" dirty="0" err="1"/>
              <a:t>PoS</a:t>
            </a:r>
            <a:r>
              <a:rPr lang="en-US" sz="2000" dirty="0"/>
              <a:t> replaces the need for powerful computing hardware with </a:t>
            </a:r>
            <a:r>
              <a:rPr lang="en-US" sz="2000" b="1" dirty="0"/>
              <a:t>economic investment in the network</a:t>
            </a:r>
            <a:r>
              <a:rPr lang="en-US" sz="2000" dirty="0"/>
              <a:t>.</a:t>
            </a:r>
          </a:p>
          <a:p>
            <a:pPr>
              <a:lnSpc>
                <a:spcPct val="150000"/>
              </a:lnSpc>
            </a:pPr>
            <a:r>
              <a:rPr lang="en-US" sz="2000" dirty="0"/>
              <a:t>• This approach improves </a:t>
            </a:r>
            <a:r>
              <a:rPr lang="en-US" sz="2000" b="1" dirty="0"/>
              <a:t>energy efficiency</a:t>
            </a:r>
            <a:r>
              <a:rPr lang="en-US" sz="2000" dirty="0"/>
              <a:t> while maintaining blockchain security and consensus.</a:t>
            </a:r>
          </a:p>
          <a:p>
            <a:pPr marL="285750" indent="-285750">
              <a:buFont typeface="Arial" panose="020B0604020202020204" pitchFamily="34" charset="0"/>
              <a:buChar char="•"/>
            </a:pPr>
            <a:endParaRPr lang="en-IN" sz="2000" dirty="0">
              <a:latin typeface="+mn-lt"/>
            </a:endParaRPr>
          </a:p>
        </p:txBody>
      </p:sp>
    </p:spTree>
    <p:extLst>
      <p:ext uri="{BB962C8B-B14F-4D97-AF65-F5344CB8AC3E}">
        <p14:creationId xmlns:p14="http://schemas.microsoft.com/office/powerpoint/2010/main" val="1977587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25</a:t>
            </a:fld>
            <a:endParaRPr dirty="0"/>
          </a:p>
        </p:txBody>
      </p:sp>
      <p:sp>
        <p:nvSpPr>
          <p:cNvPr id="2" name="Rectangle 1"/>
          <p:cNvSpPr/>
          <p:nvPr/>
        </p:nvSpPr>
        <p:spPr>
          <a:xfrm>
            <a:off x="0" y="815997"/>
            <a:ext cx="1603324" cy="523220"/>
          </a:xfrm>
          <a:prstGeom prst="rect">
            <a:avLst/>
          </a:prstGeom>
        </p:spPr>
        <p:txBody>
          <a:bodyPr wrap="none">
            <a:spAutoFit/>
          </a:bodyPr>
          <a:lstStyle/>
          <a:p>
            <a:r>
              <a:rPr lang="en-US" sz="2800" b="1" dirty="0">
                <a:solidFill>
                  <a:schemeClr val="tx1"/>
                </a:solidFill>
                <a:latin typeface="+mn-lt"/>
              </a:rPr>
              <a:t>Security</a:t>
            </a:r>
            <a:endParaRPr lang="en-IN" sz="2800" dirty="0">
              <a:solidFill>
                <a:schemeClr val="tx1"/>
              </a:solidFill>
              <a:latin typeface="+mn-lt"/>
            </a:endParaRPr>
          </a:p>
        </p:txBody>
      </p:sp>
      <p:sp>
        <p:nvSpPr>
          <p:cNvPr id="3" name="Rectangle 2"/>
          <p:cNvSpPr/>
          <p:nvPr/>
        </p:nvSpPr>
        <p:spPr>
          <a:xfrm>
            <a:off x="49732" y="1339216"/>
            <a:ext cx="9094268" cy="5586658"/>
          </a:xfrm>
          <a:prstGeom prst="rect">
            <a:avLst/>
          </a:prstGeom>
        </p:spPr>
        <p:txBody>
          <a:bodyPr wrap="square">
            <a:spAutoFit/>
          </a:bodyPr>
          <a:lstStyle/>
          <a:p>
            <a:pPr>
              <a:lnSpc>
                <a:spcPct val="150000"/>
              </a:lnSpc>
            </a:pPr>
            <a:r>
              <a:rPr lang="en-US" sz="1600" dirty="0"/>
              <a:t>• </a:t>
            </a:r>
            <a:r>
              <a:rPr lang="en-US" sz="1600" b="1" dirty="0"/>
              <a:t>Security</a:t>
            </a:r>
            <a:r>
              <a:rPr lang="en-US" sz="1600" dirty="0"/>
              <a:t> is a key component of blockchain architecture, ensuring safe and reliable transactions.</a:t>
            </a:r>
          </a:p>
          <a:p>
            <a:pPr>
              <a:lnSpc>
                <a:spcPct val="150000"/>
              </a:lnSpc>
            </a:pPr>
            <a:r>
              <a:rPr lang="en-US" sz="1600" dirty="0"/>
              <a:t>• Depending on whether the blockchain is </a:t>
            </a:r>
            <a:r>
              <a:rPr lang="en-US" sz="1600" b="1" dirty="0"/>
              <a:t>permissionless or permissioned</a:t>
            </a:r>
            <a:r>
              <a:rPr lang="en-US" sz="1600" dirty="0"/>
              <a:t>, different </a:t>
            </a:r>
            <a:r>
              <a:rPr lang="en-US" sz="1600" b="1" dirty="0"/>
              <a:t>security and consensus mechanisms</a:t>
            </a:r>
            <a:r>
              <a:rPr lang="en-US" sz="1600" dirty="0"/>
              <a:t> are applied.</a:t>
            </a:r>
          </a:p>
          <a:p>
            <a:pPr>
              <a:lnSpc>
                <a:spcPct val="150000"/>
              </a:lnSpc>
            </a:pPr>
            <a:r>
              <a:rPr lang="en-US" sz="1600" dirty="0"/>
              <a:t>• In </a:t>
            </a:r>
            <a:r>
              <a:rPr lang="en-US" sz="1600" b="1" dirty="0"/>
              <a:t>public blockchains</a:t>
            </a:r>
            <a:r>
              <a:rPr lang="en-US" sz="1600" dirty="0"/>
              <a:t>, anyone can participate, while in </a:t>
            </a:r>
            <a:r>
              <a:rPr lang="en-US" sz="1600" b="1" dirty="0"/>
              <a:t>permissioned blockchains</a:t>
            </a:r>
            <a:r>
              <a:rPr lang="en-US" sz="1600" dirty="0"/>
              <a:t>, </a:t>
            </a:r>
            <a:r>
              <a:rPr lang="en-US" sz="1600" b="1" dirty="0"/>
              <a:t>access control</a:t>
            </a:r>
            <a:r>
              <a:rPr lang="en-US" sz="1600" dirty="0"/>
              <a:t> restricts participation to authorized entities.</a:t>
            </a:r>
          </a:p>
          <a:p>
            <a:pPr>
              <a:lnSpc>
                <a:spcPct val="150000"/>
              </a:lnSpc>
            </a:pPr>
            <a:r>
              <a:rPr lang="en-US" sz="1600" dirty="0"/>
              <a:t>• Every entity in the network must have a </a:t>
            </a:r>
            <a:r>
              <a:rPr lang="en-US" sz="1600" b="1" dirty="0"/>
              <a:t>defined identity</a:t>
            </a:r>
            <a:r>
              <a:rPr lang="en-US" sz="1600" dirty="0"/>
              <a:t>; permissioned systems include </a:t>
            </a:r>
            <a:r>
              <a:rPr lang="en-US" sz="1600" b="1" dirty="0"/>
              <a:t>organizations, users, and nodes with specific roles</a:t>
            </a:r>
            <a:r>
              <a:rPr lang="en-US" sz="1600" dirty="0"/>
              <a:t>.</a:t>
            </a:r>
          </a:p>
          <a:p>
            <a:pPr>
              <a:lnSpc>
                <a:spcPct val="150000"/>
              </a:lnSpc>
            </a:pPr>
            <a:r>
              <a:rPr lang="en-US" sz="1600" dirty="0"/>
              <a:t>• </a:t>
            </a:r>
            <a:r>
              <a:rPr lang="en-US" sz="1600" b="1" dirty="0"/>
              <a:t>Public Key Infrastructure (PKI)</a:t>
            </a:r>
            <a:r>
              <a:rPr lang="en-US" sz="1600" dirty="0"/>
              <a:t> is used in permissioned blockchains, where a trusted </a:t>
            </a:r>
            <a:r>
              <a:rPr lang="en-US" sz="1600" b="1" dirty="0"/>
              <a:t>Certificate Authority (CA)</a:t>
            </a:r>
            <a:r>
              <a:rPr lang="en-US" sz="1600" dirty="0"/>
              <a:t> issues </a:t>
            </a:r>
            <a:r>
              <a:rPr lang="en-US" sz="1600" b="1" dirty="0"/>
              <a:t>cryptographic credentials</a:t>
            </a:r>
            <a:r>
              <a:rPr lang="en-US" sz="1600" dirty="0"/>
              <a:t>.</a:t>
            </a:r>
          </a:p>
          <a:p>
            <a:pPr>
              <a:lnSpc>
                <a:spcPct val="150000"/>
              </a:lnSpc>
            </a:pPr>
            <a:r>
              <a:rPr lang="en-US" sz="1600" dirty="0"/>
              <a:t>• These credentials include </a:t>
            </a:r>
            <a:r>
              <a:rPr lang="en-US" sz="1600" b="1" dirty="0"/>
              <a:t>public keys (for verification)</a:t>
            </a:r>
            <a:r>
              <a:rPr lang="en-US" sz="1600" dirty="0"/>
              <a:t> and </a:t>
            </a:r>
            <a:r>
              <a:rPr lang="en-US" sz="1600" b="1" dirty="0"/>
              <a:t>private keys (for signing)</a:t>
            </a:r>
            <a:r>
              <a:rPr lang="en-US" sz="1600" dirty="0"/>
              <a:t>, establishing a trusted environment.</a:t>
            </a:r>
          </a:p>
          <a:p>
            <a:pPr>
              <a:lnSpc>
                <a:spcPct val="150000"/>
              </a:lnSpc>
            </a:pPr>
            <a:r>
              <a:rPr lang="en-US" sz="1600" dirty="0"/>
              <a:t>• Blockchain security systems should support </a:t>
            </a:r>
            <a:r>
              <a:rPr lang="en-US" sz="1600" b="1" dirty="0"/>
              <a:t>interoperability of different CA systems</a:t>
            </a:r>
            <a:r>
              <a:rPr lang="en-US" sz="1600" dirty="0"/>
              <a:t> through a </a:t>
            </a:r>
            <a:r>
              <a:rPr lang="en-US" sz="1600" b="1" dirty="0"/>
              <a:t>plug-and-play abstraction layer</a:t>
            </a:r>
            <a:r>
              <a:rPr lang="en-US" sz="1600" dirty="0"/>
              <a:t>.</a:t>
            </a:r>
          </a:p>
          <a:p>
            <a:pPr>
              <a:lnSpc>
                <a:spcPct val="150000"/>
              </a:lnSpc>
            </a:pPr>
            <a:r>
              <a:rPr lang="en-US" sz="1600" dirty="0"/>
              <a:t>• Core security measures include </a:t>
            </a:r>
            <a:r>
              <a:rPr lang="en-US" sz="1600" b="1" dirty="0"/>
              <a:t>authentication, access control, integrity, confidentiality, and non-repudiation</a:t>
            </a:r>
            <a:r>
              <a:rPr lang="en-US" sz="1600" dirty="0"/>
              <a:t>.</a:t>
            </a:r>
          </a:p>
        </p:txBody>
      </p:sp>
    </p:spTree>
    <p:extLst>
      <p:ext uri="{BB962C8B-B14F-4D97-AF65-F5344CB8AC3E}">
        <p14:creationId xmlns:p14="http://schemas.microsoft.com/office/powerpoint/2010/main" val="3952088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26</a:t>
            </a:fld>
            <a:endParaRPr dirty="0"/>
          </a:p>
        </p:txBody>
      </p:sp>
      <p:sp>
        <p:nvSpPr>
          <p:cNvPr id="2" name="Rectangle 1"/>
          <p:cNvSpPr/>
          <p:nvPr/>
        </p:nvSpPr>
        <p:spPr>
          <a:xfrm>
            <a:off x="0" y="815997"/>
            <a:ext cx="7736413" cy="523220"/>
          </a:xfrm>
          <a:prstGeom prst="rect">
            <a:avLst/>
          </a:prstGeom>
        </p:spPr>
        <p:txBody>
          <a:bodyPr wrap="none">
            <a:spAutoFit/>
          </a:bodyPr>
          <a:lstStyle/>
          <a:p>
            <a:r>
              <a:rPr lang="en-US" sz="2800" b="1" dirty="0"/>
              <a:t>Security and Privacy in </a:t>
            </a:r>
            <a:r>
              <a:rPr lang="en-US" sz="2800" b="1" dirty="0" err="1"/>
              <a:t>Blockchain</a:t>
            </a:r>
            <a:r>
              <a:rPr lang="en-US" sz="2800" b="1" dirty="0"/>
              <a:t> Systems</a:t>
            </a:r>
            <a:endParaRPr lang="en-IN" sz="2800" b="1" dirty="0"/>
          </a:p>
        </p:txBody>
      </p:sp>
      <p:sp>
        <p:nvSpPr>
          <p:cNvPr id="3" name="Rectangle 2"/>
          <p:cNvSpPr/>
          <p:nvPr/>
        </p:nvSpPr>
        <p:spPr>
          <a:xfrm>
            <a:off x="71816" y="1501472"/>
            <a:ext cx="4596130" cy="341632"/>
          </a:xfrm>
          <a:prstGeom prst="rect">
            <a:avLst/>
          </a:prstGeom>
        </p:spPr>
        <p:txBody>
          <a:bodyPr wrap="none">
            <a:spAutoFit/>
          </a:bodyPr>
          <a:lstStyle/>
          <a:p>
            <a:pPr lvl="0">
              <a:lnSpc>
                <a:spcPct val="90000"/>
              </a:lnSpc>
              <a:buClr>
                <a:srgbClr val="1C1573"/>
              </a:buClr>
              <a:buSzPts val="1500"/>
            </a:pPr>
            <a:r>
              <a:rPr lang="en-US" sz="1800" b="1" dirty="0"/>
              <a:t>Security controls in </a:t>
            </a:r>
            <a:r>
              <a:rPr lang="en-US" sz="1800" b="1" dirty="0" err="1"/>
              <a:t>blockchain</a:t>
            </a:r>
            <a:r>
              <a:rPr lang="en-US" sz="1800" b="1" dirty="0"/>
              <a:t> systems</a:t>
            </a:r>
          </a:p>
        </p:txBody>
      </p:sp>
      <p:grpSp>
        <p:nvGrpSpPr>
          <p:cNvPr id="5" name="Group 4">
            <a:extLst>
              <a:ext uri="{FF2B5EF4-FFF2-40B4-BE49-F238E27FC236}">
                <a16:creationId xmlns:a16="http://schemas.microsoft.com/office/drawing/2014/main" id="{9C89C33C-FB0D-89A4-2844-850E35977001}"/>
              </a:ext>
            </a:extLst>
          </p:cNvPr>
          <p:cNvGrpSpPr/>
          <p:nvPr/>
        </p:nvGrpSpPr>
        <p:grpSpPr>
          <a:xfrm>
            <a:off x="196082" y="1843104"/>
            <a:ext cx="8654955" cy="4673827"/>
            <a:chOff x="2123948" y="1756608"/>
            <a:chExt cx="7943872" cy="3658068"/>
          </a:xfrm>
        </p:grpSpPr>
        <p:grpSp>
          <p:nvGrpSpPr>
            <p:cNvPr id="6" name="Google Shape;55;p3"/>
            <p:cNvGrpSpPr/>
            <p:nvPr/>
          </p:nvGrpSpPr>
          <p:grpSpPr>
            <a:xfrm>
              <a:off x="2123948" y="4693247"/>
              <a:ext cx="7943872" cy="721429"/>
              <a:chOff x="1593000" y="2322567"/>
              <a:chExt cx="5958053" cy="643501"/>
            </a:xfrm>
          </p:grpSpPr>
          <p:sp>
            <p:nvSpPr>
              <p:cNvPr id="39" name="Google Shape;56;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0" name="Google Shape;57;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1" name="Google Shape;58;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2" name="Google Shape;59;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Infra: Networks/systems</a:t>
                </a:r>
                <a:endParaRPr sz="1600" b="0" i="0" u="none" strike="noStrike" cap="none" dirty="0">
                  <a:solidFill>
                    <a:srgbClr val="FFFFFF"/>
                  </a:solidFill>
                  <a:latin typeface="Roboto"/>
                  <a:ea typeface="Roboto"/>
                  <a:cs typeface="Roboto"/>
                  <a:sym typeface="Roboto"/>
                </a:endParaRPr>
              </a:p>
            </p:txBody>
          </p:sp>
          <p:sp>
            <p:nvSpPr>
              <p:cNvPr id="43" name="Google Shape;60;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4" name="Google Shape;61;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05</a:t>
                </a:r>
                <a:endParaRPr sz="3500" b="0" i="0" u="none" strike="noStrike" cap="none" dirty="0">
                  <a:solidFill>
                    <a:srgbClr val="FFFFFF"/>
                  </a:solidFill>
                  <a:latin typeface="Roboto Thin"/>
                  <a:ea typeface="Roboto Thin"/>
                  <a:cs typeface="Roboto Thin"/>
                  <a:sym typeface="Roboto Thin"/>
                </a:endParaRPr>
              </a:p>
            </p:txBody>
          </p:sp>
          <p:sp>
            <p:nvSpPr>
              <p:cNvPr id="45" name="Google Shape;62;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Periodic vulnerability assessment and pen testing</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Logging and monitoring</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Endpoint security and patch management</a:t>
                </a:r>
                <a:endParaRPr sz="1100" b="0" i="0" u="none" strike="noStrike" cap="none" dirty="0">
                  <a:solidFill>
                    <a:srgbClr val="A72A1E"/>
                  </a:solidFill>
                  <a:latin typeface="Roboto"/>
                  <a:ea typeface="Roboto"/>
                  <a:cs typeface="Roboto"/>
                  <a:sym typeface="Roboto"/>
                </a:endParaRPr>
              </a:p>
            </p:txBody>
          </p:sp>
        </p:grpSp>
        <p:grpSp>
          <p:nvGrpSpPr>
            <p:cNvPr id="7" name="Google Shape;63;p3"/>
            <p:cNvGrpSpPr/>
            <p:nvPr/>
          </p:nvGrpSpPr>
          <p:grpSpPr>
            <a:xfrm>
              <a:off x="2123948" y="3959094"/>
              <a:ext cx="7943872" cy="721429"/>
              <a:chOff x="1593000" y="2322567"/>
              <a:chExt cx="5958053" cy="643501"/>
            </a:xfrm>
          </p:grpSpPr>
          <p:sp>
            <p:nvSpPr>
              <p:cNvPr id="32" name="Google Shape;64;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3" name="Google Shape;65;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 name="Google Shape;66;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5" name="Google Shape;67;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Transactions: Consensus</a:t>
                </a:r>
                <a:endParaRPr sz="1600" b="0" i="0" u="none" strike="noStrike" cap="none" dirty="0">
                  <a:solidFill>
                    <a:srgbClr val="FFFFFF"/>
                  </a:solidFill>
                  <a:latin typeface="Roboto"/>
                  <a:ea typeface="Roboto"/>
                  <a:cs typeface="Roboto"/>
                  <a:sym typeface="Roboto"/>
                </a:endParaRPr>
              </a:p>
            </p:txBody>
          </p:sp>
          <p:sp>
            <p:nvSpPr>
              <p:cNvPr id="36" name="Google Shape;68;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7" name="Google Shape;69;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04</a:t>
                </a:r>
                <a:endParaRPr sz="3500" b="0" i="0" u="none" strike="noStrike" cap="none" dirty="0">
                  <a:solidFill>
                    <a:srgbClr val="FFFFFF"/>
                  </a:solidFill>
                  <a:latin typeface="Roboto Thin"/>
                  <a:ea typeface="Roboto Thin"/>
                  <a:cs typeface="Roboto Thin"/>
                  <a:sym typeface="Roboto Thin"/>
                </a:endParaRPr>
              </a:p>
            </p:txBody>
          </p:sp>
          <p:sp>
            <p:nvSpPr>
              <p:cNvPr id="38" name="Google Shape;70;p3"/>
              <p:cNvSpPr/>
              <p:nvPr/>
            </p:nvSpPr>
            <p:spPr>
              <a:xfrm>
                <a:off x="4387853" y="2323755"/>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Secure algorithms to avoid double spending, censorship</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Fork management and maintenance</a:t>
                </a:r>
                <a:endParaRPr sz="1100" b="0" i="0" u="none" strike="noStrike" cap="none" dirty="0">
                  <a:solidFill>
                    <a:srgbClr val="A72A1E"/>
                  </a:solidFill>
                  <a:latin typeface="Roboto"/>
                  <a:ea typeface="Roboto"/>
                  <a:cs typeface="Roboto"/>
                  <a:sym typeface="Roboto"/>
                </a:endParaRPr>
              </a:p>
            </p:txBody>
          </p:sp>
        </p:grpSp>
        <p:grpSp>
          <p:nvGrpSpPr>
            <p:cNvPr id="8" name="Google Shape;71;p3"/>
            <p:cNvGrpSpPr/>
            <p:nvPr/>
          </p:nvGrpSpPr>
          <p:grpSpPr>
            <a:xfrm>
              <a:off x="2123948" y="3224913"/>
              <a:ext cx="7943872" cy="721429"/>
              <a:chOff x="1593000" y="2322567"/>
              <a:chExt cx="5958053" cy="643501"/>
            </a:xfrm>
          </p:grpSpPr>
          <p:sp>
            <p:nvSpPr>
              <p:cNvPr id="25" name="Google Shape;72;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 name="Google Shape;73;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 name="Google Shape;74;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8" name="Google Shape;75;p3"/>
              <p:cNvSpPr/>
              <p:nvPr/>
            </p:nvSpPr>
            <p:spPr>
              <a:xfrm>
                <a:off x="2342626" y="2399958"/>
                <a:ext cx="23349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Data: Onchain data encryption</a:t>
                </a:r>
                <a:endParaRPr sz="1600" b="0" i="0" u="none" strike="noStrike" cap="none" dirty="0">
                  <a:solidFill>
                    <a:srgbClr val="FFFFFF"/>
                  </a:solidFill>
                  <a:latin typeface="Roboto"/>
                  <a:ea typeface="Roboto"/>
                  <a:cs typeface="Roboto"/>
                  <a:sym typeface="Roboto"/>
                </a:endParaRPr>
              </a:p>
            </p:txBody>
          </p:sp>
          <p:sp>
            <p:nvSpPr>
              <p:cNvPr id="29" name="Google Shape;76;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 name="Google Shape;77;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03</a:t>
                </a:r>
                <a:endParaRPr sz="3500" b="0" i="0" u="none" strike="noStrike" cap="none" dirty="0">
                  <a:solidFill>
                    <a:srgbClr val="FFFFFF"/>
                  </a:solidFill>
                  <a:latin typeface="Roboto Thin"/>
                  <a:ea typeface="Roboto Thin"/>
                  <a:cs typeface="Roboto Thin"/>
                  <a:sym typeface="Roboto Thin"/>
                </a:endParaRPr>
              </a:p>
            </p:txBody>
          </p:sp>
          <p:sp>
            <p:nvSpPr>
              <p:cNvPr id="31" name="Google Shape;78;p3"/>
              <p:cNvSpPr/>
              <p:nvPr/>
            </p:nvSpPr>
            <p:spPr>
              <a:xfrm>
                <a:off x="4387853" y="2323760"/>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Encryption and key management</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Privacy policies and controls</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Off chain data security</a:t>
                </a:r>
                <a:endParaRPr sz="1100" b="0" i="0" u="none" strike="noStrike" cap="none" dirty="0">
                  <a:solidFill>
                    <a:srgbClr val="A72A1E"/>
                  </a:solidFill>
                  <a:latin typeface="Roboto"/>
                  <a:ea typeface="Roboto"/>
                  <a:cs typeface="Roboto"/>
                  <a:sym typeface="Roboto"/>
                </a:endParaRPr>
              </a:p>
            </p:txBody>
          </p:sp>
        </p:grpSp>
        <p:grpSp>
          <p:nvGrpSpPr>
            <p:cNvPr id="9" name="Google Shape;79;p3"/>
            <p:cNvGrpSpPr/>
            <p:nvPr/>
          </p:nvGrpSpPr>
          <p:grpSpPr>
            <a:xfrm>
              <a:off x="2123948" y="2490769"/>
              <a:ext cx="7943872" cy="721429"/>
              <a:chOff x="1593000" y="2322567"/>
              <a:chExt cx="5958053" cy="643501"/>
            </a:xfrm>
          </p:grpSpPr>
          <p:sp>
            <p:nvSpPr>
              <p:cNvPr id="18" name="Google Shape;80;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9" name="Google Shape;81;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0" name="Google Shape;82;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1" name="Google Shape;83;p3"/>
              <p:cNvSpPr/>
              <p:nvPr/>
            </p:nvSpPr>
            <p:spPr>
              <a:xfrm>
                <a:off x="2342627" y="2399952"/>
                <a:ext cx="21903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Applications: Smart contracts</a:t>
                </a:r>
                <a:endParaRPr sz="1600" b="0" i="0" u="none" strike="noStrike" cap="none" dirty="0">
                  <a:solidFill>
                    <a:srgbClr val="FFFFFF"/>
                  </a:solidFill>
                  <a:latin typeface="Roboto"/>
                  <a:ea typeface="Roboto"/>
                  <a:cs typeface="Roboto"/>
                  <a:sym typeface="Roboto"/>
                </a:endParaRPr>
              </a:p>
            </p:txBody>
          </p:sp>
          <p:sp>
            <p:nvSpPr>
              <p:cNvPr id="22" name="Google Shape;84;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3" name="Google Shape;85;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02</a:t>
                </a:r>
                <a:endParaRPr sz="3500" b="0" i="0" u="none" strike="noStrike" cap="none" dirty="0">
                  <a:solidFill>
                    <a:srgbClr val="FFFFFF"/>
                  </a:solidFill>
                  <a:latin typeface="Roboto Thin"/>
                  <a:ea typeface="Roboto Thin"/>
                  <a:cs typeface="Roboto Thin"/>
                  <a:sym typeface="Roboto Thin"/>
                </a:endParaRPr>
              </a:p>
            </p:txBody>
          </p:sp>
          <p:sp>
            <p:nvSpPr>
              <p:cNvPr id="24" name="Google Shape;86;p3"/>
              <p:cNvSpPr/>
              <p:nvPr/>
            </p:nvSpPr>
            <p:spPr>
              <a:xfrm>
                <a:off x="4387853" y="2323754"/>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Application Security</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Secure code development and checklists</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Vulnerability management and 3rd party apps review</a:t>
                </a:r>
                <a:endParaRPr sz="1100" b="0" i="0" u="none" strike="noStrike" cap="none" dirty="0">
                  <a:solidFill>
                    <a:srgbClr val="A72A1E"/>
                  </a:solidFill>
                  <a:latin typeface="Roboto"/>
                  <a:ea typeface="Roboto"/>
                  <a:cs typeface="Roboto"/>
                  <a:sym typeface="Roboto"/>
                </a:endParaRPr>
              </a:p>
            </p:txBody>
          </p:sp>
        </p:grpSp>
        <p:grpSp>
          <p:nvGrpSpPr>
            <p:cNvPr id="10" name="Google Shape;87;p3"/>
            <p:cNvGrpSpPr/>
            <p:nvPr/>
          </p:nvGrpSpPr>
          <p:grpSpPr>
            <a:xfrm>
              <a:off x="2123948" y="1756608"/>
              <a:ext cx="7943768" cy="721428"/>
              <a:chOff x="1593000" y="2322567"/>
              <a:chExt cx="5957975" cy="643501"/>
            </a:xfrm>
          </p:grpSpPr>
          <p:sp>
            <p:nvSpPr>
              <p:cNvPr id="11" name="Google Shape;88;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2" name="Google Shape;89;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3" name="Google Shape;90;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4" name="Google Shape;91;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dirty="0">
                    <a:solidFill>
                      <a:srgbClr val="FFFFFF"/>
                    </a:solidFill>
                    <a:latin typeface="Roboto Medium"/>
                    <a:ea typeface="Roboto Medium"/>
                    <a:cs typeface="Roboto Medium"/>
                    <a:sym typeface="Roboto Medium"/>
                  </a:rPr>
                  <a:t>Governance</a:t>
                </a:r>
                <a:r>
                  <a:rPr lang="en-US" sz="1600" dirty="0">
                    <a:solidFill>
                      <a:srgbClr val="FFFFFF"/>
                    </a:solidFill>
                    <a:latin typeface="Roboto Medium"/>
                    <a:ea typeface="Roboto Medium"/>
                    <a:cs typeface="Roboto Medium"/>
                    <a:sym typeface="Roboto Medium"/>
                  </a:rPr>
                  <a:t>: System rules</a:t>
                </a:r>
                <a:endParaRPr sz="1600" b="0" i="0" u="none" strike="noStrike" cap="none" dirty="0">
                  <a:solidFill>
                    <a:srgbClr val="FFFFFF"/>
                  </a:solidFill>
                  <a:latin typeface="Roboto"/>
                  <a:ea typeface="Roboto"/>
                  <a:cs typeface="Roboto"/>
                  <a:sym typeface="Roboto"/>
                </a:endParaRPr>
              </a:p>
            </p:txBody>
          </p:sp>
          <p:sp>
            <p:nvSpPr>
              <p:cNvPr id="15" name="Google Shape;92;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6" name="Google Shape;93;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01</a:t>
                </a:r>
                <a:endParaRPr sz="3500" b="0" i="0" u="none" strike="noStrike" cap="none" dirty="0">
                  <a:solidFill>
                    <a:srgbClr val="FFFFFF"/>
                  </a:solidFill>
                  <a:latin typeface="Roboto Thin"/>
                  <a:ea typeface="Roboto Thin"/>
                  <a:cs typeface="Roboto Thin"/>
                  <a:sym typeface="Roboto Thin"/>
                </a:endParaRPr>
              </a:p>
            </p:txBody>
          </p:sp>
          <p:sp>
            <p:nvSpPr>
              <p:cNvPr id="17" name="Google Shape;94;p3"/>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Identity and Access Management</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Key management, Information Security training</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Information security policies and guidelines</a:t>
                </a:r>
                <a:endParaRPr sz="1100" b="0" i="0" u="none" strike="noStrike" cap="none" dirty="0">
                  <a:solidFill>
                    <a:srgbClr val="A72A1E"/>
                  </a:solidFill>
                  <a:latin typeface="Roboto"/>
                  <a:ea typeface="Roboto"/>
                  <a:cs typeface="Roboto"/>
                  <a:sym typeface="Roboto"/>
                </a:endParaRPr>
              </a:p>
            </p:txBody>
          </p:sp>
        </p:grpSp>
      </p:grpSp>
    </p:spTree>
    <p:extLst>
      <p:ext uri="{BB962C8B-B14F-4D97-AF65-F5344CB8AC3E}">
        <p14:creationId xmlns:p14="http://schemas.microsoft.com/office/powerpoint/2010/main" val="598938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1708871"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27</a:t>
            </a:fld>
            <a:endParaRPr dirty="0"/>
          </a:p>
        </p:txBody>
      </p:sp>
      <p:sp>
        <p:nvSpPr>
          <p:cNvPr id="2" name="Rectangle 1"/>
          <p:cNvSpPr/>
          <p:nvPr/>
        </p:nvSpPr>
        <p:spPr>
          <a:xfrm>
            <a:off x="0" y="842630"/>
            <a:ext cx="7736413" cy="523220"/>
          </a:xfrm>
          <a:prstGeom prst="rect">
            <a:avLst/>
          </a:prstGeom>
        </p:spPr>
        <p:txBody>
          <a:bodyPr wrap="none">
            <a:spAutoFit/>
          </a:bodyPr>
          <a:lstStyle/>
          <a:p>
            <a:r>
              <a:rPr lang="en-US" sz="2800" b="1" dirty="0"/>
              <a:t>Security and Privacy in </a:t>
            </a:r>
            <a:r>
              <a:rPr lang="en-US" sz="2800" b="1" dirty="0" err="1"/>
              <a:t>Blockchain</a:t>
            </a:r>
            <a:r>
              <a:rPr lang="en-US" sz="2800" b="1" dirty="0"/>
              <a:t> Systems</a:t>
            </a:r>
            <a:endParaRPr lang="en-IN" sz="2800" b="1" dirty="0"/>
          </a:p>
        </p:txBody>
      </p:sp>
      <p:sp>
        <p:nvSpPr>
          <p:cNvPr id="3" name="Rectangle 2"/>
          <p:cNvSpPr/>
          <p:nvPr/>
        </p:nvSpPr>
        <p:spPr>
          <a:xfrm>
            <a:off x="190247" y="1448206"/>
            <a:ext cx="4506362" cy="341632"/>
          </a:xfrm>
          <a:prstGeom prst="rect">
            <a:avLst/>
          </a:prstGeom>
        </p:spPr>
        <p:txBody>
          <a:bodyPr wrap="none">
            <a:spAutoFit/>
          </a:bodyPr>
          <a:lstStyle/>
          <a:p>
            <a:pPr lvl="0">
              <a:lnSpc>
                <a:spcPct val="90000"/>
              </a:lnSpc>
              <a:buClr>
                <a:srgbClr val="1C1573"/>
              </a:buClr>
              <a:buSzPts val="1500"/>
            </a:pPr>
            <a:r>
              <a:rPr lang="en-US" sz="1800" b="1" dirty="0"/>
              <a:t>Privacy controls in </a:t>
            </a:r>
            <a:r>
              <a:rPr lang="en-US" sz="1800" b="1" dirty="0" err="1"/>
              <a:t>blockchain</a:t>
            </a:r>
            <a:r>
              <a:rPr lang="en-US" sz="1800" b="1" dirty="0"/>
              <a:t> systems</a:t>
            </a:r>
          </a:p>
        </p:txBody>
      </p:sp>
      <p:grpSp>
        <p:nvGrpSpPr>
          <p:cNvPr id="5" name="Group 4">
            <a:extLst>
              <a:ext uri="{FF2B5EF4-FFF2-40B4-BE49-F238E27FC236}">
                <a16:creationId xmlns:a16="http://schemas.microsoft.com/office/drawing/2014/main" id="{02637AB7-9370-F3DC-8248-455F723D8E8F}"/>
              </a:ext>
            </a:extLst>
          </p:cNvPr>
          <p:cNvGrpSpPr/>
          <p:nvPr/>
        </p:nvGrpSpPr>
        <p:grpSpPr>
          <a:xfrm>
            <a:off x="-282340" y="2419772"/>
            <a:ext cx="9426341" cy="3280318"/>
            <a:chOff x="26953" y="1757480"/>
            <a:chExt cx="11784802" cy="3280318"/>
          </a:xfrm>
        </p:grpSpPr>
        <p:grpSp>
          <p:nvGrpSpPr>
            <p:cNvPr id="6" name="Google Shape;101;gd63a0b4948_0_2"/>
            <p:cNvGrpSpPr/>
            <p:nvPr/>
          </p:nvGrpSpPr>
          <p:grpSpPr>
            <a:xfrm>
              <a:off x="8339146" y="1757480"/>
              <a:ext cx="3472609" cy="3280318"/>
              <a:chOff x="6254516" y="1318143"/>
              <a:chExt cx="2604522" cy="2460300"/>
            </a:xfrm>
          </p:grpSpPr>
          <p:sp>
            <p:nvSpPr>
              <p:cNvPr id="28" name="Google Shape;102;gd63a0b4948_0_2"/>
              <p:cNvSpPr/>
              <p:nvPr/>
            </p:nvSpPr>
            <p:spPr>
              <a:xfrm rot="2700000">
                <a:off x="7239866" y="1053398"/>
                <a:ext cx="489601" cy="2989789"/>
              </a:xfrm>
              <a:prstGeom prst="roundRect">
                <a:avLst>
                  <a:gd name="adj" fmla="val 50000"/>
                </a:avLst>
              </a:prstGeom>
              <a:solidFill>
                <a:srgbClr val="307B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29" name="Google Shape;103;gd63a0b4948_0_2"/>
              <p:cNvSpPr/>
              <p:nvPr/>
            </p:nvSpPr>
            <p:spPr>
              <a:xfrm>
                <a:off x="6443962" y="3255512"/>
                <a:ext cx="326100" cy="326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r>
                  <a:rPr lang="en-US" sz="1200" b="1" dirty="0">
                    <a:solidFill>
                      <a:srgbClr val="307BF3"/>
                    </a:solidFill>
                    <a:latin typeface="Roboto"/>
                    <a:ea typeface="Roboto"/>
                    <a:cs typeface="Roboto"/>
                    <a:sym typeface="Roboto"/>
                  </a:rPr>
                  <a:t>5</a:t>
                </a:r>
                <a:endParaRPr sz="1200" b="1" dirty="0">
                  <a:solidFill>
                    <a:srgbClr val="307BF3"/>
                  </a:solidFill>
                  <a:latin typeface="Roboto"/>
                  <a:ea typeface="Roboto"/>
                  <a:cs typeface="Roboto"/>
                  <a:sym typeface="Roboto"/>
                </a:endParaRPr>
              </a:p>
            </p:txBody>
          </p:sp>
          <p:sp>
            <p:nvSpPr>
              <p:cNvPr id="30" name="Google Shape;104;gd63a0b4948_0_2"/>
              <p:cNvSpPr txBox="1"/>
              <p:nvPr/>
            </p:nvSpPr>
            <p:spPr>
              <a:xfrm rot="-2700000">
                <a:off x="6375763" y="2297099"/>
                <a:ext cx="2378424" cy="342805"/>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500" b="1" dirty="0">
                    <a:solidFill>
                      <a:srgbClr val="FFFFFF"/>
                    </a:solidFill>
                    <a:latin typeface="Roboto"/>
                    <a:ea typeface="Roboto"/>
                    <a:cs typeface="Roboto"/>
                    <a:sym typeface="Roboto"/>
                  </a:rPr>
                  <a:t>Encryption</a:t>
                </a:r>
                <a:endParaRPr sz="1500" b="1" dirty="0">
                  <a:solidFill>
                    <a:srgbClr val="FFFFFF"/>
                  </a:solidFill>
                  <a:latin typeface="Roboto"/>
                  <a:ea typeface="Roboto"/>
                  <a:cs typeface="Roboto"/>
                  <a:sym typeface="Roboto"/>
                </a:endParaRPr>
              </a:p>
            </p:txBody>
          </p:sp>
          <p:sp>
            <p:nvSpPr>
              <p:cNvPr id="31" name="Google Shape;105;gd63a0b4948_0_2"/>
              <p:cNvSpPr txBox="1"/>
              <p:nvPr/>
            </p:nvSpPr>
            <p:spPr>
              <a:xfrm rot="-2700000">
                <a:off x="6788358" y="2571061"/>
                <a:ext cx="2242660" cy="442507"/>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2100"/>
                  </a:spcAft>
                  <a:buNone/>
                </a:pPr>
                <a:r>
                  <a:rPr lang="en-US" sz="1000" dirty="0">
                    <a:latin typeface="Roboto"/>
                    <a:ea typeface="Roboto"/>
                    <a:cs typeface="Roboto"/>
                    <a:sym typeface="Roboto"/>
                  </a:rPr>
                  <a:t>Use of public and private keys identity and privacy</a:t>
                </a:r>
                <a:endParaRPr sz="1000" b="1" dirty="0">
                  <a:latin typeface="Roboto"/>
                  <a:ea typeface="Roboto"/>
                  <a:cs typeface="Roboto"/>
                  <a:sym typeface="Roboto"/>
                </a:endParaRPr>
              </a:p>
            </p:txBody>
          </p:sp>
        </p:grpSp>
        <p:grpSp>
          <p:nvGrpSpPr>
            <p:cNvPr id="7" name="Google Shape;106;gd63a0b4948_0_2"/>
            <p:cNvGrpSpPr/>
            <p:nvPr/>
          </p:nvGrpSpPr>
          <p:grpSpPr>
            <a:xfrm>
              <a:off x="6348398" y="1757480"/>
              <a:ext cx="3472609" cy="3280318"/>
              <a:chOff x="4761418" y="1318143"/>
              <a:chExt cx="2604522" cy="2460300"/>
            </a:xfrm>
          </p:grpSpPr>
          <p:sp>
            <p:nvSpPr>
              <p:cNvPr id="24" name="Google Shape;107;gd63a0b4948_0_2"/>
              <p:cNvSpPr/>
              <p:nvPr/>
            </p:nvSpPr>
            <p:spPr>
              <a:xfrm rot="2700000">
                <a:off x="5746767" y="1053398"/>
                <a:ext cx="489601" cy="2989789"/>
              </a:xfrm>
              <a:prstGeom prst="roundRect">
                <a:avLst>
                  <a:gd name="adj" fmla="val 50000"/>
                </a:avLst>
              </a:prstGeom>
              <a:solidFill>
                <a:srgbClr val="0E65F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25" name="Google Shape;108;gd63a0b4948_0_2"/>
              <p:cNvSpPr/>
              <p:nvPr/>
            </p:nvSpPr>
            <p:spPr>
              <a:xfrm>
                <a:off x="4950863" y="3255512"/>
                <a:ext cx="326100" cy="326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r>
                  <a:rPr lang="en-US" sz="1200" b="1" dirty="0">
                    <a:solidFill>
                      <a:srgbClr val="0E65F0"/>
                    </a:solidFill>
                    <a:latin typeface="Roboto"/>
                    <a:ea typeface="Roboto"/>
                    <a:cs typeface="Roboto"/>
                    <a:sym typeface="Roboto"/>
                  </a:rPr>
                  <a:t>4</a:t>
                </a:r>
                <a:endParaRPr sz="1200" b="1" dirty="0">
                  <a:solidFill>
                    <a:srgbClr val="0E65F0"/>
                  </a:solidFill>
                  <a:latin typeface="Roboto"/>
                  <a:ea typeface="Roboto"/>
                  <a:cs typeface="Roboto"/>
                  <a:sym typeface="Roboto"/>
                </a:endParaRPr>
              </a:p>
            </p:txBody>
          </p:sp>
          <p:sp>
            <p:nvSpPr>
              <p:cNvPr id="26" name="Google Shape;109;gd63a0b4948_0_2"/>
              <p:cNvSpPr txBox="1"/>
              <p:nvPr/>
            </p:nvSpPr>
            <p:spPr>
              <a:xfrm rot="-2700000">
                <a:off x="4896424" y="2302799"/>
                <a:ext cx="2362302" cy="342805"/>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500" b="1" dirty="0">
                    <a:solidFill>
                      <a:srgbClr val="FFFFFF"/>
                    </a:solidFill>
                    <a:latin typeface="Roboto"/>
                    <a:ea typeface="Roboto"/>
                    <a:cs typeface="Roboto"/>
                    <a:sym typeface="Roboto"/>
                  </a:rPr>
                  <a:t>Mixing</a:t>
                </a:r>
                <a:endParaRPr sz="1500" b="1" dirty="0">
                  <a:solidFill>
                    <a:srgbClr val="FFFFFF"/>
                  </a:solidFill>
                  <a:latin typeface="Roboto"/>
                  <a:ea typeface="Roboto"/>
                  <a:cs typeface="Roboto"/>
                  <a:sym typeface="Roboto"/>
                </a:endParaRPr>
              </a:p>
            </p:txBody>
          </p:sp>
          <p:sp>
            <p:nvSpPr>
              <p:cNvPr id="27" name="Google Shape;110;gd63a0b4948_0_2"/>
              <p:cNvSpPr txBox="1"/>
              <p:nvPr/>
            </p:nvSpPr>
            <p:spPr>
              <a:xfrm rot="-2700000">
                <a:off x="5295260" y="2571061"/>
                <a:ext cx="2242660" cy="442507"/>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2100"/>
                  </a:spcAft>
                  <a:buNone/>
                </a:pPr>
                <a:r>
                  <a:rPr lang="en-US" sz="1000" dirty="0">
                    <a:latin typeface="Roboto"/>
                    <a:ea typeface="Roboto"/>
                    <a:cs typeface="Roboto"/>
                    <a:sym typeface="Roboto"/>
                  </a:rPr>
                  <a:t>Combining and merging of transactions to hide original identity</a:t>
                </a:r>
                <a:endParaRPr sz="1000" b="1" dirty="0">
                  <a:latin typeface="Roboto"/>
                  <a:ea typeface="Roboto"/>
                  <a:cs typeface="Roboto"/>
                  <a:sym typeface="Roboto"/>
                </a:endParaRPr>
              </a:p>
            </p:txBody>
          </p:sp>
        </p:grpSp>
        <p:grpSp>
          <p:nvGrpSpPr>
            <p:cNvPr id="8" name="Google Shape;111;gd63a0b4948_0_2"/>
            <p:cNvGrpSpPr/>
            <p:nvPr/>
          </p:nvGrpSpPr>
          <p:grpSpPr>
            <a:xfrm>
              <a:off x="4359559" y="1757480"/>
              <a:ext cx="3472609" cy="3280318"/>
              <a:chOff x="3269751" y="1318143"/>
              <a:chExt cx="2604522" cy="2460300"/>
            </a:xfrm>
          </p:grpSpPr>
          <p:sp>
            <p:nvSpPr>
              <p:cNvPr id="20" name="Google Shape;112;gd63a0b4948_0_2"/>
              <p:cNvSpPr/>
              <p:nvPr/>
            </p:nvSpPr>
            <p:spPr>
              <a:xfrm rot="2700000">
                <a:off x="4255100" y="1053398"/>
                <a:ext cx="489601" cy="2989789"/>
              </a:xfrm>
              <a:prstGeom prst="roundRect">
                <a:avLst>
                  <a:gd name="adj" fmla="val 50000"/>
                </a:avLst>
              </a:prstGeom>
              <a:solidFill>
                <a:srgbClr val="0D5D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21" name="Google Shape;113;gd63a0b4948_0_2"/>
              <p:cNvSpPr/>
              <p:nvPr/>
            </p:nvSpPr>
            <p:spPr>
              <a:xfrm>
                <a:off x="3459197" y="3255512"/>
                <a:ext cx="326100" cy="326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r>
                  <a:rPr lang="en-US" sz="1200" b="1" dirty="0">
                    <a:solidFill>
                      <a:srgbClr val="0D5DDF"/>
                    </a:solidFill>
                    <a:latin typeface="Roboto"/>
                    <a:ea typeface="Roboto"/>
                    <a:cs typeface="Roboto"/>
                    <a:sym typeface="Roboto"/>
                  </a:rPr>
                  <a:t>3</a:t>
                </a:r>
                <a:endParaRPr sz="1200" b="1" dirty="0">
                  <a:solidFill>
                    <a:srgbClr val="0D5DDF"/>
                  </a:solidFill>
                  <a:latin typeface="Roboto"/>
                  <a:ea typeface="Roboto"/>
                  <a:cs typeface="Roboto"/>
                  <a:sym typeface="Roboto"/>
                </a:endParaRPr>
              </a:p>
            </p:txBody>
          </p:sp>
          <p:sp>
            <p:nvSpPr>
              <p:cNvPr id="22" name="Google Shape;114;gd63a0b4948_0_2"/>
              <p:cNvSpPr txBox="1"/>
              <p:nvPr/>
            </p:nvSpPr>
            <p:spPr>
              <a:xfrm rot="-2700000">
                <a:off x="3404724" y="2302799"/>
                <a:ext cx="2362302" cy="342805"/>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500" b="1" dirty="0">
                    <a:solidFill>
                      <a:srgbClr val="FFFFFF"/>
                    </a:solidFill>
                    <a:latin typeface="Roboto"/>
                    <a:ea typeface="Roboto"/>
                    <a:cs typeface="Roboto"/>
                    <a:sym typeface="Roboto"/>
                  </a:rPr>
                  <a:t>Differential privacy</a:t>
                </a:r>
                <a:endParaRPr sz="1500" b="1" dirty="0">
                  <a:solidFill>
                    <a:srgbClr val="FFFFFF"/>
                  </a:solidFill>
                  <a:latin typeface="Roboto"/>
                  <a:ea typeface="Roboto"/>
                  <a:cs typeface="Roboto"/>
                  <a:sym typeface="Roboto"/>
                </a:endParaRPr>
              </a:p>
            </p:txBody>
          </p:sp>
          <p:sp>
            <p:nvSpPr>
              <p:cNvPr id="23" name="Google Shape;115;gd63a0b4948_0_2"/>
              <p:cNvSpPr txBox="1"/>
              <p:nvPr/>
            </p:nvSpPr>
            <p:spPr>
              <a:xfrm rot="-2700000">
                <a:off x="3803593" y="2571061"/>
                <a:ext cx="2242660" cy="442507"/>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2100"/>
                  </a:spcAft>
                  <a:buNone/>
                </a:pPr>
                <a:r>
                  <a:rPr lang="en-US" sz="1000" dirty="0">
                    <a:latin typeface="Roboto"/>
                    <a:ea typeface="Roboto"/>
                    <a:cs typeface="Roboto"/>
                    <a:sym typeface="Roboto"/>
                  </a:rPr>
                  <a:t>Noise addition and/or data perturbation to make indistinguishable</a:t>
                </a:r>
                <a:endParaRPr sz="1000" b="1" dirty="0">
                  <a:latin typeface="Roboto"/>
                  <a:ea typeface="Roboto"/>
                  <a:cs typeface="Roboto"/>
                  <a:sym typeface="Roboto"/>
                </a:endParaRPr>
              </a:p>
            </p:txBody>
          </p:sp>
        </p:grpSp>
        <p:grpSp>
          <p:nvGrpSpPr>
            <p:cNvPr id="9" name="Google Shape;116;gd63a0b4948_0_2"/>
            <p:cNvGrpSpPr/>
            <p:nvPr/>
          </p:nvGrpSpPr>
          <p:grpSpPr>
            <a:xfrm>
              <a:off x="2015790" y="3063722"/>
              <a:ext cx="4665571" cy="1711641"/>
              <a:chOff x="1511881" y="2297849"/>
              <a:chExt cx="3499266" cy="1283763"/>
            </a:xfrm>
          </p:grpSpPr>
          <p:grpSp>
            <p:nvGrpSpPr>
              <p:cNvPr id="15" name="Google Shape;117;gd63a0b4948_0_2"/>
              <p:cNvGrpSpPr/>
              <p:nvPr/>
            </p:nvGrpSpPr>
            <p:grpSpPr>
              <a:xfrm>
                <a:off x="1511881" y="2297849"/>
                <a:ext cx="3499266" cy="563970"/>
                <a:chOff x="1511881" y="2297849"/>
                <a:chExt cx="3499266" cy="563970"/>
              </a:xfrm>
            </p:grpSpPr>
            <p:sp>
              <p:nvSpPr>
                <p:cNvPr id="17" name="Google Shape;118;gd63a0b4948_0_2"/>
                <p:cNvSpPr/>
                <p:nvPr/>
              </p:nvSpPr>
              <p:spPr>
                <a:xfrm rot="2700000">
                  <a:off x="2761975" y="1053398"/>
                  <a:ext cx="489601" cy="2989789"/>
                </a:xfrm>
                <a:prstGeom prst="roundRect">
                  <a:avLst>
                    <a:gd name="adj" fmla="val 50000"/>
                  </a:avLst>
                </a:prstGeom>
                <a:solidFill>
                  <a:srgbClr val="0C58D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18" name="Google Shape;119;gd63a0b4948_0_2"/>
                <p:cNvSpPr txBox="1"/>
                <p:nvPr/>
              </p:nvSpPr>
              <p:spPr>
                <a:xfrm rot="-2700000">
                  <a:off x="1899549" y="2297849"/>
                  <a:ext cx="2376303" cy="342805"/>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500" b="1" dirty="0">
                      <a:solidFill>
                        <a:srgbClr val="FFFFFF"/>
                      </a:solidFill>
                      <a:latin typeface="Roboto"/>
                      <a:ea typeface="Roboto"/>
                      <a:cs typeface="Roboto"/>
                      <a:sym typeface="Roboto"/>
                    </a:rPr>
                    <a:t>Private contracts</a:t>
                  </a:r>
                  <a:endParaRPr sz="1500" b="1" dirty="0">
                    <a:solidFill>
                      <a:srgbClr val="FFFFFF"/>
                    </a:solidFill>
                    <a:latin typeface="Roboto"/>
                    <a:ea typeface="Roboto"/>
                    <a:cs typeface="Roboto"/>
                    <a:sym typeface="Roboto"/>
                  </a:endParaRPr>
                </a:p>
              </p:txBody>
            </p:sp>
            <p:sp>
              <p:nvSpPr>
                <p:cNvPr id="19" name="Google Shape;120;gd63a0b4948_0_2"/>
                <p:cNvSpPr txBox="1"/>
                <p:nvPr/>
              </p:nvSpPr>
              <p:spPr>
                <a:xfrm rot="18900000">
                  <a:off x="2231885" y="2419312"/>
                  <a:ext cx="2779262" cy="442507"/>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2100"/>
                    </a:spcAft>
                    <a:buNone/>
                  </a:pPr>
                  <a:r>
                    <a:rPr lang="en-US" sz="1000" dirty="0">
                      <a:latin typeface="Roboto"/>
                      <a:ea typeface="Roboto"/>
                      <a:cs typeface="Roboto"/>
                      <a:sym typeface="Roboto"/>
                    </a:rPr>
                    <a:t>Only programmable contract between concerning nodes contains transactional details </a:t>
                  </a:r>
                  <a:endParaRPr sz="1000" b="1" dirty="0">
                    <a:latin typeface="Roboto"/>
                    <a:ea typeface="Roboto"/>
                    <a:cs typeface="Roboto"/>
                    <a:sym typeface="Roboto"/>
                  </a:endParaRPr>
                </a:p>
              </p:txBody>
            </p:sp>
          </p:grpSp>
          <p:sp>
            <p:nvSpPr>
              <p:cNvPr id="16" name="Google Shape;121;gd63a0b4948_0_2"/>
              <p:cNvSpPr/>
              <p:nvPr/>
            </p:nvSpPr>
            <p:spPr>
              <a:xfrm>
                <a:off x="1966072" y="3255512"/>
                <a:ext cx="326100" cy="326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r>
                  <a:rPr lang="en-US" sz="1200" b="1" dirty="0">
                    <a:solidFill>
                      <a:srgbClr val="0C58D3"/>
                    </a:solidFill>
                    <a:latin typeface="Roboto"/>
                    <a:ea typeface="Roboto"/>
                    <a:cs typeface="Roboto"/>
                    <a:sym typeface="Roboto"/>
                  </a:rPr>
                  <a:t>2</a:t>
                </a:r>
                <a:endParaRPr sz="1200" b="1" dirty="0">
                  <a:solidFill>
                    <a:srgbClr val="0C58D3"/>
                  </a:solidFill>
                  <a:latin typeface="Roboto"/>
                  <a:ea typeface="Roboto"/>
                  <a:cs typeface="Roboto"/>
                  <a:sym typeface="Roboto"/>
                </a:endParaRPr>
              </a:p>
            </p:txBody>
          </p:sp>
        </p:grpSp>
        <p:grpSp>
          <p:nvGrpSpPr>
            <p:cNvPr id="10" name="Google Shape;122;gd63a0b4948_0_2"/>
            <p:cNvGrpSpPr/>
            <p:nvPr/>
          </p:nvGrpSpPr>
          <p:grpSpPr>
            <a:xfrm>
              <a:off x="26953" y="3067321"/>
              <a:ext cx="4817334" cy="1708041"/>
              <a:chOff x="20215" y="2300549"/>
              <a:chExt cx="3613091" cy="1281063"/>
            </a:xfrm>
          </p:grpSpPr>
          <p:sp>
            <p:nvSpPr>
              <p:cNvPr id="11" name="Google Shape;123;gd63a0b4948_0_2"/>
              <p:cNvSpPr/>
              <p:nvPr/>
            </p:nvSpPr>
            <p:spPr>
              <a:xfrm rot="2700000">
                <a:off x="1270309" y="1053398"/>
                <a:ext cx="489601" cy="2989789"/>
              </a:xfrm>
              <a:prstGeom prst="roundRect">
                <a:avLst>
                  <a:gd name="adj" fmla="val 50000"/>
                </a:avLst>
              </a:prstGeom>
              <a:solidFill>
                <a:srgbClr val="0944A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dirty="0"/>
              </a:p>
            </p:txBody>
          </p:sp>
          <p:sp>
            <p:nvSpPr>
              <p:cNvPr id="12" name="Google Shape;124;gd63a0b4948_0_2"/>
              <p:cNvSpPr/>
              <p:nvPr/>
            </p:nvSpPr>
            <p:spPr>
              <a:xfrm>
                <a:off x="472955" y="3255512"/>
                <a:ext cx="326100" cy="326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r>
                  <a:rPr lang="en-US" sz="1200" b="1" dirty="0">
                    <a:solidFill>
                      <a:srgbClr val="0944A1"/>
                    </a:solidFill>
                    <a:latin typeface="Roboto"/>
                    <a:ea typeface="Roboto"/>
                    <a:cs typeface="Roboto"/>
                    <a:sym typeface="Roboto"/>
                  </a:rPr>
                  <a:t>1</a:t>
                </a:r>
                <a:endParaRPr sz="1200" b="1" dirty="0">
                  <a:solidFill>
                    <a:srgbClr val="0944A1"/>
                  </a:solidFill>
                  <a:latin typeface="Roboto"/>
                  <a:ea typeface="Roboto"/>
                  <a:cs typeface="Roboto"/>
                  <a:sym typeface="Roboto"/>
                </a:endParaRPr>
              </a:p>
            </p:txBody>
          </p:sp>
          <p:sp>
            <p:nvSpPr>
              <p:cNvPr id="13" name="Google Shape;125;gd63a0b4948_0_2"/>
              <p:cNvSpPr txBox="1"/>
              <p:nvPr/>
            </p:nvSpPr>
            <p:spPr>
              <a:xfrm rot="-2700000">
                <a:off x="414317" y="2300549"/>
                <a:ext cx="2368666" cy="342805"/>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1500" b="1" dirty="0">
                    <a:solidFill>
                      <a:srgbClr val="FFFFFF"/>
                    </a:solidFill>
                    <a:latin typeface="Roboto"/>
                    <a:ea typeface="Roboto"/>
                    <a:cs typeface="Roboto"/>
                    <a:sym typeface="Roboto"/>
                  </a:rPr>
                  <a:t>Anonymization</a:t>
                </a:r>
                <a:endParaRPr sz="1500" b="1" dirty="0">
                  <a:solidFill>
                    <a:srgbClr val="FFFFFF"/>
                  </a:solidFill>
                  <a:latin typeface="Roboto"/>
                  <a:ea typeface="Roboto"/>
                  <a:cs typeface="Roboto"/>
                  <a:sym typeface="Roboto"/>
                </a:endParaRPr>
              </a:p>
            </p:txBody>
          </p:sp>
          <p:sp>
            <p:nvSpPr>
              <p:cNvPr id="14" name="Google Shape;126;gd63a0b4948_0_2"/>
              <p:cNvSpPr txBox="1"/>
              <p:nvPr/>
            </p:nvSpPr>
            <p:spPr>
              <a:xfrm rot="18900000">
                <a:off x="720688" y="2381599"/>
                <a:ext cx="2912618" cy="442507"/>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2100"/>
                  </a:spcAft>
                  <a:buNone/>
                </a:pPr>
                <a:r>
                  <a:rPr lang="en-US" sz="1000" dirty="0">
                    <a:latin typeface="Roboto"/>
                    <a:ea typeface="Roboto"/>
                    <a:cs typeface="Roboto"/>
                    <a:sym typeface="Roboto"/>
                  </a:rPr>
                  <a:t>Removal of Personally Identifiable Information(PII) before and after publishing and transmission</a:t>
                </a:r>
                <a:endParaRPr sz="1000" b="1" dirty="0">
                  <a:latin typeface="Roboto"/>
                  <a:ea typeface="Roboto"/>
                  <a:cs typeface="Roboto"/>
                  <a:sym typeface="Roboto"/>
                </a:endParaRPr>
              </a:p>
            </p:txBody>
          </p:sp>
        </p:grpSp>
      </p:grpSp>
    </p:spTree>
    <p:extLst>
      <p:ext uri="{BB962C8B-B14F-4D97-AF65-F5344CB8AC3E}">
        <p14:creationId xmlns:p14="http://schemas.microsoft.com/office/powerpoint/2010/main" val="1747318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28</a:t>
            </a:fld>
            <a:endParaRPr dirty="0"/>
          </a:p>
        </p:txBody>
      </p:sp>
      <p:sp>
        <p:nvSpPr>
          <p:cNvPr id="2" name="Rectangle 1"/>
          <p:cNvSpPr/>
          <p:nvPr/>
        </p:nvSpPr>
        <p:spPr>
          <a:xfrm>
            <a:off x="0" y="833752"/>
            <a:ext cx="7736413" cy="523220"/>
          </a:xfrm>
          <a:prstGeom prst="rect">
            <a:avLst/>
          </a:prstGeom>
        </p:spPr>
        <p:txBody>
          <a:bodyPr wrap="none">
            <a:spAutoFit/>
          </a:bodyPr>
          <a:lstStyle/>
          <a:p>
            <a:r>
              <a:rPr lang="en-US" sz="2800" b="1" dirty="0">
                <a:latin typeface="+mn-lt"/>
              </a:rPr>
              <a:t>Security and Privacy in </a:t>
            </a:r>
            <a:r>
              <a:rPr lang="en-US" sz="2800" b="1" dirty="0" err="1">
                <a:latin typeface="+mn-lt"/>
              </a:rPr>
              <a:t>Blockchain</a:t>
            </a:r>
            <a:r>
              <a:rPr lang="en-US" sz="2800" b="1" dirty="0">
                <a:latin typeface="+mn-lt"/>
              </a:rPr>
              <a:t> Systems</a:t>
            </a:r>
            <a:endParaRPr lang="en-IN" sz="2800" b="1" dirty="0">
              <a:latin typeface="+mn-lt"/>
            </a:endParaRPr>
          </a:p>
        </p:txBody>
      </p:sp>
      <p:sp>
        <p:nvSpPr>
          <p:cNvPr id="4" name="Text Placeholder 1">
            <a:extLst>
              <a:ext uri="{FF2B5EF4-FFF2-40B4-BE49-F238E27FC236}">
                <a16:creationId xmlns:a16="http://schemas.microsoft.com/office/drawing/2014/main" id="{5D3712F9-2A86-DBC0-8991-5E88D8271671}"/>
              </a:ext>
            </a:extLst>
          </p:cNvPr>
          <p:cNvSpPr>
            <a:spLocks noGrp="1"/>
          </p:cNvSpPr>
          <p:nvPr>
            <p:ph type="body" idx="1"/>
          </p:nvPr>
        </p:nvSpPr>
        <p:spPr>
          <a:xfrm>
            <a:off x="1017538" y="2018071"/>
            <a:ext cx="6253274" cy="4968654"/>
          </a:xfrm>
        </p:spPr>
        <p:txBody>
          <a:bodyPr>
            <a:normAutofit/>
          </a:bodyPr>
          <a:lstStyle/>
          <a:p>
            <a:pPr marL="571500" indent="-342900">
              <a:buFont typeface="Arial" panose="020B0604020202020204" pitchFamily="34" charset="0"/>
              <a:buChar char="•"/>
            </a:pPr>
            <a:r>
              <a:rPr lang="en-IN" sz="1800" b="0" i="0" dirty="0">
                <a:solidFill>
                  <a:schemeClr val="tx1"/>
                </a:solidFill>
                <a:effectLst/>
                <a:latin typeface="+mn-lt"/>
              </a:rPr>
              <a:t>Double spending attack</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Finney attack</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Brute force attack</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Vector 76 / one-confirmation attack</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err="1">
                <a:solidFill>
                  <a:schemeClr val="tx1"/>
                </a:solidFill>
                <a:effectLst/>
                <a:latin typeface="+mn-lt"/>
              </a:rPr>
              <a:t>Goldfinger</a:t>
            </a:r>
            <a:r>
              <a:rPr lang="en-IN" sz="1800" b="0" i="0" dirty="0">
                <a:solidFill>
                  <a:schemeClr val="tx1"/>
                </a:solidFill>
                <a:effectLst/>
                <a:latin typeface="+mn-lt"/>
              </a:rPr>
              <a:t> attack</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Block discarding / selfish mining</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Block withholding</a:t>
            </a:r>
          </a:p>
          <a:p>
            <a:pPr marL="571500" indent="-342900">
              <a:buFont typeface="Arial" panose="020B0604020202020204" pitchFamily="34" charset="0"/>
              <a:buChar char="•"/>
            </a:pPr>
            <a:endParaRPr lang="en-IN" sz="1800" b="0" i="0" dirty="0">
              <a:solidFill>
                <a:schemeClr val="tx1"/>
              </a:solidFill>
              <a:effectLst/>
              <a:latin typeface="+mn-lt"/>
            </a:endParaRPr>
          </a:p>
          <a:p>
            <a:pPr marL="571500" indent="-342900">
              <a:buFont typeface="Arial" panose="020B0604020202020204" pitchFamily="34" charset="0"/>
              <a:buChar char="•"/>
            </a:pPr>
            <a:r>
              <a:rPr lang="en-IN" sz="1800" b="0" i="0" dirty="0">
                <a:solidFill>
                  <a:schemeClr val="tx1"/>
                </a:solidFill>
                <a:effectLst/>
                <a:latin typeface="+mn-lt"/>
              </a:rPr>
              <a:t>Fork after withholding</a:t>
            </a:r>
          </a:p>
          <a:p>
            <a:pPr marL="571500" indent="-342900">
              <a:buFont typeface="Arial" panose="020B0604020202020204" pitchFamily="34" charset="0"/>
              <a:buChar char="•"/>
            </a:pPr>
            <a:endParaRPr lang="en-IN" sz="1800" b="0" i="0" dirty="0">
              <a:solidFill>
                <a:srgbClr val="666666"/>
              </a:solidFill>
              <a:effectLst/>
              <a:latin typeface="+mn-lt"/>
            </a:endParaRPr>
          </a:p>
          <a:p>
            <a:pPr marL="571500" indent="-342900">
              <a:buFont typeface="Arial" panose="020B0604020202020204" pitchFamily="34" charset="0"/>
              <a:buChar char="•"/>
            </a:pPr>
            <a:endParaRPr lang="en-IN" sz="1800" dirty="0">
              <a:latin typeface="+mn-lt"/>
            </a:endParaRPr>
          </a:p>
        </p:txBody>
      </p:sp>
      <p:sp>
        <p:nvSpPr>
          <p:cNvPr id="5" name="Google Shape;132;gd8ee4bd241_0_677"/>
          <p:cNvSpPr txBox="1">
            <a:spLocks/>
          </p:cNvSpPr>
          <p:nvPr/>
        </p:nvSpPr>
        <p:spPr>
          <a:xfrm>
            <a:off x="0" y="1489878"/>
            <a:ext cx="11196956" cy="3952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1C1573"/>
              </a:buClr>
              <a:buSzPts val="1500"/>
            </a:pPr>
            <a:r>
              <a:rPr lang="en-US" sz="1800" b="1" dirty="0">
                <a:latin typeface="+mn-lt"/>
              </a:rPr>
              <a:t>Business attack vector - Bitcoin perspective</a:t>
            </a:r>
          </a:p>
        </p:txBody>
      </p:sp>
    </p:spTree>
    <p:extLst>
      <p:ext uri="{BB962C8B-B14F-4D97-AF65-F5344CB8AC3E}">
        <p14:creationId xmlns:p14="http://schemas.microsoft.com/office/powerpoint/2010/main" val="1021223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29</a:t>
            </a:fld>
            <a:endParaRPr dirty="0"/>
          </a:p>
        </p:txBody>
      </p:sp>
      <p:sp>
        <p:nvSpPr>
          <p:cNvPr id="2" name="Rectangle 1"/>
          <p:cNvSpPr/>
          <p:nvPr/>
        </p:nvSpPr>
        <p:spPr>
          <a:xfrm>
            <a:off x="0" y="842630"/>
            <a:ext cx="4241867" cy="523220"/>
          </a:xfrm>
          <a:prstGeom prst="rect">
            <a:avLst/>
          </a:prstGeom>
        </p:spPr>
        <p:txBody>
          <a:bodyPr wrap="none">
            <a:spAutoFit/>
          </a:bodyPr>
          <a:lstStyle/>
          <a:p>
            <a:r>
              <a:rPr lang="en-US" sz="2800" b="1" dirty="0">
                <a:solidFill>
                  <a:schemeClr val="tx1"/>
                </a:solidFill>
                <a:latin typeface="+mn-lt"/>
              </a:rPr>
              <a:t>Double spending attack</a:t>
            </a:r>
            <a:endParaRPr lang="en-IN" sz="2800" b="1" dirty="0">
              <a:solidFill>
                <a:schemeClr val="tx1"/>
              </a:solidFill>
              <a:latin typeface="+mn-lt"/>
            </a:endParaRPr>
          </a:p>
        </p:txBody>
      </p:sp>
      <p:sp>
        <p:nvSpPr>
          <p:cNvPr id="3" name="Rectangle 2"/>
          <p:cNvSpPr/>
          <p:nvPr/>
        </p:nvSpPr>
        <p:spPr>
          <a:xfrm>
            <a:off x="124288" y="1506626"/>
            <a:ext cx="4270160" cy="4893647"/>
          </a:xfrm>
          <a:prstGeom prst="rect">
            <a:avLst/>
          </a:prstGeom>
        </p:spPr>
        <p:txBody>
          <a:bodyPr wrap="square">
            <a:spAutoFit/>
          </a:bodyPr>
          <a:lstStyle/>
          <a:p>
            <a:pPr>
              <a:lnSpc>
                <a:spcPct val="150000"/>
              </a:lnSpc>
            </a:pPr>
            <a:r>
              <a:rPr lang="en-US" dirty="0"/>
              <a:t>• A </a:t>
            </a:r>
            <a:r>
              <a:rPr lang="en-US" b="1" dirty="0"/>
              <a:t>double spending attack</a:t>
            </a:r>
            <a:r>
              <a:rPr lang="en-US" dirty="0"/>
              <a:t> occurs when the same </a:t>
            </a:r>
            <a:r>
              <a:rPr lang="en-US" b="1" dirty="0"/>
              <a:t>bitcoins are used more than once</a:t>
            </a:r>
            <a:r>
              <a:rPr lang="en-US" dirty="0"/>
              <a:t> in different transactions.</a:t>
            </a:r>
          </a:p>
          <a:p>
            <a:pPr>
              <a:lnSpc>
                <a:spcPct val="150000"/>
              </a:lnSpc>
            </a:pPr>
            <a:r>
              <a:rPr lang="en-US" dirty="0"/>
              <a:t>• The attacker tricks a vendor by showing a </a:t>
            </a:r>
            <a:r>
              <a:rPr lang="en-US" b="1" dirty="0"/>
              <a:t>confirmed transaction</a:t>
            </a:r>
            <a:r>
              <a:rPr lang="en-US" dirty="0"/>
              <a:t>, causing the release of goods or services.</a:t>
            </a:r>
          </a:p>
          <a:p>
            <a:pPr>
              <a:lnSpc>
                <a:spcPct val="150000"/>
              </a:lnSpc>
            </a:pPr>
            <a:r>
              <a:rPr lang="en-US" dirty="0"/>
              <a:t>• Meanwhile, a </a:t>
            </a:r>
            <a:r>
              <a:rPr lang="en-US" b="1" dirty="0"/>
              <a:t>conflicting transaction</a:t>
            </a:r>
            <a:r>
              <a:rPr lang="en-US" dirty="0"/>
              <a:t> is broadcast to the network, sending the same coins back to an address controlled by the attacker.</a:t>
            </a:r>
          </a:p>
          <a:p>
            <a:pPr>
              <a:lnSpc>
                <a:spcPct val="150000"/>
              </a:lnSpc>
            </a:pPr>
            <a:r>
              <a:rPr lang="en-US" dirty="0"/>
              <a:t>• If this fraudulent transaction is included in the </a:t>
            </a:r>
            <a:r>
              <a:rPr lang="en-US" b="1" dirty="0"/>
              <a:t>main blockchain branch (fork)</a:t>
            </a:r>
            <a:r>
              <a:rPr lang="en-US" dirty="0"/>
              <a:t>, the original payment becomes invalid.</a:t>
            </a:r>
          </a:p>
          <a:p>
            <a:pPr>
              <a:lnSpc>
                <a:spcPct val="150000"/>
              </a:lnSpc>
            </a:pPr>
            <a:r>
              <a:rPr lang="en-US" dirty="0"/>
              <a:t>• As a result, the attacker ends up with both the </a:t>
            </a:r>
            <a:r>
              <a:rPr lang="en-US" b="1" dirty="0"/>
              <a:t>goods and the digital coins</a:t>
            </a:r>
            <a:r>
              <a:rPr lang="en-US" dirty="0"/>
              <a:t>.</a:t>
            </a:r>
          </a:p>
          <a:p>
            <a:pPr marL="285750" indent="-285750">
              <a:buFont typeface="Arial" panose="020B0604020202020204" pitchFamily="34" charset="0"/>
              <a:buChar char="•"/>
            </a:pPr>
            <a:endParaRPr lang="en-IN" sz="1800" dirty="0"/>
          </a:p>
        </p:txBody>
      </p:sp>
      <p:pic>
        <p:nvPicPr>
          <p:cNvPr id="5" name="Picture 2">
            <a:extLst>
              <a:ext uri="{FF2B5EF4-FFF2-40B4-BE49-F238E27FC236}">
                <a16:creationId xmlns:a16="http://schemas.microsoft.com/office/drawing/2014/main" id="{EB84B035-167C-7FB9-44D9-6CD949DA5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448" y="1506626"/>
            <a:ext cx="4448414" cy="3821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915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30</a:t>
            </a:fld>
            <a:endParaRPr dirty="0"/>
          </a:p>
        </p:txBody>
      </p:sp>
      <p:sp>
        <p:nvSpPr>
          <p:cNvPr id="2" name="Rectangle 1"/>
          <p:cNvSpPr/>
          <p:nvPr/>
        </p:nvSpPr>
        <p:spPr>
          <a:xfrm>
            <a:off x="0" y="815997"/>
            <a:ext cx="2484976" cy="523220"/>
          </a:xfrm>
          <a:prstGeom prst="rect">
            <a:avLst/>
          </a:prstGeom>
        </p:spPr>
        <p:txBody>
          <a:bodyPr wrap="none">
            <a:spAutoFit/>
          </a:bodyPr>
          <a:lstStyle/>
          <a:p>
            <a:r>
              <a:rPr lang="en-US" sz="2800" b="1" dirty="0">
                <a:solidFill>
                  <a:schemeClr val="tx1"/>
                </a:solidFill>
              </a:rPr>
              <a:t>Finney attack</a:t>
            </a:r>
            <a:endParaRPr lang="en-IN" sz="2800" b="1" dirty="0">
              <a:solidFill>
                <a:schemeClr val="tx1"/>
              </a:solidFill>
            </a:endParaRPr>
          </a:p>
        </p:txBody>
      </p:sp>
      <p:sp>
        <p:nvSpPr>
          <p:cNvPr id="3" name="Rectangle 2"/>
          <p:cNvSpPr/>
          <p:nvPr/>
        </p:nvSpPr>
        <p:spPr>
          <a:xfrm>
            <a:off x="198976" y="1513123"/>
            <a:ext cx="8341342" cy="4939814"/>
          </a:xfrm>
          <a:prstGeom prst="rect">
            <a:avLst/>
          </a:prstGeom>
        </p:spPr>
        <p:txBody>
          <a:bodyPr wrap="square">
            <a:spAutoFit/>
          </a:bodyPr>
          <a:lstStyle/>
          <a:p>
            <a:pPr>
              <a:lnSpc>
                <a:spcPct val="150000"/>
              </a:lnSpc>
            </a:pPr>
            <a:r>
              <a:rPr lang="en-US" sz="1800" dirty="0"/>
              <a:t>• A </a:t>
            </a:r>
            <a:r>
              <a:rPr lang="en-US" sz="1800" b="1" dirty="0"/>
              <a:t>Finney attack</a:t>
            </a:r>
            <a:r>
              <a:rPr lang="en-US" sz="1800" dirty="0"/>
              <a:t> is a type of </a:t>
            </a:r>
            <a:r>
              <a:rPr lang="en-US" sz="1800" b="1" dirty="0"/>
              <a:t>double spending attack</a:t>
            </a:r>
            <a:r>
              <a:rPr lang="en-US" sz="1800" dirty="0"/>
              <a:t> where the attacker first </a:t>
            </a:r>
            <a:r>
              <a:rPr lang="en-US" sz="1800" b="1" dirty="0"/>
              <a:t>pre-mines a block</a:t>
            </a:r>
            <a:r>
              <a:rPr lang="en-US" sz="1800" dirty="0"/>
              <a:t> containing a transaction that sends coins to an address they control.</a:t>
            </a:r>
          </a:p>
          <a:p>
            <a:pPr>
              <a:lnSpc>
                <a:spcPct val="150000"/>
              </a:lnSpc>
            </a:pPr>
            <a:r>
              <a:rPr lang="en-US" sz="1800" dirty="0"/>
              <a:t>• After successfully mining this block, the attacker makes a second transaction paying the same coins to a </a:t>
            </a:r>
            <a:r>
              <a:rPr lang="en-US" sz="1800" b="1" dirty="0"/>
              <a:t>merchant/vendor</a:t>
            </a:r>
            <a:r>
              <a:rPr lang="en-US" sz="1800" dirty="0"/>
              <a:t>.</a:t>
            </a:r>
          </a:p>
          <a:p>
            <a:pPr>
              <a:lnSpc>
                <a:spcPct val="150000"/>
              </a:lnSpc>
            </a:pPr>
            <a:r>
              <a:rPr lang="en-US" sz="1800" dirty="0"/>
              <a:t>• The vendor may accept the payment after seeing a </a:t>
            </a:r>
            <a:r>
              <a:rPr lang="en-US" sz="1800" b="1" dirty="0"/>
              <a:t>valid transaction confirmation</a:t>
            </a:r>
            <a:r>
              <a:rPr lang="en-US" sz="1800" dirty="0"/>
              <a:t>.</a:t>
            </a:r>
          </a:p>
          <a:p>
            <a:pPr>
              <a:lnSpc>
                <a:spcPct val="150000"/>
              </a:lnSpc>
            </a:pPr>
            <a:r>
              <a:rPr lang="en-US" sz="1800" dirty="0"/>
              <a:t>• The attacker then releases the </a:t>
            </a:r>
            <a:r>
              <a:rPr lang="en-US" sz="1800" b="1" dirty="0"/>
              <a:t>pre-mined block</a:t>
            </a:r>
            <a:r>
              <a:rPr lang="en-US" sz="1800" dirty="0"/>
              <a:t>, creating a </a:t>
            </a:r>
            <a:r>
              <a:rPr lang="en-US" sz="1800" b="1" dirty="0"/>
              <a:t>competing fork</a:t>
            </a:r>
            <a:r>
              <a:rPr lang="en-US" sz="1800" dirty="0"/>
              <a:t> in the blockchain.</a:t>
            </a:r>
          </a:p>
          <a:p>
            <a:pPr>
              <a:lnSpc>
                <a:spcPct val="150000"/>
              </a:lnSpc>
            </a:pPr>
            <a:r>
              <a:rPr lang="en-US" sz="1800" dirty="0"/>
              <a:t>• The attack succeeds if the attacker’s fork becomes part of the </a:t>
            </a:r>
            <a:r>
              <a:rPr lang="en-US" sz="1800" b="1" dirty="0"/>
              <a:t>longest valid chain</a:t>
            </a:r>
            <a:r>
              <a:rPr lang="en-US" sz="1800" dirty="0"/>
              <a:t>, making the vendor’s transaction invalid.</a:t>
            </a:r>
          </a:p>
          <a:p>
            <a:pPr marL="285750" indent="-285750">
              <a:buFont typeface="Arial" panose="020B0604020202020204" pitchFamily="34" charset="0"/>
              <a:buChar char="•"/>
            </a:pPr>
            <a:endParaRPr lang="en-IN" sz="1800" dirty="0">
              <a:latin typeface="+mn-lt"/>
            </a:endParaRPr>
          </a:p>
        </p:txBody>
      </p:sp>
    </p:spTree>
    <p:extLst>
      <p:ext uri="{BB962C8B-B14F-4D97-AF65-F5344CB8AC3E}">
        <p14:creationId xmlns:p14="http://schemas.microsoft.com/office/powerpoint/2010/main" val="3824508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31</a:t>
            </a:fld>
            <a:endParaRPr dirty="0"/>
          </a:p>
        </p:txBody>
      </p:sp>
      <p:sp>
        <p:nvSpPr>
          <p:cNvPr id="2" name="Rectangle 1"/>
          <p:cNvSpPr/>
          <p:nvPr/>
        </p:nvSpPr>
        <p:spPr>
          <a:xfrm>
            <a:off x="0" y="842630"/>
            <a:ext cx="3244799" cy="523220"/>
          </a:xfrm>
          <a:prstGeom prst="rect">
            <a:avLst/>
          </a:prstGeom>
        </p:spPr>
        <p:txBody>
          <a:bodyPr wrap="none">
            <a:spAutoFit/>
          </a:bodyPr>
          <a:lstStyle/>
          <a:p>
            <a:r>
              <a:rPr lang="en-US" sz="2800" b="1" dirty="0">
                <a:solidFill>
                  <a:schemeClr val="tx1"/>
                </a:solidFill>
                <a:latin typeface="+mn-lt"/>
              </a:rPr>
              <a:t>Brute force attack</a:t>
            </a:r>
            <a:endParaRPr lang="en-IN" sz="2800" b="1" dirty="0">
              <a:solidFill>
                <a:schemeClr val="tx1"/>
              </a:solidFill>
              <a:latin typeface="+mn-lt"/>
            </a:endParaRPr>
          </a:p>
        </p:txBody>
      </p:sp>
      <p:sp>
        <p:nvSpPr>
          <p:cNvPr id="3" name="Rectangle 2"/>
          <p:cNvSpPr/>
          <p:nvPr/>
        </p:nvSpPr>
        <p:spPr>
          <a:xfrm>
            <a:off x="40588" y="1423779"/>
            <a:ext cx="8547151" cy="5016758"/>
          </a:xfrm>
          <a:prstGeom prst="rect">
            <a:avLst/>
          </a:prstGeom>
        </p:spPr>
        <p:txBody>
          <a:bodyPr wrap="square">
            <a:spAutoFit/>
          </a:bodyPr>
          <a:lstStyle/>
          <a:p>
            <a:pPr>
              <a:lnSpc>
                <a:spcPct val="150000"/>
              </a:lnSpc>
            </a:pPr>
            <a:r>
              <a:rPr lang="en-US" sz="2000" dirty="0"/>
              <a:t>• With </a:t>
            </a:r>
            <a:r>
              <a:rPr lang="en-US" sz="2000" b="1" dirty="0"/>
              <a:t>high computing power</a:t>
            </a:r>
            <a:r>
              <a:rPr lang="en-US" sz="2000" dirty="0"/>
              <a:t> (e.g., a large mining pool), an attacker can </a:t>
            </a:r>
            <a:r>
              <a:rPr lang="en-US" sz="2000" b="1" dirty="0"/>
              <a:t>pre-mine multiple blocks ahead</a:t>
            </a:r>
            <a:r>
              <a:rPr lang="en-US" sz="2000" dirty="0"/>
              <a:t> of the honest network.</a:t>
            </a:r>
          </a:p>
          <a:p>
            <a:pPr>
              <a:lnSpc>
                <a:spcPct val="150000"/>
              </a:lnSpc>
            </a:pPr>
            <a:r>
              <a:rPr lang="en-US" sz="2000" dirty="0"/>
              <a:t>• The attacker builds a </a:t>
            </a:r>
            <a:r>
              <a:rPr lang="en-US" sz="2000" b="1" dirty="0"/>
              <a:t>private chain of blocks</a:t>
            </a:r>
            <a:r>
              <a:rPr lang="en-US" sz="2000" dirty="0"/>
              <a:t> containing a conflicting transaction.</a:t>
            </a:r>
          </a:p>
          <a:p>
            <a:pPr>
              <a:lnSpc>
                <a:spcPct val="150000"/>
              </a:lnSpc>
            </a:pPr>
            <a:r>
              <a:rPr lang="en-US" sz="2000" dirty="0"/>
              <a:t>• The victim (vendor) sees a </a:t>
            </a:r>
            <a:r>
              <a:rPr lang="en-US" sz="2000" b="1" dirty="0"/>
              <a:t>valid transaction confirmation</a:t>
            </a:r>
            <a:r>
              <a:rPr lang="en-US" sz="2000" dirty="0"/>
              <a:t> and releases goods.</a:t>
            </a:r>
          </a:p>
          <a:p>
            <a:pPr>
              <a:lnSpc>
                <a:spcPct val="150000"/>
              </a:lnSpc>
            </a:pPr>
            <a:r>
              <a:rPr lang="en-US" sz="2000" dirty="0"/>
              <a:t>• The attacker then releases the </a:t>
            </a:r>
            <a:r>
              <a:rPr lang="en-US" sz="2000" b="1" dirty="0"/>
              <a:t>pre-mined chain</a:t>
            </a:r>
            <a:r>
              <a:rPr lang="en-US" sz="2000" dirty="0"/>
              <a:t>, which can quickly become the </a:t>
            </a:r>
            <a:r>
              <a:rPr lang="en-US" sz="2000" b="1" dirty="0"/>
              <a:t>longest chain</a:t>
            </a:r>
            <a:r>
              <a:rPr lang="en-US" sz="2000" dirty="0"/>
              <a:t>.</a:t>
            </a:r>
          </a:p>
          <a:p>
            <a:pPr>
              <a:lnSpc>
                <a:spcPct val="150000"/>
              </a:lnSpc>
            </a:pPr>
            <a:r>
              <a:rPr lang="en-US" sz="2000" dirty="0"/>
              <a:t>• As a result, the attacker’s chain replaces the honest one, leading to </a:t>
            </a:r>
            <a:r>
              <a:rPr lang="en-US" sz="2000" b="1" dirty="0"/>
              <a:t>successful double spending</a:t>
            </a:r>
            <a:r>
              <a:rPr lang="en-US" sz="2000" dirty="0"/>
              <a:t>.</a:t>
            </a:r>
          </a:p>
          <a:p>
            <a:pPr marL="342900" indent="-342900">
              <a:buFont typeface="Arial" panose="020B0604020202020204" pitchFamily="34" charset="0"/>
              <a:buChar char="•"/>
            </a:pPr>
            <a:endParaRPr lang="en-IN" sz="2000" dirty="0">
              <a:solidFill>
                <a:schemeClr val="tx1"/>
              </a:solidFill>
            </a:endParaRPr>
          </a:p>
        </p:txBody>
      </p:sp>
    </p:spTree>
    <p:extLst>
      <p:ext uri="{BB962C8B-B14F-4D97-AF65-F5344CB8AC3E}">
        <p14:creationId xmlns:p14="http://schemas.microsoft.com/office/powerpoint/2010/main" val="1210618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32</a:t>
            </a:fld>
            <a:endParaRPr dirty="0"/>
          </a:p>
        </p:txBody>
      </p:sp>
      <p:sp>
        <p:nvSpPr>
          <p:cNvPr id="2" name="Rectangle 1"/>
          <p:cNvSpPr/>
          <p:nvPr/>
        </p:nvSpPr>
        <p:spPr>
          <a:xfrm>
            <a:off x="0" y="829092"/>
            <a:ext cx="6179897" cy="523220"/>
          </a:xfrm>
          <a:prstGeom prst="rect">
            <a:avLst/>
          </a:prstGeom>
        </p:spPr>
        <p:txBody>
          <a:bodyPr wrap="none">
            <a:spAutoFit/>
          </a:bodyPr>
          <a:lstStyle/>
          <a:p>
            <a:r>
              <a:rPr lang="en-US" sz="2800" b="1" dirty="0">
                <a:solidFill>
                  <a:schemeClr val="tx1"/>
                </a:solidFill>
              </a:rPr>
              <a:t>Vector 76 / one-confirmation attack</a:t>
            </a:r>
            <a:endParaRPr lang="en-IN" sz="2800" b="1" dirty="0">
              <a:solidFill>
                <a:schemeClr val="tx1"/>
              </a:solidFill>
            </a:endParaRPr>
          </a:p>
        </p:txBody>
      </p:sp>
      <p:sp>
        <p:nvSpPr>
          <p:cNvPr id="3" name="Rectangle 2"/>
          <p:cNvSpPr/>
          <p:nvPr/>
        </p:nvSpPr>
        <p:spPr>
          <a:xfrm>
            <a:off x="0" y="1531829"/>
            <a:ext cx="8686800" cy="4524315"/>
          </a:xfrm>
          <a:prstGeom prst="rect">
            <a:avLst/>
          </a:prstGeom>
        </p:spPr>
        <p:txBody>
          <a:bodyPr wrap="square">
            <a:spAutoFit/>
          </a:bodyPr>
          <a:lstStyle/>
          <a:p>
            <a:pPr>
              <a:lnSpc>
                <a:spcPct val="150000"/>
              </a:lnSpc>
            </a:pPr>
            <a:r>
              <a:rPr lang="en-US" sz="1800" dirty="0"/>
              <a:t>• A </a:t>
            </a:r>
            <a:r>
              <a:rPr lang="en-US" sz="1800" b="1" dirty="0"/>
              <a:t>Vector 76 attack</a:t>
            </a:r>
            <a:r>
              <a:rPr lang="en-US" sz="1800" dirty="0"/>
              <a:t> is a form of </a:t>
            </a:r>
            <a:r>
              <a:rPr lang="en-US" sz="1800" b="1" dirty="0"/>
              <a:t>double spending attack</a:t>
            </a:r>
            <a:r>
              <a:rPr lang="en-US" sz="1800" dirty="0"/>
              <a:t> targeting a </a:t>
            </a:r>
            <a:r>
              <a:rPr lang="en-US" sz="1800" b="1" dirty="0"/>
              <a:t>cryptocurrency exchange</a:t>
            </a:r>
            <a:r>
              <a:rPr lang="en-US" sz="1800" dirty="0"/>
              <a:t> instead of a vendor.</a:t>
            </a:r>
          </a:p>
          <a:p>
            <a:pPr>
              <a:lnSpc>
                <a:spcPct val="150000"/>
              </a:lnSpc>
            </a:pPr>
            <a:r>
              <a:rPr lang="en-US" sz="1800" dirty="0"/>
              <a:t>• The attacker first creates a </a:t>
            </a:r>
            <a:r>
              <a:rPr lang="en-US" sz="1800" b="1" dirty="0"/>
              <a:t>pre-mined block</a:t>
            </a:r>
            <a:r>
              <a:rPr lang="en-US" sz="1800" dirty="0"/>
              <a:t> containing a fake </a:t>
            </a:r>
            <a:r>
              <a:rPr lang="en-US" sz="1800" b="1" dirty="0"/>
              <a:t>deposit transaction</a:t>
            </a:r>
            <a:r>
              <a:rPr lang="en-US" sz="1800" dirty="0"/>
              <a:t> to the exchange.</a:t>
            </a:r>
          </a:p>
          <a:p>
            <a:pPr>
              <a:lnSpc>
                <a:spcPct val="150000"/>
              </a:lnSpc>
            </a:pPr>
            <a:r>
              <a:rPr lang="en-US" sz="1800" dirty="0"/>
              <a:t>• When a new block is announced, the attacker quickly submits a </a:t>
            </a:r>
            <a:r>
              <a:rPr lang="en-US" sz="1800" b="1" dirty="0"/>
              <a:t>withdrawal transaction</a:t>
            </a:r>
            <a:r>
              <a:rPr lang="en-US" sz="1800" dirty="0"/>
              <a:t> for the same funds.</a:t>
            </a:r>
          </a:p>
          <a:p>
            <a:pPr>
              <a:lnSpc>
                <a:spcPct val="150000"/>
              </a:lnSpc>
            </a:pPr>
            <a:r>
              <a:rPr lang="en-US" sz="1800" dirty="0"/>
              <a:t>• The attacker then releases the </a:t>
            </a:r>
            <a:r>
              <a:rPr lang="en-US" sz="1800" b="1" dirty="0"/>
              <a:t>pre-mined block</a:t>
            </a:r>
            <a:r>
              <a:rPr lang="en-US" sz="1800" dirty="0"/>
              <a:t>, attempting to create a </a:t>
            </a:r>
            <a:r>
              <a:rPr lang="en-US" sz="1800" b="1" dirty="0"/>
              <a:t>competing fork</a:t>
            </a:r>
            <a:r>
              <a:rPr lang="en-US" sz="1800" dirty="0"/>
              <a:t> in the blockchain.</a:t>
            </a:r>
          </a:p>
          <a:p>
            <a:pPr>
              <a:lnSpc>
                <a:spcPct val="150000"/>
              </a:lnSpc>
            </a:pPr>
            <a:r>
              <a:rPr lang="en-US" sz="1800" dirty="0"/>
              <a:t>• If the deposit transaction is invalidated, the exchange may still process the </a:t>
            </a:r>
            <a:r>
              <a:rPr lang="en-US" sz="1800" b="1" dirty="0"/>
              <a:t>withdrawal</a:t>
            </a:r>
            <a:r>
              <a:rPr lang="en-US" sz="1800" dirty="0"/>
              <a:t>, resulting in a financial loss.</a:t>
            </a:r>
          </a:p>
          <a:p>
            <a:pPr marL="2857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2967151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33</a:t>
            </a:fld>
            <a:endParaRPr dirty="0"/>
          </a:p>
        </p:txBody>
      </p:sp>
      <p:sp>
        <p:nvSpPr>
          <p:cNvPr id="2" name="Rectangle 1"/>
          <p:cNvSpPr/>
          <p:nvPr/>
        </p:nvSpPr>
        <p:spPr>
          <a:xfrm>
            <a:off x="0" y="813852"/>
            <a:ext cx="3142207" cy="523220"/>
          </a:xfrm>
          <a:prstGeom prst="rect">
            <a:avLst/>
          </a:prstGeom>
        </p:spPr>
        <p:txBody>
          <a:bodyPr wrap="none">
            <a:spAutoFit/>
          </a:bodyPr>
          <a:lstStyle/>
          <a:p>
            <a:r>
              <a:rPr lang="en-US" sz="2800" b="1" dirty="0" err="1">
                <a:solidFill>
                  <a:schemeClr val="tx1"/>
                </a:solidFill>
                <a:latin typeface="+mn-lt"/>
              </a:rPr>
              <a:t>Goldfinger</a:t>
            </a:r>
            <a:r>
              <a:rPr lang="en-US" sz="2800" b="1" dirty="0">
                <a:solidFill>
                  <a:schemeClr val="tx1"/>
                </a:solidFill>
                <a:latin typeface="+mn-lt"/>
              </a:rPr>
              <a:t> attack</a:t>
            </a:r>
            <a:endParaRPr lang="en-IN" sz="2800" b="1" dirty="0">
              <a:solidFill>
                <a:schemeClr val="tx1"/>
              </a:solidFill>
              <a:latin typeface="+mn-lt"/>
            </a:endParaRPr>
          </a:p>
        </p:txBody>
      </p:sp>
      <p:sp>
        <p:nvSpPr>
          <p:cNvPr id="3" name="Rectangle 2"/>
          <p:cNvSpPr/>
          <p:nvPr/>
        </p:nvSpPr>
        <p:spPr>
          <a:xfrm>
            <a:off x="83820" y="1409581"/>
            <a:ext cx="8808720" cy="4524315"/>
          </a:xfrm>
          <a:prstGeom prst="rect">
            <a:avLst/>
          </a:prstGeom>
        </p:spPr>
        <p:txBody>
          <a:bodyPr wrap="square">
            <a:spAutoFit/>
          </a:bodyPr>
          <a:lstStyle/>
          <a:p>
            <a:pPr>
              <a:lnSpc>
                <a:spcPct val="150000"/>
              </a:lnSpc>
            </a:pPr>
            <a:r>
              <a:rPr lang="en-US" sz="1800" dirty="0"/>
              <a:t>• If a miner or mining pool controls around </a:t>
            </a:r>
            <a:r>
              <a:rPr lang="en-US" sz="1800" b="1" dirty="0"/>
              <a:t>51% of the total network </a:t>
            </a:r>
            <a:r>
              <a:rPr lang="en-US" sz="1800" b="1" dirty="0" err="1"/>
              <a:t>hashrate</a:t>
            </a:r>
            <a:r>
              <a:rPr lang="en-US" sz="1800" dirty="0"/>
              <a:t>, it can perform a </a:t>
            </a:r>
            <a:r>
              <a:rPr lang="en-US" sz="1800" b="1" dirty="0"/>
              <a:t>51% attack</a:t>
            </a:r>
            <a:r>
              <a:rPr lang="en-US" sz="1800" dirty="0"/>
              <a:t>, gaining majority control over block creation.</a:t>
            </a:r>
          </a:p>
          <a:p>
            <a:pPr>
              <a:lnSpc>
                <a:spcPct val="150000"/>
              </a:lnSpc>
            </a:pPr>
            <a:r>
              <a:rPr lang="en-US" sz="1800" dirty="0"/>
              <a:t>• This allows the attacker to </a:t>
            </a:r>
            <a:r>
              <a:rPr lang="en-US" sz="1800" b="1" dirty="0"/>
              <a:t>double spend coins</a:t>
            </a:r>
            <a:r>
              <a:rPr lang="en-US" sz="1800" dirty="0"/>
              <a:t>, reverse transactions, and manipulate the blockchain history.</a:t>
            </a:r>
          </a:p>
          <a:p>
            <a:pPr>
              <a:lnSpc>
                <a:spcPct val="150000"/>
              </a:lnSpc>
            </a:pPr>
            <a:r>
              <a:rPr lang="en-US" sz="1800" dirty="0"/>
              <a:t>• When such control is used for </a:t>
            </a:r>
            <a:r>
              <a:rPr lang="en-US" sz="1800" b="1" dirty="0"/>
              <a:t>profit-driven manipulation</a:t>
            </a:r>
            <a:r>
              <a:rPr lang="en-US" sz="1800" dirty="0"/>
              <a:t>, it is called a </a:t>
            </a:r>
            <a:r>
              <a:rPr lang="en-US" sz="1800" b="1" dirty="0"/>
              <a:t>51% attack</a:t>
            </a:r>
            <a:r>
              <a:rPr lang="en-US" sz="1800" dirty="0"/>
              <a:t>.</a:t>
            </a:r>
          </a:p>
          <a:p>
            <a:pPr>
              <a:lnSpc>
                <a:spcPct val="150000"/>
              </a:lnSpc>
            </a:pPr>
            <a:r>
              <a:rPr lang="en-US" sz="1800" dirty="0"/>
              <a:t>• If the intention is to </a:t>
            </a:r>
            <a:r>
              <a:rPr lang="en-US" sz="1800" b="1" dirty="0"/>
              <a:t>damage or destroy the cryptocurrency/network rather than profit</a:t>
            </a:r>
            <a:r>
              <a:rPr lang="en-US" sz="1800" dirty="0"/>
              <a:t>, it is referred to as a </a:t>
            </a:r>
            <a:r>
              <a:rPr lang="en-US" sz="1800" b="1" dirty="0"/>
              <a:t>Goldfinger attack</a:t>
            </a:r>
            <a:r>
              <a:rPr lang="en-US" sz="1800" dirty="0"/>
              <a:t>.</a:t>
            </a:r>
          </a:p>
          <a:p>
            <a:pPr>
              <a:lnSpc>
                <a:spcPct val="150000"/>
              </a:lnSpc>
            </a:pPr>
            <a:r>
              <a:rPr lang="en-US" sz="1800" dirty="0"/>
              <a:t>• In both cases, the attacker gains the ability to </a:t>
            </a:r>
            <a:r>
              <a:rPr lang="en-US" sz="1800" b="1" dirty="0"/>
              <a:t>rewrite parts of the blockchain by outpacing honest miners</a:t>
            </a:r>
            <a:r>
              <a:rPr lang="en-US" sz="1800" dirty="0"/>
              <a:t>.</a:t>
            </a:r>
          </a:p>
          <a:p>
            <a:pPr marL="2857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2866771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34</a:t>
            </a:fld>
            <a:endParaRPr dirty="0"/>
          </a:p>
        </p:txBody>
      </p:sp>
      <p:sp>
        <p:nvSpPr>
          <p:cNvPr id="2" name="Rectangle 1"/>
          <p:cNvSpPr/>
          <p:nvPr/>
        </p:nvSpPr>
        <p:spPr>
          <a:xfrm>
            <a:off x="91104" y="813852"/>
            <a:ext cx="5795176" cy="523220"/>
          </a:xfrm>
          <a:prstGeom prst="rect">
            <a:avLst/>
          </a:prstGeom>
        </p:spPr>
        <p:txBody>
          <a:bodyPr wrap="none">
            <a:spAutoFit/>
          </a:bodyPr>
          <a:lstStyle/>
          <a:p>
            <a:r>
              <a:rPr lang="en-US" sz="2800" b="1" dirty="0">
                <a:solidFill>
                  <a:schemeClr val="tx1"/>
                </a:solidFill>
                <a:latin typeface="+mn-lt"/>
              </a:rPr>
              <a:t>Block discarding / selfish mining</a:t>
            </a:r>
            <a:endParaRPr lang="en-IN" sz="2800" b="1" dirty="0">
              <a:solidFill>
                <a:schemeClr val="tx1"/>
              </a:solidFill>
              <a:latin typeface="+mn-lt"/>
            </a:endParaRPr>
          </a:p>
        </p:txBody>
      </p:sp>
      <p:sp>
        <p:nvSpPr>
          <p:cNvPr id="3" name="Rectangle 2"/>
          <p:cNvSpPr/>
          <p:nvPr/>
        </p:nvSpPr>
        <p:spPr>
          <a:xfrm>
            <a:off x="251460" y="1541532"/>
            <a:ext cx="8549640" cy="4524315"/>
          </a:xfrm>
          <a:prstGeom prst="rect">
            <a:avLst/>
          </a:prstGeom>
        </p:spPr>
        <p:txBody>
          <a:bodyPr wrap="square">
            <a:spAutoFit/>
          </a:bodyPr>
          <a:lstStyle/>
          <a:p>
            <a:pPr>
              <a:lnSpc>
                <a:spcPct val="150000"/>
              </a:lnSpc>
            </a:pPr>
            <a:r>
              <a:rPr lang="en-US" sz="1800" dirty="0"/>
              <a:t>• In a </a:t>
            </a:r>
            <a:r>
              <a:rPr lang="en-US" sz="1800" b="1" dirty="0"/>
              <a:t>block discarding attack</a:t>
            </a:r>
            <a:r>
              <a:rPr lang="en-US" sz="1800" dirty="0"/>
              <a:t>, a dishonest miner or group of miners in a pool </a:t>
            </a:r>
            <a:r>
              <a:rPr lang="en-US" sz="1800" b="1" dirty="0"/>
              <a:t>withholds newly mined blocks</a:t>
            </a:r>
            <a:r>
              <a:rPr lang="en-US" sz="1800" dirty="0"/>
              <a:t> instead of broadcasting them.</a:t>
            </a:r>
          </a:p>
          <a:p>
            <a:pPr>
              <a:lnSpc>
                <a:spcPct val="150000"/>
              </a:lnSpc>
            </a:pPr>
            <a:r>
              <a:rPr lang="en-US" sz="1800" dirty="0"/>
              <a:t>• The attackers continue mining on a </a:t>
            </a:r>
            <a:r>
              <a:rPr lang="en-US" sz="1800" b="1" dirty="0"/>
              <a:t>private chain</a:t>
            </a:r>
            <a:r>
              <a:rPr lang="en-US" sz="1800" dirty="0"/>
              <a:t>, while honest miners extend the </a:t>
            </a:r>
            <a:r>
              <a:rPr lang="en-US" sz="1800" b="1" dirty="0"/>
              <a:t>public chain</a:t>
            </a:r>
            <a:r>
              <a:rPr lang="en-US" sz="1800" dirty="0"/>
              <a:t>.</a:t>
            </a:r>
          </a:p>
          <a:p>
            <a:pPr>
              <a:lnSpc>
                <a:spcPct val="150000"/>
              </a:lnSpc>
            </a:pPr>
            <a:r>
              <a:rPr lang="en-US" sz="1800" dirty="0"/>
              <a:t>• If the private chain maintains a </a:t>
            </a:r>
            <a:r>
              <a:rPr lang="en-US" sz="1800" b="1" dirty="0"/>
              <a:t>lead in length</a:t>
            </a:r>
            <a:r>
              <a:rPr lang="en-US" sz="1800" dirty="0"/>
              <a:t>, the dishonest miners gain a </a:t>
            </a:r>
            <a:r>
              <a:rPr lang="en-US" sz="1800" b="1" dirty="0"/>
              <a:t>higher share of rewards</a:t>
            </a:r>
            <a:r>
              <a:rPr lang="en-US" sz="1800" dirty="0"/>
              <a:t>, while honest miners waste computational effort.</a:t>
            </a:r>
          </a:p>
          <a:p>
            <a:pPr>
              <a:lnSpc>
                <a:spcPct val="150000"/>
              </a:lnSpc>
            </a:pPr>
            <a:r>
              <a:rPr lang="en-US" sz="1800" dirty="0"/>
              <a:t>• When both chains reach a similar length, attackers may </a:t>
            </a:r>
            <a:r>
              <a:rPr lang="en-US" sz="1800" b="1" dirty="0"/>
              <a:t>release their hidden blocks</a:t>
            </a:r>
            <a:r>
              <a:rPr lang="en-US" sz="1800" dirty="0"/>
              <a:t> to compete for the longest chain.</a:t>
            </a:r>
          </a:p>
          <a:p>
            <a:pPr>
              <a:lnSpc>
                <a:spcPct val="150000"/>
              </a:lnSpc>
            </a:pPr>
            <a:r>
              <a:rPr lang="en-US" sz="1800" dirty="0"/>
              <a:t>• If the attacker’s chain becomes the </a:t>
            </a:r>
            <a:r>
              <a:rPr lang="en-US" sz="1800" b="1" dirty="0"/>
              <a:t>longest valid chain</a:t>
            </a:r>
            <a:r>
              <a:rPr lang="en-US" sz="1800" dirty="0"/>
              <a:t>, it replaces the public chain, allowing the attackers to </a:t>
            </a:r>
            <a:r>
              <a:rPr lang="en-US" sz="1800" b="1" dirty="0"/>
              <a:t>win rewards unfairly</a:t>
            </a:r>
            <a:r>
              <a:rPr lang="en-US" sz="1800" dirty="0"/>
              <a:t>.</a:t>
            </a:r>
          </a:p>
          <a:p>
            <a:pPr marL="285750" indent="-285750">
              <a:buFont typeface="Arial" panose="020B0604020202020204" pitchFamily="34" charset="0"/>
              <a:buChar char="•"/>
            </a:pPr>
            <a:endParaRPr lang="en-IN" sz="1800" dirty="0">
              <a:solidFill>
                <a:schemeClr val="tx1"/>
              </a:solidFill>
            </a:endParaRPr>
          </a:p>
        </p:txBody>
      </p:sp>
    </p:spTree>
    <p:extLst>
      <p:ext uri="{BB962C8B-B14F-4D97-AF65-F5344CB8AC3E}">
        <p14:creationId xmlns:p14="http://schemas.microsoft.com/office/powerpoint/2010/main" val="2348176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35</a:t>
            </a:fld>
            <a:endParaRPr dirty="0"/>
          </a:p>
        </p:txBody>
      </p:sp>
      <p:sp>
        <p:nvSpPr>
          <p:cNvPr id="2" name="Rectangle 1"/>
          <p:cNvSpPr/>
          <p:nvPr/>
        </p:nvSpPr>
        <p:spPr>
          <a:xfrm>
            <a:off x="0" y="836712"/>
            <a:ext cx="3278462" cy="523220"/>
          </a:xfrm>
          <a:prstGeom prst="rect">
            <a:avLst/>
          </a:prstGeom>
        </p:spPr>
        <p:txBody>
          <a:bodyPr wrap="none">
            <a:spAutoFit/>
          </a:bodyPr>
          <a:lstStyle/>
          <a:p>
            <a:r>
              <a:rPr lang="en-US" sz="2800" b="1" dirty="0">
                <a:solidFill>
                  <a:schemeClr val="tx1"/>
                </a:solidFill>
                <a:latin typeface="+mn-lt"/>
              </a:rPr>
              <a:t>Block withholding</a:t>
            </a:r>
            <a:endParaRPr lang="en-IN" sz="2800" b="1" dirty="0">
              <a:solidFill>
                <a:schemeClr val="tx1"/>
              </a:solidFill>
              <a:latin typeface="+mn-lt"/>
            </a:endParaRPr>
          </a:p>
        </p:txBody>
      </p:sp>
      <p:sp>
        <p:nvSpPr>
          <p:cNvPr id="3" name="Rectangle 2"/>
          <p:cNvSpPr/>
          <p:nvPr/>
        </p:nvSpPr>
        <p:spPr>
          <a:xfrm>
            <a:off x="114300" y="1442472"/>
            <a:ext cx="8778240" cy="4939814"/>
          </a:xfrm>
          <a:prstGeom prst="rect">
            <a:avLst/>
          </a:prstGeom>
        </p:spPr>
        <p:txBody>
          <a:bodyPr wrap="square">
            <a:spAutoFit/>
          </a:bodyPr>
          <a:lstStyle/>
          <a:p>
            <a:pPr>
              <a:lnSpc>
                <a:spcPct val="150000"/>
              </a:lnSpc>
            </a:pPr>
            <a:r>
              <a:rPr lang="en-US" sz="1800" dirty="0"/>
              <a:t>• A </a:t>
            </a:r>
            <a:r>
              <a:rPr lang="en-US" sz="1800" b="1" dirty="0"/>
              <a:t>block withholding attack</a:t>
            </a:r>
            <a:r>
              <a:rPr lang="en-US" sz="1800" dirty="0"/>
              <a:t> is an </a:t>
            </a:r>
            <a:r>
              <a:rPr lang="en-US" sz="1800" b="1" dirty="0"/>
              <a:t>internal attack within a mining pool</a:t>
            </a:r>
            <a:r>
              <a:rPr lang="en-US" sz="1800" dirty="0"/>
              <a:t>, often carried out by a miner infiltrating from a </a:t>
            </a:r>
            <a:r>
              <a:rPr lang="en-US" sz="1800" b="1" dirty="0"/>
              <a:t>rival pool</a:t>
            </a:r>
            <a:r>
              <a:rPr lang="en-US" sz="1800" dirty="0"/>
              <a:t>.</a:t>
            </a:r>
          </a:p>
          <a:p>
            <a:pPr>
              <a:lnSpc>
                <a:spcPct val="150000"/>
              </a:lnSpc>
            </a:pPr>
            <a:r>
              <a:rPr lang="en-US" sz="1800" dirty="0"/>
              <a:t>• The attacker submits </a:t>
            </a:r>
            <a:r>
              <a:rPr lang="en-US" sz="1800" b="1" dirty="0"/>
              <a:t>partial proofs of work (shares)</a:t>
            </a:r>
            <a:r>
              <a:rPr lang="en-US" sz="1800" dirty="0"/>
              <a:t> to receive rewards, but deliberately </a:t>
            </a:r>
            <a:r>
              <a:rPr lang="en-US" sz="1800" b="1" dirty="0"/>
              <a:t>withholds full valid blocks</a:t>
            </a:r>
            <a:r>
              <a:rPr lang="en-US" sz="1800" dirty="0"/>
              <a:t>.</a:t>
            </a:r>
          </a:p>
          <a:p>
            <a:pPr>
              <a:lnSpc>
                <a:spcPct val="150000"/>
              </a:lnSpc>
            </a:pPr>
            <a:r>
              <a:rPr lang="en-US" sz="1800" dirty="0"/>
              <a:t>• This reduces the mining pool’s overall efficiency and can </a:t>
            </a:r>
            <a:r>
              <a:rPr lang="en-US" sz="1800" b="1" dirty="0"/>
              <a:t>undermine rival pools</a:t>
            </a:r>
            <a:r>
              <a:rPr lang="en-US" sz="1800" dirty="0"/>
              <a:t> or create unfair advantages.</a:t>
            </a:r>
          </a:p>
          <a:p>
            <a:pPr>
              <a:lnSpc>
                <a:spcPct val="150000"/>
              </a:lnSpc>
            </a:pPr>
            <a:r>
              <a:rPr lang="en-US" sz="1800" dirty="0"/>
              <a:t>• Such behavior may also be used to gain profit through </a:t>
            </a:r>
            <a:r>
              <a:rPr lang="en-US" sz="1800" b="1" dirty="0"/>
              <a:t>race-to-publish strategies</a:t>
            </a:r>
            <a:r>
              <a:rPr lang="en-US" sz="1800" dirty="0"/>
              <a:t> in certain scenarios.</a:t>
            </a:r>
          </a:p>
          <a:p>
            <a:pPr>
              <a:lnSpc>
                <a:spcPct val="150000"/>
              </a:lnSpc>
            </a:pPr>
            <a:r>
              <a:rPr lang="en-US" sz="1800" dirty="0"/>
              <a:t>• The </a:t>
            </a:r>
            <a:r>
              <a:rPr lang="en-US" sz="1800" b="1" dirty="0"/>
              <a:t>Miners’ Dilemma</a:t>
            </a:r>
            <a:r>
              <a:rPr lang="en-US" sz="1800" dirty="0"/>
              <a:t> shows that if multiple pools attack each other this way, they reach a </a:t>
            </a:r>
            <a:r>
              <a:rPr lang="en-US" sz="1800" b="1" dirty="0"/>
              <a:t>Nash equilibrium</a:t>
            </a:r>
            <a:r>
              <a:rPr lang="en-US" sz="1800" dirty="0"/>
              <a:t>, where all parties earn </a:t>
            </a:r>
            <a:r>
              <a:rPr lang="en-US" sz="1800" b="1" dirty="0"/>
              <a:t>less reward than if they had not attacked</a:t>
            </a:r>
            <a:r>
              <a:rPr lang="en-US" sz="1800" dirty="0"/>
              <a:t>.</a:t>
            </a:r>
          </a:p>
          <a:p>
            <a:pPr marL="2857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466820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36</a:t>
            </a:fld>
            <a:endParaRPr dirty="0"/>
          </a:p>
        </p:txBody>
      </p:sp>
      <p:sp>
        <p:nvSpPr>
          <p:cNvPr id="2" name="Rectangle 1"/>
          <p:cNvSpPr/>
          <p:nvPr/>
        </p:nvSpPr>
        <p:spPr>
          <a:xfrm>
            <a:off x="-22860" y="859572"/>
            <a:ext cx="3958135" cy="523220"/>
          </a:xfrm>
          <a:prstGeom prst="rect">
            <a:avLst/>
          </a:prstGeom>
        </p:spPr>
        <p:txBody>
          <a:bodyPr wrap="none">
            <a:spAutoFit/>
          </a:bodyPr>
          <a:lstStyle/>
          <a:p>
            <a:r>
              <a:rPr lang="en-US" sz="2800" b="1" dirty="0">
                <a:solidFill>
                  <a:schemeClr val="tx1"/>
                </a:solidFill>
              </a:rPr>
              <a:t>Fork after withholding</a:t>
            </a:r>
            <a:endParaRPr lang="en-IN" sz="2800" b="1" dirty="0">
              <a:solidFill>
                <a:schemeClr val="tx1"/>
              </a:solidFill>
            </a:endParaRPr>
          </a:p>
        </p:txBody>
      </p:sp>
      <p:sp>
        <p:nvSpPr>
          <p:cNvPr id="3" name="Rectangle 2"/>
          <p:cNvSpPr/>
          <p:nvPr/>
        </p:nvSpPr>
        <p:spPr>
          <a:xfrm>
            <a:off x="220980" y="1535996"/>
            <a:ext cx="8740140" cy="4524315"/>
          </a:xfrm>
          <a:prstGeom prst="rect">
            <a:avLst/>
          </a:prstGeom>
        </p:spPr>
        <p:txBody>
          <a:bodyPr wrap="square">
            <a:spAutoFit/>
          </a:bodyPr>
          <a:lstStyle/>
          <a:p>
            <a:pPr>
              <a:lnSpc>
                <a:spcPct val="150000"/>
              </a:lnSpc>
            </a:pPr>
            <a:r>
              <a:rPr lang="en-US" sz="1800" dirty="0"/>
              <a:t>• The </a:t>
            </a:r>
            <a:r>
              <a:rPr lang="en-US" sz="1800" b="1" dirty="0"/>
              <a:t>Fork After Withholding (FAW) attack</a:t>
            </a:r>
            <a:r>
              <a:rPr lang="en-US" sz="1800" dirty="0"/>
              <a:t> is a variation of the </a:t>
            </a:r>
            <a:r>
              <a:rPr lang="en-US" sz="1800" b="1" dirty="0"/>
              <a:t>block withholding attack</a:t>
            </a:r>
            <a:r>
              <a:rPr lang="en-US" sz="1800" dirty="0"/>
              <a:t> that can be executed more frequently and efficiently by mining pools.</a:t>
            </a:r>
          </a:p>
          <a:p>
            <a:pPr>
              <a:lnSpc>
                <a:spcPct val="150000"/>
              </a:lnSpc>
            </a:pPr>
            <a:r>
              <a:rPr lang="en-US" sz="1800" dirty="0"/>
              <a:t>• Unlike standard block withholding, FAW allows attackers to </a:t>
            </a:r>
            <a:r>
              <a:rPr lang="en-US" sz="1800" b="1" dirty="0"/>
              <a:t>strategically release withheld blocks</a:t>
            </a:r>
            <a:r>
              <a:rPr lang="en-US" sz="1800" dirty="0"/>
              <a:t> to create a </a:t>
            </a:r>
            <a:r>
              <a:rPr lang="en-US" sz="1800" b="1" dirty="0"/>
              <a:t>temporary fork</a:t>
            </a:r>
            <a:r>
              <a:rPr lang="en-US" sz="1800" dirty="0"/>
              <a:t> in the blockchain.</a:t>
            </a:r>
          </a:p>
          <a:p>
            <a:pPr>
              <a:lnSpc>
                <a:spcPct val="150000"/>
              </a:lnSpc>
            </a:pPr>
            <a:r>
              <a:rPr lang="en-US" sz="1800" dirty="0"/>
              <a:t>• This method can be used up to </a:t>
            </a:r>
            <a:r>
              <a:rPr lang="en-US" sz="1800" b="1" dirty="0"/>
              <a:t>four times more often per pool</a:t>
            </a:r>
            <a:r>
              <a:rPr lang="en-US" sz="1800" dirty="0"/>
              <a:t>, making it </a:t>
            </a:r>
            <a:r>
              <a:rPr lang="en-US" sz="1800" b="1" dirty="0"/>
              <a:t>more profitable</a:t>
            </a:r>
            <a:r>
              <a:rPr lang="en-US" sz="1800" dirty="0"/>
              <a:t> than traditional block withholding.</a:t>
            </a:r>
          </a:p>
          <a:p>
            <a:pPr>
              <a:lnSpc>
                <a:spcPct val="150000"/>
              </a:lnSpc>
            </a:pPr>
            <a:r>
              <a:rPr lang="en-US" sz="1800" dirty="0"/>
              <a:t>• Currently, there is </a:t>
            </a:r>
            <a:r>
              <a:rPr lang="en-US" sz="1800" b="1" dirty="0"/>
              <a:t>no known effective defense</a:t>
            </a:r>
            <a:r>
              <a:rPr lang="en-US" sz="1800" dirty="0"/>
              <a:t> against FAW attacks.</a:t>
            </a:r>
          </a:p>
          <a:p>
            <a:pPr>
              <a:lnSpc>
                <a:spcPct val="150000"/>
              </a:lnSpc>
            </a:pPr>
            <a:r>
              <a:rPr lang="en-US" sz="1800" dirty="0"/>
              <a:t>• FAW can create a </a:t>
            </a:r>
            <a:r>
              <a:rPr lang="en-US" sz="1800" b="1" dirty="0"/>
              <a:t>feedback loop of increasing mining power concentration</a:t>
            </a:r>
            <a:r>
              <a:rPr lang="en-US" sz="1800" dirty="0"/>
              <a:t>, where larger pools gain more advantage, potentially pushing the network toward a </a:t>
            </a:r>
            <a:r>
              <a:rPr lang="en-US" sz="1800" b="1" dirty="0"/>
              <a:t>51% dominance scenario</a:t>
            </a:r>
            <a:r>
              <a:rPr lang="en-US" sz="1800" dirty="0"/>
              <a:t>.</a:t>
            </a:r>
          </a:p>
          <a:p>
            <a:pPr marL="2857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2886364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37</a:t>
            </a:fld>
            <a:endParaRPr dirty="0"/>
          </a:p>
        </p:txBody>
      </p:sp>
      <p:sp>
        <p:nvSpPr>
          <p:cNvPr id="2" name="Rectangle 1"/>
          <p:cNvSpPr/>
          <p:nvPr/>
        </p:nvSpPr>
        <p:spPr>
          <a:xfrm>
            <a:off x="0" y="836712"/>
            <a:ext cx="7898316" cy="523220"/>
          </a:xfrm>
          <a:prstGeom prst="rect">
            <a:avLst/>
          </a:prstGeom>
        </p:spPr>
        <p:txBody>
          <a:bodyPr wrap="none">
            <a:spAutoFit/>
          </a:bodyPr>
          <a:lstStyle/>
          <a:p>
            <a:r>
              <a:rPr lang="en-US" sz="2800" b="1" dirty="0"/>
              <a:t>Performance Aspects in </a:t>
            </a:r>
            <a:r>
              <a:rPr lang="en-US" sz="2800" b="1" dirty="0" err="1"/>
              <a:t>Blockchain</a:t>
            </a:r>
            <a:r>
              <a:rPr lang="en-US" sz="2800" b="1" dirty="0"/>
              <a:t> Systems</a:t>
            </a:r>
            <a:endParaRPr lang="en-IN" sz="2800" b="1" dirty="0"/>
          </a:p>
        </p:txBody>
      </p:sp>
      <p:sp>
        <p:nvSpPr>
          <p:cNvPr id="3" name="Rectangle 2"/>
          <p:cNvSpPr/>
          <p:nvPr/>
        </p:nvSpPr>
        <p:spPr>
          <a:xfrm>
            <a:off x="161651" y="1380902"/>
            <a:ext cx="5625258" cy="313932"/>
          </a:xfrm>
          <a:prstGeom prst="rect">
            <a:avLst/>
          </a:prstGeom>
        </p:spPr>
        <p:txBody>
          <a:bodyPr wrap="none">
            <a:spAutoFit/>
          </a:bodyPr>
          <a:lstStyle/>
          <a:p>
            <a:pPr lvl="0">
              <a:lnSpc>
                <a:spcPct val="90000"/>
              </a:lnSpc>
              <a:buClr>
                <a:srgbClr val="1C1573"/>
              </a:buClr>
              <a:buSzPts val="1500"/>
            </a:pPr>
            <a:r>
              <a:rPr lang="en-US" sz="1600" b="1" dirty="0"/>
              <a:t>Factors influencing performance in </a:t>
            </a:r>
            <a:r>
              <a:rPr lang="en-US" sz="1600" b="1" dirty="0" err="1"/>
              <a:t>blockchain</a:t>
            </a:r>
            <a:r>
              <a:rPr lang="en-US" sz="1600" b="1" dirty="0"/>
              <a:t> systems</a:t>
            </a:r>
          </a:p>
        </p:txBody>
      </p:sp>
      <p:grpSp>
        <p:nvGrpSpPr>
          <p:cNvPr id="5" name="Group 4">
            <a:extLst>
              <a:ext uri="{FF2B5EF4-FFF2-40B4-BE49-F238E27FC236}">
                <a16:creationId xmlns:a16="http://schemas.microsoft.com/office/drawing/2014/main" id="{D17F2294-6939-EDB8-2EF7-8F279EFAA0D8}"/>
              </a:ext>
            </a:extLst>
          </p:cNvPr>
          <p:cNvGrpSpPr/>
          <p:nvPr/>
        </p:nvGrpSpPr>
        <p:grpSpPr>
          <a:xfrm>
            <a:off x="0" y="1717108"/>
            <a:ext cx="9144000" cy="4790372"/>
            <a:chOff x="2123899" y="1756529"/>
            <a:chExt cx="7944035" cy="4422815"/>
          </a:xfrm>
        </p:grpSpPr>
        <p:grpSp>
          <p:nvGrpSpPr>
            <p:cNvPr id="6" name="Google Shape;55;p3"/>
            <p:cNvGrpSpPr/>
            <p:nvPr/>
          </p:nvGrpSpPr>
          <p:grpSpPr>
            <a:xfrm>
              <a:off x="2123912" y="3872851"/>
              <a:ext cx="7943872" cy="564993"/>
              <a:chOff x="1593000" y="2322567"/>
              <a:chExt cx="5958053" cy="643501"/>
            </a:xfrm>
          </p:grpSpPr>
          <p:sp>
            <p:nvSpPr>
              <p:cNvPr id="63" name="Google Shape;56;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4" name="Google Shape;57;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5" name="Google Shape;58;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6" name="Google Shape;59;p3"/>
              <p:cNvSpPr/>
              <p:nvPr/>
            </p:nvSpPr>
            <p:spPr>
              <a:xfrm>
                <a:off x="2342615" y="2399958"/>
                <a:ext cx="21102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Smart contract complexity</a:t>
                </a:r>
                <a:endParaRPr sz="1600" b="0" i="0" u="none" strike="noStrike" cap="none" dirty="0">
                  <a:solidFill>
                    <a:srgbClr val="FFFFFF"/>
                  </a:solidFill>
                  <a:latin typeface="Roboto"/>
                  <a:ea typeface="Roboto"/>
                  <a:cs typeface="Roboto"/>
                  <a:sym typeface="Roboto"/>
                </a:endParaRPr>
              </a:p>
            </p:txBody>
          </p:sp>
          <p:sp>
            <p:nvSpPr>
              <p:cNvPr id="67" name="Google Shape;60;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8" name="Google Shape;61;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05</a:t>
                </a:r>
                <a:endParaRPr sz="3500" b="0" i="0" u="none" strike="noStrike" cap="none" dirty="0">
                  <a:solidFill>
                    <a:srgbClr val="FFFFFF"/>
                  </a:solidFill>
                  <a:latin typeface="Roboto Thin"/>
                  <a:ea typeface="Roboto Thin"/>
                  <a:cs typeface="Roboto Thin"/>
                  <a:sym typeface="Roboto Thin"/>
                </a:endParaRPr>
              </a:p>
            </p:txBody>
          </p:sp>
          <p:sp>
            <p:nvSpPr>
              <p:cNvPr id="69" name="Google Shape;62;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Validation logic for reads/write to/from ledgers</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Complex smart contracts increases latency</a:t>
                </a:r>
                <a:endParaRPr sz="1100" b="0" i="0" u="none" strike="noStrike" cap="none" dirty="0">
                  <a:solidFill>
                    <a:srgbClr val="A72A1E"/>
                  </a:solidFill>
                  <a:latin typeface="Roboto"/>
                  <a:ea typeface="Roboto"/>
                  <a:cs typeface="Roboto"/>
                  <a:sym typeface="Roboto"/>
                </a:endParaRPr>
              </a:p>
            </p:txBody>
          </p:sp>
        </p:grpSp>
        <p:grpSp>
          <p:nvGrpSpPr>
            <p:cNvPr id="7" name="Google Shape;63;p3"/>
            <p:cNvGrpSpPr/>
            <p:nvPr/>
          </p:nvGrpSpPr>
          <p:grpSpPr>
            <a:xfrm>
              <a:off x="2123899" y="3374949"/>
              <a:ext cx="7943872" cy="517117"/>
              <a:chOff x="1593000" y="2322567"/>
              <a:chExt cx="5958053" cy="643501"/>
            </a:xfrm>
          </p:grpSpPr>
          <p:sp>
            <p:nvSpPr>
              <p:cNvPr id="56" name="Google Shape;64;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7" name="Google Shape;65;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 name="Google Shape;66;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9" name="Google Shape;67;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Number of nodes</a:t>
                </a:r>
                <a:endParaRPr sz="1600" b="0" i="0" u="none" strike="noStrike" cap="none" dirty="0">
                  <a:solidFill>
                    <a:srgbClr val="FFFFFF"/>
                  </a:solidFill>
                  <a:latin typeface="Roboto"/>
                  <a:ea typeface="Roboto"/>
                  <a:cs typeface="Roboto"/>
                  <a:sym typeface="Roboto"/>
                </a:endParaRPr>
              </a:p>
            </p:txBody>
          </p:sp>
          <p:sp>
            <p:nvSpPr>
              <p:cNvPr id="60" name="Google Shape;68;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1" name="Google Shape;69;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04</a:t>
                </a:r>
                <a:endParaRPr sz="3500" b="0" i="0" u="none" strike="noStrike" cap="none" dirty="0">
                  <a:solidFill>
                    <a:srgbClr val="FFFFFF"/>
                  </a:solidFill>
                  <a:latin typeface="Roboto Thin"/>
                  <a:ea typeface="Roboto Thin"/>
                  <a:cs typeface="Roboto Thin"/>
                  <a:sym typeface="Roboto Thin"/>
                </a:endParaRPr>
              </a:p>
            </p:txBody>
          </p:sp>
          <p:sp>
            <p:nvSpPr>
              <p:cNvPr id="62" name="Google Shape;70;p3"/>
              <p:cNvSpPr/>
              <p:nvPr/>
            </p:nvSpPr>
            <p:spPr>
              <a:xfrm>
                <a:off x="4387853" y="2323755"/>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More the # of nodes, longer is txn confirmation time</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Network lag increases as number of nodes increases</a:t>
                </a:r>
                <a:endParaRPr sz="1100" b="0" i="0" u="none" strike="noStrike" cap="none" dirty="0">
                  <a:solidFill>
                    <a:srgbClr val="A72A1E"/>
                  </a:solidFill>
                  <a:latin typeface="Roboto"/>
                  <a:ea typeface="Roboto"/>
                  <a:cs typeface="Roboto"/>
                  <a:sym typeface="Roboto"/>
                </a:endParaRPr>
              </a:p>
            </p:txBody>
          </p:sp>
        </p:grpSp>
        <p:grpSp>
          <p:nvGrpSpPr>
            <p:cNvPr id="8" name="Google Shape;71;p3"/>
            <p:cNvGrpSpPr/>
            <p:nvPr/>
          </p:nvGrpSpPr>
          <p:grpSpPr>
            <a:xfrm>
              <a:off x="2124062" y="2790750"/>
              <a:ext cx="7943872" cy="564993"/>
              <a:chOff x="1593000" y="2322567"/>
              <a:chExt cx="5958053" cy="643501"/>
            </a:xfrm>
          </p:grpSpPr>
          <p:sp>
            <p:nvSpPr>
              <p:cNvPr id="49" name="Google Shape;72;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0" name="Google Shape;73;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1" name="Google Shape;74;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2" name="Google Shape;75;p3"/>
              <p:cNvSpPr/>
              <p:nvPr/>
            </p:nvSpPr>
            <p:spPr>
              <a:xfrm>
                <a:off x="2342626" y="2399958"/>
                <a:ext cx="23349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Node Infrastructure</a:t>
                </a:r>
                <a:endParaRPr sz="1600" b="0" i="0" u="none" strike="noStrike" cap="none" dirty="0">
                  <a:solidFill>
                    <a:srgbClr val="FFFFFF"/>
                  </a:solidFill>
                  <a:latin typeface="Roboto"/>
                  <a:ea typeface="Roboto"/>
                  <a:cs typeface="Roboto"/>
                  <a:sym typeface="Roboto"/>
                </a:endParaRPr>
              </a:p>
            </p:txBody>
          </p:sp>
          <p:sp>
            <p:nvSpPr>
              <p:cNvPr id="53" name="Google Shape;76;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4" name="Google Shape;77;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03</a:t>
                </a:r>
                <a:endParaRPr sz="3500" b="0" i="0" u="none" strike="noStrike" cap="none" dirty="0">
                  <a:solidFill>
                    <a:srgbClr val="FFFFFF"/>
                  </a:solidFill>
                  <a:latin typeface="Roboto Thin"/>
                  <a:ea typeface="Roboto Thin"/>
                  <a:cs typeface="Roboto Thin"/>
                  <a:sym typeface="Roboto Thin"/>
                </a:endParaRPr>
              </a:p>
            </p:txBody>
          </p:sp>
          <p:sp>
            <p:nvSpPr>
              <p:cNvPr id="55" name="Google Shape;78;p3"/>
              <p:cNvSpPr/>
              <p:nvPr/>
            </p:nvSpPr>
            <p:spPr>
              <a:xfrm>
                <a:off x="4387853" y="2323760"/>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Runtime engine and database of right size and scale</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Server infra on cloud vs on premise </a:t>
                </a:r>
                <a:endParaRPr sz="1100" b="0" i="0" u="none" strike="noStrike" cap="none" dirty="0">
                  <a:solidFill>
                    <a:srgbClr val="A72A1E"/>
                  </a:solidFill>
                  <a:latin typeface="Roboto"/>
                  <a:ea typeface="Roboto"/>
                  <a:cs typeface="Roboto"/>
                  <a:sym typeface="Roboto"/>
                </a:endParaRPr>
              </a:p>
            </p:txBody>
          </p:sp>
        </p:grpSp>
        <p:grpSp>
          <p:nvGrpSpPr>
            <p:cNvPr id="9" name="Google Shape;79;p3"/>
            <p:cNvGrpSpPr/>
            <p:nvPr/>
          </p:nvGrpSpPr>
          <p:grpSpPr>
            <a:xfrm>
              <a:off x="2124062" y="2273645"/>
              <a:ext cx="7943872" cy="517117"/>
              <a:chOff x="1593000" y="2322567"/>
              <a:chExt cx="5958053" cy="643501"/>
            </a:xfrm>
          </p:grpSpPr>
          <p:sp>
            <p:nvSpPr>
              <p:cNvPr id="42" name="Google Shape;80;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3" name="Google Shape;81;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4" name="Google Shape;82;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5" name="Google Shape;83;p3"/>
              <p:cNvSpPr/>
              <p:nvPr/>
            </p:nvSpPr>
            <p:spPr>
              <a:xfrm>
                <a:off x="2342627" y="2399952"/>
                <a:ext cx="21903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Network Latency</a:t>
                </a:r>
                <a:endParaRPr sz="1600" b="0" i="0" u="none" strike="noStrike" cap="none" dirty="0">
                  <a:solidFill>
                    <a:srgbClr val="FFFFFF"/>
                  </a:solidFill>
                  <a:latin typeface="Roboto"/>
                  <a:ea typeface="Roboto"/>
                  <a:cs typeface="Roboto"/>
                  <a:sym typeface="Roboto"/>
                </a:endParaRPr>
              </a:p>
            </p:txBody>
          </p:sp>
          <p:sp>
            <p:nvSpPr>
              <p:cNvPr id="46" name="Google Shape;84;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7" name="Google Shape;85;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02</a:t>
                </a:r>
                <a:endParaRPr sz="3500" b="0" i="0" u="none" strike="noStrike" cap="none" dirty="0">
                  <a:solidFill>
                    <a:srgbClr val="FFFFFF"/>
                  </a:solidFill>
                  <a:latin typeface="Roboto Thin"/>
                  <a:ea typeface="Roboto Thin"/>
                  <a:cs typeface="Roboto Thin"/>
                  <a:sym typeface="Roboto Thin"/>
                </a:endParaRPr>
              </a:p>
            </p:txBody>
          </p:sp>
          <p:sp>
            <p:nvSpPr>
              <p:cNvPr id="48" name="Google Shape;86;p3"/>
              <p:cNvSpPr/>
              <p:nvPr/>
            </p:nvSpPr>
            <p:spPr>
              <a:xfrm>
                <a:off x="4387853" y="2323754"/>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Broadcast and response of block addition</a:t>
                </a:r>
                <a:endParaRPr sz="1100"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Direct impact on scalability</a:t>
                </a:r>
                <a:endParaRPr sz="1100" dirty="0">
                  <a:solidFill>
                    <a:srgbClr val="A72A1E"/>
                  </a:solidFill>
                  <a:latin typeface="Roboto"/>
                  <a:ea typeface="Roboto"/>
                  <a:cs typeface="Roboto"/>
                  <a:sym typeface="Roboto"/>
                </a:endParaRPr>
              </a:p>
            </p:txBody>
          </p:sp>
        </p:grpSp>
        <p:grpSp>
          <p:nvGrpSpPr>
            <p:cNvPr id="10" name="Google Shape;87;p3"/>
            <p:cNvGrpSpPr/>
            <p:nvPr/>
          </p:nvGrpSpPr>
          <p:grpSpPr>
            <a:xfrm>
              <a:off x="2123948" y="1756529"/>
              <a:ext cx="7943768" cy="517117"/>
              <a:chOff x="1593000" y="2322567"/>
              <a:chExt cx="5957975" cy="643501"/>
            </a:xfrm>
          </p:grpSpPr>
          <p:sp>
            <p:nvSpPr>
              <p:cNvPr id="35" name="Google Shape;88;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6" name="Google Shape;89;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7" name="Google Shape;90;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8" name="Google Shape;91;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Consensus Mechanism</a:t>
                </a:r>
                <a:endParaRPr sz="1600" b="0" i="0" u="none" strike="noStrike" cap="none" dirty="0">
                  <a:solidFill>
                    <a:srgbClr val="FFFFFF"/>
                  </a:solidFill>
                  <a:latin typeface="Roboto"/>
                  <a:ea typeface="Roboto"/>
                  <a:cs typeface="Roboto"/>
                  <a:sym typeface="Roboto"/>
                </a:endParaRPr>
              </a:p>
            </p:txBody>
          </p:sp>
          <p:sp>
            <p:nvSpPr>
              <p:cNvPr id="39" name="Google Shape;92;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0" name="Google Shape;93;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01</a:t>
                </a:r>
                <a:endParaRPr sz="3500" b="0" i="0" u="none" strike="noStrike" cap="none" dirty="0">
                  <a:solidFill>
                    <a:srgbClr val="FFFFFF"/>
                  </a:solidFill>
                  <a:latin typeface="Roboto Thin"/>
                  <a:ea typeface="Roboto Thin"/>
                  <a:cs typeface="Roboto Thin"/>
                  <a:sym typeface="Roboto Thin"/>
                </a:endParaRPr>
              </a:p>
            </p:txBody>
          </p:sp>
          <p:sp>
            <p:nvSpPr>
              <p:cNvPr id="41" name="Google Shape;94;p3"/>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Algorithm for validation and finalization</a:t>
                </a:r>
                <a:endParaRPr sz="1100"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Direct impact on scalability</a:t>
                </a:r>
                <a:endParaRPr sz="1100" dirty="0">
                  <a:solidFill>
                    <a:srgbClr val="A72A1E"/>
                  </a:solidFill>
                  <a:latin typeface="Roboto"/>
                  <a:ea typeface="Roboto"/>
                  <a:cs typeface="Roboto"/>
                  <a:sym typeface="Roboto"/>
                </a:endParaRPr>
              </a:p>
            </p:txBody>
          </p:sp>
        </p:grpSp>
        <p:grpSp>
          <p:nvGrpSpPr>
            <p:cNvPr id="11" name="Google Shape;95;p3"/>
            <p:cNvGrpSpPr/>
            <p:nvPr/>
          </p:nvGrpSpPr>
          <p:grpSpPr>
            <a:xfrm>
              <a:off x="2123899" y="5033851"/>
              <a:ext cx="7943872" cy="564993"/>
              <a:chOff x="1593000" y="2322567"/>
              <a:chExt cx="5958053" cy="643501"/>
            </a:xfrm>
          </p:grpSpPr>
          <p:sp>
            <p:nvSpPr>
              <p:cNvPr id="28" name="Google Shape;96;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9" name="Google Shape;97;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 name="Google Shape;98;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1" name="Google Shape;99;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Node local storage</a:t>
                </a:r>
                <a:endParaRPr sz="1600" b="0" i="0" u="none" strike="noStrike" cap="none" dirty="0">
                  <a:solidFill>
                    <a:srgbClr val="FFFFFF"/>
                  </a:solidFill>
                  <a:latin typeface="Roboto"/>
                  <a:ea typeface="Roboto"/>
                  <a:cs typeface="Roboto"/>
                  <a:sym typeface="Roboto"/>
                </a:endParaRPr>
              </a:p>
            </p:txBody>
          </p:sp>
          <p:sp>
            <p:nvSpPr>
              <p:cNvPr id="32" name="Google Shape;100;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3" name="Google Shape;101;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a:t>
                </a:r>
                <a:r>
                  <a:rPr lang="en-US" sz="3500" dirty="0">
                    <a:solidFill>
                      <a:srgbClr val="FFFFFF"/>
                    </a:solidFill>
                    <a:latin typeface="Roboto Thin"/>
                    <a:ea typeface="Roboto Thin"/>
                    <a:cs typeface="Roboto Thin"/>
                    <a:sym typeface="Roboto Thin"/>
                  </a:rPr>
                  <a:t>8</a:t>
                </a:r>
                <a:endParaRPr sz="3500" b="0" i="0" u="none" strike="noStrike" cap="none" dirty="0">
                  <a:solidFill>
                    <a:srgbClr val="FFFFFF"/>
                  </a:solidFill>
                  <a:latin typeface="Roboto Thin"/>
                  <a:ea typeface="Roboto Thin"/>
                  <a:cs typeface="Roboto Thin"/>
                  <a:sym typeface="Roboto Thin"/>
                </a:endParaRPr>
              </a:p>
            </p:txBody>
          </p:sp>
          <p:sp>
            <p:nvSpPr>
              <p:cNvPr id="34" name="Google Shape;102;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Local storage critical for ledger read/writes/IOPS</a:t>
                </a:r>
                <a:endParaRPr sz="1100"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More delays add further delays due to catchup</a:t>
                </a:r>
                <a:endParaRPr sz="1100" dirty="0">
                  <a:solidFill>
                    <a:srgbClr val="A72A1E"/>
                  </a:solidFill>
                  <a:latin typeface="Roboto"/>
                  <a:ea typeface="Roboto"/>
                  <a:cs typeface="Roboto"/>
                  <a:sym typeface="Roboto"/>
                </a:endParaRPr>
              </a:p>
            </p:txBody>
          </p:sp>
        </p:grpSp>
        <p:grpSp>
          <p:nvGrpSpPr>
            <p:cNvPr id="12" name="Google Shape;103;p3"/>
            <p:cNvGrpSpPr/>
            <p:nvPr/>
          </p:nvGrpSpPr>
          <p:grpSpPr>
            <a:xfrm>
              <a:off x="2124062" y="5614351"/>
              <a:ext cx="7943872" cy="564993"/>
              <a:chOff x="1593000" y="2322567"/>
              <a:chExt cx="5958053" cy="643501"/>
            </a:xfrm>
          </p:grpSpPr>
          <p:sp>
            <p:nvSpPr>
              <p:cNvPr id="21" name="Google Shape;104;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2" name="Google Shape;105;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3" name="Google Shape;106;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 name="Google Shape;107;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Transaction pooling</a:t>
                </a:r>
                <a:endParaRPr sz="1600" b="0" i="0" u="none" strike="noStrike" cap="none" dirty="0">
                  <a:solidFill>
                    <a:srgbClr val="FFFFFF"/>
                  </a:solidFill>
                  <a:latin typeface="Roboto"/>
                  <a:ea typeface="Roboto"/>
                  <a:cs typeface="Roboto"/>
                  <a:sym typeface="Roboto"/>
                </a:endParaRPr>
              </a:p>
            </p:txBody>
          </p:sp>
          <p:sp>
            <p:nvSpPr>
              <p:cNvPr id="25" name="Google Shape;108;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 name="Google Shape;109;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a:t>
                </a:r>
                <a:r>
                  <a:rPr lang="en-US" sz="3500" dirty="0">
                    <a:solidFill>
                      <a:srgbClr val="FFFFFF"/>
                    </a:solidFill>
                    <a:latin typeface="Roboto Thin"/>
                    <a:ea typeface="Roboto Thin"/>
                    <a:cs typeface="Roboto Thin"/>
                    <a:sym typeface="Roboto Thin"/>
                  </a:rPr>
                  <a:t>8</a:t>
                </a:r>
                <a:endParaRPr sz="3500" b="0" i="0" u="none" strike="noStrike" cap="none" dirty="0">
                  <a:solidFill>
                    <a:srgbClr val="FFFFFF"/>
                  </a:solidFill>
                  <a:latin typeface="Roboto Thin"/>
                  <a:ea typeface="Roboto Thin"/>
                  <a:cs typeface="Roboto Thin"/>
                  <a:sym typeface="Roboto Thin"/>
                </a:endParaRPr>
              </a:p>
            </p:txBody>
          </p:sp>
          <p:sp>
            <p:nvSpPr>
              <p:cNvPr id="27" name="Google Shape;110;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Txn pooling/queueing critical for txn batch pickup</a:t>
                </a:r>
                <a:endParaRPr sz="1100"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Without pooling longer it takes for larger # of txns</a:t>
                </a:r>
                <a:endParaRPr sz="1100" dirty="0">
                  <a:solidFill>
                    <a:srgbClr val="A72A1E"/>
                  </a:solidFill>
                  <a:latin typeface="Roboto"/>
                  <a:ea typeface="Roboto"/>
                  <a:cs typeface="Roboto"/>
                  <a:sym typeface="Roboto"/>
                </a:endParaRPr>
              </a:p>
            </p:txBody>
          </p:sp>
        </p:grpSp>
        <p:grpSp>
          <p:nvGrpSpPr>
            <p:cNvPr id="13" name="Google Shape;111;p3"/>
            <p:cNvGrpSpPr/>
            <p:nvPr/>
          </p:nvGrpSpPr>
          <p:grpSpPr>
            <a:xfrm>
              <a:off x="2123899" y="4453351"/>
              <a:ext cx="7943872" cy="564993"/>
              <a:chOff x="1593000" y="2322567"/>
              <a:chExt cx="5958053" cy="643501"/>
            </a:xfrm>
          </p:grpSpPr>
          <p:sp>
            <p:nvSpPr>
              <p:cNvPr id="14" name="Google Shape;112;p3"/>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5" name="Google Shape;113;p3"/>
              <p:cNvSpPr/>
              <p:nvPr/>
            </p:nvSpPr>
            <p:spPr>
              <a:xfrm flipH="1">
                <a:off x="2283025" y="2322575"/>
                <a:ext cx="1844400" cy="642600"/>
              </a:xfrm>
              <a:prstGeom prst="rect">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6" name="Google Shape;114;p3"/>
              <p:cNvSpPr/>
              <p:nvPr/>
            </p:nvSpPr>
            <p:spPr>
              <a:xfrm rot="-5400000">
                <a:off x="3501574" y="1934671"/>
                <a:ext cx="643356" cy="1419149"/>
              </a:xfrm>
              <a:prstGeom prst="flowChartOffpageConnector">
                <a:avLst/>
              </a:prstGeom>
              <a:solidFill>
                <a:srgbClr val="A72A1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7" name="Google Shape;115;p3"/>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dirty="0">
                    <a:solidFill>
                      <a:srgbClr val="FFFFFF"/>
                    </a:solidFill>
                    <a:latin typeface="Roboto Medium"/>
                    <a:ea typeface="Roboto Medium"/>
                    <a:cs typeface="Roboto Medium"/>
                    <a:sym typeface="Roboto Medium"/>
                  </a:rPr>
                  <a:t>Transaction payload size</a:t>
                </a:r>
                <a:endParaRPr sz="1600" b="0" i="0" u="none" strike="noStrike" cap="none" dirty="0">
                  <a:solidFill>
                    <a:srgbClr val="FFFFFF"/>
                  </a:solidFill>
                  <a:latin typeface="Roboto"/>
                  <a:ea typeface="Roboto"/>
                  <a:cs typeface="Roboto"/>
                  <a:sym typeface="Roboto"/>
                </a:endParaRPr>
              </a:p>
            </p:txBody>
          </p:sp>
          <p:sp>
            <p:nvSpPr>
              <p:cNvPr id="18" name="Google Shape;116;p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47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9" name="Google Shape;117;p3"/>
              <p:cNvSpPr/>
              <p:nvPr/>
            </p:nvSpPr>
            <p:spPr>
              <a:xfrm>
                <a:off x="1593000" y="2322575"/>
                <a:ext cx="690000" cy="642600"/>
              </a:xfrm>
              <a:prstGeom prst="rect">
                <a:avLst/>
              </a:prstGeom>
              <a:solidFill>
                <a:srgbClr val="BE2F22"/>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dirty="0">
                    <a:solidFill>
                      <a:srgbClr val="FFFFFF"/>
                    </a:solidFill>
                    <a:latin typeface="Roboto Thin"/>
                    <a:ea typeface="Roboto Thin"/>
                    <a:cs typeface="Roboto Thin"/>
                    <a:sym typeface="Roboto Thin"/>
                  </a:rPr>
                  <a:t>0</a:t>
                </a:r>
                <a:r>
                  <a:rPr lang="en-US" sz="3500" dirty="0">
                    <a:solidFill>
                      <a:srgbClr val="FFFFFF"/>
                    </a:solidFill>
                    <a:latin typeface="Roboto Thin"/>
                    <a:ea typeface="Roboto Thin"/>
                    <a:cs typeface="Roboto Thin"/>
                    <a:sym typeface="Roboto Thin"/>
                  </a:rPr>
                  <a:t>6</a:t>
                </a:r>
                <a:endParaRPr sz="3500" b="0" i="0" u="none" strike="noStrike" cap="none" dirty="0">
                  <a:solidFill>
                    <a:srgbClr val="FFFFFF"/>
                  </a:solidFill>
                  <a:latin typeface="Roboto Thin"/>
                  <a:ea typeface="Roboto Thin"/>
                  <a:cs typeface="Roboto Thin"/>
                  <a:sym typeface="Roboto Thin"/>
                </a:endParaRPr>
              </a:p>
            </p:txBody>
          </p:sp>
          <p:sp>
            <p:nvSpPr>
              <p:cNvPr id="20" name="Google Shape;118;p3"/>
              <p:cNvSpPr/>
              <p:nvPr/>
            </p:nvSpPr>
            <p:spPr>
              <a:xfrm>
                <a:off x="4387853" y="2323752"/>
                <a:ext cx="3163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Bigger payload takes longer times for relay &amp; commit</a:t>
                </a:r>
                <a:endParaRPr sz="1100" b="0" i="0" u="none" strike="noStrike" cap="none" dirty="0">
                  <a:solidFill>
                    <a:srgbClr val="A72A1E"/>
                  </a:solidFill>
                  <a:latin typeface="Roboto"/>
                  <a:ea typeface="Roboto"/>
                  <a:cs typeface="Roboto"/>
                  <a:sym typeface="Roboto"/>
                </a:endParaRPr>
              </a:p>
              <a:p>
                <a:pPr marL="609600" marR="0" lvl="0" indent="-374650" algn="l" rtl="0">
                  <a:lnSpc>
                    <a:spcPct val="115000"/>
                  </a:lnSpc>
                  <a:spcBef>
                    <a:spcPts val="0"/>
                  </a:spcBef>
                  <a:spcAft>
                    <a:spcPts val="0"/>
                  </a:spcAft>
                  <a:buClr>
                    <a:srgbClr val="A72A1E"/>
                  </a:buClr>
                  <a:buSzPts val="1100"/>
                  <a:buFont typeface="Roboto"/>
                  <a:buChar char="●"/>
                </a:pPr>
                <a:r>
                  <a:rPr lang="en-US" sz="1100" dirty="0">
                    <a:solidFill>
                      <a:srgbClr val="A72A1E"/>
                    </a:solidFill>
                    <a:latin typeface="Roboto"/>
                    <a:ea typeface="Roboto"/>
                    <a:cs typeface="Roboto"/>
                    <a:sym typeface="Roboto"/>
                  </a:rPr>
                  <a:t>Guidance Is to relay reference instead of full payload</a:t>
                </a:r>
                <a:endParaRPr sz="1100" b="0" i="0" u="none" strike="noStrike" cap="none" dirty="0">
                  <a:solidFill>
                    <a:srgbClr val="A72A1E"/>
                  </a:solidFill>
                  <a:latin typeface="Roboto"/>
                  <a:ea typeface="Roboto"/>
                  <a:cs typeface="Roboto"/>
                  <a:sym typeface="Roboto"/>
                </a:endParaRPr>
              </a:p>
            </p:txBody>
          </p:sp>
        </p:grpSp>
      </p:grpSp>
    </p:spTree>
    <p:extLst>
      <p:ext uri="{BB962C8B-B14F-4D97-AF65-F5344CB8AC3E}">
        <p14:creationId xmlns:p14="http://schemas.microsoft.com/office/powerpoint/2010/main" val="466556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38</a:t>
            </a:fld>
            <a:endParaRPr dirty="0"/>
          </a:p>
        </p:txBody>
      </p:sp>
      <p:sp>
        <p:nvSpPr>
          <p:cNvPr id="2" name="Rectangle 1"/>
          <p:cNvSpPr/>
          <p:nvPr/>
        </p:nvSpPr>
        <p:spPr>
          <a:xfrm>
            <a:off x="0" y="798242"/>
            <a:ext cx="5759910" cy="480131"/>
          </a:xfrm>
          <a:prstGeom prst="rect">
            <a:avLst/>
          </a:prstGeom>
        </p:spPr>
        <p:txBody>
          <a:bodyPr wrap="none">
            <a:spAutoFit/>
          </a:bodyPr>
          <a:lstStyle/>
          <a:p>
            <a:pPr lvl="0">
              <a:lnSpc>
                <a:spcPct val="90000"/>
              </a:lnSpc>
              <a:buClr>
                <a:srgbClr val="1C1573"/>
              </a:buClr>
              <a:buSzPts val="1500"/>
            </a:pPr>
            <a:r>
              <a:rPr lang="en-US" sz="2800" b="1" dirty="0"/>
              <a:t>Blockchain performance metrics</a:t>
            </a:r>
          </a:p>
        </p:txBody>
      </p:sp>
      <p:sp>
        <p:nvSpPr>
          <p:cNvPr id="14" name="Google Shape;142;gd8ee4bd241_0_677"/>
          <p:cNvSpPr txBox="1"/>
          <p:nvPr/>
        </p:nvSpPr>
        <p:spPr>
          <a:xfrm>
            <a:off x="3061740" y="6296053"/>
            <a:ext cx="58773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800"/>
              <a:buFont typeface="Arial"/>
              <a:buNone/>
            </a:pPr>
            <a:r>
              <a:rPr lang="en-US" sz="1000" b="0" i="0" u="none" strike="noStrike" cap="none" dirty="0">
                <a:solidFill>
                  <a:schemeClr val="dk1"/>
                </a:solidFill>
                <a:latin typeface="Helvetica Neue"/>
                <a:ea typeface="Helvetica Neue"/>
                <a:cs typeface="Helvetica Neue"/>
                <a:sym typeface="Helvetica Neue"/>
              </a:rPr>
              <a:t>© </a:t>
            </a:r>
            <a:r>
              <a:rPr lang="en-US" sz="1000" dirty="0">
                <a:solidFill>
                  <a:schemeClr val="dk1"/>
                </a:solidFill>
                <a:latin typeface="Helvetica Neue"/>
                <a:ea typeface="Helvetica Neue"/>
                <a:cs typeface="Helvetica Neue"/>
                <a:sym typeface="Helvetica Neue"/>
              </a:rPr>
              <a:t>Md.Ashraf Uddin, Andrew Stranieri, Iqbal Gondal, Venki Balasubramanian</a:t>
            </a:r>
            <a:endParaRPr sz="900" u="sng" dirty="0">
              <a:solidFill>
                <a:schemeClr val="hlink"/>
              </a:solidFill>
            </a:endParaRPr>
          </a:p>
          <a:p>
            <a:pPr marL="0" marR="0" lvl="0" indent="0" algn="ctr" rtl="0">
              <a:lnSpc>
                <a:spcPct val="90000"/>
              </a:lnSpc>
              <a:spcBef>
                <a:spcPts val="0"/>
              </a:spcBef>
              <a:spcAft>
                <a:spcPts val="0"/>
              </a:spcAft>
              <a:buClr>
                <a:schemeClr val="dk1"/>
              </a:buClr>
              <a:buSzPts val="1800"/>
              <a:buFont typeface="Arial"/>
              <a:buNone/>
            </a:pPr>
            <a:endParaRPr sz="1000" dirty="0">
              <a:solidFill>
                <a:schemeClr val="dk1"/>
              </a:solidFill>
              <a:latin typeface="Helvetica Neue"/>
              <a:ea typeface="Helvetica Neue"/>
              <a:cs typeface="Helvetica Neue"/>
              <a:sym typeface="Helvetica Neue"/>
            </a:endParaRPr>
          </a:p>
        </p:txBody>
      </p:sp>
      <p:pic>
        <p:nvPicPr>
          <p:cNvPr id="15" name="Google Shape;143;gd8ee4bd241_0_677"/>
          <p:cNvPicPr preferRelativeResize="0"/>
          <p:nvPr/>
        </p:nvPicPr>
        <p:blipFill>
          <a:blip r:embed="rId3">
            <a:alphaModFix/>
          </a:blip>
          <a:stretch>
            <a:fillRect/>
          </a:stretch>
        </p:blipFill>
        <p:spPr>
          <a:xfrm>
            <a:off x="457200" y="1417229"/>
            <a:ext cx="8510215" cy="5194586"/>
          </a:xfrm>
          <a:prstGeom prst="rect">
            <a:avLst/>
          </a:prstGeom>
          <a:noFill/>
          <a:ln>
            <a:noFill/>
          </a:ln>
        </p:spPr>
      </p:pic>
    </p:spTree>
    <p:extLst>
      <p:ext uri="{BB962C8B-B14F-4D97-AF65-F5344CB8AC3E}">
        <p14:creationId xmlns:p14="http://schemas.microsoft.com/office/powerpoint/2010/main" val="3659852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108A43E-8E32-C7BF-C930-E5A76D6528DB}"/>
              </a:ext>
            </a:extLst>
          </p:cNvPr>
          <p:cNvSpPr>
            <a:spLocks noGrp="1"/>
          </p:cNvSpPr>
          <p:nvPr>
            <p:ph type="body" idx="1"/>
          </p:nvPr>
        </p:nvSpPr>
        <p:spPr/>
        <p:txBody>
          <a:bodyPr>
            <a:normAutofit/>
          </a:bodyPr>
          <a:lstStyle/>
          <a:p>
            <a:pPr marL="514350" indent="-285750">
              <a:lnSpc>
                <a:spcPct val="150000"/>
              </a:lnSpc>
              <a:buFont typeface="Arial" panose="020B0604020202020204" pitchFamily="34" charset="0"/>
              <a:buChar char="•"/>
            </a:pPr>
            <a:r>
              <a:rPr lang="en-US" sz="1600" b="1" dirty="0"/>
              <a:t>Software Component View</a:t>
            </a:r>
            <a:r>
              <a:rPr lang="en-US" sz="1600" dirty="0"/>
              <a:t>: Blockchain is considered a </a:t>
            </a:r>
            <a:r>
              <a:rPr lang="en-US" sz="1600" b="1" dirty="0"/>
              <a:t>distributed, network-based software architectural component</a:t>
            </a:r>
            <a:r>
              <a:rPr lang="en-US" sz="1600" dirty="0"/>
              <a:t> within a larger system that provides </a:t>
            </a:r>
            <a:r>
              <a:rPr lang="en-US" sz="1600" b="1" dirty="0"/>
              <a:t>data storage, computation, and communication services</a:t>
            </a:r>
            <a:r>
              <a:rPr lang="en-US" sz="1600" dirty="0"/>
              <a:t> under a shared consensus mechanism. </a:t>
            </a:r>
          </a:p>
          <a:p>
            <a:pPr marL="514350" indent="-285750">
              <a:lnSpc>
                <a:spcPct val="150000"/>
              </a:lnSpc>
              <a:buFont typeface="Arial" panose="020B0604020202020204" pitchFamily="34" charset="0"/>
              <a:buChar char="•"/>
            </a:pPr>
            <a:r>
              <a:rPr lang="en-US" sz="1600" b="1" dirty="0"/>
              <a:t>On-chain vs Off-chain Decisions</a:t>
            </a:r>
            <a:r>
              <a:rPr lang="en-US" sz="1600" dirty="0"/>
              <a:t>: A key responsibility of system architects is deciding what data and application logic should be placed </a:t>
            </a:r>
            <a:r>
              <a:rPr lang="en-US" sz="1600" b="1" dirty="0"/>
              <a:t>on-chain</a:t>
            </a:r>
            <a:r>
              <a:rPr lang="en-US" sz="1600" dirty="0"/>
              <a:t> (to benefit from decentralization, trust, and immutability) and what should remain </a:t>
            </a:r>
            <a:r>
              <a:rPr lang="en-US" sz="1600" b="1" dirty="0"/>
              <a:t>off-chain</a:t>
            </a:r>
            <a:r>
              <a:rPr lang="en-US" sz="1600" dirty="0"/>
              <a:t> (due to scalability, cost, performance, or privacy constraints). </a:t>
            </a:r>
          </a:p>
          <a:p>
            <a:pPr marL="514350" indent="-285750">
              <a:lnSpc>
                <a:spcPct val="150000"/>
              </a:lnSpc>
              <a:buFont typeface="Arial" panose="020B0604020202020204" pitchFamily="34" charset="0"/>
              <a:buChar char="•"/>
            </a:pPr>
            <a:r>
              <a:rPr lang="en-US" sz="1600" b="1" dirty="0"/>
              <a:t>Functional Roles</a:t>
            </a:r>
            <a:r>
              <a:rPr lang="en-US" sz="1600" dirty="0"/>
              <a:t>: Blockchain can serve multiple architectural roles, including a </a:t>
            </a:r>
            <a:r>
              <a:rPr lang="en-US" sz="1600" b="1" dirty="0"/>
              <a:t>shared data layer</a:t>
            </a:r>
            <a:r>
              <a:rPr lang="en-US" sz="1600" dirty="0"/>
              <a:t>, a </a:t>
            </a:r>
            <a:r>
              <a:rPr lang="en-US" sz="1600" b="1" dirty="0"/>
              <a:t>computation platform via smart contracts</a:t>
            </a:r>
            <a:r>
              <a:rPr lang="en-US" sz="1600" dirty="0"/>
              <a:t>, a </a:t>
            </a:r>
            <a:r>
              <a:rPr lang="en-US" sz="1600" b="1" dirty="0"/>
              <a:t>coordination and trust layer</a:t>
            </a:r>
            <a:r>
              <a:rPr lang="en-US" sz="1600" dirty="0"/>
              <a:t>, and a </a:t>
            </a:r>
            <a:r>
              <a:rPr lang="en-US" sz="1600" b="1" dirty="0"/>
              <a:t>token/asset management mechanism</a:t>
            </a:r>
            <a:r>
              <a:rPr lang="en-US" sz="1600" dirty="0"/>
              <a:t>.</a:t>
            </a:r>
          </a:p>
        </p:txBody>
      </p:sp>
      <p:sp>
        <p:nvSpPr>
          <p:cNvPr id="7" name="Text Placeholder 6">
            <a:extLst>
              <a:ext uri="{FF2B5EF4-FFF2-40B4-BE49-F238E27FC236}">
                <a16:creationId xmlns:a16="http://schemas.microsoft.com/office/drawing/2014/main" id="{9F5D9811-FCBD-73D1-26B5-71475DD0D329}"/>
              </a:ext>
            </a:extLst>
          </p:cNvPr>
          <p:cNvSpPr>
            <a:spLocks noGrp="1"/>
          </p:cNvSpPr>
          <p:nvPr>
            <p:ph type="body" idx="2"/>
          </p:nvPr>
        </p:nvSpPr>
        <p:spPr>
          <a:xfrm>
            <a:off x="304800" y="152400"/>
            <a:ext cx="7092462" cy="1143000"/>
          </a:xfrm>
        </p:spPr>
        <p:txBody>
          <a:bodyPr/>
          <a:lstStyle/>
          <a:p>
            <a:r>
              <a:rPr lang="en-US" dirty="0"/>
              <a:t>Blockchain as an Architectural Element</a:t>
            </a:r>
          </a:p>
        </p:txBody>
      </p:sp>
      <p:sp>
        <p:nvSpPr>
          <p:cNvPr id="5" name="Slide Number Placeholder 4">
            <a:extLst>
              <a:ext uri="{FF2B5EF4-FFF2-40B4-BE49-F238E27FC236}">
                <a16:creationId xmlns:a16="http://schemas.microsoft.com/office/drawing/2014/main" id="{0FA2FD21-A5F2-3F02-FBD8-E13A19265CEA}"/>
              </a:ext>
            </a:extLst>
          </p:cNvPr>
          <p:cNvSpPr>
            <a:spLocks noGrp="1"/>
          </p:cNvSpPr>
          <p:nvPr>
            <p:ph type="sldNum" idx="4294967295"/>
          </p:nvPr>
        </p:nvSpPr>
        <p:spPr>
          <a:xfrm>
            <a:off x="7010400" y="6356350"/>
            <a:ext cx="2133600" cy="365125"/>
          </a:xfrm>
        </p:spPr>
        <p:txBody>
          <a:bodyPr/>
          <a:lstStyle/>
          <a:p>
            <a:fld id="{00000000-1234-1234-1234-123412341234}" type="slidenum">
              <a:rPr lang="en-US" smtClean="0"/>
              <a:pPr/>
              <a:t>39</a:t>
            </a:fld>
            <a:endParaRPr lang="en-US" dirty="0"/>
          </a:p>
        </p:txBody>
      </p:sp>
    </p:spTree>
    <p:extLst>
      <p:ext uri="{BB962C8B-B14F-4D97-AF65-F5344CB8AC3E}">
        <p14:creationId xmlns:p14="http://schemas.microsoft.com/office/powerpoint/2010/main" val="2731467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B654B4-2707-0E60-D9E2-1197097A2698}"/>
              </a:ext>
            </a:extLst>
          </p:cNvPr>
          <p:cNvSpPr>
            <a:spLocks noGrp="1"/>
          </p:cNvSpPr>
          <p:nvPr>
            <p:ph type="body" idx="1"/>
          </p:nvPr>
        </p:nvSpPr>
        <p:spPr/>
        <p:txBody>
          <a:bodyPr>
            <a:normAutofit fontScale="92500" lnSpcReduction="20000"/>
          </a:bodyPr>
          <a:lstStyle/>
          <a:p>
            <a:pPr marL="514350" indent="-285750">
              <a:lnSpc>
                <a:spcPct val="150000"/>
              </a:lnSpc>
              <a:buFont typeface="Arial" panose="020B0604020202020204" pitchFamily="34" charset="0"/>
              <a:buChar char="•"/>
            </a:pPr>
            <a:r>
              <a:rPr lang="en-US" b="1" dirty="0"/>
              <a:t>Replication Across Nodes</a:t>
            </a:r>
            <a:r>
              <a:rPr lang="en-US" dirty="0"/>
              <a:t>: Blockchain data and state are </a:t>
            </a:r>
            <a:r>
              <a:rPr lang="en-US" b="1" dirty="0"/>
              <a:t>replicated across all participating nodes</a:t>
            </a:r>
            <a:r>
              <a:rPr lang="en-US" dirty="0"/>
              <a:t>, ensuring high availability and fault tolerance but also increasing storage and computation overhead.</a:t>
            </a:r>
          </a:p>
          <a:p>
            <a:pPr marL="514350" indent="-285750">
              <a:lnSpc>
                <a:spcPct val="150000"/>
              </a:lnSpc>
              <a:buFont typeface="Arial" panose="020B0604020202020204" pitchFamily="34" charset="0"/>
              <a:buChar char="•"/>
            </a:pPr>
            <a:r>
              <a:rPr lang="en-US" b="1" dirty="0"/>
              <a:t>Consensus Dependency</a:t>
            </a:r>
            <a:r>
              <a:rPr lang="en-US" dirty="0"/>
              <a:t>: The behavior of the blockchain layer depends on a </a:t>
            </a:r>
            <a:r>
              <a:rPr lang="en-US" b="1" dirty="0"/>
              <a:t>consensus protocol (e.g., PoW, </a:t>
            </a:r>
            <a:r>
              <a:rPr lang="en-US" b="1" dirty="0" err="1"/>
              <a:t>PoS</a:t>
            </a:r>
            <a:r>
              <a:rPr lang="en-US" b="1" dirty="0"/>
              <a:t>)</a:t>
            </a:r>
            <a:r>
              <a:rPr lang="en-US" dirty="0"/>
              <a:t>, which ensures agreement on the system state and directly impacts performance, scalability, and trust. </a:t>
            </a:r>
          </a:p>
          <a:p>
            <a:pPr marL="514350" indent="-285750">
              <a:lnSpc>
                <a:spcPct val="150000"/>
              </a:lnSpc>
              <a:buFont typeface="Arial" panose="020B0604020202020204" pitchFamily="34" charset="0"/>
              <a:buChar char="•"/>
            </a:pPr>
            <a:r>
              <a:rPr lang="en-US" b="1" dirty="0"/>
              <a:t>Trust Distribution</a:t>
            </a:r>
            <a:r>
              <a:rPr lang="en-US" dirty="0"/>
              <a:t>: Blockchain shifts trust from a central authority to a </a:t>
            </a:r>
            <a:r>
              <a:rPr lang="en-US" b="1" dirty="0"/>
              <a:t>distributed network of nodes</a:t>
            </a:r>
            <a:r>
              <a:rPr lang="en-US" dirty="0"/>
              <a:t>, enabling trustless or partially trusted environments.</a:t>
            </a:r>
          </a:p>
          <a:p>
            <a:pPr marL="514350" indent="-285750">
              <a:lnSpc>
                <a:spcPct val="150000"/>
              </a:lnSpc>
              <a:buFont typeface="Arial" panose="020B0604020202020204" pitchFamily="34" charset="0"/>
              <a:buChar char="•"/>
            </a:pPr>
            <a:r>
              <a:rPr lang="en-US" dirty="0"/>
              <a:t> </a:t>
            </a:r>
            <a:r>
              <a:rPr lang="en-US" b="1" dirty="0"/>
              <a:t>Immutability and Auditability</a:t>
            </a:r>
            <a:r>
              <a:rPr lang="en-US" dirty="0"/>
              <a:t>: Once recorded, data becomes </a:t>
            </a:r>
            <a:r>
              <a:rPr lang="en-US" b="1" dirty="0"/>
              <a:t>tamper-resistant and auditable</a:t>
            </a:r>
            <a:r>
              <a:rPr lang="en-US" dirty="0"/>
              <a:t>, making blockchain suitable for systems requiring traceability and provenance</a:t>
            </a:r>
          </a:p>
        </p:txBody>
      </p:sp>
      <p:sp>
        <p:nvSpPr>
          <p:cNvPr id="3" name="Text Placeholder 2">
            <a:extLst>
              <a:ext uri="{FF2B5EF4-FFF2-40B4-BE49-F238E27FC236}">
                <a16:creationId xmlns:a16="http://schemas.microsoft.com/office/drawing/2014/main" id="{4C413CD1-63F3-2A0E-6131-058488E82223}"/>
              </a:ext>
            </a:extLst>
          </p:cNvPr>
          <p:cNvSpPr>
            <a:spLocks noGrp="1"/>
          </p:cNvSpPr>
          <p:nvPr>
            <p:ph type="body" idx="2"/>
          </p:nvPr>
        </p:nvSpPr>
        <p:spPr>
          <a:xfrm>
            <a:off x="304800" y="152400"/>
            <a:ext cx="7010400" cy="1143000"/>
          </a:xfrm>
        </p:spPr>
        <p:txBody>
          <a:bodyPr/>
          <a:lstStyle/>
          <a:p>
            <a:r>
              <a:rPr lang="en-US" dirty="0"/>
              <a:t>Blockchain as an Architectural Element</a:t>
            </a:r>
          </a:p>
        </p:txBody>
      </p:sp>
    </p:spTree>
    <p:extLst>
      <p:ext uri="{BB962C8B-B14F-4D97-AF65-F5344CB8AC3E}">
        <p14:creationId xmlns:p14="http://schemas.microsoft.com/office/powerpoint/2010/main" val="1308092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7C6EC-E8CC-0298-EB4C-4535F4447459}"/>
              </a:ext>
            </a:extLst>
          </p:cNvPr>
          <p:cNvSpPr>
            <a:spLocks noGrp="1"/>
          </p:cNvSpPr>
          <p:nvPr>
            <p:ph type="body" idx="1"/>
          </p:nvPr>
        </p:nvSpPr>
        <p:spPr/>
        <p:txBody>
          <a:bodyPr/>
          <a:lstStyle/>
          <a:p>
            <a:pPr marL="514350" indent="-285750">
              <a:lnSpc>
                <a:spcPct val="150000"/>
              </a:lnSpc>
              <a:buFont typeface="Arial" panose="020B0604020202020204" pitchFamily="34" charset="0"/>
              <a:buChar char="•"/>
            </a:pPr>
            <a:r>
              <a:rPr lang="en-US" b="1" dirty="0"/>
              <a:t>Data Structure</a:t>
            </a:r>
            <a:r>
              <a:rPr lang="en-US" dirty="0"/>
              <a:t>: A blockchain is an </a:t>
            </a:r>
            <a:r>
              <a:rPr lang="en-US" b="1" dirty="0"/>
              <a:t>ordered, cryptographically linked sequence of blocks</a:t>
            </a:r>
            <a:r>
              <a:rPr lang="en-US" dirty="0"/>
              <a:t>, where each block contains a set of transactions and references the previous block using a hash pointer. </a:t>
            </a:r>
          </a:p>
          <a:p>
            <a:pPr marL="514350" indent="-285750">
              <a:lnSpc>
                <a:spcPct val="150000"/>
              </a:lnSpc>
              <a:buFont typeface="Arial" panose="020B0604020202020204" pitchFamily="34" charset="0"/>
              <a:buChar char="•"/>
            </a:pPr>
            <a:r>
              <a:rPr lang="en-US" b="1" dirty="0"/>
              <a:t>Append-Only Nature</a:t>
            </a:r>
            <a:r>
              <a:rPr lang="en-US" dirty="0"/>
              <a:t>: Blockchain is </a:t>
            </a:r>
            <a:r>
              <a:rPr lang="en-US" b="1" dirty="0"/>
              <a:t>logically append-only and tamper-evident</a:t>
            </a:r>
            <a:r>
              <a:rPr lang="en-US" dirty="0"/>
              <a:t>, meaning new data can be added but existing data cannot be altered without invalidating the chain and breaking consensus integrity. </a:t>
            </a:r>
          </a:p>
          <a:p>
            <a:pPr marL="514350" indent="-285750">
              <a:lnSpc>
                <a:spcPct val="150000"/>
              </a:lnSpc>
              <a:buFont typeface="Arial" panose="020B0604020202020204" pitchFamily="34" charset="0"/>
              <a:buChar char="•"/>
            </a:pPr>
            <a:r>
              <a:rPr lang="en-US" b="1" dirty="0"/>
              <a:t>Storage Options</a:t>
            </a:r>
            <a:r>
              <a:rPr lang="en-US" dirty="0"/>
              <a:t>: Data is stored either: </a:t>
            </a:r>
          </a:p>
          <a:p>
            <a:pPr lvl="1">
              <a:lnSpc>
                <a:spcPct val="150000"/>
              </a:lnSpc>
            </a:pPr>
            <a:r>
              <a:rPr lang="en-US" sz="1600" dirty="0"/>
              <a:t>within </a:t>
            </a:r>
            <a:r>
              <a:rPr lang="en-US" sz="1600" b="1" dirty="0"/>
              <a:t>transactions</a:t>
            </a:r>
            <a:r>
              <a:rPr lang="en-US" sz="1600" dirty="0"/>
              <a:t> (as in Bitcoin-style systems), or </a:t>
            </a:r>
          </a:p>
          <a:p>
            <a:pPr lvl="1">
              <a:lnSpc>
                <a:spcPct val="150000"/>
              </a:lnSpc>
            </a:pPr>
            <a:r>
              <a:rPr lang="en-US" sz="1600" dirty="0"/>
              <a:t>in </a:t>
            </a:r>
            <a:r>
              <a:rPr lang="en-US" sz="1600" b="1" dirty="0"/>
              <a:t>on-chain state storage</a:t>
            </a:r>
            <a:r>
              <a:rPr lang="en-US" sz="1600" dirty="0"/>
              <a:t> (as in Ethereum-style systems using a key–value based contract storage model). </a:t>
            </a:r>
          </a:p>
          <a:p>
            <a:endParaRPr lang="en-US" dirty="0"/>
          </a:p>
        </p:txBody>
      </p:sp>
      <p:sp>
        <p:nvSpPr>
          <p:cNvPr id="3" name="Text Placeholder 2">
            <a:extLst>
              <a:ext uri="{FF2B5EF4-FFF2-40B4-BE49-F238E27FC236}">
                <a16:creationId xmlns:a16="http://schemas.microsoft.com/office/drawing/2014/main" id="{FFC6C174-6626-21E5-277A-A08B40EA5DA1}"/>
              </a:ext>
            </a:extLst>
          </p:cNvPr>
          <p:cNvSpPr>
            <a:spLocks noGrp="1"/>
          </p:cNvSpPr>
          <p:nvPr>
            <p:ph type="body" idx="2"/>
          </p:nvPr>
        </p:nvSpPr>
        <p:spPr/>
        <p:txBody>
          <a:bodyPr/>
          <a:lstStyle/>
          <a:p>
            <a:r>
              <a:rPr lang="en-US" dirty="0"/>
              <a:t>Blockchain as a Storage Element</a:t>
            </a:r>
          </a:p>
        </p:txBody>
      </p:sp>
    </p:spTree>
    <p:extLst>
      <p:ext uri="{BB962C8B-B14F-4D97-AF65-F5344CB8AC3E}">
        <p14:creationId xmlns:p14="http://schemas.microsoft.com/office/powerpoint/2010/main" val="2124369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8D01B9-3EA2-92B5-C1C0-8B4D8F6E41E9}"/>
              </a:ext>
            </a:extLst>
          </p:cNvPr>
          <p:cNvSpPr>
            <a:spLocks noGrp="1"/>
          </p:cNvSpPr>
          <p:nvPr>
            <p:ph type="body" idx="1"/>
          </p:nvPr>
        </p:nvSpPr>
        <p:spPr/>
        <p:txBody>
          <a:bodyPr/>
          <a:lstStyle/>
          <a:p>
            <a:pPr marL="514350" indent="-285750">
              <a:lnSpc>
                <a:spcPct val="150000"/>
              </a:lnSpc>
              <a:buFont typeface="Arial" panose="020B0604020202020204" pitchFamily="34" charset="0"/>
              <a:buChar char="•"/>
            </a:pPr>
            <a:r>
              <a:rPr lang="en-US" b="1" dirty="0"/>
              <a:t>Global State Replication Cost</a:t>
            </a:r>
            <a:r>
              <a:rPr lang="en-US" dirty="0"/>
              <a:t>: Since all full nodes replicate the blockchain, storage is </a:t>
            </a:r>
            <a:r>
              <a:rPr lang="en-US" b="1" dirty="0"/>
              <a:t>expensive and inefficient for large data</a:t>
            </a:r>
            <a:r>
              <a:rPr lang="en-US" dirty="0"/>
              <a:t>, so large datasets are typically stored off-chain with only hashes on-chain. </a:t>
            </a:r>
          </a:p>
          <a:p>
            <a:pPr marL="514350" indent="-285750">
              <a:lnSpc>
                <a:spcPct val="150000"/>
              </a:lnSpc>
              <a:buFont typeface="Arial" panose="020B0604020202020204" pitchFamily="34" charset="0"/>
              <a:buChar char="•"/>
            </a:pPr>
            <a:r>
              <a:rPr lang="en-US" b="1" dirty="0"/>
              <a:t>Data Integrity via Hashing</a:t>
            </a:r>
            <a:r>
              <a:rPr lang="en-US" dirty="0"/>
              <a:t>: Integrity is ensured using </a:t>
            </a:r>
            <a:r>
              <a:rPr lang="en-US" b="1" dirty="0"/>
              <a:t>cryptographic hash functions and Merkle trees</a:t>
            </a:r>
            <a:r>
              <a:rPr lang="en-US" dirty="0"/>
              <a:t>, which allow efficient verification of data consistency. </a:t>
            </a:r>
          </a:p>
          <a:p>
            <a:pPr marL="514350" indent="-285750">
              <a:lnSpc>
                <a:spcPct val="150000"/>
              </a:lnSpc>
              <a:buFont typeface="Arial" panose="020B0604020202020204" pitchFamily="34" charset="0"/>
              <a:buChar char="•"/>
            </a:pPr>
            <a:r>
              <a:rPr lang="en-US" b="1" dirty="0"/>
              <a:t>Limited Query Capability</a:t>
            </a:r>
            <a:r>
              <a:rPr lang="en-US" dirty="0"/>
              <a:t>: Compared to traditional databases, blockchain storage has </a:t>
            </a:r>
            <a:r>
              <a:rPr lang="en-US" b="1" dirty="0"/>
              <a:t>limited querying flexibility and performance</a:t>
            </a:r>
            <a:r>
              <a:rPr lang="en-US" dirty="0"/>
              <a:t>, which is why external indexing systems are often used. </a:t>
            </a:r>
          </a:p>
          <a:p>
            <a:endParaRPr lang="en-US" dirty="0"/>
          </a:p>
        </p:txBody>
      </p:sp>
      <p:sp>
        <p:nvSpPr>
          <p:cNvPr id="3" name="Text Placeholder 2">
            <a:extLst>
              <a:ext uri="{FF2B5EF4-FFF2-40B4-BE49-F238E27FC236}">
                <a16:creationId xmlns:a16="http://schemas.microsoft.com/office/drawing/2014/main" id="{AB40BB68-31B4-857E-76CB-F102810A6310}"/>
              </a:ext>
            </a:extLst>
          </p:cNvPr>
          <p:cNvSpPr>
            <a:spLocks noGrp="1"/>
          </p:cNvSpPr>
          <p:nvPr>
            <p:ph type="body" idx="2"/>
          </p:nvPr>
        </p:nvSpPr>
        <p:spPr/>
        <p:txBody>
          <a:bodyPr/>
          <a:lstStyle/>
          <a:p>
            <a:r>
              <a:rPr lang="en-US" dirty="0"/>
              <a:t>Blockchain as a Storage Element</a:t>
            </a:r>
          </a:p>
          <a:p>
            <a:endParaRPr lang="en-US" dirty="0"/>
          </a:p>
        </p:txBody>
      </p:sp>
    </p:spTree>
    <p:extLst>
      <p:ext uri="{BB962C8B-B14F-4D97-AF65-F5344CB8AC3E}">
        <p14:creationId xmlns:p14="http://schemas.microsoft.com/office/powerpoint/2010/main" val="2663607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What</a:t>
            </a:r>
            <a:r>
              <a:rPr spc="-45" dirty="0"/>
              <a:t> </a:t>
            </a:r>
            <a:r>
              <a:rPr dirty="0"/>
              <a:t>is</a:t>
            </a:r>
            <a:r>
              <a:rPr spc="-40" dirty="0"/>
              <a:t> </a:t>
            </a:r>
            <a:r>
              <a:rPr dirty="0"/>
              <a:t>a</a:t>
            </a:r>
            <a:r>
              <a:rPr spc="-35" dirty="0"/>
              <a:t> </a:t>
            </a:r>
            <a:r>
              <a:rPr dirty="0"/>
              <a:t>smart</a:t>
            </a:r>
            <a:r>
              <a:rPr spc="-45" dirty="0"/>
              <a:t> </a:t>
            </a:r>
            <a:r>
              <a:rPr spc="-10" dirty="0"/>
              <a:t>contract?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43</a:t>
            </a:fld>
            <a:endParaRPr spc="-25" dirty="0"/>
          </a:p>
        </p:txBody>
      </p:sp>
      <p:sp>
        <p:nvSpPr>
          <p:cNvPr id="3" name="object 3"/>
          <p:cNvSpPr txBox="1"/>
          <p:nvPr/>
        </p:nvSpPr>
        <p:spPr>
          <a:xfrm>
            <a:off x="860552" y="1082446"/>
            <a:ext cx="7004684" cy="4475480"/>
          </a:xfrm>
          <a:prstGeom prst="rect">
            <a:avLst/>
          </a:prstGeom>
        </p:spPr>
        <p:txBody>
          <a:bodyPr vert="horz" wrap="square" lIns="0" tIns="165100" rIns="0" bIns="0" rtlCol="0">
            <a:spAutoFit/>
          </a:bodyPr>
          <a:lstStyle/>
          <a:p>
            <a:pPr marL="12700">
              <a:lnSpc>
                <a:spcPct val="100000"/>
              </a:lnSpc>
              <a:spcBef>
                <a:spcPts val="1300"/>
              </a:spcBef>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"smart</a:t>
            </a:r>
            <a:r>
              <a:rPr sz="2800" spc="-80" dirty="0">
                <a:solidFill>
                  <a:srgbClr val="2B2C2D"/>
                </a:solidFill>
                <a:latin typeface="Arial MT"/>
                <a:cs typeface="Arial MT"/>
              </a:rPr>
              <a:t> </a:t>
            </a:r>
            <a:r>
              <a:rPr sz="2800" dirty="0">
                <a:solidFill>
                  <a:srgbClr val="2B2C2D"/>
                </a:solidFill>
                <a:latin typeface="Arial MT"/>
                <a:cs typeface="Arial MT"/>
              </a:rPr>
              <a:t>contract"</a:t>
            </a:r>
            <a:r>
              <a:rPr sz="2800" spc="-65" dirty="0">
                <a:solidFill>
                  <a:srgbClr val="2B2C2D"/>
                </a:solidFill>
                <a:latin typeface="Arial MT"/>
                <a:cs typeface="Arial MT"/>
              </a:rPr>
              <a:t> </a:t>
            </a:r>
            <a:r>
              <a:rPr sz="2800" dirty="0">
                <a:solidFill>
                  <a:srgbClr val="2B2C2D"/>
                </a:solidFill>
                <a:latin typeface="Arial MT"/>
                <a:cs typeface="Arial MT"/>
              </a:rPr>
              <a:t>is</a:t>
            </a:r>
            <a:r>
              <a:rPr sz="2800" spc="-55" dirty="0">
                <a:solidFill>
                  <a:srgbClr val="2B2C2D"/>
                </a:solidFill>
                <a:latin typeface="Arial MT"/>
                <a:cs typeface="Arial MT"/>
              </a:rPr>
              <a:t> </a:t>
            </a:r>
            <a:r>
              <a:rPr sz="2800" b="1" dirty="0">
                <a:solidFill>
                  <a:srgbClr val="2B2C2D"/>
                </a:solidFill>
                <a:latin typeface="Arial"/>
                <a:cs typeface="Arial"/>
              </a:rPr>
              <a:t>computer</a:t>
            </a:r>
            <a:r>
              <a:rPr sz="2800" b="1" spc="-35" dirty="0">
                <a:solidFill>
                  <a:srgbClr val="2B2C2D"/>
                </a:solidFill>
                <a:latin typeface="Arial"/>
                <a:cs typeface="Arial"/>
              </a:rPr>
              <a:t> </a:t>
            </a:r>
            <a:r>
              <a:rPr sz="2800" b="1" spc="-10" dirty="0">
                <a:solidFill>
                  <a:srgbClr val="2B2C2D"/>
                </a:solidFill>
                <a:latin typeface="Arial"/>
                <a:cs typeface="Arial"/>
              </a:rPr>
              <a:t>code:</a:t>
            </a:r>
            <a:endParaRPr sz="2800">
              <a:latin typeface="Arial"/>
              <a:cs typeface="Arial"/>
            </a:endParaRPr>
          </a:p>
          <a:p>
            <a:pPr marL="354965" marR="5080" indent="-342900">
              <a:lnSpc>
                <a:spcPct val="100000"/>
              </a:lnSpc>
              <a:spcBef>
                <a:spcPts val="1200"/>
              </a:spcBef>
              <a:buClr>
                <a:srgbClr val="6D2C91"/>
              </a:buClr>
              <a:buFont typeface="Wingdings"/>
              <a:buChar char=""/>
              <a:tabLst>
                <a:tab pos="354965" algn="l"/>
              </a:tabLst>
            </a:pPr>
            <a:r>
              <a:rPr sz="2800" dirty="0">
                <a:solidFill>
                  <a:srgbClr val="2B2C2D"/>
                </a:solidFill>
                <a:latin typeface="Arial MT"/>
                <a:cs typeface="Arial MT"/>
              </a:rPr>
              <a:t>embedded</a:t>
            </a:r>
            <a:r>
              <a:rPr sz="2800" spc="-40" dirty="0">
                <a:solidFill>
                  <a:srgbClr val="2B2C2D"/>
                </a:solidFill>
                <a:latin typeface="Arial MT"/>
                <a:cs typeface="Arial MT"/>
              </a:rPr>
              <a:t> </a:t>
            </a:r>
            <a:r>
              <a:rPr sz="2800" dirty="0">
                <a:solidFill>
                  <a:srgbClr val="2B2C2D"/>
                </a:solidFill>
                <a:latin typeface="Arial MT"/>
                <a:cs typeface="Arial MT"/>
              </a:rPr>
              <a:t>in</a:t>
            </a:r>
            <a:r>
              <a:rPr sz="2800" spc="-60" dirty="0">
                <a:solidFill>
                  <a:srgbClr val="2B2C2D"/>
                </a:solidFill>
                <a:latin typeface="Arial MT"/>
                <a:cs typeface="Arial MT"/>
              </a:rPr>
              <a:t> </a:t>
            </a:r>
            <a:r>
              <a:rPr sz="2800" dirty="0">
                <a:solidFill>
                  <a:srgbClr val="2B2C2D"/>
                </a:solidFill>
                <a:latin typeface="Arial MT"/>
                <a:cs typeface="Arial MT"/>
              </a:rPr>
              <a:t>a</a:t>
            </a:r>
            <a:r>
              <a:rPr sz="2800" spc="-60" dirty="0">
                <a:solidFill>
                  <a:srgbClr val="2B2C2D"/>
                </a:solidFill>
                <a:latin typeface="Arial MT"/>
                <a:cs typeface="Arial MT"/>
              </a:rPr>
              <a:t> </a:t>
            </a:r>
            <a:r>
              <a:rPr sz="2800" b="1" dirty="0">
                <a:solidFill>
                  <a:srgbClr val="2B2C2D"/>
                </a:solidFill>
                <a:latin typeface="Arial"/>
                <a:cs typeface="Arial"/>
              </a:rPr>
              <a:t>blockchain</a:t>
            </a:r>
            <a:r>
              <a:rPr sz="2800" b="1" spc="-45" dirty="0">
                <a:solidFill>
                  <a:srgbClr val="2B2C2D"/>
                </a:solidFill>
                <a:latin typeface="Arial"/>
                <a:cs typeface="Arial"/>
              </a:rPr>
              <a:t> </a:t>
            </a:r>
            <a:r>
              <a:rPr sz="2800" dirty="0">
                <a:solidFill>
                  <a:srgbClr val="2B2C2D"/>
                </a:solidFill>
                <a:latin typeface="Arial MT"/>
                <a:cs typeface="Arial MT"/>
              </a:rPr>
              <a:t>or</a:t>
            </a:r>
            <a:r>
              <a:rPr sz="2800" spc="-65" dirty="0">
                <a:solidFill>
                  <a:srgbClr val="2B2C2D"/>
                </a:solidFill>
                <a:latin typeface="Arial MT"/>
                <a:cs typeface="Arial MT"/>
              </a:rPr>
              <a:t> </a:t>
            </a:r>
            <a:r>
              <a:rPr sz="2800" spc="-10" dirty="0">
                <a:solidFill>
                  <a:srgbClr val="2B2C2D"/>
                </a:solidFill>
                <a:latin typeface="Arial MT"/>
                <a:cs typeface="Arial MT"/>
              </a:rPr>
              <a:t>[eventually] </a:t>
            </a:r>
            <a:r>
              <a:rPr sz="2800" dirty="0">
                <a:solidFill>
                  <a:srgbClr val="2B2C2D"/>
                </a:solidFill>
                <a:latin typeface="Arial MT"/>
                <a:cs typeface="Arial MT"/>
              </a:rPr>
              <a:t>other</a:t>
            </a:r>
            <a:r>
              <a:rPr sz="2800" spc="-65" dirty="0">
                <a:solidFill>
                  <a:srgbClr val="2B2C2D"/>
                </a:solidFill>
                <a:latin typeface="Arial MT"/>
                <a:cs typeface="Arial MT"/>
              </a:rPr>
              <a:t> </a:t>
            </a:r>
            <a:r>
              <a:rPr sz="2800" dirty="0">
                <a:solidFill>
                  <a:srgbClr val="2B2C2D"/>
                </a:solidFill>
                <a:latin typeface="Arial MT"/>
                <a:cs typeface="Arial MT"/>
              </a:rPr>
              <a:t>form</a:t>
            </a:r>
            <a:r>
              <a:rPr sz="2800" spc="-70" dirty="0">
                <a:solidFill>
                  <a:srgbClr val="2B2C2D"/>
                </a:solidFill>
                <a:latin typeface="Arial MT"/>
                <a:cs typeface="Arial MT"/>
              </a:rPr>
              <a:t> </a:t>
            </a:r>
            <a:r>
              <a:rPr sz="2800" dirty="0">
                <a:solidFill>
                  <a:srgbClr val="2B2C2D"/>
                </a:solidFill>
                <a:latin typeface="Arial MT"/>
                <a:cs typeface="Arial MT"/>
              </a:rPr>
              <a:t>of</a:t>
            </a:r>
            <a:r>
              <a:rPr sz="2800" spc="-65" dirty="0">
                <a:solidFill>
                  <a:srgbClr val="2B2C2D"/>
                </a:solidFill>
                <a:latin typeface="Arial MT"/>
                <a:cs typeface="Arial MT"/>
              </a:rPr>
              <a:t> </a:t>
            </a:r>
            <a:r>
              <a:rPr sz="2800" b="1" dirty="0">
                <a:solidFill>
                  <a:srgbClr val="2B2C2D"/>
                </a:solidFill>
                <a:latin typeface="Arial"/>
                <a:cs typeface="Arial"/>
              </a:rPr>
              <a:t>decentralized</a:t>
            </a:r>
            <a:r>
              <a:rPr sz="2800" b="1" spc="-55" dirty="0">
                <a:solidFill>
                  <a:srgbClr val="2B2C2D"/>
                </a:solidFill>
                <a:latin typeface="Arial"/>
                <a:cs typeface="Arial"/>
              </a:rPr>
              <a:t> </a:t>
            </a:r>
            <a:r>
              <a:rPr sz="2800" b="1" dirty="0">
                <a:solidFill>
                  <a:srgbClr val="2B2C2D"/>
                </a:solidFill>
                <a:latin typeface="Arial"/>
                <a:cs typeface="Arial"/>
              </a:rPr>
              <a:t>ledger</a:t>
            </a:r>
            <a:r>
              <a:rPr sz="2800" b="1" spc="-50" dirty="0">
                <a:solidFill>
                  <a:srgbClr val="2B2C2D"/>
                </a:solidFill>
                <a:latin typeface="Arial"/>
                <a:cs typeface="Arial"/>
              </a:rPr>
              <a:t> </a:t>
            </a:r>
            <a:r>
              <a:rPr sz="2800" spc="-20" dirty="0">
                <a:solidFill>
                  <a:srgbClr val="2B2C2D"/>
                </a:solidFill>
                <a:latin typeface="Arial MT"/>
                <a:cs typeface="Arial MT"/>
              </a:rPr>
              <a:t>that</a:t>
            </a:r>
            <a:endParaRPr sz="2800">
              <a:latin typeface="Arial MT"/>
              <a:cs typeface="Arial MT"/>
            </a:endParaRPr>
          </a:p>
          <a:p>
            <a:pPr marL="354965" marR="345440" indent="-342900">
              <a:lnSpc>
                <a:spcPct val="100000"/>
              </a:lnSpc>
              <a:spcBef>
                <a:spcPts val="1200"/>
              </a:spcBef>
              <a:buClr>
                <a:srgbClr val="6D2C91"/>
              </a:buClr>
              <a:buFont typeface="Wingdings"/>
              <a:buChar char=""/>
              <a:tabLst>
                <a:tab pos="354965" algn="l"/>
              </a:tabLst>
            </a:pPr>
            <a:r>
              <a:rPr sz="2800" dirty="0">
                <a:solidFill>
                  <a:srgbClr val="2B2C2D"/>
                </a:solidFill>
                <a:latin typeface="Arial MT"/>
                <a:cs typeface="Arial MT"/>
              </a:rPr>
              <a:t>incorporates</a:t>
            </a:r>
            <a:r>
              <a:rPr sz="2800" spc="-40" dirty="0">
                <a:solidFill>
                  <a:srgbClr val="2B2C2D"/>
                </a:solidFill>
                <a:latin typeface="Arial MT"/>
                <a:cs typeface="Arial MT"/>
              </a:rPr>
              <a:t> </a:t>
            </a:r>
            <a:r>
              <a:rPr sz="2800" dirty="0">
                <a:solidFill>
                  <a:srgbClr val="2B2C2D"/>
                </a:solidFill>
                <a:latin typeface="Arial MT"/>
                <a:cs typeface="Arial MT"/>
              </a:rPr>
              <a:t>all</a:t>
            </a:r>
            <a:r>
              <a:rPr sz="2800" spc="-40" dirty="0">
                <a:solidFill>
                  <a:srgbClr val="2B2C2D"/>
                </a:solidFill>
                <a:latin typeface="Arial MT"/>
                <a:cs typeface="Arial MT"/>
              </a:rPr>
              <a:t> </a:t>
            </a:r>
            <a:r>
              <a:rPr sz="2800" dirty="0">
                <a:solidFill>
                  <a:srgbClr val="2B2C2D"/>
                </a:solidFill>
                <a:latin typeface="Arial MT"/>
                <a:cs typeface="Arial MT"/>
              </a:rPr>
              <a:t>or</a:t>
            </a:r>
            <a:r>
              <a:rPr sz="2800" spc="-35" dirty="0">
                <a:solidFill>
                  <a:srgbClr val="2B2C2D"/>
                </a:solidFill>
                <a:latin typeface="Arial MT"/>
                <a:cs typeface="Arial MT"/>
              </a:rPr>
              <a:t> </a:t>
            </a:r>
            <a:r>
              <a:rPr sz="2800" dirty="0">
                <a:solidFill>
                  <a:srgbClr val="2B2C2D"/>
                </a:solidFill>
                <a:latin typeface="Arial MT"/>
                <a:cs typeface="Arial MT"/>
              </a:rPr>
              <a:t>part</a:t>
            </a:r>
            <a:r>
              <a:rPr sz="2800" spc="-45" dirty="0">
                <a:solidFill>
                  <a:srgbClr val="2B2C2D"/>
                </a:solidFill>
                <a:latin typeface="Arial MT"/>
                <a:cs typeface="Arial MT"/>
              </a:rPr>
              <a:t> </a:t>
            </a:r>
            <a:r>
              <a:rPr sz="2800" dirty="0">
                <a:solidFill>
                  <a:srgbClr val="2B2C2D"/>
                </a:solidFill>
                <a:latin typeface="Arial MT"/>
                <a:cs typeface="Arial MT"/>
              </a:rPr>
              <a:t>of</a:t>
            </a:r>
            <a:r>
              <a:rPr sz="2800" spc="-45" dirty="0">
                <a:solidFill>
                  <a:srgbClr val="2B2C2D"/>
                </a:solidFill>
                <a:latin typeface="Arial MT"/>
                <a:cs typeface="Arial MT"/>
              </a:rPr>
              <a:t> </a:t>
            </a:r>
            <a:r>
              <a:rPr sz="2800" dirty="0">
                <a:solidFill>
                  <a:srgbClr val="2B2C2D"/>
                </a:solidFill>
                <a:latin typeface="Arial MT"/>
                <a:cs typeface="Arial MT"/>
              </a:rPr>
              <a:t>a</a:t>
            </a:r>
            <a:r>
              <a:rPr sz="2800" spc="-40" dirty="0">
                <a:solidFill>
                  <a:srgbClr val="2B2C2D"/>
                </a:solidFill>
                <a:latin typeface="Arial MT"/>
                <a:cs typeface="Arial MT"/>
              </a:rPr>
              <a:t> </a:t>
            </a:r>
            <a:r>
              <a:rPr sz="2800" dirty="0">
                <a:solidFill>
                  <a:srgbClr val="2B2C2D"/>
                </a:solidFill>
                <a:latin typeface="Arial MT"/>
                <a:cs typeface="Arial MT"/>
              </a:rPr>
              <a:t>written</a:t>
            </a:r>
            <a:r>
              <a:rPr sz="2800" spc="-50" dirty="0">
                <a:solidFill>
                  <a:srgbClr val="2B2C2D"/>
                </a:solidFill>
                <a:latin typeface="Arial MT"/>
                <a:cs typeface="Arial MT"/>
              </a:rPr>
              <a:t> </a:t>
            </a:r>
            <a:r>
              <a:rPr sz="2800" b="1" spc="-10" dirty="0">
                <a:solidFill>
                  <a:srgbClr val="2B2C2D"/>
                </a:solidFill>
                <a:latin typeface="Arial"/>
                <a:cs typeface="Arial"/>
              </a:rPr>
              <a:t>legal </a:t>
            </a:r>
            <a:r>
              <a:rPr sz="2800" b="1" dirty="0">
                <a:solidFill>
                  <a:srgbClr val="2B2C2D"/>
                </a:solidFill>
                <a:latin typeface="Arial"/>
                <a:cs typeface="Arial"/>
              </a:rPr>
              <a:t>agreement</a:t>
            </a:r>
            <a:r>
              <a:rPr sz="2800" b="1" spc="-120" dirty="0">
                <a:solidFill>
                  <a:srgbClr val="2B2C2D"/>
                </a:solidFill>
                <a:latin typeface="Arial"/>
                <a:cs typeface="Arial"/>
              </a:rPr>
              <a:t> </a:t>
            </a:r>
            <a:r>
              <a:rPr sz="2800" spc="-25" dirty="0">
                <a:solidFill>
                  <a:srgbClr val="2B2C2D"/>
                </a:solidFill>
                <a:latin typeface="Arial MT"/>
                <a:cs typeface="Arial MT"/>
              </a:rPr>
              <a:t>and</a:t>
            </a:r>
            <a:endParaRPr sz="2800">
              <a:latin typeface="Arial MT"/>
              <a:cs typeface="Arial MT"/>
            </a:endParaRPr>
          </a:p>
          <a:p>
            <a:pPr marL="354965" marR="10795" indent="-342900">
              <a:lnSpc>
                <a:spcPct val="100000"/>
              </a:lnSpc>
              <a:spcBef>
                <a:spcPts val="1200"/>
              </a:spcBef>
              <a:buClr>
                <a:srgbClr val="6D2C91"/>
              </a:buClr>
              <a:buFont typeface="Wingdings"/>
              <a:buChar char=""/>
              <a:tabLst>
                <a:tab pos="354965" algn="l"/>
              </a:tabLst>
            </a:pPr>
            <a:r>
              <a:rPr sz="2800" dirty="0">
                <a:solidFill>
                  <a:srgbClr val="2B2C2D"/>
                </a:solidFill>
                <a:latin typeface="Arial MT"/>
                <a:cs typeface="Arial MT"/>
              </a:rPr>
              <a:t>transfers</a:t>
            </a:r>
            <a:r>
              <a:rPr sz="2800" spc="-60" dirty="0">
                <a:solidFill>
                  <a:srgbClr val="2B2C2D"/>
                </a:solidFill>
                <a:latin typeface="Arial MT"/>
                <a:cs typeface="Arial MT"/>
              </a:rPr>
              <a:t> </a:t>
            </a:r>
            <a:r>
              <a:rPr sz="2800" dirty="0">
                <a:solidFill>
                  <a:srgbClr val="2B2C2D"/>
                </a:solidFill>
                <a:latin typeface="Arial MT"/>
                <a:cs typeface="Arial MT"/>
              </a:rPr>
              <a:t>digital</a:t>
            </a:r>
            <a:r>
              <a:rPr sz="2800" spc="-50" dirty="0">
                <a:solidFill>
                  <a:srgbClr val="2B2C2D"/>
                </a:solidFill>
                <a:latin typeface="Arial MT"/>
                <a:cs typeface="Arial MT"/>
              </a:rPr>
              <a:t> </a:t>
            </a:r>
            <a:r>
              <a:rPr sz="2800" dirty="0">
                <a:solidFill>
                  <a:srgbClr val="2B2C2D"/>
                </a:solidFill>
                <a:latin typeface="Arial MT"/>
                <a:cs typeface="Arial MT"/>
              </a:rPr>
              <a:t>assets</a:t>
            </a:r>
            <a:r>
              <a:rPr sz="2800" spc="-65" dirty="0">
                <a:solidFill>
                  <a:srgbClr val="2B2C2D"/>
                </a:solidFill>
                <a:latin typeface="Arial MT"/>
                <a:cs typeface="Arial MT"/>
              </a:rPr>
              <a:t> </a:t>
            </a:r>
            <a:r>
              <a:rPr sz="2800" dirty="0">
                <a:solidFill>
                  <a:srgbClr val="2B2C2D"/>
                </a:solidFill>
                <a:latin typeface="Arial MT"/>
                <a:cs typeface="Arial MT"/>
              </a:rPr>
              <a:t>or</a:t>
            </a:r>
            <a:r>
              <a:rPr sz="2800" spc="-45" dirty="0">
                <a:solidFill>
                  <a:srgbClr val="2B2C2D"/>
                </a:solidFill>
                <a:latin typeface="Arial MT"/>
                <a:cs typeface="Arial MT"/>
              </a:rPr>
              <a:t> </a:t>
            </a:r>
            <a:r>
              <a:rPr sz="2800" dirty="0">
                <a:solidFill>
                  <a:srgbClr val="2B2C2D"/>
                </a:solidFill>
                <a:latin typeface="Arial MT"/>
                <a:cs typeface="Arial MT"/>
              </a:rPr>
              <a:t>vests</a:t>
            </a:r>
            <a:r>
              <a:rPr sz="2800" spc="-80" dirty="0">
                <a:solidFill>
                  <a:srgbClr val="2B2C2D"/>
                </a:solidFill>
                <a:latin typeface="Arial MT"/>
                <a:cs typeface="Arial MT"/>
              </a:rPr>
              <a:t> </a:t>
            </a:r>
            <a:r>
              <a:rPr sz="2800" dirty="0">
                <a:solidFill>
                  <a:srgbClr val="2B2C2D"/>
                </a:solidFill>
                <a:latin typeface="Arial MT"/>
                <a:cs typeface="Arial MT"/>
              </a:rPr>
              <a:t>rights</a:t>
            </a:r>
            <a:r>
              <a:rPr sz="2800" spc="-55" dirty="0">
                <a:solidFill>
                  <a:srgbClr val="2B2C2D"/>
                </a:solidFill>
                <a:latin typeface="Arial MT"/>
                <a:cs typeface="Arial MT"/>
              </a:rPr>
              <a:t> </a:t>
            </a:r>
            <a:r>
              <a:rPr sz="2800" dirty="0">
                <a:solidFill>
                  <a:srgbClr val="2B2C2D"/>
                </a:solidFill>
                <a:latin typeface="Arial MT"/>
                <a:cs typeface="Arial MT"/>
              </a:rPr>
              <a:t>or</a:t>
            </a:r>
            <a:r>
              <a:rPr sz="2800" spc="-50" dirty="0">
                <a:solidFill>
                  <a:srgbClr val="2B2C2D"/>
                </a:solidFill>
                <a:latin typeface="Arial MT"/>
                <a:cs typeface="Arial MT"/>
              </a:rPr>
              <a:t> </a:t>
            </a:r>
            <a:r>
              <a:rPr sz="2800" spc="-25" dirty="0">
                <a:solidFill>
                  <a:srgbClr val="2B2C2D"/>
                </a:solidFill>
                <a:latin typeface="Arial MT"/>
                <a:cs typeface="Arial MT"/>
              </a:rPr>
              <a:t>is </a:t>
            </a:r>
            <a:r>
              <a:rPr sz="2800" dirty="0">
                <a:solidFill>
                  <a:srgbClr val="2B2C2D"/>
                </a:solidFill>
                <a:latin typeface="Arial MT"/>
                <a:cs typeface="Arial MT"/>
              </a:rPr>
              <a:t>otherwise</a:t>
            </a:r>
            <a:r>
              <a:rPr sz="2800" spc="-40" dirty="0">
                <a:solidFill>
                  <a:srgbClr val="2B2C2D"/>
                </a:solidFill>
                <a:latin typeface="Arial MT"/>
                <a:cs typeface="Arial MT"/>
              </a:rPr>
              <a:t> </a:t>
            </a:r>
            <a:r>
              <a:rPr sz="2800" dirty="0">
                <a:solidFill>
                  <a:srgbClr val="2B2C2D"/>
                </a:solidFill>
                <a:latin typeface="Arial MT"/>
                <a:cs typeface="Arial MT"/>
              </a:rPr>
              <a:t>triggered</a:t>
            </a:r>
            <a:r>
              <a:rPr sz="2800" spc="-50" dirty="0">
                <a:solidFill>
                  <a:srgbClr val="2B2C2D"/>
                </a:solidFill>
                <a:latin typeface="Arial MT"/>
                <a:cs typeface="Arial MT"/>
              </a:rPr>
              <a:t> </a:t>
            </a:r>
            <a:r>
              <a:rPr sz="2800" dirty="0">
                <a:solidFill>
                  <a:srgbClr val="2B2C2D"/>
                </a:solidFill>
                <a:latin typeface="Arial MT"/>
                <a:cs typeface="Arial MT"/>
              </a:rPr>
              <a:t>when</a:t>
            </a:r>
            <a:r>
              <a:rPr sz="2800" spc="-40" dirty="0">
                <a:solidFill>
                  <a:srgbClr val="2B2C2D"/>
                </a:solidFill>
                <a:latin typeface="Arial MT"/>
                <a:cs typeface="Arial MT"/>
              </a:rPr>
              <a:t> </a:t>
            </a:r>
            <a:r>
              <a:rPr sz="2800" dirty="0">
                <a:solidFill>
                  <a:srgbClr val="2B2C2D"/>
                </a:solidFill>
                <a:latin typeface="Arial MT"/>
                <a:cs typeface="Arial MT"/>
              </a:rPr>
              <a:t>a</a:t>
            </a:r>
            <a:r>
              <a:rPr sz="2800" spc="-55" dirty="0">
                <a:solidFill>
                  <a:srgbClr val="2B2C2D"/>
                </a:solidFill>
                <a:latin typeface="Arial MT"/>
                <a:cs typeface="Arial MT"/>
              </a:rPr>
              <a:t> </a:t>
            </a:r>
            <a:r>
              <a:rPr sz="2800" dirty="0">
                <a:solidFill>
                  <a:srgbClr val="2B2C2D"/>
                </a:solidFill>
                <a:latin typeface="Arial MT"/>
                <a:cs typeface="Arial MT"/>
              </a:rPr>
              <a:t>set</a:t>
            </a:r>
            <a:r>
              <a:rPr sz="2800" spc="-60" dirty="0">
                <a:solidFill>
                  <a:srgbClr val="2B2C2D"/>
                </a:solidFill>
                <a:latin typeface="Arial MT"/>
                <a:cs typeface="Arial MT"/>
              </a:rPr>
              <a:t> </a:t>
            </a:r>
            <a:r>
              <a:rPr sz="2800" dirty="0">
                <a:solidFill>
                  <a:srgbClr val="2B2C2D"/>
                </a:solidFill>
                <a:latin typeface="Arial MT"/>
                <a:cs typeface="Arial MT"/>
              </a:rPr>
              <a:t>of</a:t>
            </a:r>
            <a:r>
              <a:rPr sz="2800" spc="-70" dirty="0">
                <a:solidFill>
                  <a:srgbClr val="2B2C2D"/>
                </a:solidFill>
                <a:latin typeface="Arial MT"/>
                <a:cs typeface="Arial MT"/>
              </a:rPr>
              <a:t> </a:t>
            </a:r>
            <a:r>
              <a:rPr sz="2800" b="1" spc="-20" dirty="0">
                <a:solidFill>
                  <a:srgbClr val="2B2C2D"/>
                </a:solidFill>
                <a:latin typeface="Arial"/>
                <a:cs typeface="Arial"/>
              </a:rPr>
              <a:t>pre-</a:t>
            </a:r>
            <a:r>
              <a:rPr sz="2800" b="1" dirty="0">
                <a:solidFill>
                  <a:srgbClr val="2B2C2D"/>
                </a:solidFill>
                <a:latin typeface="Arial"/>
                <a:cs typeface="Arial"/>
              </a:rPr>
              <a:t>defined</a:t>
            </a:r>
            <a:r>
              <a:rPr sz="2800" b="1" spc="-75" dirty="0">
                <a:solidFill>
                  <a:srgbClr val="2B2C2D"/>
                </a:solidFill>
                <a:latin typeface="Arial"/>
                <a:cs typeface="Arial"/>
              </a:rPr>
              <a:t> </a:t>
            </a:r>
            <a:r>
              <a:rPr sz="2800" b="1" dirty="0">
                <a:solidFill>
                  <a:srgbClr val="2B2C2D"/>
                </a:solidFill>
                <a:latin typeface="Arial"/>
                <a:cs typeface="Arial"/>
              </a:rPr>
              <a:t>terms</a:t>
            </a:r>
            <a:r>
              <a:rPr sz="2800" b="1" spc="-90" dirty="0">
                <a:solidFill>
                  <a:srgbClr val="2B2C2D"/>
                </a:solidFill>
                <a:latin typeface="Arial"/>
                <a:cs typeface="Arial"/>
              </a:rPr>
              <a:t> </a:t>
            </a:r>
            <a:r>
              <a:rPr sz="2800" b="1" dirty="0">
                <a:solidFill>
                  <a:srgbClr val="2B2C2D"/>
                </a:solidFill>
                <a:latin typeface="Arial"/>
                <a:cs typeface="Arial"/>
              </a:rPr>
              <a:t>and</a:t>
            </a:r>
            <a:r>
              <a:rPr sz="2800" b="1" spc="-85" dirty="0">
                <a:solidFill>
                  <a:srgbClr val="2B2C2D"/>
                </a:solidFill>
                <a:latin typeface="Arial"/>
                <a:cs typeface="Arial"/>
              </a:rPr>
              <a:t> </a:t>
            </a:r>
            <a:r>
              <a:rPr sz="2800" b="1" dirty="0">
                <a:solidFill>
                  <a:srgbClr val="2B2C2D"/>
                </a:solidFill>
                <a:latin typeface="Arial"/>
                <a:cs typeface="Arial"/>
              </a:rPr>
              <a:t>conditions</a:t>
            </a:r>
            <a:r>
              <a:rPr sz="2800" b="1" spc="-60" dirty="0">
                <a:solidFill>
                  <a:srgbClr val="2B2C2D"/>
                </a:solidFill>
                <a:latin typeface="Arial"/>
                <a:cs typeface="Arial"/>
              </a:rPr>
              <a:t> </a:t>
            </a:r>
            <a:r>
              <a:rPr sz="2800" spc="-25" dirty="0">
                <a:solidFill>
                  <a:srgbClr val="2B2C2D"/>
                </a:solidFill>
                <a:latin typeface="Arial MT"/>
                <a:cs typeface="Arial MT"/>
              </a:rPr>
              <a:t>are </a:t>
            </a:r>
            <a:r>
              <a:rPr sz="2800" spc="-10" dirty="0">
                <a:solidFill>
                  <a:srgbClr val="2B2C2D"/>
                </a:solidFill>
                <a:latin typeface="Arial MT"/>
                <a:cs typeface="Arial MT"/>
              </a:rPr>
              <a:t>satisfied.</a:t>
            </a:r>
            <a:endParaRPr sz="280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What</a:t>
            </a:r>
            <a:r>
              <a:rPr spc="-45" dirty="0"/>
              <a:t> </a:t>
            </a:r>
            <a:r>
              <a:rPr dirty="0"/>
              <a:t>is</a:t>
            </a:r>
            <a:r>
              <a:rPr spc="-40" dirty="0"/>
              <a:t> </a:t>
            </a:r>
            <a:r>
              <a:rPr dirty="0"/>
              <a:t>a</a:t>
            </a:r>
            <a:r>
              <a:rPr spc="-35" dirty="0"/>
              <a:t> </a:t>
            </a:r>
            <a:r>
              <a:rPr dirty="0"/>
              <a:t>smart</a:t>
            </a:r>
            <a:r>
              <a:rPr spc="-45" dirty="0"/>
              <a:t> </a:t>
            </a:r>
            <a:r>
              <a:rPr spc="-10" dirty="0"/>
              <a:t>contract?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44</a:t>
            </a:fld>
            <a:endParaRPr spc="-25" dirty="0"/>
          </a:p>
        </p:txBody>
      </p:sp>
      <p:sp>
        <p:nvSpPr>
          <p:cNvPr id="3" name="object 3"/>
          <p:cNvSpPr txBox="1"/>
          <p:nvPr/>
        </p:nvSpPr>
        <p:spPr>
          <a:xfrm>
            <a:off x="860552" y="1082446"/>
            <a:ext cx="7133590" cy="3042920"/>
          </a:xfrm>
          <a:prstGeom prst="rect">
            <a:avLst/>
          </a:prstGeom>
        </p:spPr>
        <p:txBody>
          <a:bodyPr vert="horz" wrap="square" lIns="0" tIns="165100" rIns="0" bIns="0" rtlCol="0">
            <a:spAutoFit/>
          </a:bodyPr>
          <a:lstStyle/>
          <a:p>
            <a:pPr marL="12700">
              <a:lnSpc>
                <a:spcPct val="100000"/>
              </a:lnSpc>
              <a:spcBef>
                <a:spcPts val="1300"/>
              </a:spcBef>
            </a:pPr>
            <a:r>
              <a:rPr sz="2800" b="1" dirty="0">
                <a:solidFill>
                  <a:srgbClr val="2B2C2D"/>
                </a:solidFill>
                <a:latin typeface="Arial"/>
                <a:cs typeface="Arial"/>
              </a:rPr>
              <a:t>Key</a:t>
            </a:r>
            <a:r>
              <a:rPr sz="2800" b="1" spc="-50" dirty="0">
                <a:solidFill>
                  <a:srgbClr val="2B2C2D"/>
                </a:solidFill>
                <a:latin typeface="Arial"/>
                <a:cs typeface="Arial"/>
              </a:rPr>
              <a:t> </a:t>
            </a:r>
            <a:r>
              <a:rPr sz="2800" b="1" spc="-10" dirty="0">
                <a:solidFill>
                  <a:srgbClr val="2B2C2D"/>
                </a:solidFill>
                <a:latin typeface="Arial"/>
                <a:cs typeface="Arial"/>
              </a:rPr>
              <a:t>Points:</a:t>
            </a:r>
            <a:endParaRPr sz="2800">
              <a:latin typeface="Arial"/>
              <a:cs typeface="Arial"/>
            </a:endParaRPr>
          </a:p>
          <a:p>
            <a:pPr marL="469265" marR="5080" indent="-457200" algn="just">
              <a:lnSpc>
                <a:spcPct val="100000"/>
              </a:lnSpc>
              <a:spcBef>
                <a:spcPts val="1200"/>
              </a:spcBef>
              <a:buClr>
                <a:srgbClr val="6D2C91"/>
              </a:buClr>
              <a:buFont typeface="Wingdings"/>
              <a:buChar char=""/>
              <a:tabLst>
                <a:tab pos="469265" algn="l"/>
              </a:tabLst>
            </a:pPr>
            <a:r>
              <a:rPr sz="2800" dirty="0">
                <a:solidFill>
                  <a:srgbClr val="2B2C2D"/>
                </a:solidFill>
                <a:latin typeface="Arial MT"/>
                <a:cs typeface="Arial MT"/>
              </a:rPr>
              <a:t>The</a:t>
            </a:r>
            <a:r>
              <a:rPr sz="2800" spc="-55" dirty="0">
                <a:solidFill>
                  <a:srgbClr val="2B2C2D"/>
                </a:solidFill>
                <a:latin typeface="Arial MT"/>
                <a:cs typeface="Arial MT"/>
              </a:rPr>
              <a:t> </a:t>
            </a:r>
            <a:r>
              <a:rPr sz="2800" dirty="0">
                <a:solidFill>
                  <a:srgbClr val="2B2C2D"/>
                </a:solidFill>
                <a:latin typeface="Arial MT"/>
                <a:cs typeface="Arial MT"/>
              </a:rPr>
              <a:t>"</a:t>
            </a:r>
            <a:r>
              <a:rPr sz="2800" b="1" dirty="0">
                <a:solidFill>
                  <a:srgbClr val="2B2C2D"/>
                </a:solidFill>
                <a:latin typeface="Arial"/>
                <a:cs typeface="Arial"/>
              </a:rPr>
              <a:t>smart</a:t>
            </a:r>
            <a:r>
              <a:rPr sz="2800" b="1" spc="-60" dirty="0">
                <a:solidFill>
                  <a:srgbClr val="2B2C2D"/>
                </a:solidFill>
                <a:latin typeface="Arial"/>
                <a:cs typeface="Arial"/>
              </a:rPr>
              <a:t> </a:t>
            </a:r>
            <a:r>
              <a:rPr sz="2800" b="1" dirty="0">
                <a:solidFill>
                  <a:srgbClr val="2B2C2D"/>
                </a:solidFill>
                <a:latin typeface="Arial"/>
                <a:cs typeface="Arial"/>
              </a:rPr>
              <a:t>contract</a:t>
            </a:r>
            <a:r>
              <a:rPr sz="2800" dirty="0">
                <a:solidFill>
                  <a:srgbClr val="2B2C2D"/>
                </a:solidFill>
                <a:latin typeface="Arial MT"/>
                <a:cs typeface="Arial MT"/>
              </a:rPr>
              <a:t>“</a:t>
            </a:r>
            <a:r>
              <a:rPr sz="2800" spc="-40" dirty="0">
                <a:solidFill>
                  <a:srgbClr val="2B2C2D"/>
                </a:solidFill>
                <a:latin typeface="Arial MT"/>
                <a:cs typeface="Arial MT"/>
              </a:rPr>
              <a:t> </a:t>
            </a:r>
            <a:r>
              <a:rPr sz="2800" dirty="0">
                <a:solidFill>
                  <a:srgbClr val="2B2C2D"/>
                </a:solidFill>
                <a:latin typeface="Arial MT"/>
                <a:cs typeface="Arial MT"/>
              </a:rPr>
              <a:t>once</a:t>
            </a:r>
            <a:r>
              <a:rPr sz="2800" spc="-65" dirty="0">
                <a:solidFill>
                  <a:srgbClr val="2B2C2D"/>
                </a:solidFill>
                <a:latin typeface="Arial MT"/>
                <a:cs typeface="Arial MT"/>
              </a:rPr>
              <a:t> </a:t>
            </a:r>
            <a:r>
              <a:rPr sz="2800" dirty="0">
                <a:solidFill>
                  <a:srgbClr val="2B2C2D"/>
                </a:solidFill>
                <a:latin typeface="Arial MT"/>
                <a:cs typeface="Arial MT"/>
              </a:rPr>
              <a:t>written</a:t>
            </a:r>
            <a:r>
              <a:rPr sz="2800" spc="-60" dirty="0">
                <a:solidFill>
                  <a:srgbClr val="2B2C2D"/>
                </a:solidFill>
                <a:latin typeface="Arial MT"/>
                <a:cs typeface="Arial MT"/>
              </a:rPr>
              <a:t> </a:t>
            </a:r>
            <a:r>
              <a:rPr sz="2800" dirty="0">
                <a:solidFill>
                  <a:srgbClr val="2B2C2D"/>
                </a:solidFill>
                <a:latin typeface="Arial MT"/>
                <a:cs typeface="Arial MT"/>
              </a:rPr>
              <a:t>can</a:t>
            </a:r>
            <a:r>
              <a:rPr sz="2800" spc="-70" dirty="0">
                <a:solidFill>
                  <a:srgbClr val="2B2C2D"/>
                </a:solidFill>
                <a:latin typeface="Arial MT"/>
                <a:cs typeface="Arial MT"/>
              </a:rPr>
              <a:t> </a:t>
            </a:r>
            <a:r>
              <a:rPr sz="2800" spc="-25" dirty="0">
                <a:solidFill>
                  <a:srgbClr val="2B2C2D"/>
                </a:solidFill>
                <a:latin typeface="Arial MT"/>
                <a:cs typeface="Arial MT"/>
              </a:rPr>
              <a:t>be </a:t>
            </a:r>
            <a:r>
              <a:rPr sz="2800" b="1" spc="-10" dirty="0">
                <a:solidFill>
                  <a:srgbClr val="2B2C2D"/>
                </a:solidFill>
                <a:latin typeface="Arial"/>
                <a:cs typeface="Arial"/>
              </a:rPr>
              <a:t>self-</a:t>
            </a:r>
            <a:r>
              <a:rPr sz="2800" b="1" dirty="0">
                <a:solidFill>
                  <a:srgbClr val="2B2C2D"/>
                </a:solidFill>
                <a:latin typeface="Arial"/>
                <a:cs typeface="Arial"/>
              </a:rPr>
              <a:t>executing</a:t>
            </a:r>
            <a:r>
              <a:rPr sz="2800" b="1" spc="-95" dirty="0">
                <a:solidFill>
                  <a:srgbClr val="2B2C2D"/>
                </a:solidFill>
                <a:latin typeface="Arial"/>
                <a:cs typeface="Arial"/>
              </a:rPr>
              <a:t> </a:t>
            </a:r>
            <a:r>
              <a:rPr sz="2800" dirty="0">
                <a:solidFill>
                  <a:srgbClr val="2B2C2D"/>
                </a:solidFill>
                <a:latin typeface="Arial MT"/>
                <a:cs typeface="Arial MT"/>
              </a:rPr>
              <a:t>and</a:t>
            </a:r>
            <a:r>
              <a:rPr sz="2800" spc="-110" dirty="0">
                <a:solidFill>
                  <a:srgbClr val="2B2C2D"/>
                </a:solidFill>
                <a:latin typeface="Arial MT"/>
                <a:cs typeface="Arial MT"/>
              </a:rPr>
              <a:t> </a:t>
            </a:r>
            <a:r>
              <a:rPr sz="2800" b="1" dirty="0">
                <a:solidFill>
                  <a:srgbClr val="2B2C2D"/>
                </a:solidFill>
                <a:latin typeface="Arial"/>
                <a:cs typeface="Arial"/>
              </a:rPr>
              <a:t>autonomous</a:t>
            </a:r>
            <a:r>
              <a:rPr sz="2800" dirty="0">
                <a:solidFill>
                  <a:srgbClr val="2B2C2D"/>
                </a:solidFill>
                <a:latin typeface="Arial MT"/>
                <a:cs typeface="Arial MT"/>
              </a:rPr>
              <a:t>,</a:t>
            </a:r>
            <a:r>
              <a:rPr sz="2800" spc="-70" dirty="0">
                <a:solidFill>
                  <a:srgbClr val="2B2C2D"/>
                </a:solidFill>
                <a:latin typeface="Arial MT"/>
                <a:cs typeface="Arial MT"/>
              </a:rPr>
              <a:t> </a:t>
            </a:r>
            <a:r>
              <a:rPr sz="2800" spc="-10" dirty="0">
                <a:solidFill>
                  <a:srgbClr val="2B2C2D"/>
                </a:solidFill>
                <a:latin typeface="Arial MT"/>
                <a:cs typeface="Arial MT"/>
              </a:rPr>
              <a:t>without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need</a:t>
            </a:r>
            <a:r>
              <a:rPr sz="2800" spc="-40" dirty="0">
                <a:solidFill>
                  <a:srgbClr val="2B2C2D"/>
                </a:solidFill>
                <a:latin typeface="Arial MT"/>
                <a:cs typeface="Arial MT"/>
              </a:rPr>
              <a:t> </a:t>
            </a:r>
            <a:r>
              <a:rPr sz="2800" dirty="0">
                <a:solidFill>
                  <a:srgbClr val="2B2C2D"/>
                </a:solidFill>
                <a:latin typeface="Arial MT"/>
                <a:cs typeface="Arial MT"/>
              </a:rPr>
              <a:t>for</a:t>
            </a:r>
            <a:r>
              <a:rPr sz="2800" spc="-40" dirty="0">
                <a:solidFill>
                  <a:srgbClr val="2B2C2D"/>
                </a:solidFill>
                <a:latin typeface="Arial MT"/>
                <a:cs typeface="Arial MT"/>
              </a:rPr>
              <a:t> </a:t>
            </a:r>
            <a:r>
              <a:rPr sz="2800" dirty="0">
                <a:solidFill>
                  <a:srgbClr val="2B2C2D"/>
                </a:solidFill>
                <a:latin typeface="Arial MT"/>
                <a:cs typeface="Arial MT"/>
              </a:rPr>
              <a:t>further</a:t>
            </a:r>
            <a:r>
              <a:rPr sz="2800" spc="-50" dirty="0">
                <a:solidFill>
                  <a:srgbClr val="2B2C2D"/>
                </a:solidFill>
                <a:latin typeface="Arial MT"/>
                <a:cs typeface="Arial MT"/>
              </a:rPr>
              <a:t> </a:t>
            </a:r>
            <a:r>
              <a:rPr sz="2800" dirty="0">
                <a:solidFill>
                  <a:srgbClr val="2B2C2D"/>
                </a:solidFill>
                <a:latin typeface="Arial MT"/>
                <a:cs typeface="Arial MT"/>
              </a:rPr>
              <a:t>action</a:t>
            </a:r>
            <a:r>
              <a:rPr sz="2800" spc="-40" dirty="0">
                <a:solidFill>
                  <a:srgbClr val="2B2C2D"/>
                </a:solidFill>
                <a:latin typeface="Arial MT"/>
                <a:cs typeface="Arial MT"/>
              </a:rPr>
              <a:t> </a:t>
            </a:r>
            <a:r>
              <a:rPr sz="2800" dirty="0">
                <a:solidFill>
                  <a:srgbClr val="2B2C2D"/>
                </a:solidFill>
                <a:latin typeface="Arial MT"/>
                <a:cs typeface="Arial MT"/>
              </a:rPr>
              <a:t>by</a:t>
            </a:r>
            <a:r>
              <a:rPr sz="2800" spc="-50" dirty="0">
                <a:solidFill>
                  <a:srgbClr val="2B2C2D"/>
                </a:solidFill>
                <a:latin typeface="Arial MT"/>
                <a:cs typeface="Arial MT"/>
              </a:rPr>
              <a:t> </a:t>
            </a:r>
            <a:r>
              <a:rPr sz="2800" dirty="0">
                <a:solidFill>
                  <a:srgbClr val="2B2C2D"/>
                </a:solidFill>
                <a:latin typeface="Arial MT"/>
                <a:cs typeface="Arial MT"/>
              </a:rPr>
              <a:t>the</a:t>
            </a:r>
            <a:r>
              <a:rPr sz="2800" spc="-40" dirty="0">
                <a:solidFill>
                  <a:srgbClr val="2B2C2D"/>
                </a:solidFill>
                <a:latin typeface="Arial MT"/>
                <a:cs typeface="Arial MT"/>
              </a:rPr>
              <a:t> </a:t>
            </a:r>
            <a:r>
              <a:rPr sz="2800" spc="-10" dirty="0">
                <a:solidFill>
                  <a:srgbClr val="2B2C2D"/>
                </a:solidFill>
                <a:latin typeface="Arial MT"/>
                <a:cs typeface="Arial MT"/>
              </a:rPr>
              <a:t>parties.</a:t>
            </a:r>
            <a:endParaRPr sz="2800">
              <a:latin typeface="Arial MT"/>
              <a:cs typeface="Arial MT"/>
            </a:endParaRPr>
          </a:p>
          <a:p>
            <a:pPr marL="469265" marR="1080770" indent="-457200">
              <a:lnSpc>
                <a:spcPct val="100000"/>
              </a:lnSpc>
              <a:spcBef>
                <a:spcPts val="1200"/>
              </a:spcBef>
              <a:buClr>
                <a:srgbClr val="6D2C91"/>
              </a:buClr>
              <a:buFont typeface="Wingdings"/>
              <a:buChar char=""/>
              <a:tabLst>
                <a:tab pos="469265" algn="l"/>
              </a:tabLst>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form</a:t>
            </a:r>
            <a:r>
              <a:rPr sz="2800" spc="-45" dirty="0">
                <a:solidFill>
                  <a:srgbClr val="2B2C2D"/>
                </a:solidFill>
                <a:latin typeface="Arial MT"/>
                <a:cs typeface="Arial MT"/>
              </a:rPr>
              <a:t> </a:t>
            </a:r>
            <a:r>
              <a:rPr sz="2800" dirty="0">
                <a:solidFill>
                  <a:srgbClr val="2B2C2D"/>
                </a:solidFill>
                <a:latin typeface="Arial MT"/>
                <a:cs typeface="Arial MT"/>
              </a:rPr>
              <a:t>of</a:t>
            </a:r>
            <a:r>
              <a:rPr sz="2800" spc="-40" dirty="0">
                <a:solidFill>
                  <a:srgbClr val="2B2C2D"/>
                </a:solidFill>
                <a:latin typeface="Arial MT"/>
                <a:cs typeface="Arial MT"/>
              </a:rPr>
              <a:t> </a:t>
            </a:r>
            <a:r>
              <a:rPr sz="2800" b="1" dirty="0">
                <a:solidFill>
                  <a:srgbClr val="2B2C2D"/>
                </a:solidFill>
                <a:latin typeface="Arial"/>
                <a:cs typeface="Arial"/>
              </a:rPr>
              <a:t>robotics</a:t>
            </a:r>
            <a:r>
              <a:rPr sz="2800" b="1" spc="-25" dirty="0">
                <a:solidFill>
                  <a:srgbClr val="2B2C2D"/>
                </a:solidFill>
                <a:latin typeface="Arial"/>
                <a:cs typeface="Arial"/>
              </a:rPr>
              <a:t> </a:t>
            </a:r>
            <a:r>
              <a:rPr sz="2800" b="1" dirty="0">
                <a:solidFill>
                  <a:srgbClr val="2B2C2D"/>
                </a:solidFill>
                <a:latin typeface="Arial"/>
                <a:cs typeface="Arial"/>
              </a:rPr>
              <a:t>for</a:t>
            </a:r>
            <a:r>
              <a:rPr sz="2800" b="1" spc="-40" dirty="0">
                <a:solidFill>
                  <a:srgbClr val="2B2C2D"/>
                </a:solidFill>
                <a:latin typeface="Arial"/>
                <a:cs typeface="Arial"/>
              </a:rPr>
              <a:t> </a:t>
            </a:r>
            <a:r>
              <a:rPr sz="2800" b="1" spc="-10" dirty="0">
                <a:solidFill>
                  <a:srgbClr val="2B2C2D"/>
                </a:solidFill>
                <a:latin typeface="Arial"/>
                <a:cs typeface="Arial"/>
              </a:rPr>
              <a:t>commercial contracts.</a:t>
            </a:r>
            <a:endParaRPr sz="28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Smart</a:t>
            </a:r>
            <a:r>
              <a:rPr spc="-90" dirty="0"/>
              <a:t> </a:t>
            </a:r>
            <a:r>
              <a:rPr dirty="0"/>
              <a:t>Contract</a:t>
            </a:r>
            <a:r>
              <a:rPr spc="-65" dirty="0"/>
              <a:t> </a:t>
            </a:r>
            <a:r>
              <a:rPr spc="-10" dirty="0"/>
              <a:t>Examples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45</a:t>
            </a:fld>
            <a:endParaRPr spc="-25" dirty="0"/>
          </a:p>
        </p:txBody>
      </p:sp>
      <p:sp>
        <p:nvSpPr>
          <p:cNvPr id="3" name="object 3"/>
          <p:cNvSpPr txBox="1"/>
          <p:nvPr/>
        </p:nvSpPr>
        <p:spPr>
          <a:xfrm>
            <a:off x="816355" y="1214119"/>
            <a:ext cx="7078345" cy="3992245"/>
          </a:xfrm>
          <a:prstGeom prst="rect">
            <a:avLst/>
          </a:prstGeom>
        </p:spPr>
        <p:txBody>
          <a:bodyPr vert="horz" wrap="square" lIns="0" tIns="12065" rIns="0" bIns="0" rtlCol="0">
            <a:spAutoFit/>
          </a:bodyPr>
          <a:lstStyle/>
          <a:p>
            <a:pPr marL="469900" marR="506095" indent="-457200">
              <a:lnSpc>
                <a:spcPct val="100000"/>
              </a:lnSpc>
              <a:spcBef>
                <a:spcPts val="95"/>
              </a:spcBef>
              <a:buClr>
                <a:srgbClr val="6D2C91"/>
              </a:buClr>
              <a:buFont typeface="Wingdings"/>
              <a:buChar char=""/>
              <a:tabLst>
                <a:tab pos="469900" algn="l"/>
              </a:tabLst>
            </a:pPr>
            <a:r>
              <a:rPr sz="2800" b="1" dirty="0">
                <a:solidFill>
                  <a:srgbClr val="2B2C2D"/>
                </a:solidFill>
                <a:latin typeface="Arial"/>
                <a:cs typeface="Arial"/>
              </a:rPr>
              <a:t>Smart</a:t>
            </a:r>
            <a:r>
              <a:rPr sz="2800" b="1" spc="-45" dirty="0">
                <a:solidFill>
                  <a:srgbClr val="2B2C2D"/>
                </a:solidFill>
                <a:latin typeface="Arial"/>
                <a:cs typeface="Arial"/>
              </a:rPr>
              <a:t> </a:t>
            </a:r>
            <a:r>
              <a:rPr sz="2800" b="1" dirty="0">
                <a:solidFill>
                  <a:srgbClr val="2B2C2D"/>
                </a:solidFill>
                <a:latin typeface="Arial"/>
                <a:cs typeface="Arial"/>
              </a:rPr>
              <a:t>contracts</a:t>
            </a:r>
            <a:r>
              <a:rPr sz="2800" b="1" spc="-20" dirty="0">
                <a:solidFill>
                  <a:srgbClr val="2B2C2D"/>
                </a:solidFill>
                <a:latin typeface="Arial"/>
                <a:cs typeface="Arial"/>
              </a:rPr>
              <a:t> </a:t>
            </a:r>
            <a:r>
              <a:rPr sz="2800" dirty="0">
                <a:solidFill>
                  <a:srgbClr val="2B2C2D"/>
                </a:solidFill>
                <a:latin typeface="Arial MT"/>
                <a:cs typeface="Arial MT"/>
              </a:rPr>
              <a:t>do</a:t>
            </a:r>
            <a:r>
              <a:rPr sz="2800" spc="-50" dirty="0">
                <a:solidFill>
                  <a:srgbClr val="2B2C2D"/>
                </a:solidFill>
                <a:latin typeface="Arial MT"/>
                <a:cs typeface="Arial MT"/>
              </a:rPr>
              <a:t> </a:t>
            </a:r>
            <a:r>
              <a:rPr sz="2800" dirty="0">
                <a:solidFill>
                  <a:srgbClr val="2B2C2D"/>
                </a:solidFill>
                <a:latin typeface="Arial MT"/>
                <a:cs typeface="Arial MT"/>
              </a:rPr>
              <a:t>not</a:t>
            </a:r>
            <a:r>
              <a:rPr sz="2800" spc="-60" dirty="0">
                <a:solidFill>
                  <a:srgbClr val="2B2C2D"/>
                </a:solidFill>
                <a:latin typeface="Arial MT"/>
                <a:cs typeface="Arial MT"/>
              </a:rPr>
              <a:t> </a:t>
            </a:r>
            <a:r>
              <a:rPr sz="2800" dirty="0">
                <a:solidFill>
                  <a:srgbClr val="2B2C2D"/>
                </a:solidFill>
                <a:latin typeface="Arial MT"/>
                <a:cs typeface="Arial MT"/>
              </a:rPr>
              <a:t>have</a:t>
            </a:r>
            <a:r>
              <a:rPr sz="2800" spc="-50" dirty="0">
                <a:solidFill>
                  <a:srgbClr val="2B2C2D"/>
                </a:solidFill>
                <a:latin typeface="Arial MT"/>
                <a:cs typeface="Arial MT"/>
              </a:rPr>
              <a:t> </a:t>
            </a:r>
            <a:r>
              <a:rPr sz="2800" dirty="0">
                <a:solidFill>
                  <a:srgbClr val="2B2C2D"/>
                </a:solidFill>
                <a:latin typeface="Arial MT"/>
                <a:cs typeface="Arial MT"/>
              </a:rPr>
              <a:t>to</a:t>
            </a:r>
            <a:r>
              <a:rPr sz="2800" spc="-45" dirty="0">
                <a:solidFill>
                  <a:srgbClr val="2B2C2D"/>
                </a:solidFill>
                <a:latin typeface="Arial MT"/>
                <a:cs typeface="Arial MT"/>
              </a:rPr>
              <a:t> </a:t>
            </a:r>
            <a:r>
              <a:rPr sz="2800" spc="-25" dirty="0">
                <a:solidFill>
                  <a:srgbClr val="2B2C2D"/>
                </a:solidFill>
                <a:latin typeface="Arial MT"/>
                <a:cs typeface="Arial MT"/>
              </a:rPr>
              <a:t>be </a:t>
            </a:r>
            <a:r>
              <a:rPr sz="2800" dirty="0">
                <a:solidFill>
                  <a:srgbClr val="2B2C2D"/>
                </a:solidFill>
                <a:latin typeface="Arial MT"/>
                <a:cs typeface="Arial MT"/>
              </a:rPr>
              <a:t>complex</a:t>
            </a:r>
            <a:r>
              <a:rPr sz="2800" spc="-50" dirty="0">
                <a:solidFill>
                  <a:srgbClr val="2B2C2D"/>
                </a:solidFill>
                <a:latin typeface="Arial MT"/>
                <a:cs typeface="Arial MT"/>
              </a:rPr>
              <a:t> </a:t>
            </a:r>
            <a:r>
              <a:rPr sz="2800" dirty="0">
                <a:solidFill>
                  <a:srgbClr val="2B2C2D"/>
                </a:solidFill>
                <a:latin typeface="Arial MT"/>
                <a:cs typeface="Arial MT"/>
              </a:rPr>
              <a:t>and</a:t>
            </a:r>
            <a:r>
              <a:rPr sz="2800" spc="-35" dirty="0">
                <a:solidFill>
                  <a:srgbClr val="2B2C2D"/>
                </a:solidFill>
                <a:latin typeface="Arial MT"/>
                <a:cs typeface="Arial MT"/>
              </a:rPr>
              <a:t> </a:t>
            </a:r>
            <a:r>
              <a:rPr sz="2800" dirty="0">
                <a:solidFill>
                  <a:srgbClr val="2B2C2D"/>
                </a:solidFill>
                <a:latin typeface="Arial MT"/>
                <a:cs typeface="Arial MT"/>
              </a:rPr>
              <a:t>can</a:t>
            </a:r>
            <a:r>
              <a:rPr sz="2800" spc="-55" dirty="0">
                <a:solidFill>
                  <a:srgbClr val="2B2C2D"/>
                </a:solidFill>
                <a:latin typeface="Arial MT"/>
                <a:cs typeface="Arial MT"/>
              </a:rPr>
              <a:t> </a:t>
            </a:r>
            <a:r>
              <a:rPr sz="2800" dirty="0">
                <a:solidFill>
                  <a:srgbClr val="2B2C2D"/>
                </a:solidFill>
                <a:latin typeface="Arial MT"/>
                <a:cs typeface="Arial MT"/>
              </a:rPr>
              <a:t>be</a:t>
            </a:r>
            <a:r>
              <a:rPr sz="2800" spc="-50" dirty="0">
                <a:solidFill>
                  <a:srgbClr val="2B2C2D"/>
                </a:solidFill>
                <a:latin typeface="Arial MT"/>
                <a:cs typeface="Arial MT"/>
              </a:rPr>
              <a:t> </a:t>
            </a:r>
            <a:r>
              <a:rPr sz="2800" dirty="0">
                <a:solidFill>
                  <a:srgbClr val="2B2C2D"/>
                </a:solidFill>
                <a:latin typeface="Arial MT"/>
                <a:cs typeface="Arial MT"/>
              </a:rPr>
              <a:t>used</a:t>
            </a:r>
            <a:r>
              <a:rPr sz="2800" spc="-45" dirty="0">
                <a:solidFill>
                  <a:srgbClr val="2B2C2D"/>
                </a:solidFill>
                <a:latin typeface="Arial MT"/>
                <a:cs typeface="Arial MT"/>
              </a:rPr>
              <a:t> </a:t>
            </a:r>
            <a:r>
              <a:rPr sz="2800" dirty="0">
                <a:solidFill>
                  <a:srgbClr val="2B2C2D"/>
                </a:solidFill>
                <a:latin typeface="Arial MT"/>
                <a:cs typeface="Arial MT"/>
              </a:rPr>
              <a:t>to</a:t>
            </a:r>
            <a:r>
              <a:rPr sz="2800" spc="-45" dirty="0">
                <a:solidFill>
                  <a:srgbClr val="2B2C2D"/>
                </a:solidFill>
                <a:latin typeface="Arial MT"/>
                <a:cs typeface="Arial MT"/>
              </a:rPr>
              <a:t> </a:t>
            </a:r>
            <a:r>
              <a:rPr sz="2800" dirty="0">
                <a:solidFill>
                  <a:srgbClr val="2B2C2D"/>
                </a:solidFill>
                <a:latin typeface="Arial MT"/>
                <a:cs typeface="Arial MT"/>
              </a:rPr>
              <a:t>perform</a:t>
            </a:r>
            <a:r>
              <a:rPr sz="2800" spc="-55" dirty="0">
                <a:solidFill>
                  <a:srgbClr val="2B2C2D"/>
                </a:solidFill>
                <a:latin typeface="Arial MT"/>
                <a:cs typeface="Arial MT"/>
              </a:rPr>
              <a:t> </a:t>
            </a:r>
            <a:r>
              <a:rPr sz="2800" spc="-50" dirty="0">
                <a:solidFill>
                  <a:srgbClr val="2B2C2D"/>
                </a:solidFill>
                <a:latin typeface="Arial MT"/>
                <a:cs typeface="Arial MT"/>
              </a:rPr>
              <a:t>a </a:t>
            </a:r>
            <a:r>
              <a:rPr sz="2800" dirty="0">
                <a:solidFill>
                  <a:srgbClr val="2B2C2D"/>
                </a:solidFill>
                <a:latin typeface="Arial MT"/>
                <a:cs typeface="Arial MT"/>
              </a:rPr>
              <a:t>few</a:t>
            </a:r>
            <a:r>
              <a:rPr sz="2800" spc="-80" dirty="0">
                <a:solidFill>
                  <a:srgbClr val="2B2C2D"/>
                </a:solidFill>
                <a:latin typeface="Arial MT"/>
                <a:cs typeface="Arial MT"/>
              </a:rPr>
              <a:t> </a:t>
            </a:r>
            <a:r>
              <a:rPr sz="2800" b="1" dirty="0">
                <a:solidFill>
                  <a:srgbClr val="2B2C2D"/>
                </a:solidFill>
                <a:latin typeface="Arial"/>
                <a:cs typeface="Arial"/>
              </a:rPr>
              <a:t>simple</a:t>
            </a:r>
            <a:r>
              <a:rPr sz="2800" b="1" spc="-75" dirty="0">
                <a:solidFill>
                  <a:srgbClr val="2B2C2D"/>
                </a:solidFill>
                <a:latin typeface="Arial"/>
                <a:cs typeface="Arial"/>
              </a:rPr>
              <a:t> </a:t>
            </a:r>
            <a:r>
              <a:rPr sz="2800" b="1" dirty="0">
                <a:solidFill>
                  <a:srgbClr val="2B2C2D"/>
                </a:solidFill>
                <a:latin typeface="Arial"/>
                <a:cs typeface="Arial"/>
              </a:rPr>
              <a:t>functions</a:t>
            </a:r>
            <a:r>
              <a:rPr sz="2800" b="1" spc="-40" dirty="0">
                <a:solidFill>
                  <a:srgbClr val="2B2C2D"/>
                </a:solidFill>
                <a:latin typeface="Arial"/>
                <a:cs typeface="Arial"/>
              </a:rPr>
              <a:t> </a:t>
            </a:r>
            <a:r>
              <a:rPr sz="2800" dirty="0">
                <a:solidFill>
                  <a:srgbClr val="2B2C2D"/>
                </a:solidFill>
                <a:latin typeface="Arial MT"/>
                <a:cs typeface="Arial MT"/>
              </a:rPr>
              <a:t>repetitively</a:t>
            </a:r>
            <a:r>
              <a:rPr sz="2800" spc="-80" dirty="0">
                <a:solidFill>
                  <a:srgbClr val="2B2C2D"/>
                </a:solidFill>
                <a:latin typeface="Arial MT"/>
                <a:cs typeface="Arial MT"/>
              </a:rPr>
              <a:t> </a:t>
            </a:r>
            <a:r>
              <a:rPr sz="2800" dirty="0">
                <a:solidFill>
                  <a:srgbClr val="2B2C2D"/>
                </a:solidFill>
                <a:latin typeface="Arial MT"/>
                <a:cs typeface="Arial MT"/>
              </a:rPr>
              <a:t>for</a:t>
            </a:r>
            <a:r>
              <a:rPr sz="2800" spc="-70" dirty="0">
                <a:solidFill>
                  <a:srgbClr val="2B2C2D"/>
                </a:solidFill>
                <a:latin typeface="Arial MT"/>
                <a:cs typeface="Arial MT"/>
              </a:rPr>
              <a:t> </a:t>
            </a:r>
            <a:r>
              <a:rPr sz="2800" spc="-50" dirty="0">
                <a:solidFill>
                  <a:srgbClr val="2B2C2D"/>
                </a:solidFill>
                <a:latin typeface="Arial MT"/>
                <a:cs typeface="Arial MT"/>
              </a:rPr>
              <a:t>a </a:t>
            </a:r>
            <a:r>
              <a:rPr sz="2800" dirty="0">
                <a:solidFill>
                  <a:srgbClr val="2B2C2D"/>
                </a:solidFill>
                <a:latin typeface="Arial MT"/>
                <a:cs typeface="Arial MT"/>
              </a:rPr>
              <a:t>large</a:t>
            </a:r>
            <a:r>
              <a:rPr sz="2800" spc="-60" dirty="0">
                <a:solidFill>
                  <a:srgbClr val="2B2C2D"/>
                </a:solidFill>
                <a:latin typeface="Arial MT"/>
                <a:cs typeface="Arial MT"/>
              </a:rPr>
              <a:t> </a:t>
            </a:r>
            <a:r>
              <a:rPr sz="2800" dirty="0">
                <a:solidFill>
                  <a:srgbClr val="2B2C2D"/>
                </a:solidFill>
                <a:latin typeface="Arial MT"/>
                <a:cs typeface="Arial MT"/>
              </a:rPr>
              <a:t>group</a:t>
            </a:r>
            <a:r>
              <a:rPr sz="2800" spc="-50" dirty="0">
                <a:solidFill>
                  <a:srgbClr val="2B2C2D"/>
                </a:solidFill>
                <a:latin typeface="Arial MT"/>
                <a:cs typeface="Arial MT"/>
              </a:rPr>
              <a:t> </a:t>
            </a:r>
            <a:r>
              <a:rPr sz="2800" dirty="0">
                <a:solidFill>
                  <a:srgbClr val="2B2C2D"/>
                </a:solidFill>
                <a:latin typeface="Arial MT"/>
                <a:cs typeface="Arial MT"/>
              </a:rPr>
              <a:t>of</a:t>
            </a:r>
            <a:r>
              <a:rPr sz="2800" spc="-75" dirty="0">
                <a:solidFill>
                  <a:srgbClr val="2B2C2D"/>
                </a:solidFill>
                <a:latin typeface="Arial MT"/>
                <a:cs typeface="Arial MT"/>
              </a:rPr>
              <a:t> </a:t>
            </a:r>
            <a:r>
              <a:rPr sz="2800" dirty="0">
                <a:solidFill>
                  <a:srgbClr val="2B2C2D"/>
                </a:solidFill>
                <a:latin typeface="Arial MT"/>
                <a:cs typeface="Arial MT"/>
              </a:rPr>
              <a:t>transactions</a:t>
            </a:r>
            <a:r>
              <a:rPr sz="2800" spc="-70" dirty="0">
                <a:solidFill>
                  <a:srgbClr val="2B2C2D"/>
                </a:solidFill>
                <a:latin typeface="Arial MT"/>
                <a:cs typeface="Arial MT"/>
              </a:rPr>
              <a:t> </a:t>
            </a:r>
            <a:r>
              <a:rPr sz="2800" spc="-25" dirty="0">
                <a:solidFill>
                  <a:srgbClr val="2B2C2D"/>
                </a:solidFill>
                <a:latin typeface="Arial MT"/>
                <a:cs typeface="Arial MT"/>
              </a:rPr>
              <a:t>or </a:t>
            </a:r>
            <a:r>
              <a:rPr sz="2800" spc="-10" dirty="0">
                <a:solidFill>
                  <a:srgbClr val="2B2C2D"/>
                </a:solidFill>
                <a:latin typeface="Arial MT"/>
                <a:cs typeface="Arial MT"/>
              </a:rPr>
              <a:t>agreements.</a:t>
            </a:r>
            <a:endParaRPr sz="2800">
              <a:latin typeface="Arial MT"/>
              <a:cs typeface="Arial MT"/>
            </a:endParaRPr>
          </a:p>
          <a:p>
            <a:pPr marL="469900" marR="5080" indent="-457200">
              <a:lnSpc>
                <a:spcPct val="100000"/>
              </a:lnSpc>
              <a:spcBef>
                <a:spcPts val="994"/>
              </a:spcBef>
              <a:buClr>
                <a:srgbClr val="6D2C91"/>
              </a:buClr>
              <a:buFont typeface="Wingdings"/>
              <a:buChar char=""/>
              <a:tabLst>
                <a:tab pos="469900" algn="l"/>
              </a:tabLst>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key</a:t>
            </a:r>
            <a:r>
              <a:rPr sz="2800" spc="-55" dirty="0">
                <a:solidFill>
                  <a:srgbClr val="2B2C2D"/>
                </a:solidFill>
                <a:latin typeface="Arial MT"/>
                <a:cs typeface="Arial MT"/>
              </a:rPr>
              <a:t> </a:t>
            </a:r>
            <a:r>
              <a:rPr sz="2800" dirty="0">
                <a:solidFill>
                  <a:srgbClr val="2B2C2D"/>
                </a:solidFill>
                <a:latin typeface="Arial MT"/>
                <a:cs typeface="Arial MT"/>
              </a:rPr>
              <a:t>to</a:t>
            </a:r>
            <a:r>
              <a:rPr sz="2800" spc="-55" dirty="0">
                <a:solidFill>
                  <a:srgbClr val="2B2C2D"/>
                </a:solidFill>
                <a:latin typeface="Arial MT"/>
                <a:cs typeface="Arial MT"/>
              </a:rPr>
              <a:t> </a:t>
            </a:r>
            <a:r>
              <a:rPr sz="2800" b="1" dirty="0">
                <a:solidFill>
                  <a:srgbClr val="2B2C2D"/>
                </a:solidFill>
                <a:latin typeface="Arial"/>
                <a:cs typeface="Arial"/>
              </a:rPr>
              <a:t>smart</a:t>
            </a:r>
            <a:r>
              <a:rPr sz="2800" b="1" spc="-45" dirty="0">
                <a:solidFill>
                  <a:srgbClr val="2B2C2D"/>
                </a:solidFill>
                <a:latin typeface="Arial"/>
                <a:cs typeface="Arial"/>
              </a:rPr>
              <a:t> </a:t>
            </a:r>
            <a:r>
              <a:rPr sz="2800" dirty="0">
                <a:solidFill>
                  <a:srgbClr val="2B2C2D"/>
                </a:solidFill>
                <a:latin typeface="Arial MT"/>
                <a:cs typeface="Arial MT"/>
              </a:rPr>
              <a:t>contracts</a:t>
            </a:r>
            <a:r>
              <a:rPr sz="2800" spc="-60" dirty="0">
                <a:solidFill>
                  <a:srgbClr val="2B2C2D"/>
                </a:solidFill>
                <a:latin typeface="Arial MT"/>
                <a:cs typeface="Arial MT"/>
              </a:rPr>
              <a:t> </a:t>
            </a:r>
            <a:r>
              <a:rPr sz="2800" dirty="0">
                <a:solidFill>
                  <a:srgbClr val="2B2C2D"/>
                </a:solidFill>
                <a:latin typeface="Arial MT"/>
                <a:cs typeface="Arial MT"/>
              </a:rPr>
              <a:t>is</a:t>
            </a:r>
            <a:r>
              <a:rPr sz="2800" spc="-55" dirty="0">
                <a:solidFill>
                  <a:srgbClr val="2B2C2D"/>
                </a:solidFill>
                <a:latin typeface="Arial MT"/>
                <a:cs typeface="Arial MT"/>
              </a:rPr>
              <a:t> </a:t>
            </a:r>
            <a:r>
              <a:rPr sz="2800" dirty="0">
                <a:solidFill>
                  <a:srgbClr val="2B2C2D"/>
                </a:solidFill>
                <a:latin typeface="Arial MT"/>
                <a:cs typeface="Arial MT"/>
              </a:rPr>
              <a:t>their</a:t>
            </a:r>
            <a:r>
              <a:rPr sz="2800" spc="-50" dirty="0">
                <a:solidFill>
                  <a:srgbClr val="2B2C2D"/>
                </a:solidFill>
                <a:latin typeface="Arial MT"/>
                <a:cs typeface="Arial MT"/>
              </a:rPr>
              <a:t> </a:t>
            </a:r>
            <a:r>
              <a:rPr sz="2800" spc="-10" dirty="0">
                <a:solidFill>
                  <a:srgbClr val="2B2C2D"/>
                </a:solidFill>
                <a:latin typeface="Arial MT"/>
                <a:cs typeface="Arial MT"/>
              </a:rPr>
              <a:t>ability </a:t>
            </a:r>
            <a:r>
              <a:rPr sz="2800" dirty="0">
                <a:solidFill>
                  <a:srgbClr val="2B2C2D"/>
                </a:solidFill>
                <a:latin typeface="Arial MT"/>
                <a:cs typeface="Arial MT"/>
              </a:rPr>
              <a:t>to</a:t>
            </a:r>
            <a:r>
              <a:rPr sz="2800" spc="-65" dirty="0">
                <a:solidFill>
                  <a:srgbClr val="2B2C2D"/>
                </a:solidFill>
                <a:latin typeface="Arial MT"/>
                <a:cs typeface="Arial MT"/>
              </a:rPr>
              <a:t> </a:t>
            </a:r>
            <a:r>
              <a:rPr sz="2800" dirty="0">
                <a:solidFill>
                  <a:srgbClr val="2B2C2D"/>
                </a:solidFill>
                <a:latin typeface="Arial MT"/>
                <a:cs typeface="Arial MT"/>
              </a:rPr>
              <a:t>obtain</a:t>
            </a:r>
            <a:r>
              <a:rPr sz="2800" spc="-55" dirty="0">
                <a:solidFill>
                  <a:srgbClr val="2B2C2D"/>
                </a:solidFill>
                <a:latin typeface="Arial MT"/>
                <a:cs typeface="Arial MT"/>
              </a:rPr>
              <a:t> </a:t>
            </a:r>
            <a:r>
              <a:rPr sz="2800" dirty="0">
                <a:solidFill>
                  <a:srgbClr val="2B2C2D"/>
                </a:solidFill>
                <a:latin typeface="Arial MT"/>
                <a:cs typeface="Arial MT"/>
              </a:rPr>
              <a:t>and</a:t>
            </a:r>
            <a:r>
              <a:rPr sz="2800" spc="-50" dirty="0">
                <a:solidFill>
                  <a:srgbClr val="2B2C2D"/>
                </a:solidFill>
                <a:latin typeface="Arial MT"/>
                <a:cs typeface="Arial MT"/>
              </a:rPr>
              <a:t> </a:t>
            </a:r>
            <a:r>
              <a:rPr sz="2800" dirty="0">
                <a:solidFill>
                  <a:srgbClr val="2B2C2D"/>
                </a:solidFill>
                <a:latin typeface="Arial MT"/>
                <a:cs typeface="Arial MT"/>
              </a:rPr>
              <a:t>handle</a:t>
            </a:r>
            <a:r>
              <a:rPr sz="2800" spc="-60" dirty="0">
                <a:solidFill>
                  <a:srgbClr val="2B2C2D"/>
                </a:solidFill>
                <a:latin typeface="Arial MT"/>
                <a:cs typeface="Arial MT"/>
              </a:rPr>
              <a:t> </a:t>
            </a:r>
            <a:r>
              <a:rPr sz="2800" b="1" dirty="0">
                <a:solidFill>
                  <a:srgbClr val="2B2C2D"/>
                </a:solidFill>
                <a:latin typeface="Arial"/>
                <a:cs typeface="Arial"/>
              </a:rPr>
              <a:t>variable</a:t>
            </a:r>
            <a:r>
              <a:rPr sz="2800" b="1" spc="-55" dirty="0">
                <a:solidFill>
                  <a:srgbClr val="2B2C2D"/>
                </a:solidFill>
                <a:latin typeface="Arial"/>
                <a:cs typeface="Arial"/>
              </a:rPr>
              <a:t> </a:t>
            </a:r>
            <a:r>
              <a:rPr sz="2800" b="1" dirty="0">
                <a:solidFill>
                  <a:srgbClr val="2B2C2D"/>
                </a:solidFill>
                <a:latin typeface="Arial"/>
                <a:cs typeface="Arial"/>
              </a:rPr>
              <a:t>data</a:t>
            </a:r>
            <a:r>
              <a:rPr sz="2800" b="1" spc="-50" dirty="0">
                <a:solidFill>
                  <a:srgbClr val="2B2C2D"/>
                </a:solidFill>
                <a:latin typeface="Arial"/>
                <a:cs typeface="Arial"/>
              </a:rPr>
              <a:t> </a:t>
            </a:r>
            <a:r>
              <a:rPr sz="2800" dirty="0">
                <a:solidFill>
                  <a:srgbClr val="2B2C2D"/>
                </a:solidFill>
                <a:latin typeface="Arial MT"/>
                <a:cs typeface="Arial MT"/>
              </a:rPr>
              <a:t>and</a:t>
            </a:r>
            <a:r>
              <a:rPr sz="2800" spc="-55" dirty="0">
                <a:solidFill>
                  <a:srgbClr val="2B2C2D"/>
                </a:solidFill>
                <a:latin typeface="Arial MT"/>
                <a:cs typeface="Arial MT"/>
              </a:rPr>
              <a:t> </a:t>
            </a:r>
            <a:r>
              <a:rPr sz="2800" spc="-25" dirty="0">
                <a:solidFill>
                  <a:srgbClr val="2B2C2D"/>
                </a:solidFill>
                <a:latin typeface="Arial MT"/>
                <a:cs typeface="Arial MT"/>
              </a:rPr>
              <a:t>to </a:t>
            </a:r>
            <a:r>
              <a:rPr sz="2800" dirty="0">
                <a:solidFill>
                  <a:srgbClr val="2B2C2D"/>
                </a:solidFill>
                <a:latin typeface="Arial MT"/>
                <a:cs typeface="Arial MT"/>
              </a:rPr>
              <a:t>automatically</a:t>
            </a:r>
            <a:r>
              <a:rPr sz="2800" spc="-65" dirty="0">
                <a:solidFill>
                  <a:srgbClr val="2B2C2D"/>
                </a:solidFill>
                <a:latin typeface="Arial MT"/>
                <a:cs typeface="Arial MT"/>
              </a:rPr>
              <a:t> </a:t>
            </a:r>
            <a:r>
              <a:rPr sz="2800" dirty="0">
                <a:solidFill>
                  <a:srgbClr val="2B2C2D"/>
                </a:solidFill>
                <a:latin typeface="Arial MT"/>
                <a:cs typeface="Arial MT"/>
              </a:rPr>
              <a:t>process</a:t>
            </a:r>
            <a:r>
              <a:rPr sz="2800" spc="-65" dirty="0">
                <a:solidFill>
                  <a:srgbClr val="2B2C2D"/>
                </a:solidFill>
                <a:latin typeface="Arial MT"/>
                <a:cs typeface="Arial MT"/>
              </a:rPr>
              <a:t> </a:t>
            </a:r>
            <a:r>
              <a:rPr sz="2800" dirty="0">
                <a:solidFill>
                  <a:srgbClr val="2B2C2D"/>
                </a:solidFill>
                <a:latin typeface="Arial MT"/>
                <a:cs typeface="Arial MT"/>
              </a:rPr>
              <a:t>and</a:t>
            </a:r>
            <a:r>
              <a:rPr sz="2800" spc="-70" dirty="0">
                <a:solidFill>
                  <a:srgbClr val="2B2C2D"/>
                </a:solidFill>
                <a:latin typeface="Arial MT"/>
                <a:cs typeface="Arial MT"/>
              </a:rPr>
              <a:t> </a:t>
            </a:r>
            <a:r>
              <a:rPr sz="2800" b="1" dirty="0">
                <a:solidFill>
                  <a:srgbClr val="2B2C2D"/>
                </a:solidFill>
                <a:latin typeface="Arial"/>
                <a:cs typeface="Arial"/>
              </a:rPr>
              <a:t>act</a:t>
            </a:r>
            <a:r>
              <a:rPr sz="2800" b="1" spc="-60" dirty="0">
                <a:solidFill>
                  <a:srgbClr val="2B2C2D"/>
                </a:solidFill>
                <a:latin typeface="Arial"/>
                <a:cs typeface="Arial"/>
              </a:rPr>
              <a:t> </a:t>
            </a:r>
            <a:r>
              <a:rPr sz="2800" dirty="0">
                <a:solidFill>
                  <a:srgbClr val="2B2C2D"/>
                </a:solidFill>
                <a:latin typeface="Arial MT"/>
                <a:cs typeface="Arial MT"/>
              </a:rPr>
              <a:t>on</a:t>
            </a:r>
            <a:r>
              <a:rPr sz="2800" spc="-65" dirty="0">
                <a:solidFill>
                  <a:srgbClr val="2B2C2D"/>
                </a:solidFill>
                <a:latin typeface="Arial MT"/>
                <a:cs typeface="Arial MT"/>
              </a:rPr>
              <a:t> </a:t>
            </a:r>
            <a:r>
              <a:rPr sz="2800" spc="-10" dirty="0">
                <a:solidFill>
                  <a:srgbClr val="2B2C2D"/>
                </a:solidFill>
                <a:latin typeface="Arial MT"/>
                <a:cs typeface="Arial MT"/>
              </a:rPr>
              <a:t>those variables.</a:t>
            </a:r>
            <a:endParaRPr sz="2800">
              <a:latin typeface="Arial MT"/>
              <a:cs typeface="Arial M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Smart</a:t>
            </a:r>
            <a:r>
              <a:rPr spc="-90" dirty="0"/>
              <a:t> </a:t>
            </a:r>
            <a:r>
              <a:rPr dirty="0"/>
              <a:t>Contract</a:t>
            </a:r>
            <a:r>
              <a:rPr spc="-65" dirty="0"/>
              <a:t> </a:t>
            </a:r>
            <a:r>
              <a:rPr spc="-10" dirty="0"/>
              <a:t>Examples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46</a:t>
            </a:fld>
            <a:endParaRPr spc="-25" dirty="0"/>
          </a:p>
        </p:txBody>
      </p:sp>
      <p:sp>
        <p:nvSpPr>
          <p:cNvPr id="3" name="object 3"/>
          <p:cNvSpPr txBox="1"/>
          <p:nvPr/>
        </p:nvSpPr>
        <p:spPr>
          <a:xfrm>
            <a:off x="816355" y="1214119"/>
            <a:ext cx="7137400" cy="4845685"/>
          </a:xfrm>
          <a:prstGeom prst="rect">
            <a:avLst/>
          </a:prstGeom>
        </p:spPr>
        <p:txBody>
          <a:bodyPr vert="horz" wrap="square" lIns="0" tIns="12065" rIns="0" bIns="0" rtlCol="0">
            <a:spAutoFit/>
          </a:bodyPr>
          <a:lstStyle/>
          <a:p>
            <a:pPr marL="469900" marR="5080" indent="-457200">
              <a:lnSpc>
                <a:spcPct val="100000"/>
              </a:lnSpc>
              <a:spcBef>
                <a:spcPts val="95"/>
              </a:spcBef>
              <a:buClr>
                <a:srgbClr val="6D2C91"/>
              </a:buClr>
              <a:buFont typeface="Wingdings"/>
              <a:buChar char=""/>
              <a:tabLst>
                <a:tab pos="469900" algn="l"/>
              </a:tabLst>
            </a:pPr>
            <a:r>
              <a:rPr sz="2800" b="1" dirty="0">
                <a:solidFill>
                  <a:srgbClr val="2B2C2D"/>
                </a:solidFill>
                <a:latin typeface="Arial"/>
                <a:cs typeface="Arial"/>
              </a:rPr>
              <a:t>Example</a:t>
            </a:r>
            <a:r>
              <a:rPr sz="2800" dirty="0">
                <a:solidFill>
                  <a:srgbClr val="2B2C2D"/>
                </a:solidFill>
                <a:latin typeface="Arial MT"/>
                <a:cs typeface="Arial MT"/>
              </a:rPr>
              <a:t>:</a:t>
            </a:r>
            <a:r>
              <a:rPr sz="2800" spc="-55" dirty="0">
                <a:solidFill>
                  <a:srgbClr val="2B2C2D"/>
                </a:solidFill>
                <a:latin typeface="Arial MT"/>
                <a:cs typeface="Arial MT"/>
              </a:rPr>
              <a:t> </a:t>
            </a:r>
            <a:r>
              <a:rPr sz="2800" dirty="0">
                <a:solidFill>
                  <a:srgbClr val="2B2C2D"/>
                </a:solidFill>
                <a:latin typeface="Arial MT"/>
                <a:cs typeface="Arial MT"/>
              </a:rPr>
              <a:t>(a)</a:t>
            </a:r>
            <a:r>
              <a:rPr sz="2800" spc="-70" dirty="0">
                <a:solidFill>
                  <a:srgbClr val="2B2C2D"/>
                </a:solidFill>
                <a:latin typeface="Arial MT"/>
                <a:cs typeface="Arial MT"/>
              </a:rPr>
              <a:t> </a:t>
            </a:r>
            <a:r>
              <a:rPr sz="2800" dirty="0">
                <a:solidFill>
                  <a:srgbClr val="2B2C2D"/>
                </a:solidFill>
                <a:latin typeface="Arial MT"/>
                <a:cs typeface="Arial MT"/>
              </a:rPr>
              <a:t>Green</a:t>
            </a:r>
            <a:r>
              <a:rPr sz="2800" spc="-65" dirty="0">
                <a:solidFill>
                  <a:srgbClr val="2B2C2D"/>
                </a:solidFill>
                <a:latin typeface="Arial MT"/>
                <a:cs typeface="Arial MT"/>
              </a:rPr>
              <a:t> </a:t>
            </a:r>
            <a:r>
              <a:rPr sz="2800" dirty="0">
                <a:solidFill>
                  <a:srgbClr val="2B2C2D"/>
                </a:solidFill>
                <a:latin typeface="Arial MT"/>
                <a:cs typeface="Arial MT"/>
              </a:rPr>
              <a:t>transfers</a:t>
            </a:r>
            <a:r>
              <a:rPr sz="2800" spc="-75" dirty="0">
                <a:solidFill>
                  <a:srgbClr val="2B2C2D"/>
                </a:solidFill>
                <a:latin typeface="Arial MT"/>
                <a:cs typeface="Arial MT"/>
              </a:rPr>
              <a:t> </a:t>
            </a:r>
            <a:r>
              <a:rPr sz="2800" b="1" spc="-10" dirty="0">
                <a:solidFill>
                  <a:srgbClr val="2B2C2D"/>
                </a:solidFill>
                <a:latin typeface="Arial"/>
                <a:cs typeface="Arial"/>
              </a:rPr>
              <a:t>ownership </a:t>
            </a:r>
            <a:r>
              <a:rPr sz="2800" dirty="0">
                <a:solidFill>
                  <a:srgbClr val="2B2C2D"/>
                </a:solidFill>
                <a:latin typeface="Arial MT"/>
                <a:cs typeface="Arial MT"/>
              </a:rPr>
              <a:t>of</a:t>
            </a:r>
            <a:r>
              <a:rPr sz="2800" spc="-60" dirty="0">
                <a:solidFill>
                  <a:srgbClr val="2B2C2D"/>
                </a:solidFill>
                <a:latin typeface="Arial MT"/>
                <a:cs typeface="Arial MT"/>
              </a:rPr>
              <a:t> </a:t>
            </a:r>
            <a:r>
              <a:rPr sz="2800" dirty="0">
                <a:solidFill>
                  <a:srgbClr val="2B2C2D"/>
                </a:solidFill>
                <a:latin typeface="Arial MT"/>
                <a:cs typeface="Arial MT"/>
              </a:rPr>
              <a:t>securities</a:t>
            </a:r>
            <a:r>
              <a:rPr sz="2800" spc="-55" dirty="0">
                <a:solidFill>
                  <a:srgbClr val="2B2C2D"/>
                </a:solidFill>
                <a:latin typeface="Arial MT"/>
                <a:cs typeface="Arial MT"/>
              </a:rPr>
              <a:t> </a:t>
            </a:r>
            <a:r>
              <a:rPr sz="2800" dirty="0">
                <a:solidFill>
                  <a:srgbClr val="2B2C2D"/>
                </a:solidFill>
                <a:latin typeface="Arial MT"/>
                <a:cs typeface="Arial MT"/>
              </a:rPr>
              <a:t>or</a:t>
            </a:r>
            <a:r>
              <a:rPr sz="2800" spc="-50" dirty="0">
                <a:solidFill>
                  <a:srgbClr val="2B2C2D"/>
                </a:solidFill>
                <a:latin typeface="Arial MT"/>
                <a:cs typeface="Arial MT"/>
              </a:rPr>
              <a:t> </a:t>
            </a:r>
            <a:r>
              <a:rPr sz="2800" dirty="0">
                <a:solidFill>
                  <a:srgbClr val="2B2C2D"/>
                </a:solidFill>
                <a:latin typeface="Arial MT"/>
                <a:cs typeface="Arial MT"/>
              </a:rPr>
              <a:t>other</a:t>
            </a:r>
            <a:r>
              <a:rPr sz="2800" spc="-50" dirty="0">
                <a:solidFill>
                  <a:srgbClr val="2B2C2D"/>
                </a:solidFill>
                <a:latin typeface="Arial MT"/>
                <a:cs typeface="Arial MT"/>
              </a:rPr>
              <a:t> </a:t>
            </a:r>
            <a:r>
              <a:rPr sz="2800" dirty="0">
                <a:solidFill>
                  <a:srgbClr val="2B2C2D"/>
                </a:solidFill>
                <a:latin typeface="Arial MT"/>
                <a:cs typeface="Arial MT"/>
              </a:rPr>
              <a:t>digital</a:t>
            </a:r>
            <a:r>
              <a:rPr sz="2800" spc="-50" dirty="0">
                <a:solidFill>
                  <a:srgbClr val="2B2C2D"/>
                </a:solidFill>
                <a:latin typeface="Arial MT"/>
                <a:cs typeface="Arial MT"/>
              </a:rPr>
              <a:t> </a:t>
            </a:r>
            <a:r>
              <a:rPr sz="2800" dirty="0">
                <a:solidFill>
                  <a:srgbClr val="2B2C2D"/>
                </a:solidFill>
                <a:latin typeface="Arial MT"/>
                <a:cs typeface="Arial MT"/>
              </a:rPr>
              <a:t>assets</a:t>
            </a:r>
            <a:r>
              <a:rPr sz="2800" spc="-55" dirty="0">
                <a:solidFill>
                  <a:srgbClr val="2B2C2D"/>
                </a:solidFill>
                <a:latin typeface="Arial MT"/>
                <a:cs typeface="Arial MT"/>
              </a:rPr>
              <a:t> </a:t>
            </a:r>
            <a:r>
              <a:rPr sz="2800" dirty="0">
                <a:solidFill>
                  <a:srgbClr val="2B2C2D"/>
                </a:solidFill>
                <a:latin typeface="Arial MT"/>
                <a:cs typeface="Arial MT"/>
              </a:rPr>
              <a:t>into</a:t>
            </a:r>
            <a:r>
              <a:rPr sz="2800" spc="-40" dirty="0">
                <a:solidFill>
                  <a:srgbClr val="2B2C2D"/>
                </a:solidFill>
                <a:latin typeface="Arial MT"/>
                <a:cs typeface="Arial MT"/>
              </a:rPr>
              <a:t> </a:t>
            </a:r>
            <a:r>
              <a:rPr sz="2800" spc="-25" dirty="0">
                <a:solidFill>
                  <a:srgbClr val="2B2C2D"/>
                </a:solidFill>
                <a:latin typeface="Arial MT"/>
                <a:cs typeface="Arial MT"/>
              </a:rPr>
              <a:t>the </a:t>
            </a:r>
            <a:r>
              <a:rPr sz="2800" b="1" dirty="0">
                <a:solidFill>
                  <a:srgbClr val="2B2C2D"/>
                </a:solidFill>
                <a:latin typeface="Arial"/>
                <a:cs typeface="Arial"/>
              </a:rPr>
              <a:t>blockchain</a:t>
            </a:r>
            <a:r>
              <a:rPr sz="2800" dirty="0">
                <a:solidFill>
                  <a:srgbClr val="2B2C2D"/>
                </a:solidFill>
                <a:latin typeface="Arial MT"/>
                <a:cs typeface="Arial MT"/>
              </a:rPr>
              <a:t>;</a:t>
            </a:r>
            <a:r>
              <a:rPr sz="2800" spc="-35" dirty="0">
                <a:solidFill>
                  <a:srgbClr val="2B2C2D"/>
                </a:solidFill>
                <a:latin typeface="Arial MT"/>
                <a:cs typeface="Arial MT"/>
              </a:rPr>
              <a:t> </a:t>
            </a:r>
            <a:r>
              <a:rPr sz="2800" dirty="0">
                <a:solidFill>
                  <a:srgbClr val="2B2C2D"/>
                </a:solidFill>
                <a:latin typeface="Arial MT"/>
                <a:cs typeface="Arial MT"/>
              </a:rPr>
              <a:t>(b)</a:t>
            </a:r>
            <a:r>
              <a:rPr sz="2800" spc="-60" dirty="0">
                <a:solidFill>
                  <a:srgbClr val="2B2C2D"/>
                </a:solidFill>
                <a:latin typeface="Arial MT"/>
                <a:cs typeface="Arial MT"/>
              </a:rPr>
              <a:t> </a:t>
            </a:r>
            <a:r>
              <a:rPr sz="2800" dirty="0">
                <a:solidFill>
                  <a:srgbClr val="2B2C2D"/>
                </a:solidFill>
                <a:latin typeface="Arial MT"/>
                <a:cs typeface="Arial MT"/>
              </a:rPr>
              <a:t>Blue</a:t>
            </a:r>
            <a:r>
              <a:rPr sz="2800" spc="-55" dirty="0">
                <a:solidFill>
                  <a:srgbClr val="2B2C2D"/>
                </a:solidFill>
                <a:latin typeface="Arial MT"/>
                <a:cs typeface="Arial MT"/>
              </a:rPr>
              <a:t> </a:t>
            </a:r>
            <a:r>
              <a:rPr sz="2800" dirty="0">
                <a:solidFill>
                  <a:srgbClr val="2B2C2D"/>
                </a:solidFill>
                <a:latin typeface="Arial MT"/>
                <a:cs typeface="Arial MT"/>
              </a:rPr>
              <a:t>is</a:t>
            </a:r>
            <a:r>
              <a:rPr sz="2800" spc="-60" dirty="0">
                <a:solidFill>
                  <a:srgbClr val="2B2C2D"/>
                </a:solidFill>
                <a:latin typeface="Arial MT"/>
                <a:cs typeface="Arial MT"/>
              </a:rPr>
              <a:t> </a:t>
            </a:r>
            <a:r>
              <a:rPr sz="2800" dirty="0">
                <a:solidFill>
                  <a:srgbClr val="2B2C2D"/>
                </a:solidFill>
                <a:latin typeface="Arial MT"/>
                <a:cs typeface="Arial MT"/>
              </a:rPr>
              <a:t>required</a:t>
            </a:r>
            <a:r>
              <a:rPr sz="2800" spc="-50" dirty="0">
                <a:solidFill>
                  <a:srgbClr val="2B2C2D"/>
                </a:solidFill>
                <a:latin typeface="Arial MT"/>
                <a:cs typeface="Arial MT"/>
              </a:rPr>
              <a:t> </a:t>
            </a:r>
            <a:r>
              <a:rPr sz="2800" dirty="0">
                <a:solidFill>
                  <a:srgbClr val="2B2C2D"/>
                </a:solidFill>
                <a:latin typeface="Arial MT"/>
                <a:cs typeface="Arial MT"/>
              </a:rPr>
              <a:t>to</a:t>
            </a:r>
            <a:r>
              <a:rPr sz="2800" spc="-75" dirty="0">
                <a:solidFill>
                  <a:srgbClr val="2B2C2D"/>
                </a:solidFill>
                <a:latin typeface="Arial MT"/>
                <a:cs typeface="Arial MT"/>
              </a:rPr>
              <a:t> </a:t>
            </a:r>
            <a:r>
              <a:rPr sz="2800" b="1" spc="-25" dirty="0">
                <a:solidFill>
                  <a:srgbClr val="2B2C2D"/>
                </a:solidFill>
                <a:latin typeface="Arial"/>
                <a:cs typeface="Arial"/>
              </a:rPr>
              <a:t>pay</a:t>
            </a:r>
            <a:endParaRPr sz="2800">
              <a:latin typeface="Arial"/>
              <a:cs typeface="Arial"/>
            </a:endParaRPr>
          </a:p>
          <a:p>
            <a:pPr marL="469900">
              <a:lnSpc>
                <a:spcPct val="100000"/>
              </a:lnSpc>
            </a:pPr>
            <a:r>
              <a:rPr sz="2800" dirty="0">
                <a:solidFill>
                  <a:srgbClr val="2B2C2D"/>
                </a:solidFill>
                <a:latin typeface="Arial MT"/>
                <a:cs typeface="Arial MT"/>
              </a:rPr>
              <a:t>$5X</a:t>
            </a:r>
            <a:r>
              <a:rPr sz="2800" spc="-50" dirty="0">
                <a:solidFill>
                  <a:srgbClr val="2B2C2D"/>
                </a:solidFill>
                <a:latin typeface="Arial MT"/>
                <a:cs typeface="Arial MT"/>
              </a:rPr>
              <a:t> </a:t>
            </a:r>
            <a:r>
              <a:rPr sz="2800" dirty="0">
                <a:solidFill>
                  <a:srgbClr val="2B2C2D"/>
                </a:solidFill>
                <a:latin typeface="Arial MT"/>
                <a:cs typeface="Arial MT"/>
              </a:rPr>
              <a:t>for</a:t>
            </a:r>
            <a:r>
              <a:rPr sz="2800" spc="-40" dirty="0">
                <a:solidFill>
                  <a:srgbClr val="2B2C2D"/>
                </a:solidFill>
                <a:latin typeface="Arial MT"/>
                <a:cs typeface="Arial MT"/>
              </a:rPr>
              <a:t> </a:t>
            </a: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assets</a:t>
            </a:r>
            <a:r>
              <a:rPr sz="2800" spc="-50" dirty="0">
                <a:solidFill>
                  <a:srgbClr val="2B2C2D"/>
                </a:solidFill>
                <a:latin typeface="Arial MT"/>
                <a:cs typeface="Arial MT"/>
              </a:rPr>
              <a:t> </a:t>
            </a:r>
            <a:r>
              <a:rPr sz="2800" dirty="0">
                <a:solidFill>
                  <a:srgbClr val="2B2C2D"/>
                </a:solidFill>
                <a:latin typeface="Arial MT"/>
                <a:cs typeface="Arial MT"/>
              </a:rPr>
              <a:t>on</a:t>
            </a:r>
            <a:r>
              <a:rPr sz="2800" spc="-30" dirty="0">
                <a:solidFill>
                  <a:srgbClr val="2B2C2D"/>
                </a:solidFill>
                <a:latin typeface="Arial MT"/>
                <a:cs typeface="Arial MT"/>
              </a:rPr>
              <a:t> </a:t>
            </a:r>
            <a:r>
              <a:rPr sz="2800" dirty="0">
                <a:solidFill>
                  <a:srgbClr val="2B2C2D"/>
                </a:solidFill>
                <a:latin typeface="Arial MT"/>
                <a:cs typeface="Arial MT"/>
              </a:rPr>
              <a:t>a</a:t>
            </a:r>
            <a:r>
              <a:rPr sz="2800" spc="-30" dirty="0">
                <a:solidFill>
                  <a:srgbClr val="2B2C2D"/>
                </a:solidFill>
                <a:latin typeface="Arial MT"/>
                <a:cs typeface="Arial MT"/>
              </a:rPr>
              <a:t> </a:t>
            </a:r>
            <a:r>
              <a:rPr sz="2800" dirty="0">
                <a:solidFill>
                  <a:srgbClr val="2B2C2D"/>
                </a:solidFill>
                <a:latin typeface="Arial MT"/>
                <a:cs typeface="Arial MT"/>
              </a:rPr>
              <a:t>certain</a:t>
            </a:r>
            <a:r>
              <a:rPr sz="2800" spc="-45" dirty="0">
                <a:solidFill>
                  <a:srgbClr val="2B2C2D"/>
                </a:solidFill>
                <a:latin typeface="Arial MT"/>
                <a:cs typeface="Arial MT"/>
              </a:rPr>
              <a:t> </a:t>
            </a:r>
            <a:r>
              <a:rPr sz="2800" dirty="0">
                <a:solidFill>
                  <a:srgbClr val="2B2C2D"/>
                </a:solidFill>
                <a:latin typeface="Arial MT"/>
                <a:cs typeface="Arial MT"/>
              </a:rPr>
              <a:t>date,</a:t>
            </a:r>
            <a:r>
              <a:rPr sz="2800" spc="-40" dirty="0">
                <a:solidFill>
                  <a:srgbClr val="2B2C2D"/>
                </a:solidFill>
                <a:latin typeface="Arial MT"/>
                <a:cs typeface="Arial MT"/>
              </a:rPr>
              <a:t> </a:t>
            </a:r>
            <a:r>
              <a:rPr sz="2800" spc="-25" dirty="0">
                <a:solidFill>
                  <a:srgbClr val="2B2C2D"/>
                </a:solidFill>
                <a:latin typeface="Arial MT"/>
                <a:cs typeface="Arial MT"/>
              </a:rPr>
              <a:t>but</a:t>
            </a:r>
            <a:endParaRPr sz="2800">
              <a:latin typeface="Arial MT"/>
              <a:cs typeface="Arial MT"/>
            </a:endParaRPr>
          </a:p>
          <a:p>
            <a:pPr marL="469900" marR="249554">
              <a:lnSpc>
                <a:spcPct val="100000"/>
              </a:lnSpc>
            </a:pPr>
            <a:r>
              <a:rPr sz="2800" dirty="0">
                <a:solidFill>
                  <a:srgbClr val="2B2C2D"/>
                </a:solidFill>
                <a:latin typeface="Arial MT"/>
                <a:cs typeface="Arial MT"/>
              </a:rPr>
              <a:t>$8X</a:t>
            </a:r>
            <a:r>
              <a:rPr sz="2800" spc="-35" dirty="0">
                <a:solidFill>
                  <a:srgbClr val="2B2C2D"/>
                </a:solidFill>
                <a:latin typeface="Arial MT"/>
                <a:cs typeface="Arial MT"/>
              </a:rPr>
              <a:t> </a:t>
            </a:r>
            <a:r>
              <a:rPr sz="2800" dirty="0">
                <a:solidFill>
                  <a:srgbClr val="2B2C2D"/>
                </a:solidFill>
                <a:latin typeface="Arial MT"/>
                <a:cs typeface="Arial MT"/>
              </a:rPr>
              <a:t>for</a:t>
            </a:r>
            <a:r>
              <a:rPr sz="2800" spc="-30" dirty="0">
                <a:solidFill>
                  <a:srgbClr val="2B2C2D"/>
                </a:solidFill>
                <a:latin typeface="Arial MT"/>
                <a:cs typeface="Arial MT"/>
              </a:rPr>
              <a:t> </a:t>
            </a:r>
            <a:r>
              <a:rPr sz="2800" dirty="0">
                <a:solidFill>
                  <a:srgbClr val="2B2C2D"/>
                </a:solidFill>
                <a:latin typeface="Arial MT"/>
                <a:cs typeface="Arial MT"/>
              </a:rPr>
              <a:t>the</a:t>
            </a:r>
            <a:r>
              <a:rPr sz="2800" spc="-30" dirty="0">
                <a:solidFill>
                  <a:srgbClr val="2B2C2D"/>
                </a:solidFill>
                <a:latin typeface="Arial MT"/>
                <a:cs typeface="Arial MT"/>
              </a:rPr>
              <a:t> </a:t>
            </a:r>
            <a:r>
              <a:rPr sz="2800" dirty="0">
                <a:solidFill>
                  <a:srgbClr val="2B2C2D"/>
                </a:solidFill>
                <a:latin typeface="Arial MT"/>
                <a:cs typeface="Arial MT"/>
              </a:rPr>
              <a:t>assets</a:t>
            </a:r>
            <a:r>
              <a:rPr sz="2800" spc="-35" dirty="0">
                <a:solidFill>
                  <a:srgbClr val="2B2C2D"/>
                </a:solidFill>
                <a:latin typeface="Arial MT"/>
                <a:cs typeface="Arial MT"/>
              </a:rPr>
              <a:t> </a:t>
            </a:r>
            <a:r>
              <a:rPr sz="2800" dirty="0">
                <a:solidFill>
                  <a:srgbClr val="2B2C2D"/>
                </a:solidFill>
                <a:latin typeface="Arial MT"/>
                <a:cs typeface="Arial MT"/>
              </a:rPr>
              <a:t>if</a:t>
            </a:r>
            <a:r>
              <a:rPr sz="2800" spc="-30" dirty="0">
                <a:solidFill>
                  <a:srgbClr val="2B2C2D"/>
                </a:solidFill>
                <a:latin typeface="Arial MT"/>
                <a:cs typeface="Arial MT"/>
              </a:rPr>
              <a:t> </a:t>
            </a:r>
            <a:r>
              <a:rPr sz="2800" spc="-10" dirty="0">
                <a:solidFill>
                  <a:srgbClr val="2B2C2D"/>
                </a:solidFill>
                <a:latin typeface="Arial MT"/>
                <a:cs typeface="Arial MT"/>
              </a:rPr>
              <a:t>Event</a:t>
            </a:r>
            <a:r>
              <a:rPr sz="2800" spc="-170" dirty="0">
                <a:solidFill>
                  <a:srgbClr val="2B2C2D"/>
                </a:solidFill>
                <a:latin typeface="Arial MT"/>
                <a:cs typeface="Arial MT"/>
              </a:rPr>
              <a:t> </a:t>
            </a:r>
            <a:r>
              <a:rPr sz="2800" dirty="0">
                <a:solidFill>
                  <a:srgbClr val="2B2C2D"/>
                </a:solidFill>
                <a:latin typeface="Arial MT"/>
                <a:cs typeface="Arial MT"/>
              </a:rPr>
              <a:t>A</a:t>
            </a:r>
            <a:r>
              <a:rPr sz="2800" spc="-185" dirty="0">
                <a:solidFill>
                  <a:srgbClr val="2B2C2D"/>
                </a:solidFill>
                <a:latin typeface="Arial MT"/>
                <a:cs typeface="Arial MT"/>
              </a:rPr>
              <a:t> </a:t>
            </a:r>
            <a:r>
              <a:rPr sz="2800" dirty="0">
                <a:solidFill>
                  <a:srgbClr val="2B2C2D"/>
                </a:solidFill>
                <a:latin typeface="Arial MT"/>
                <a:cs typeface="Arial MT"/>
              </a:rPr>
              <a:t>occurs</a:t>
            </a:r>
            <a:r>
              <a:rPr sz="2800" spc="-30" dirty="0">
                <a:solidFill>
                  <a:srgbClr val="2B2C2D"/>
                </a:solidFill>
                <a:latin typeface="Arial MT"/>
                <a:cs typeface="Arial MT"/>
              </a:rPr>
              <a:t> </a:t>
            </a:r>
            <a:r>
              <a:rPr sz="2800" spc="-10" dirty="0">
                <a:solidFill>
                  <a:srgbClr val="2B2C2D"/>
                </a:solidFill>
                <a:latin typeface="Arial MT"/>
                <a:cs typeface="Arial MT"/>
              </a:rPr>
              <a:t>prior </a:t>
            </a:r>
            <a:r>
              <a:rPr sz="2800" dirty="0">
                <a:solidFill>
                  <a:srgbClr val="2B2C2D"/>
                </a:solidFill>
                <a:latin typeface="Arial MT"/>
                <a:cs typeface="Arial MT"/>
              </a:rPr>
              <a:t>to</a:t>
            </a:r>
            <a:r>
              <a:rPr sz="2800" spc="-35" dirty="0">
                <a:solidFill>
                  <a:srgbClr val="2B2C2D"/>
                </a:solidFill>
                <a:latin typeface="Arial MT"/>
                <a:cs typeface="Arial MT"/>
              </a:rPr>
              <a:t> </a:t>
            </a:r>
            <a:r>
              <a:rPr sz="2800" dirty="0">
                <a:solidFill>
                  <a:srgbClr val="2B2C2D"/>
                </a:solidFill>
                <a:latin typeface="Arial MT"/>
                <a:cs typeface="Arial MT"/>
              </a:rPr>
              <a:t>that</a:t>
            </a:r>
            <a:r>
              <a:rPr sz="2800" spc="-30" dirty="0">
                <a:solidFill>
                  <a:srgbClr val="2B2C2D"/>
                </a:solidFill>
                <a:latin typeface="Arial MT"/>
                <a:cs typeface="Arial MT"/>
              </a:rPr>
              <a:t> </a:t>
            </a:r>
            <a:r>
              <a:rPr sz="2800" spc="-20" dirty="0">
                <a:solidFill>
                  <a:srgbClr val="2B2C2D"/>
                </a:solidFill>
                <a:latin typeface="Arial MT"/>
                <a:cs typeface="Arial MT"/>
              </a:rPr>
              <a:t>date.</a:t>
            </a:r>
            <a:endParaRPr sz="2800">
              <a:latin typeface="Arial MT"/>
              <a:cs typeface="Arial MT"/>
            </a:endParaRPr>
          </a:p>
          <a:p>
            <a:pPr marL="469900" marR="121920" indent="-457200">
              <a:lnSpc>
                <a:spcPct val="100000"/>
              </a:lnSpc>
              <a:spcBef>
                <a:spcPts val="994"/>
              </a:spcBef>
              <a:buClr>
                <a:srgbClr val="6D2C91"/>
              </a:buClr>
              <a:buFont typeface="Wingdings"/>
              <a:buChar char=""/>
              <a:tabLst>
                <a:tab pos="469900" algn="l"/>
              </a:tabLst>
            </a:pPr>
            <a:r>
              <a:rPr sz="2800" dirty="0">
                <a:solidFill>
                  <a:srgbClr val="2B2C2D"/>
                </a:solidFill>
                <a:latin typeface="Arial MT"/>
                <a:cs typeface="Arial MT"/>
              </a:rPr>
              <a:t>The</a:t>
            </a:r>
            <a:r>
              <a:rPr sz="2800" spc="-65" dirty="0">
                <a:solidFill>
                  <a:srgbClr val="2B2C2D"/>
                </a:solidFill>
                <a:latin typeface="Arial MT"/>
                <a:cs typeface="Arial MT"/>
              </a:rPr>
              <a:t> </a:t>
            </a:r>
            <a:r>
              <a:rPr sz="2800" dirty="0">
                <a:solidFill>
                  <a:srgbClr val="2B2C2D"/>
                </a:solidFill>
                <a:latin typeface="Arial MT"/>
                <a:cs typeface="Arial MT"/>
              </a:rPr>
              <a:t>smart</a:t>
            </a:r>
            <a:r>
              <a:rPr sz="2800" spc="-65" dirty="0">
                <a:solidFill>
                  <a:srgbClr val="2B2C2D"/>
                </a:solidFill>
                <a:latin typeface="Arial MT"/>
                <a:cs typeface="Arial MT"/>
              </a:rPr>
              <a:t> </a:t>
            </a:r>
            <a:r>
              <a:rPr sz="2800" dirty="0">
                <a:solidFill>
                  <a:srgbClr val="2B2C2D"/>
                </a:solidFill>
                <a:latin typeface="Arial MT"/>
                <a:cs typeface="Arial MT"/>
              </a:rPr>
              <a:t>contract</a:t>
            </a:r>
            <a:r>
              <a:rPr sz="2800" spc="-85" dirty="0">
                <a:solidFill>
                  <a:srgbClr val="2B2C2D"/>
                </a:solidFill>
                <a:latin typeface="Arial MT"/>
                <a:cs typeface="Arial MT"/>
              </a:rPr>
              <a:t> </a:t>
            </a:r>
            <a:r>
              <a:rPr sz="2800" dirty="0">
                <a:solidFill>
                  <a:srgbClr val="2B2C2D"/>
                </a:solidFill>
                <a:latin typeface="Arial MT"/>
                <a:cs typeface="Arial MT"/>
              </a:rPr>
              <a:t>determines</a:t>
            </a:r>
            <a:r>
              <a:rPr sz="2800" spc="-75" dirty="0">
                <a:solidFill>
                  <a:srgbClr val="2B2C2D"/>
                </a:solidFill>
                <a:latin typeface="Arial MT"/>
                <a:cs typeface="Arial MT"/>
              </a:rPr>
              <a:t> </a:t>
            </a:r>
            <a:r>
              <a:rPr sz="2800" b="1" spc="-10" dirty="0">
                <a:solidFill>
                  <a:srgbClr val="2B2C2D"/>
                </a:solidFill>
                <a:latin typeface="Arial"/>
                <a:cs typeface="Arial"/>
              </a:rPr>
              <a:t>whether </a:t>
            </a:r>
            <a:r>
              <a:rPr sz="2800" spc="-10" dirty="0">
                <a:solidFill>
                  <a:srgbClr val="2B2C2D"/>
                </a:solidFill>
                <a:latin typeface="Arial MT"/>
                <a:cs typeface="Arial MT"/>
              </a:rPr>
              <a:t>Event</a:t>
            </a:r>
            <a:r>
              <a:rPr sz="2800" spc="-185" dirty="0">
                <a:solidFill>
                  <a:srgbClr val="2B2C2D"/>
                </a:solidFill>
                <a:latin typeface="Arial MT"/>
                <a:cs typeface="Arial MT"/>
              </a:rPr>
              <a:t> </a:t>
            </a: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has</a:t>
            </a:r>
            <a:r>
              <a:rPr sz="2800" spc="-50" dirty="0">
                <a:solidFill>
                  <a:srgbClr val="2B2C2D"/>
                </a:solidFill>
                <a:latin typeface="Arial MT"/>
                <a:cs typeface="Arial MT"/>
              </a:rPr>
              <a:t> </a:t>
            </a:r>
            <a:r>
              <a:rPr sz="2800" b="1" dirty="0">
                <a:solidFill>
                  <a:srgbClr val="2B2C2D"/>
                </a:solidFill>
                <a:latin typeface="Arial"/>
                <a:cs typeface="Arial"/>
              </a:rPr>
              <a:t>occurred</a:t>
            </a:r>
            <a:r>
              <a:rPr sz="2800" dirty="0">
                <a:solidFill>
                  <a:srgbClr val="2B2C2D"/>
                </a:solidFill>
                <a:latin typeface="Arial MT"/>
                <a:cs typeface="Arial MT"/>
              </a:rPr>
              <a:t>,</a:t>
            </a:r>
            <a:r>
              <a:rPr sz="2800" spc="-30" dirty="0">
                <a:solidFill>
                  <a:srgbClr val="2B2C2D"/>
                </a:solidFill>
                <a:latin typeface="Arial MT"/>
                <a:cs typeface="Arial MT"/>
              </a:rPr>
              <a:t> </a:t>
            </a:r>
            <a:r>
              <a:rPr sz="2800" dirty="0">
                <a:solidFill>
                  <a:srgbClr val="2B2C2D"/>
                </a:solidFill>
                <a:latin typeface="Arial MT"/>
                <a:cs typeface="Arial MT"/>
              </a:rPr>
              <a:t>and</a:t>
            </a:r>
            <a:r>
              <a:rPr sz="2800" spc="-30" dirty="0">
                <a:solidFill>
                  <a:srgbClr val="2B2C2D"/>
                </a:solidFill>
                <a:latin typeface="Arial MT"/>
                <a:cs typeface="Arial MT"/>
              </a:rPr>
              <a:t> </a:t>
            </a:r>
            <a:r>
              <a:rPr sz="2800" dirty="0">
                <a:solidFill>
                  <a:srgbClr val="2B2C2D"/>
                </a:solidFill>
                <a:latin typeface="Arial MT"/>
                <a:cs typeface="Arial MT"/>
              </a:rPr>
              <a:t>then</a:t>
            </a:r>
            <a:r>
              <a:rPr sz="2800" spc="-55" dirty="0">
                <a:solidFill>
                  <a:srgbClr val="2B2C2D"/>
                </a:solidFill>
                <a:latin typeface="Arial MT"/>
                <a:cs typeface="Arial MT"/>
              </a:rPr>
              <a:t> </a:t>
            </a:r>
            <a:r>
              <a:rPr sz="2800" b="1" spc="-10" dirty="0">
                <a:solidFill>
                  <a:srgbClr val="2B2C2D"/>
                </a:solidFill>
                <a:latin typeface="Arial"/>
                <a:cs typeface="Arial"/>
              </a:rPr>
              <a:t>self-</a:t>
            </a:r>
            <a:r>
              <a:rPr sz="2800" b="1" dirty="0">
                <a:solidFill>
                  <a:srgbClr val="2B2C2D"/>
                </a:solidFill>
                <a:latin typeface="Arial"/>
                <a:cs typeface="Arial"/>
              </a:rPr>
              <a:t>executes</a:t>
            </a:r>
            <a:r>
              <a:rPr sz="2800" b="1" spc="-20" dirty="0">
                <a:solidFill>
                  <a:srgbClr val="2B2C2D"/>
                </a:solidFill>
                <a:latin typeface="Arial"/>
                <a:cs typeface="Arial"/>
              </a:rPr>
              <a:t> </a:t>
            </a:r>
            <a:r>
              <a:rPr sz="2800" dirty="0">
                <a:solidFill>
                  <a:srgbClr val="2B2C2D"/>
                </a:solidFill>
                <a:latin typeface="Arial MT"/>
                <a:cs typeface="Arial MT"/>
              </a:rPr>
              <a:t>by</a:t>
            </a:r>
            <a:r>
              <a:rPr sz="2800" spc="-50" dirty="0">
                <a:solidFill>
                  <a:srgbClr val="2B2C2D"/>
                </a:solidFill>
                <a:latin typeface="Arial MT"/>
                <a:cs typeface="Arial MT"/>
              </a:rPr>
              <a:t> </a:t>
            </a:r>
            <a:r>
              <a:rPr sz="2800" dirty="0">
                <a:solidFill>
                  <a:srgbClr val="2B2C2D"/>
                </a:solidFill>
                <a:latin typeface="Arial MT"/>
                <a:cs typeface="Arial MT"/>
              </a:rPr>
              <a:t>(i)</a:t>
            </a:r>
            <a:r>
              <a:rPr sz="2800" spc="-45" dirty="0">
                <a:solidFill>
                  <a:srgbClr val="2B2C2D"/>
                </a:solidFill>
                <a:latin typeface="Arial MT"/>
                <a:cs typeface="Arial MT"/>
              </a:rPr>
              <a:t> </a:t>
            </a:r>
            <a:r>
              <a:rPr sz="2800" dirty="0">
                <a:solidFill>
                  <a:srgbClr val="2B2C2D"/>
                </a:solidFill>
                <a:latin typeface="Arial MT"/>
                <a:cs typeface="Arial MT"/>
              </a:rPr>
              <a:t>paying</a:t>
            </a:r>
            <a:r>
              <a:rPr sz="2800" spc="-45" dirty="0">
                <a:solidFill>
                  <a:srgbClr val="2B2C2D"/>
                </a:solidFill>
                <a:latin typeface="Arial MT"/>
                <a:cs typeface="Arial MT"/>
              </a:rPr>
              <a:t> </a:t>
            </a:r>
            <a:r>
              <a:rPr sz="2800" dirty="0">
                <a:solidFill>
                  <a:srgbClr val="2B2C2D"/>
                </a:solidFill>
                <a:latin typeface="Arial MT"/>
                <a:cs typeface="Arial MT"/>
              </a:rPr>
              <a:t>Green</a:t>
            </a:r>
            <a:r>
              <a:rPr sz="2800" spc="-30" dirty="0">
                <a:solidFill>
                  <a:srgbClr val="2B2C2D"/>
                </a:solidFill>
                <a:latin typeface="Arial MT"/>
                <a:cs typeface="Arial MT"/>
              </a:rPr>
              <a:t> </a:t>
            </a:r>
            <a:r>
              <a:rPr sz="2800" dirty="0">
                <a:solidFill>
                  <a:srgbClr val="2B2C2D"/>
                </a:solidFill>
                <a:latin typeface="Arial MT"/>
                <a:cs typeface="Arial MT"/>
              </a:rPr>
              <a:t>$5X</a:t>
            </a:r>
            <a:r>
              <a:rPr sz="2800" spc="-50" dirty="0">
                <a:solidFill>
                  <a:srgbClr val="2B2C2D"/>
                </a:solidFill>
                <a:latin typeface="Arial MT"/>
                <a:cs typeface="Arial MT"/>
              </a:rPr>
              <a:t> </a:t>
            </a:r>
            <a:r>
              <a:rPr sz="2800" dirty="0">
                <a:solidFill>
                  <a:srgbClr val="2B2C2D"/>
                </a:solidFill>
                <a:latin typeface="Arial MT"/>
                <a:cs typeface="Arial MT"/>
              </a:rPr>
              <a:t>or</a:t>
            </a:r>
            <a:r>
              <a:rPr sz="2800" spc="-50" dirty="0">
                <a:solidFill>
                  <a:srgbClr val="2B2C2D"/>
                </a:solidFill>
                <a:latin typeface="Arial MT"/>
                <a:cs typeface="Arial MT"/>
              </a:rPr>
              <a:t> </a:t>
            </a:r>
            <a:r>
              <a:rPr sz="2800" spc="-25" dirty="0">
                <a:solidFill>
                  <a:srgbClr val="2B2C2D"/>
                </a:solidFill>
                <a:latin typeface="Arial MT"/>
                <a:cs typeface="Arial MT"/>
              </a:rPr>
              <a:t>$8X </a:t>
            </a:r>
            <a:r>
              <a:rPr sz="2800" dirty="0">
                <a:solidFill>
                  <a:srgbClr val="2B2C2D"/>
                </a:solidFill>
                <a:latin typeface="Arial MT"/>
                <a:cs typeface="Arial MT"/>
              </a:rPr>
              <a:t>and</a:t>
            </a:r>
            <a:r>
              <a:rPr sz="2800" spc="-65" dirty="0">
                <a:solidFill>
                  <a:srgbClr val="2B2C2D"/>
                </a:solidFill>
                <a:latin typeface="Arial MT"/>
                <a:cs typeface="Arial MT"/>
              </a:rPr>
              <a:t> </a:t>
            </a:r>
            <a:r>
              <a:rPr sz="2800" dirty="0">
                <a:solidFill>
                  <a:srgbClr val="2B2C2D"/>
                </a:solidFill>
                <a:latin typeface="Arial MT"/>
                <a:cs typeface="Arial MT"/>
              </a:rPr>
              <a:t>(ii)</a:t>
            </a:r>
            <a:r>
              <a:rPr sz="2800" spc="-60" dirty="0">
                <a:solidFill>
                  <a:srgbClr val="2B2C2D"/>
                </a:solidFill>
                <a:latin typeface="Arial MT"/>
                <a:cs typeface="Arial MT"/>
              </a:rPr>
              <a:t> </a:t>
            </a:r>
            <a:r>
              <a:rPr sz="2800" dirty="0">
                <a:solidFill>
                  <a:srgbClr val="2B2C2D"/>
                </a:solidFill>
                <a:latin typeface="Arial MT"/>
                <a:cs typeface="Arial MT"/>
              </a:rPr>
              <a:t>transferring</a:t>
            </a:r>
            <a:r>
              <a:rPr sz="2800" spc="-55" dirty="0">
                <a:solidFill>
                  <a:srgbClr val="2B2C2D"/>
                </a:solidFill>
                <a:latin typeface="Arial MT"/>
                <a:cs typeface="Arial MT"/>
              </a:rPr>
              <a:t> </a:t>
            </a:r>
            <a:r>
              <a:rPr sz="2800" dirty="0">
                <a:solidFill>
                  <a:srgbClr val="2B2C2D"/>
                </a:solidFill>
                <a:latin typeface="Arial MT"/>
                <a:cs typeface="Arial MT"/>
              </a:rPr>
              <a:t>ownership</a:t>
            </a:r>
            <a:r>
              <a:rPr sz="2800" spc="-45"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spc="-25" dirty="0">
                <a:solidFill>
                  <a:srgbClr val="2B2C2D"/>
                </a:solidFill>
                <a:latin typeface="Arial MT"/>
                <a:cs typeface="Arial MT"/>
              </a:rPr>
              <a:t>the </a:t>
            </a:r>
            <a:r>
              <a:rPr sz="2800" dirty="0">
                <a:solidFill>
                  <a:srgbClr val="2B2C2D"/>
                </a:solidFill>
                <a:latin typeface="Arial MT"/>
                <a:cs typeface="Arial MT"/>
              </a:rPr>
              <a:t>securities</a:t>
            </a:r>
            <a:r>
              <a:rPr sz="2800" spc="-65" dirty="0">
                <a:solidFill>
                  <a:srgbClr val="2B2C2D"/>
                </a:solidFill>
                <a:latin typeface="Arial MT"/>
                <a:cs typeface="Arial MT"/>
              </a:rPr>
              <a:t> </a:t>
            </a:r>
            <a:r>
              <a:rPr sz="2800" dirty="0">
                <a:solidFill>
                  <a:srgbClr val="2B2C2D"/>
                </a:solidFill>
                <a:latin typeface="Arial MT"/>
                <a:cs typeface="Arial MT"/>
              </a:rPr>
              <a:t>to</a:t>
            </a:r>
            <a:r>
              <a:rPr sz="2800" spc="-60" dirty="0">
                <a:solidFill>
                  <a:srgbClr val="2B2C2D"/>
                </a:solidFill>
                <a:latin typeface="Arial MT"/>
                <a:cs typeface="Arial MT"/>
              </a:rPr>
              <a:t> </a:t>
            </a:r>
            <a:r>
              <a:rPr sz="2800" spc="-20" dirty="0">
                <a:solidFill>
                  <a:srgbClr val="2B2C2D"/>
                </a:solidFill>
                <a:latin typeface="Arial MT"/>
                <a:cs typeface="Arial MT"/>
              </a:rPr>
              <a:t>Blue.</a:t>
            </a:r>
            <a:endParaRPr sz="2800">
              <a:latin typeface="Arial MT"/>
              <a:cs typeface="Arial M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284720" cy="5543550"/>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Smart</a:t>
            </a:r>
            <a:r>
              <a:rPr sz="2800" b="1" spc="-100" dirty="0">
                <a:solidFill>
                  <a:srgbClr val="00339F"/>
                </a:solidFill>
                <a:latin typeface="Arial"/>
                <a:cs typeface="Arial"/>
              </a:rPr>
              <a:t> </a:t>
            </a:r>
            <a:r>
              <a:rPr sz="2800" b="1" dirty="0">
                <a:solidFill>
                  <a:srgbClr val="00339F"/>
                </a:solidFill>
                <a:latin typeface="Arial"/>
                <a:cs typeface="Arial"/>
              </a:rPr>
              <a:t>Contract</a:t>
            </a:r>
            <a:r>
              <a:rPr sz="2800" b="1" spc="-70" dirty="0">
                <a:solidFill>
                  <a:srgbClr val="00339F"/>
                </a:solidFill>
                <a:latin typeface="Arial"/>
                <a:cs typeface="Arial"/>
              </a:rPr>
              <a:t> </a:t>
            </a:r>
            <a:r>
              <a:rPr sz="2800" b="1" dirty="0">
                <a:solidFill>
                  <a:srgbClr val="00339F"/>
                </a:solidFill>
                <a:latin typeface="Arial"/>
                <a:cs typeface="Arial"/>
              </a:rPr>
              <a:t>Example:</a:t>
            </a:r>
            <a:r>
              <a:rPr sz="2800" b="1" spc="-85" dirty="0">
                <a:solidFill>
                  <a:srgbClr val="00339F"/>
                </a:solidFill>
                <a:latin typeface="Arial"/>
                <a:cs typeface="Arial"/>
              </a:rPr>
              <a:t> </a:t>
            </a:r>
            <a:r>
              <a:rPr sz="2800" b="1" spc="-10" dirty="0">
                <a:solidFill>
                  <a:srgbClr val="00339F"/>
                </a:solidFill>
                <a:latin typeface="Arial"/>
                <a:cs typeface="Arial"/>
              </a:rPr>
              <a:t>Insurance</a:t>
            </a:r>
            <a:endParaRPr sz="2800">
              <a:latin typeface="Arial"/>
              <a:cs typeface="Arial"/>
            </a:endParaRPr>
          </a:p>
          <a:p>
            <a:pPr>
              <a:lnSpc>
                <a:spcPct val="100000"/>
              </a:lnSpc>
              <a:spcBef>
                <a:spcPts val="270"/>
              </a:spcBef>
            </a:pPr>
            <a:endParaRPr sz="2800">
              <a:latin typeface="Arial"/>
              <a:cs typeface="Arial"/>
            </a:endParaRPr>
          </a:p>
          <a:p>
            <a:pPr marL="471170">
              <a:lnSpc>
                <a:spcPct val="100000"/>
              </a:lnSpc>
            </a:pPr>
            <a:r>
              <a:rPr sz="2800" b="1" dirty="0">
                <a:solidFill>
                  <a:srgbClr val="2B2C2D"/>
                </a:solidFill>
                <a:latin typeface="Arial"/>
                <a:cs typeface="Arial"/>
              </a:rPr>
              <a:t>Smart</a:t>
            </a:r>
            <a:r>
              <a:rPr sz="2800" b="1" spc="-135" dirty="0">
                <a:solidFill>
                  <a:srgbClr val="2B2C2D"/>
                </a:solidFill>
                <a:latin typeface="Arial"/>
                <a:cs typeface="Arial"/>
              </a:rPr>
              <a:t> </a:t>
            </a:r>
            <a:r>
              <a:rPr sz="2800" b="1" dirty="0">
                <a:solidFill>
                  <a:srgbClr val="2B2C2D"/>
                </a:solidFill>
                <a:latin typeface="Arial"/>
                <a:cs typeface="Arial"/>
              </a:rPr>
              <a:t>automobile</a:t>
            </a:r>
            <a:r>
              <a:rPr sz="2800" b="1" spc="-100" dirty="0">
                <a:solidFill>
                  <a:srgbClr val="2B2C2D"/>
                </a:solidFill>
                <a:latin typeface="Arial"/>
                <a:cs typeface="Arial"/>
              </a:rPr>
              <a:t> </a:t>
            </a:r>
            <a:r>
              <a:rPr sz="2800" b="1" dirty="0">
                <a:solidFill>
                  <a:srgbClr val="2B2C2D"/>
                </a:solidFill>
                <a:latin typeface="Arial"/>
                <a:cs typeface="Arial"/>
              </a:rPr>
              <a:t>insurance</a:t>
            </a:r>
            <a:r>
              <a:rPr sz="2800" b="1" spc="-100" dirty="0">
                <a:solidFill>
                  <a:srgbClr val="2B2C2D"/>
                </a:solidFill>
                <a:latin typeface="Arial"/>
                <a:cs typeface="Arial"/>
              </a:rPr>
              <a:t> </a:t>
            </a:r>
            <a:r>
              <a:rPr sz="2800" b="1" spc="-10" dirty="0">
                <a:solidFill>
                  <a:srgbClr val="2B2C2D"/>
                </a:solidFill>
                <a:latin typeface="Arial"/>
                <a:cs typeface="Arial"/>
              </a:rPr>
              <a:t>policy:</a:t>
            </a:r>
            <a:endParaRPr sz="2800">
              <a:latin typeface="Arial"/>
              <a:cs typeface="Arial"/>
            </a:endParaRPr>
          </a:p>
          <a:p>
            <a:pPr marL="928369"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Track</a:t>
            </a:r>
            <a:r>
              <a:rPr sz="2800" spc="-95" dirty="0">
                <a:solidFill>
                  <a:srgbClr val="2B2C2D"/>
                </a:solidFill>
                <a:latin typeface="Arial MT"/>
                <a:cs typeface="Arial MT"/>
              </a:rPr>
              <a:t> </a:t>
            </a:r>
            <a:r>
              <a:rPr sz="2800" dirty="0">
                <a:solidFill>
                  <a:srgbClr val="2B2C2D"/>
                </a:solidFill>
                <a:latin typeface="Arial MT"/>
                <a:cs typeface="Arial MT"/>
              </a:rPr>
              <a:t>driver</a:t>
            </a:r>
            <a:r>
              <a:rPr sz="2800" spc="-95" dirty="0">
                <a:solidFill>
                  <a:srgbClr val="2B2C2D"/>
                </a:solidFill>
                <a:latin typeface="Arial MT"/>
                <a:cs typeface="Arial MT"/>
              </a:rPr>
              <a:t> </a:t>
            </a:r>
            <a:r>
              <a:rPr sz="2800" dirty="0">
                <a:solidFill>
                  <a:srgbClr val="2B2C2D"/>
                </a:solidFill>
                <a:latin typeface="Arial MT"/>
                <a:cs typeface="Arial MT"/>
              </a:rPr>
              <a:t>using</a:t>
            </a:r>
            <a:r>
              <a:rPr sz="2800" spc="-90" dirty="0">
                <a:solidFill>
                  <a:srgbClr val="2B2C2D"/>
                </a:solidFill>
                <a:latin typeface="Arial MT"/>
                <a:cs typeface="Arial MT"/>
              </a:rPr>
              <a:t> </a:t>
            </a:r>
            <a:r>
              <a:rPr sz="2800" spc="-10" dirty="0">
                <a:solidFill>
                  <a:srgbClr val="2B2C2D"/>
                </a:solidFill>
                <a:latin typeface="Arial MT"/>
                <a:cs typeface="Arial MT"/>
              </a:rPr>
              <a:t>sensors.</a:t>
            </a:r>
            <a:endParaRPr sz="2800">
              <a:latin typeface="Arial MT"/>
              <a:cs typeface="Arial MT"/>
            </a:endParaRPr>
          </a:p>
          <a:p>
            <a:pPr marL="928369" marR="311150" indent="-457200">
              <a:lnSpc>
                <a:spcPct val="100000"/>
              </a:lnSpc>
              <a:spcBef>
                <a:spcPts val="1005"/>
              </a:spcBef>
              <a:buClr>
                <a:srgbClr val="6D2C91"/>
              </a:buClr>
              <a:buFont typeface="Wingdings"/>
              <a:buChar char=""/>
              <a:tabLst>
                <a:tab pos="928369" algn="l"/>
              </a:tabLst>
            </a:pPr>
            <a:r>
              <a:rPr sz="2800" dirty="0">
                <a:solidFill>
                  <a:srgbClr val="2B2C2D"/>
                </a:solidFill>
                <a:latin typeface="Arial MT"/>
                <a:cs typeface="Arial MT"/>
              </a:rPr>
              <a:t>All</a:t>
            </a:r>
            <a:r>
              <a:rPr sz="2800" spc="-65" dirty="0">
                <a:solidFill>
                  <a:srgbClr val="2B2C2D"/>
                </a:solidFill>
                <a:latin typeface="Arial MT"/>
                <a:cs typeface="Arial MT"/>
              </a:rPr>
              <a:t> </a:t>
            </a:r>
            <a:r>
              <a:rPr sz="2800" dirty="0">
                <a:solidFill>
                  <a:srgbClr val="2B2C2D"/>
                </a:solidFill>
                <a:latin typeface="Arial MT"/>
                <a:cs typeface="Arial MT"/>
              </a:rPr>
              <a:t>data</a:t>
            </a:r>
            <a:r>
              <a:rPr sz="2800" spc="-65" dirty="0">
                <a:solidFill>
                  <a:srgbClr val="2B2C2D"/>
                </a:solidFill>
                <a:latin typeface="Arial MT"/>
                <a:cs typeface="Arial MT"/>
              </a:rPr>
              <a:t> </a:t>
            </a:r>
            <a:r>
              <a:rPr sz="2800" dirty="0">
                <a:solidFill>
                  <a:srgbClr val="2B2C2D"/>
                </a:solidFill>
                <a:latin typeface="Arial MT"/>
                <a:cs typeface="Arial MT"/>
              </a:rPr>
              <a:t>would</a:t>
            </a:r>
            <a:r>
              <a:rPr sz="2800" spc="-55" dirty="0">
                <a:solidFill>
                  <a:srgbClr val="2B2C2D"/>
                </a:solidFill>
                <a:latin typeface="Arial MT"/>
                <a:cs typeface="Arial MT"/>
              </a:rPr>
              <a:t> </a:t>
            </a:r>
            <a:r>
              <a:rPr sz="2800" dirty="0">
                <a:solidFill>
                  <a:srgbClr val="2B2C2D"/>
                </a:solidFill>
                <a:latin typeface="Arial MT"/>
                <a:cs typeface="Arial MT"/>
              </a:rPr>
              <a:t>be</a:t>
            </a:r>
            <a:r>
              <a:rPr sz="2800" spc="-65" dirty="0">
                <a:solidFill>
                  <a:srgbClr val="2B2C2D"/>
                </a:solidFill>
                <a:latin typeface="Arial MT"/>
                <a:cs typeface="Arial MT"/>
              </a:rPr>
              <a:t> </a:t>
            </a:r>
            <a:r>
              <a:rPr sz="2800" b="1" dirty="0">
                <a:solidFill>
                  <a:srgbClr val="2B2C2D"/>
                </a:solidFill>
                <a:latin typeface="Arial"/>
                <a:cs typeface="Arial"/>
              </a:rPr>
              <a:t>continuously</a:t>
            </a:r>
            <a:r>
              <a:rPr sz="2800" b="1" spc="-30" dirty="0">
                <a:solidFill>
                  <a:srgbClr val="2B2C2D"/>
                </a:solidFill>
                <a:latin typeface="Arial"/>
                <a:cs typeface="Arial"/>
              </a:rPr>
              <a:t> </a:t>
            </a:r>
            <a:r>
              <a:rPr sz="2800" b="1" spc="-25" dirty="0">
                <a:solidFill>
                  <a:srgbClr val="2B2C2D"/>
                </a:solidFill>
                <a:latin typeface="Arial"/>
                <a:cs typeface="Arial"/>
              </a:rPr>
              <a:t>and </a:t>
            </a:r>
            <a:r>
              <a:rPr sz="2800" b="1" dirty="0">
                <a:solidFill>
                  <a:srgbClr val="2B2C2D"/>
                </a:solidFill>
                <a:latin typeface="Arial"/>
                <a:cs typeface="Arial"/>
              </a:rPr>
              <a:t>permanently</a:t>
            </a:r>
            <a:r>
              <a:rPr sz="2800" b="1" spc="-65" dirty="0">
                <a:solidFill>
                  <a:srgbClr val="2B2C2D"/>
                </a:solidFill>
                <a:latin typeface="Arial"/>
                <a:cs typeface="Arial"/>
              </a:rPr>
              <a:t> </a:t>
            </a:r>
            <a:r>
              <a:rPr sz="2800" b="1" dirty="0">
                <a:solidFill>
                  <a:srgbClr val="2B2C2D"/>
                </a:solidFill>
                <a:latin typeface="Arial"/>
                <a:cs typeface="Arial"/>
              </a:rPr>
              <a:t>added</a:t>
            </a:r>
            <a:r>
              <a:rPr sz="2800" b="1" spc="-60" dirty="0">
                <a:solidFill>
                  <a:srgbClr val="2B2C2D"/>
                </a:solidFill>
                <a:latin typeface="Arial"/>
                <a:cs typeface="Arial"/>
              </a:rPr>
              <a:t> </a:t>
            </a:r>
            <a:r>
              <a:rPr sz="2800" dirty="0">
                <a:solidFill>
                  <a:srgbClr val="2B2C2D"/>
                </a:solidFill>
                <a:latin typeface="Arial MT"/>
                <a:cs typeface="Arial MT"/>
              </a:rPr>
              <a:t>to</a:t>
            </a:r>
            <a:r>
              <a:rPr sz="2800" spc="-70" dirty="0">
                <a:solidFill>
                  <a:srgbClr val="2B2C2D"/>
                </a:solidFill>
                <a:latin typeface="Arial MT"/>
                <a:cs typeface="Arial MT"/>
              </a:rPr>
              <a:t> </a:t>
            </a:r>
            <a:r>
              <a:rPr sz="2800" dirty="0">
                <a:solidFill>
                  <a:srgbClr val="2B2C2D"/>
                </a:solidFill>
                <a:latin typeface="Arial MT"/>
                <a:cs typeface="Arial MT"/>
              </a:rPr>
              <a:t>the</a:t>
            </a:r>
            <a:r>
              <a:rPr sz="2800" spc="-80" dirty="0">
                <a:solidFill>
                  <a:srgbClr val="2B2C2D"/>
                </a:solidFill>
                <a:latin typeface="Arial MT"/>
                <a:cs typeface="Arial MT"/>
              </a:rPr>
              <a:t> </a:t>
            </a:r>
            <a:r>
              <a:rPr sz="2800" spc="-10" dirty="0">
                <a:solidFill>
                  <a:srgbClr val="2B2C2D"/>
                </a:solidFill>
                <a:latin typeface="Arial MT"/>
                <a:cs typeface="Arial MT"/>
              </a:rPr>
              <a:t>blockchain </a:t>
            </a:r>
            <a:r>
              <a:rPr sz="2800" dirty="0">
                <a:solidFill>
                  <a:srgbClr val="2B2C2D"/>
                </a:solidFill>
                <a:latin typeface="Arial MT"/>
                <a:cs typeface="Arial MT"/>
              </a:rPr>
              <a:t>along</a:t>
            </a:r>
            <a:r>
              <a:rPr sz="2800" spc="-70" dirty="0">
                <a:solidFill>
                  <a:srgbClr val="2B2C2D"/>
                </a:solidFill>
                <a:latin typeface="Arial MT"/>
                <a:cs typeface="Arial MT"/>
              </a:rPr>
              <a:t> </a:t>
            </a:r>
            <a:r>
              <a:rPr sz="2800" dirty="0">
                <a:solidFill>
                  <a:srgbClr val="2B2C2D"/>
                </a:solidFill>
                <a:latin typeface="Arial MT"/>
                <a:cs typeface="Arial MT"/>
              </a:rPr>
              <a:t>with</a:t>
            </a:r>
            <a:r>
              <a:rPr sz="2800" spc="-55" dirty="0">
                <a:solidFill>
                  <a:srgbClr val="2B2C2D"/>
                </a:solidFill>
                <a:latin typeface="Arial MT"/>
                <a:cs typeface="Arial MT"/>
              </a:rPr>
              <a:t> </a:t>
            </a:r>
            <a:r>
              <a:rPr sz="2800" dirty="0">
                <a:solidFill>
                  <a:srgbClr val="2B2C2D"/>
                </a:solidFill>
                <a:latin typeface="Arial MT"/>
                <a:cs typeface="Arial MT"/>
              </a:rPr>
              <a:t>traffic</a:t>
            </a:r>
            <a:r>
              <a:rPr sz="2800" spc="-80" dirty="0">
                <a:solidFill>
                  <a:srgbClr val="2B2C2D"/>
                </a:solidFill>
                <a:latin typeface="Arial MT"/>
                <a:cs typeface="Arial MT"/>
              </a:rPr>
              <a:t> </a:t>
            </a:r>
            <a:r>
              <a:rPr sz="2800" dirty="0">
                <a:solidFill>
                  <a:srgbClr val="2B2C2D"/>
                </a:solidFill>
                <a:latin typeface="Arial MT"/>
                <a:cs typeface="Arial MT"/>
              </a:rPr>
              <a:t>citations</a:t>
            </a:r>
            <a:r>
              <a:rPr sz="2800" spc="-75" dirty="0">
                <a:solidFill>
                  <a:srgbClr val="2B2C2D"/>
                </a:solidFill>
                <a:latin typeface="Arial MT"/>
                <a:cs typeface="Arial MT"/>
              </a:rPr>
              <a:t> </a:t>
            </a:r>
            <a:r>
              <a:rPr sz="2800" dirty="0">
                <a:solidFill>
                  <a:srgbClr val="2B2C2D"/>
                </a:solidFill>
                <a:latin typeface="Arial MT"/>
                <a:cs typeface="Arial MT"/>
              </a:rPr>
              <a:t>and</a:t>
            </a:r>
            <a:r>
              <a:rPr sz="2800" spc="-70" dirty="0">
                <a:solidFill>
                  <a:srgbClr val="2B2C2D"/>
                </a:solidFill>
                <a:latin typeface="Arial MT"/>
                <a:cs typeface="Arial MT"/>
              </a:rPr>
              <a:t> </a:t>
            </a:r>
            <a:r>
              <a:rPr sz="2800" spc="-10" dirty="0">
                <a:solidFill>
                  <a:srgbClr val="2B2C2D"/>
                </a:solidFill>
                <a:latin typeface="Arial MT"/>
                <a:cs typeface="Arial MT"/>
              </a:rPr>
              <a:t>other </a:t>
            </a:r>
            <a:r>
              <a:rPr sz="2800" dirty="0">
                <a:solidFill>
                  <a:srgbClr val="2B2C2D"/>
                </a:solidFill>
                <a:latin typeface="Arial MT"/>
                <a:cs typeface="Arial MT"/>
              </a:rPr>
              <a:t>external</a:t>
            </a:r>
            <a:r>
              <a:rPr sz="2800" spc="-60" dirty="0">
                <a:solidFill>
                  <a:srgbClr val="2B2C2D"/>
                </a:solidFill>
                <a:latin typeface="Arial MT"/>
                <a:cs typeface="Arial MT"/>
              </a:rPr>
              <a:t> </a:t>
            </a:r>
            <a:r>
              <a:rPr sz="2800" dirty="0">
                <a:solidFill>
                  <a:srgbClr val="2B2C2D"/>
                </a:solidFill>
                <a:latin typeface="Arial MT"/>
                <a:cs typeface="Arial MT"/>
              </a:rPr>
              <a:t>data</a:t>
            </a:r>
            <a:r>
              <a:rPr sz="2800" spc="-45" dirty="0">
                <a:solidFill>
                  <a:srgbClr val="2B2C2D"/>
                </a:solidFill>
                <a:latin typeface="Arial MT"/>
                <a:cs typeface="Arial MT"/>
              </a:rPr>
              <a:t> </a:t>
            </a:r>
            <a:r>
              <a:rPr sz="2800" dirty="0">
                <a:solidFill>
                  <a:srgbClr val="2B2C2D"/>
                </a:solidFill>
                <a:latin typeface="Arial MT"/>
                <a:cs typeface="Arial MT"/>
              </a:rPr>
              <a:t>for</a:t>
            </a:r>
            <a:r>
              <a:rPr sz="2800" spc="-60" dirty="0">
                <a:solidFill>
                  <a:srgbClr val="2B2C2D"/>
                </a:solidFill>
                <a:latin typeface="Arial MT"/>
                <a:cs typeface="Arial MT"/>
              </a:rPr>
              <a:t> </a:t>
            </a:r>
            <a:r>
              <a:rPr sz="2800" dirty="0">
                <a:solidFill>
                  <a:srgbClr val="2B2C2D"/>
                </a:solidFill>
                <a:latin typeface="Arial MT"/>
                <a:cs typeface="Arial MT"/>
              </a:rPr>
              <a:t>each</a:t>
            </a:r>
            <a:r>
              <a:rPr sz="2800" spc="-55" dirty="0">
                <a:solidFill>
                  <a:srgbClr val="2B2C2D"/>
                </a:solidFill>
                <a:latin typeface="Arial MT"/>
                <a:cs typeface="Arial MT"/>
              </a:rPr>
              <a:t> </a:t>
            </a:r>
            <a:r>
              <a:rPr sz="2800" spc="-10" dirty="0">
                <a:solidFill>
                  <a:srgbClr val="2B2C2D"/>
                </a:solidFill>
                <a:latin typeface="Arial MT"/>
                <a:cs typeface="Arial MT"/>
              </a:rPr>
              <a:t>policyholder.</a:t>
            </a:r>
            <a:endParaRPr sz="2800">
              <a:latin typeface="Arial MT"/>
              <a:cs typeface="Arial MT"/>
            </a:endParaRPr>
          </a:p>
          <a:p>
            <a:pPr marL="928369" marR="508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The</a:t>
            </a:r>
            <a:r>
              <a:rPr sz="2800" spc="-70" dirty="0">
                <a:solidFill>
                  <a:srgbClr val="2B2C2D"/>
                </a:solidFill>
                <a:latin typeface="Arial MT"/>
                <a:cs typeface="Arial MT"/>
              </a:rPr>
              <a:t> </a:t>
            </a:r>
            <a:r>
              <a:rPr sz="2800" dirty="0">
                <a:solidFill>
                  <a:srgbClr val="2B2C2D"/>
                </a:solidFill>
                <a:latin typeface="Arial MT"/>
                <a:cs typeface="Arial MT"/>
              </a:rPr>
              <a:t>smart</a:t>
            </a:r>
            <a:r>
              <a:rPr sz="2800" spc="-75" dirty="0">
                <a:solidFill>
                  <a:srgbClr val="2B2C2D"/>
                </a:solidFill>
                <a:latin typeface="Arial MT"/>
                <a:cs typeface="Arial MT"/>
              </a:rPr>
              <a:t> </a:t>
            </a:r>
            <a:r>
              <a:rPr sz="2800" dirty="0">
                <a:solidFill>
                  <a:srgbClr val="2B2C2D"/>
                </a:solidFill>
                <a:latin typeface="Arial MT"/>
                <a:cs typeface="Arial MT"/>
              </a:rPr>
              <a:t>policy</a:t>
            </a:r>
            <a:r>
              <a:rPr sz="2800" spc="-85" dirty="0">
                <a:solidFill>
                  <a:srgbClr val="2B2C2D"/>
                </a:solidFill>
                <a:latin typeface="Arial MT"/>
                <a:cs typeface="Arial MT"/>
              </a:rPr>
              <a:t> </a:t>
            </a:r>
            <a:r>
              <a:rPr sz="2800" dirty="0">
                <a:solidFill>
                  <a:srgbClr val="2B2C2D"/>
                </a:solidFill>
                <a:latin typeface="Arial MT"/>
                <a:cs typeface="Arial MT"/>
              </a:rPr>
              <a:t>automatically</a:t>
            </a:r>
            <a:r>
              <a:rPr sz="2800" spc="-75" dirty="0">
                <a:solidFill>
                  <a:srgbClr val="2B2C2D"/>
                </a:solidFill>
                <a:latin typeface="Arial MT"/>
                <a:cs typeface="Arial MT"/>
              </a:rPr>
              <a:t> </a:t>
            </a:r>
            <a:r>
              <a:rPr sz="2800" spc="-25" dirty="0">
                <a:solidFill>
                  <a:srgbClr val="2B2C2D"/>
                </a:solidFill>
                <a:latin typeface="Arial MT"/>
                <a:cs typeface="Arial MT"/>
              </a:rPr>
              <a:t>(i) </a:t>
            </a:r>
            <a:r>
              <a:rPr sz="2800" b="1" dirty="0">
                <a:solidFill>
                  <a:srgbClr val="2B2C2D"/>
                </a:solidFill>
                <a:latin typeface="Arial"/>
                <a:cs typeface="Arial"/>
              </a:rPr>
              <a:t>increases</a:t>
            </a:r>
            <a:r>
              <a:rPr sz="2800" b="1" spc="-65" dirty="0">
                <a:solidFill>
                  <a:srgbClr val="2B2C2D"/>
                </a:solidFill>
                <a:latin typeface="Arial"/>
                <a:cs typeface="Arial"/>
              </a:rPr>
              <a:t> </a:t>
            </a:r>
            <a:r>
              <a:rPr sz="2800" b="1" dirty="0">
                <a:solidFill>
                  <a:srgbClr val="2B2C2D"/>
                </a:solidFill>
                <a:latin typeface="Arial"/>
                <a:cs typeface="Arial"/>
              </a:rPr>
              <a:t>or</a:t>
            </a:r>
            <a:r>
              <a:rPr sz="2800" b="1" spc="-70" dirty="0">
                <a:solidFill>
                  <a:srgbClr val="2B2C2D"/>
                </a:solidFill>
                <a:latin typeface="Arial"/>
                <a:cs typeface="Arial"/>
              </a:rPr>
              <a:t> </a:t>
            </a:r>
            <a:r>
              <a:rPr sz="2800" b="1" dirty="0">
                <a:solidFill>
                  <a:srgbClr val="2B2C2D"/>
                </a:solidFill>
                <a:latin typeface="Arial"/>
                <a:cs typeface="Arial"/>
              </a:rPr>
              <a:t>decreases</a:t>
            </a:r>
            <a:r>
              <a:rPr sz="2800" b="1" spc="-60" dirty="0">
                <a:solidFill>
                  <a:srgbClr val="2B2C2D"/>
                </a:solidFill>
                <a:latin typeface="Arial"/>
                <a:cs typeface="Arial"/>
              </a:rPr>
              <a:t> </a:t>
            </a:r>
            <a:r>
              <a:rPr sz="2800" dirty="0">
                <a:solidFill>
                  <a:srgbClr val="2B2C2D"/>
                </a:solidFill>
                <a:latin typeface="Arial MT"/>
                <a:cs typeface="Arial MT"/>
              </a:rPr>
              <a:t>the</a:t>
            </a:r>
            <a:r>
              <a:rPr sz="2800" spc="-75" dirty="0">
                <a:solidFill>
                  <a:srgbClr val="2B2C2D"/>
                </a:solidFill>
                <a:latin typeface="Arial MT"/>
                <a:cs typeface="Arial MT"/>
              </a:rPr>
              <a:t> </a:t>
            </a:r>
            <a:r>
              <a:rPr sz="2800" b="1" spc="-10" dirty="0">
                <a:solidFill>
                  <a:srgbClr val="2B2C2D"/>
                </a:solidFill>
                <a:latin typeface="Arial"/>
                <a:cs typeface="Arial"/>
              </a:rPr>
              <a:t>premium </a:t>
            </a:r>
            <a:r>
              <a:rPr sz="2800" dirty="0">
                <a:solidFill>
                  <a:srgbClr val="2B2C2D"/>
                </a:solidFill>
                <a:latin typeface="Arial MT"/>
                <a:cs typeface="Arial MT"/>
              </a:rPr>
              <a:t>based</a:t>
            </a:r>
            <a:r>
              <a:rPr sz="2800" spc="-40" dirty="0">
                <a:solidFill>
                  <a:srgbClr val="2B2C2D"/>
                </a:solidFill>
                <a:latin typeface="Arial MT"/>
                <a:cs typeface="Arial MT"/>
              </a:rPr>
              <a:t> </a:t>
            </a:r>
            <a:r>
              <a:rPr sz="2800" dirty="0">
                <a:solidFill>
                  <a:srgbClr val="2B2C2D"/>
                </a:solidFill>
                <a:latin typeface="Arial MT"/>
                <a:cs typeface="Arial MT"/>
              </a:rPr>
              <a:t>on</a:t>
            </a:r>
            <a:r>
              <a:rPr sz="2800" spc="-35" dirty="0">
                <a:solidFill>
                  <a:srgbClr val="2B2C2D"/>
                </a:solidFill>
                <a:latin typeface="Arial MT"/>
                <a:cs typeface="Arial MT"/>
              </a:rPr>
              <a:t> </a:t>
            </a:r>
            <a:r>
              <a:rPr sz="2800" dirty="0">
                <a:solidFill>
                  <a:srgbClr val="2B2C2D"/>
                </a:solidFill>
                <a:latin typeface="Arial MT"/>
                <a:cs typeface="Arial MT"/>
              </a:rPr>
              <a:t>the</a:t>
            </a:r>
            <a:r>
              <a:rPr sz="2800" spc="-35" dirty="0">
                <a:solidFill>
                  <a:srgbClr val="2B2C2D"/>
                </a:solidFill>
                <a:latin typeface="Arial MT"/>
                <a:cs typeface="Arial MT"/>
              </a:rPr>
              <a:t> </a:t>
            </a:r>
            <a:r>
              <a:rPr sz="2800" dirty="0">
                <a:solidFill>
                  <a:srgbClr val="2B2C2D"/>
                </a:solidFill>
                <a:latin typeface="Arial MT"/>
                <a:cs typeface="Arial MT"/>
              </a:rPr>
              <a:t>data</a:t>
            </a:r>
            <a:r>
              <a:rPr sz="2800" spc="-40" dirty="0">
                <a:solidFill>
                  <a:srgbClr val="2B2C2D"/>
                </a:solidFill>
                <a:latin typeface="Arial MT"/>
                <a:cs typeface="Arial MT"/>
              </a:rPr>
              <a:t> </a:t>
            </a:r>
            <a:r>
              <a:rPr sz="2800" dirty="0">
                <a:solidFill>
                  <a:srgbClr val="2B2C2D"/>
                </a:solidFill>
                <a:latin typeface="Arial MT"/>
                <a:cs typeface="Arial MT"/>
              </a:rPr>
              <a:t>and</a:t>
            </a:r>
            <a:r>
              <a:rPr sz="2800" spc="-25" dirty="0">
                <a:solidFill>
                  <a:srgbClr val="2B2C2D"/>
                </a:solidFill>
                <a:latin typeface="Arial MT"/>
                <a:cs typeface="Arial MT"/>
              </a:rPr>
              <a:t> </a:t>
            </a:r>
            <a:r>
              <a:rPr sz="2800" dirty="0">
                <a:solidFill>
                  <a:srgbClr val="2B2C2D"/>
                </a:solidFill>
                <a:latin typeface="Arial MT"/>
                <a:cs typeface="Arial MT"/>
              </a:rPr>
              <a:t>(ii)</a:t>
            </a:r>
            <a:r>
              <a:rPr sz="2800" spc="-35" dirty="0">
                <a:solidFill>
                  <a:srgbClr val="2B2C2D"/>
                </a:solidFill>
                <a:latin typeface="Arial MT"/>
                <a:cs typeface="Arial MT"/>
              </a:rPr>
              <a:t> </a:t>
            </a:r>
            <a:r>
              <a:rPr sz="2800" b="1" spc="-10" dirty="0">
                <a:solidFill>
                  <a:srgbClr val="2B2C2D"/>
                </a:solidFill>
                <a:latin typeface="Arial"/>
                <a:cs typeface="Arial"/>
              </a:rPr>
              <a:t>withdraws </a:t>
            </a:r>
            <a:r>
              <a:rPr sz="2800" dirty="0">
                <a:solidFill>
                  <a:srgbClr val="2B2C2D"/>
                </a:solidFill>
                <a:latin typeface="Arial MT"/>
                <a:cs typeface="Arial MT"/>
              </a:rPr>
              <a:t>payment</a:t>
            </a:r>
            <a:r>
              <a:rPr sz="2800" spc="-45" dirty="0">
                <a:solidFill>
                  <a:srgbClr val="2B2C2D"/>
                </a:solidFill>
                <a:latin typeface="Arial MT"/>
                <a:cs typeface="Arial MT"/>
              </a:rPr>
              <a:t> </a:t>
            </a:r>
            <a:r>
              <a:rPr sz="2800" dirty="0">
                <a:solidFill>
                  <a:srgbClr val="2B2C2D"/>
                </a:solidFill>
                <a:latin typeface="Arial MT"/>
                <a:cs typeface="Arial MT"/>
              </a:rPr>
              <a:t>from</a:t>
            </a:r>
            <a:r>
              <a:rPr sz="2800" spc="-40" dirty="0">
                <a:solidFill>
                  <a:srgbClr val="2B2C2D"/>
                </a:solidFill>
                <a:latin typeface="Arial MT"/>
                <a:cs typeface="Arial MT"/>
              </a:rPr>
              <a:t> </a:t>
            </a:r>
            <a:r>
              <a:rPr sz="2800" dirty="0">
                <a:solidFill>
                  <a:srgbClr val="2B2C2D"/>
                </a:solidFill>
                <a:latin typeface="Arial MT"/>
                <a:cs typeface="Arial MT"/>
              </a:rPr>
              <a:t>the</a:t>
            </a:r>
            <a:r>
              <a:rPr sz="2800" spc="-60" dirty="0">
                <a:solidFill>
                  <a:srgbClr val="2B2C2D"/>
                </a:solidFill>
                <a:latin typeface="Arial MT"/>
                <a:cs typeface="Arial MT"/>
              </a:rPr>
              <a:t> </a:t>
            </a:r>
            <a:r>
              <a:rPr sz="2800" dirty="0">
                <a:solidFill>
                  <a:srgbClr val="2B2C2D"/>
                </a:solidFill>
                <a:latin typeface="Arial MT"/>
                <a:cs typeface="Arial MT"/>
              </a:rPr>
              <a:t>driver’s</a:t>
            </a:r>
            <a:r>
              <a:rPr sz="2800" spc="-45" dirty="0">
                <a:solidFill>
                  <a:srgbClr val="2B2C2D"/>
                </a:solidFill>
                <a:latin typeface="Arial MT"/>
                <a:cs typeface="Arial MT"/>
              </a:rPr>
              <a:t> </a:t>
            </a:r>
            <a:r>
              <a:rPr sz="2800" dirty="0">
                <a:solidFill>
                  <a:srgbClr val="2B2C2D"/>
                </a:solidFill>
                <a:latin typeface="Arial MT"/>
                <a:cs typeface="Arial MT"/>
              </a:rPr>
              <a:t>bank</a:t>
            </a:r>
            <a:r>
              <a:rPr sz="2800" spc="-55" dirty="0">
                <a:solidFill>
                  <a:srgbClr val="2B2C2D"/>
                </a:solidFill>
                <a:latin typeface="Arial MT"/>
                <a:cs typeface="Arial MT"/>
              </a:rPr>
              <a:t> </a:t>
            </a:r>
            <a:r>
              <a:rPr sz="2800" spc="-10" dirty="0">
                <a:solidFill>
                  <a:srgbClr val="2B2C2D"/>
                </a:solidFill>
                <a:latin typeface="Arial MT"/>
                <a:cs typeface="Arial MT"/>
              </a:rPr>
              <a:t>account.</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Smart</a:t>
            </a:r>
            <a:r>
              <a:rPr spc="-100" dirty="0"/>
              <a:t> </a:t>
            </a:r>
            <a:r>
              <a:rPr dirty="0"/>
              <a:t>Contract</a:t>
            </a:r>
            <a:r>
              <a:rPr spc="-70" dirty="0"/>
              <a:t> </a:t>
            </a:r>
            <a:r>
              <a:rPr dirty="0"/>
              <a:t>Example:</a:t>
            </a:r>
            <a:r>
              <a:rPr spc="-85" dirty="0"/>
              <a:t> </a:t>
            </a:r>
            <a:r>
              <a:rPr dirty="0"/>
              <a:t>Supply</a:t>
            </a:r>
            <a:r>
              <a:rPr spc="-70" dirty="0"/>
              <a:t> </a:t>
            </a:r>
            <a:r>
              <a:rPr spc="-10" dirty="0"/>
              <a:t>Chain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48</a:t>
            </a:fld>
            <a:endParaRPr spc="-25" dirty="0"/>
          </a:p>
        </p:txBody>
      </p:sp>
      <p:sp>
        <p:nvSpPr>
          <p:cNvPr id="3" name="object 3"/>
          <p:cNvSpPr txBox="1"/>
          <p:nvPr/>
        </p:nvSpPr>
        <p:spPr>
          <a:xfrm>
            <a:off x="861949" y="1302511"/>
            <a:ext cx="7306945" cy="3164840"/>
          </a:xfrm>
          <a:prstGeom prst="rect">
            <a:avLst/>
          </a:prstGeom>
        </p:spPr>
        <p:txBody>
          <a:bodyPr vert="horz" wrap="square" lIns="0" tIns="12065" rIns="0" bIns="0" rtlCol="0">
            <a:spAutoFit/>
          </a:bodyPr>
          <a:lstStyle/>
          <a:p>
            <a:pPr marL="469900" marR="5080" indent="-457200">
              <a:lnSpc>
                <a:spcPct val="100000"/>
              </a:lnSpc>
              <a:spcBef>
                <a:spcPts val="95"/>
              </a:spcBef>
              <a:buFont typeface="Wingdings"/>
              <a:buChar char=""/>
              <a:tabLst>
                <a:tab pos="469900" algn="l"/>
              </a:tabLst>
            </a:pPr>
            <a:r>
              <a:rPr sz="2800" dirty="0">
                <a:solidFill>
                  <a:srgbClr val="2B2C2D"/>
                </a:solidFill>
                <a:latin typeface="Arial MT"/>
                <a:cs typeface="Arial MT"/>
              </a:rPr>
              <a:t>Increased</a:t>
            </a:r>
            <a:r>
              <a:rPr sz="2800" spc="-50" dirty="0">
                <a:solidFill>
                  <a:srgbClr val="2B2C2D"/>
                </a:solidFill>
                <a:latin typeface="Arial MT"/>
                <a:cs typeface="Arial MT"/>
              </a:rPr>
              <a:t> </a:t>
            </a:r>
            <a:r>
              <a:rPr sz="2800" dirty="0">
                <a:solidFill>
                  <a:srgbClr val="2B2C2D"/>
                </a:solidFill>
                <a:latin typeface="Arial MT"/>
                <a:cs typeface="Arial MT"/>
              </a:rPr>
              <a:t>complexity</a:t>
            </a:r>
            <a:r>
              <a:rPr sz="2800" spc="-55" dirty="0">
                <a:solidFill>
                  <a:srgbClr val="2B2C2D"/>
                </a:solidFill>
                <a:latin typeface="Arial MT"/>
                <a:cs typeface="Arial MT"/>
              </a:rPr>
              <a:t> </a:t>
            </a:r>
            <a:r>
              <a:rPr sz="2800" dirty="0">
                <a:solidFill>
                  <a:srgbClr val="2B2C2D"/>
                </a:solidFill>
                <a:latin typeface="Arial MT"/>
                <a:cs typeface="Arial MT"/>
              </a:rPr>
              <a:t>in</a:t>
            </a:r>
            <a:r>
              <a:rPr sz="2800" spc="-50" dirty="0">
                <a:solidFill>
                  <a:srgbClr val="2B2C2D"/>
                </a:solidFill>
                <a:latin typeface="Arial MT"/>
                <a:cs typeface="Arial MT"/>
              </a:rPr>
              <a:t> </a:t>
            </a:r>
            <a:r>
              <a:rPr sz="2800" dirty="0">
                <a:solidFill>
                  <a:srgbClr val="2B2C2D"/>
                </a:solidFill>
                <a:latin typeface="Arial MT"/>
                <a:cs typeface="Arial MT"/>
              </a:rPr>
              <a:t>the</a:t>
            </a:r>
            <a:r>
              <a:rPr sz="2800" spc="-60" dirty="0">
                <a:solidFill>
                  <a:srgbClr val="2B2C2D"/>
                </a:solidFill>
                <a:latin typeface="Arial MT"/>
                <a:cs typeface="Arial MT"/>
              </a:rPr>
              <a:t> </a:t>
            </a:r>
            <a:r>
              <a:rPr sz="2800" b="1" spc="-20" dirty="0">
                <a:solidFill>
                  <a:srgbClr val="2B2C2D"/>
                </a:solidFill>
                <a:latin typeface="Arial"/>
                <a:cs typeface="Arial"/>
              </a:rPr>
              <a:t>cross-</a:t>
            </a:r>
            <a:r>
              <a:rPr sz="2800" b="1" spc="-10" dirty="0">
                <a:solidFill>
                  <a:srgbClr val="2B2C2D"/>
                </a:solidFill>
                <a:latin typeface="Arial"/>
                <a:cs typeface="Arial"/>
              </a:rPr>
              <a:t>border </a:t>
            </a:r>
            <a:r>
              <a:rPr sz="2800" b="1" dirty="0">
                <a:solidFill>
                  <a:srgbClr val="2B2C2D"/>
                </a:solidFill>
                <a:latin typeface="Arial"/>
                <a:cs typeface="Arial"/>
              </a:rPr>
              <a:t>manufacturing</a:t>
            </a:r>
            <a:r>
              <a:rPr sz="2800" b="1" spc="-70" dirty="0">
                <a:solidFill>
                  <a:srgbClr val="2B2C2D"/>
                </a:solidFill>
                <a:latin typeface="Arial"/>
                <a:cs typeface="Arial"/>
              </a:rPr>
              <a:t> </a:t>
            </a:r>
            <a:r>
              <a:rPr sz="2800" b="1" dirty="0">
                <a:solidFill>
                  <a:srgbClr val="2B2C2D"/>
                </a:solidFill>
                <a:latin typeface="Arial"/>
                <a:cs typeface="Arial"/>
              </a:rPr>
              <a:t>and</a:t>
            </a:r>
            <a:r>
              <a:rPr sz="2800" b="1" spc="-95" dirty="0">
                <a:solidFill>
                  <a:srgbClr val="2B2C2D"/>
                </a:solidFill>
                <a:latin typeface="Arial"/>
                <a:cs typeface="Arial"/>
              </a:rPr>
              <a:t> </a:t>
            </a:r>
            <a:r>
              <a:rPr sz="2800" b="1" dirty="0">
                <a:solidFill>
                  <a:srgbClr val="2B2C2D"/>
                </a:solidFill>
                <a:latin typeface="Arial"/>
                <a:cs typeface="Arial"/>
              </a:rPr>
              <a:t>distributing</a:t>
            </a:r>
            <a:r>
              <a:rPr sz="2800" b="1" spc="-80" dirty="0">
                <a:solidFill>
                  <a:srgbClr val="2B2C2D"/>
                </a:solidFill>
                <a:latin typeface="Arial"/>
                <a:cs typeface="Arial"/>
              </a:rPr>
              <a:t> </a:t>
            </a:r>
            <a:r>
              <a:rPr sz="2800" dirty="0">
                <a:solidFill>
                  <a:srgbClr val="2B2C2D"/>
                </a:solidFill>
                <a:latin typeface="Arial MT"/>
                <a:cs typeface="Arial MT"/>
              </a:rPr>
              <a:t>of</a:t>
            </a:r>
            <a:r>
              <a:rPr sz="2800" spc="-110" dirty="0">
                <a:solidFill>
                  <a:srgbClr val="2B2C2D"/>
                </a:solidFill>
                <a:latin typeface="Arial MT"/>
                <a:cs typeface="Arial MT"/>
              </a:rPr>
              <a:t> </a:t>
            </a:r>
            <a:r>
              <a:rPr sz="2800" spc="-10" dirty="0">
                <a:solidFill>
                  <a:srgbClr val="2B2C2D"/>
                </a:solidFill>
                <a:latin typeface="Arial MT"/>
                <a:cs typeface="Arial MT"/>
              </a:rPr>
              <a:t>goods.</a:t>
            </a:r>
            <a:endParaRPr sz="2800">
              <a:latin typeface="Arial MT"/>
              <a:cs typeface="Arial MT"/>
            </a:endParaRPr>
          </a:p>
          <a:p>
            <a:pPr marL="469900" marR="333375" indent="-457200">
              <a:lnSpc>
                <a:spcPct val="100000"/>
              </a:lnSpc>
              <a:spcBef>
                <a:spcPts val="1200"/>
              </a:spcBef>
              <a:buFont typeface="Wingdings"/>
              <a:buChar char=""/>
              <a:tabLst>
                <a:tab pos="469900" algn="l"/>
              </a:tabLst>
            </a:pPr>
            <a:r>
              <a:rPr sz="2800" dirty="0">
                <a:solidFill>
                  <a:srgbClr val="2B2C2D"/>
                </a:solidFill>
                <a:latin typeface="Arial MT"/>
                <a:cs typeface="Arial MT"/>
              </a:rPr>
              <a:t>New</a:t>
            </a:r>
            <a:r>
              <a:rPr sz="2800" spc="-75" dirty="0">
                <a:solidFill>
                  <a:srgbClr val="2B2C2D"/>
                </a:solidFill>
                <a:latin typeface="Arial MT"/>
                <a:cs typeface="Arial MT"/>
              </a:rPr>
              <a:t> </a:t>
            </a:r>
            <a:r>
              <a:rPr sz="2800" dirty="0">
                <a:solidFill>
                  <a:srgbClr val="2B2C2D"/>
                </a:solidFill>
                <a:latin typeface="Arial MT"/>
                <a:cs typeface="Arial MT"/>
              </a:rPr>
              <a:t>legal</a:t>
            </a:r>
            <a:r>
              <a:rPr sz="2800" spc="-65" dirty="0">
                <a:solidFill>
                  <a:srgbClr val="2B2C2D"/>
                </a:solidFill>
                <a:latin typeface="Arial MT"/>
                <a:cs typeface="Arial MT"/>
              </a:rPr>
              <a:t> </a:t>
            </a:r>
            <a:r>
              <a:rPr sz="2800" dirty="0">
                <a:solidFill>
                  <a:srgbClr val="2B2C2D"/>
                </a:solidFill>
                <a:latin typeface="Arial MT"/>
                <a:cs typeface="Arial MT"/>
              </a:rPr>
              <a:t>and</a:t>
            </a:r>
            <a:r>
              <a:rPr sz="2800" spc="-80" dirty="0">
                <a:solidFill>
                  <a:srgbClr val="2B2C2D"/>
                </a:solidFill>
                <a:latin typeface="Arial MT"/>
                <a:cs typeface="Arial MT"/>
              </a:rPr>
              <a:t> </a:t>
            </a:r>
            <a:r>
              <a:rPr sz="2800" dirty="0">
                <a:solidFill>
                  <a:srgbClr val="2B2C2D"/>
                </a:solidFill>
                <a:latin typeface="Arial MT"/>
                <a:cs typeface="Arial MT"/>
              </a:rPr>
              <a:t>compliance</a:t>
            </a:r>
            <a:r>
              <a:rPr sz="2800" spc="-65" dirty="0">
                <a:solidFill>
                  <a:srgbClr val="2B2C2D"/>
                </a:solidFill>
                <a:latin typeface="Arial MT"/>
                <a:cs typeface="Arial MT"/>
              </a:rPr>
              <a:t> </a:t>
            </a:r>
            <a:r>
              <a:rPr sz="2800" dirty="0">
                <a:solidFill>
                  <a:srgbClr val="2B2C2D"/>
                </a:solidFill>
                <a:latin typeface="Arial MT"/>
                <a:cs typeface="Arial MT"/>
              </a:rPr>
              <a:t>obligations</a:t>
            </a:r>
            <a:r>
              <a:rPr sz="2800" spc="-75" dirty="0">
                <a:solidFill>
                  <a:srgbClr val="2B2C2D"/>
                </a:solidFill>
                <a:latin typeface="Arial MT"/>
                <a:cs typeface="Arial MT"/>
              </a:rPr>
              <a:t> </a:t>
            </a:r>
            <a:r>
              <a:rPr sz="2800" spc="-25" dirty="0">
                <a:solidFill>
                  <a:srgbClr val="2B2C2D"/>
                </a:solidFill>
                <a:latin typeface="Arial MT"/>
                <a:cs typeface="Arial MT"/>
              </a:rPr>
              <a:t>for </a:t>
            </a:r>
            <a:r>
              <a:rPr sz="2800" b="1" dirty="0">
                <a:solidFill>
                  <a:srgbClr val="2B2C2D"/>
                </a:solidFill>
                <a:latin typeface="Arial"/>
                <a:cs typeface="Arial"/>
              </a:rPr>
              <a:t>supply</a:t>
            </a:r>
            <a:r>
              <a:rPr sz="2800" b="1" spc="-85" dirty="0">
                <a:solidFill>
                  <a:srgbClr val="2B2C2D"/>
                </a:solidFill>
                <a:latin typeface="Arial"/>
                <a:cs typeface="Arial"/>
              </a:rPr>
              <a:t> </a:t>
            </a:r>
            <a:r>
              <a:rPr sz="2800" b="1" dirty="0">
                <a:solidFill>
                  <a:srgbClr val="2B2C2D"/>
                </a:solidFill>
                <a:latin typeface="Arial"/>
                <a:cs typeface="Arial"/>
              </a:rPr>
              <a:t>chain</a:t>
            </a:r>
            <a:r>
              <a:rPr sz="2800" b="1" spc="-100" dirty="0">
                <a:solidFill>
                  <a:srgbClr val="2B2C2D"/>
                </a:solidFill>
                <a:latin typeface="Arial"/>
                <a:cs typeface="Arial"/>
              </a:rPr>
              <a:t> </a:t>
            </a:r>
            <a:r>
              <a:rPr sz="2800" b="1" dirty="0">
                <a:solidFill>
                  <a:srgbClr val="2B2C2D"/>
                </a:solidFill>
                <a:latin typeface="Arial"/>
                <a:cs typeface="Arial"/>
              </a:rPr>
              <a:t>transparency</a:t>
            </a:r>
            <a:r>
              <a:rPr sz="2800" b="1" spc="-85" dirty="0">
                <a:solidFill>
                  <a:srgbClr val="2B2C2D"/>
                </a:solidFill>
                <a:latin typeface="Arial"/>
                <a:cs typeface="Arial"/>
              </a:rPr>
              <a:t> </a:t>
            </a:r>
            <a:r>
              <a:rPr sz="2800" spc="-10" dirty="0">
                <a:solidFill>
                  <a:srgbClr val="2B2C2D"/>
                </a:solidFill>
                <a:latin typeface="Arial MT"/>
                <a:cs typeface="Arial MT"/>
              </a:rPr>
              <a:t>require </a:t>
            </a:r>
            <a:r>
              <a:rPr sz="2800" dirty="0">
                <a:solidFill>
                  <a:srgbClr val="2B2C2D"/>
                </a:solidFill>
                <a:latin typeface="Arial MT"/>
                <a:cs typeface="Arial MT"/>
              </a:rPr>
              <a:t>companies</a:t>
            </a:r>
            <a:r>
              <a:rPr sz="2800" spc="-60" dirty="0">
                <a:solidFill>
                  <a:srgbClr val="2B2C2D"/>
                </a:solidFill>
                <a:latin typeface="Arial MT"/>
                <a:cs typeface="Arial MT"/>
              </a:rPr>
              <a:t> </a:t>
            </a:r>
            <a:r>
              <a:rPr sz="2800" dirty="0">
                <a:solidFill>
                  <a:srgbClr val="2B2C2D"/>
                </a:solidFill>
                <a:latin typeface="Arial MT"/>
                <a:cs typeface="Arial MT"/>
              </a:rPr>
              <a:t>to</a:t>
            </a:r>
            <a:r>
              <a:rPr sz="2800" spc="-65" dirty="0">
                <a:solidFill>
                  <a:srgbClr val="2B2C2D"/>
                </a:solidFill>
                <a:latin typeface="Arial MT"/>
                <a:cs typeface="Arial MT"/>
              </a:rPr>
              <a:t> </a:t>
            </a:r>
            <a:r>
              <a:rPr sz="2800" dirty="0">
                <a:solidFill>
                  <a:srgbClr val="2B2C2D"/>
                </a:solidFill>
                <a:latin typeface="Arial MT"/>
                <a:cs typeface="Arial MT"/>
              </a:rPr>
              <a:t>trace,</a:t>
            </a:r>
            <a:r>
              <a:rPr sz="2800" spc="-75" dirty="0">
                <a:solidFill>
                  <a:srgbClr val="2B2C2D"/>
                </a:solidFill>
                <a:latin typeface="Arial MT"/>
                <a:cs typeface="Arial MT"/>
              </a:rPr>
              <a:t> </a:t>
            </a:r>
            <a:r>
              <a:rPr sz="2800" dirty="0">
                <a:solidFill>
                  <a:srgbClr val="2B2C2D"/>
                </a:solidFill>
                <a:latin typeface="Arial MT"/>
                <a:cs typeface="Arial MT"/>
              </a:rPr>
              <a:t>document</a:t>
            </a:r>
            <a:r>
              <a:rPr sz="2800" spc="-55" dirty="0">
                <a:solidFill>
                  <a:srgbClr val="2B2C2D"/>
                </a:solidFill>
                <a:latin typeface="Arial MT"/>
                <a:cs typeface="Arial MT"/>
              </a:rPr>
              <a:t> </a:t>
            </a:r>
            <a:r>
              <a:rPr sz="2800" dirty="0">
                <a:solidFill>
                  <a:srgbClr val="2B2C2D"/>
                </a:solidFill>
                <a:latin typeface="Arial MT"/>
                <a:cs typeface="Arial MT"/>
              </a:rPr>
              <a:t>and</a:t>
            </a:r>
            <a:r>
              <a:rPr sz="2800" spc="-65" dirty="0">
                <a:solidFill>
                  <a:srgbClr val="2B2C2D"/>
                </a:solidFill>
                <a:latin typeface="Arial MT"/>
                <a:cs typeface="Arial MT"/>
              </a:rPr>
              <a:t> </a:t>
            </a:r>
            <a:r>
              <a:rPr sz="2800" spc="-10" dirty="0">
                <a:solidFill>
                  <a:srgbClr val="2B2C2D"/>
                </a:solidFill>
                <a:latin typeface="Arial MT"/>
                <a:cs typeface="Arial MT"/>
              </a:rPr>
              <a:t>report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source</a:t>
            </a:r>
            <a:r>
              <a:rPr sz="2800" spc="-50" dirty="0">
                <a:solidFill>
                  <a:srgbClr val="2B2C2D"/>
                </a:solidFill>
                <a:latin typeface="Arial MT"/>
                <a:cs typeface="Arial MT"/>
              </a:rPr>
              <a:t> </a:t>
            </a:r>
            <a:r>
              <a:rPr sz="2800" dirty="0">
                <a:solidFill>
                  <a:srgbClr val="2B2C2D"/>
                </a:solidFill>
                <a:latin typeface="Arial MT"/>
                <a:cs typeface="Arial MT"/>
              </a:rPr>
              <a:t>of</a:t>
            </a:r>
            <a:r>
              <a:rPr sz="2800" spc="-50" dirty="0">
                <a:solidFill>
                  <a:srgbClr val="2B2C2D"/>
                </a:solidFill>
                <a:latin typeface="Arial MT"/>
                <a:cs typeface="Arial MT"/>
              </a:rPr>
              <a:t> </a:t>
            </a:r>
            <a:r>
              <a:rPr sz="2800" dirty="0">
                <a:solidFill>
                  <a:srgbClr val="2B2C2D"/>
                </a:solidFill>
                <a:latin typeface="Arial MT"/>
                <a:cs typeface="Arial MT"/>
              </a:rPr>
              <a:t>products</a:t>
            </a:r>
            <a:r>
              <a:rPr sz="2800" spc="-55" dirty="0">
                <a:solidFill>
                  <a:srgbClr val="2B2C2D"/>
                </a:solidFill>
                <a:latin typeface="Arial MT"/>
                <a:cs typeface="Arial MT"/>
              </a:rPr>
              <a:t> </a:t>
            </a:r>
            <a:r>
              <a:rPr sz="2800" dirty="0">
                <a:solidFill>
                  <a:srgbClr val="2B2C2D"/>
                </a:solidFill>
                <a:latin typeface="Arial MT"/>
                <a:cs typeface="Arial MT"/>
              </a:rPr>
              <a:t>and</a:t>
            </a:r>
            <a:r>
              <a:rPr sz="2800" spc="-50" dirty="0">
                <a:solidFill>
                  <a:srgbClr val="2B2C2D"/>
                </a:solidFill>
                <a:latin typeface="Arial MT"/>
                <a:cs typeface="Arial MT"/>
              </a:rPr>
              <a:t> </a:t>
            </a:r>
            <a:r>
              <a:rPr sz="2800" spc="-10" dirty="0">
                <a:solidFill>
                  <a:srgbClr val="2B2C2D"/>
                </a:solidFill>
                <a:latin typeface="Arial MT"/>
                <a:cs typeface="Arial MT"/>
              </a:rPr>
              <a:t>their components.*</a:t>
            </a:r>
            <a:endParaRPr sz="2800">
              <a:latin typeface="Arial MT"/>
              <a:cs typeface="Arial MT"/>
            </a:endParaRPr>
          </a:p>
        </p:txBody>
      </p:sp>
      <p:sp>
        <p:nvSpPr>
          <p:cNvPr id="4" name="object 4"/>
          <p:cNvSpPr txBox="1"/>
          <p:nvPr/>
        </p:nvSpPr>
        <p:spPr>
          <a:xfrm>
            <a:off x="1244600" y="5316854"/>
            <a:ext cx="6132195" cy="666115"/>
          </a:xfrm>
          <a:prstGeom prst="rect">
            <a:avLst/>
          </a:prstGeom>
        </p:spPr>
        <p:txBody>
          <a:bodyPr vert="horz" wrap="square" lIns="0" tIns="12700" rIns="0" bIns="0" rtlCol="0">
            <a:spAutoFit/>
          </a:bodyPr>
          <a:lstStyle/>
          <a:p>
            <a:pPr marL="12700" marR="5080" algn="just">
              <a:lnSpc>
                <a:spcPct val="100000"/>
              </a:lnSpc>
              <a:spcBef>
                <a:spcPts val="100"/>
              </a:spcBef>
            </a:pPr>
            <a:r>
              <a:rPr sz="1400" dirty="0">
                <a:solidFill>
                  <a:srgbClr val="2B2C2D"/>
                </a:solidFill>
                <a:latin typeface="Arial MT"/>
                <a:cs typeface="Arial MT"/>
              </a:rPr>
              <a:t>*See</a:t>
            </a:r>
            <a:r>
              <a:rPr sz="1400" spc="65" dirty="0">
                <a:solidFill>
                  <a:srgbClr val="2B2C2D"/>
                </a:solidFill>
                <a:latin typeface="Arial MT"/>
                <a:cs typeface="Arial MT"/>
              </a:rPr>
              <a:t> </a:t>
            </a:r>
            <a:r>
              <a:rPr sz="1400" dirty="0">
                <a:solidFill>
                  <a:srgbClr val="2B2C2D"/>
                </a:solidFill>
                <a:latin typeface="Arial MT"/>
                <a:cs typeface="Arial MT"/>
              </a:rPr>
              <a:t>for</a:t>
            </a:r>
            <a:r>
              <a:rPr sz="1400" spc="70" dirty="0">
                <a:solidFill>
                  <a:srgbClr val="2B2C2D"/>
                </a:solidFill>
                <a:latin typeface="Arial MT"/>
                <a:cs typeface="Arial MT"/>
              </a:rPr>
              <a:t> </a:t>
            </a:r>
            <a:r>
              <a:rPr sz="1400" dirty="0">
                <a:solidFill>
                  <a:srgbClr val="2B2C2D"/>
                </a:solidFill>
                <a:latin typeface="Arial MT"/>
                <a:cs typeface="Arial MT"/>
              </a:rPr>
              <a:t>example</a:t>
            </a:r>
            <a:r>
              <a:rPr sz="1400" spc="55" dirty="0">
                <a:solidFill>
                  <a:srgbClr val="2B2C2D"/>
                </a:solidFill>
                <a:latin typeface="Arial MT"/>
                <a:cs typeface="Arial MT"/>
              </a:rPr>
              <a:t> </a:t>
            </a:r>
            <a:r>
              <a:rPr sz="1400" dirty="0">
                <a:solidFill>
                  <a:srgbClr val="2B2C2D"/>
                </a:solidFill>
                <a:latin typeface="Arial MT"/>
                <a:cs typeface="Arial MT"/>
              </a:rPr>
              <a:t>the</a:t>
            </a:r>
            <a:r>
              <a:rPr sz="1400" spc="70" dirty="0">
                <a:solidFill>
                  <a:srgbClr val="2B2C2D"/>
                </a:solidFill>
                <a:latin typeface="Arial MT"/>
                <a:cs typeface="Arial MT"/>
              </a:rPr>
              <a:t> </a:t>
            </a:r>
            <a:r>
              <a:rPr sz="1400" dirty="0">
                <a:solidFill>
                  <a:srgbClr val="2B2C2D"/>
                </a:solidFill>
                <a:latin typeface="Arial MT"/>
                <a:cs typeface="Arial MT"/>
              </a:rPr>
              <a:t>California</a:t>
            </a:r>
            <a:r>
              <a:rPr sz="1400" spc="65" dirty="0">
                <a:solidFill>
                  <a:srgbClr val="2B2C2D"/>
                </a:solidFill>
                <a:latin typeface="Arial MT"/>
                <a:cs typeface="Arial MT"/>
              </a:rPr>
              <a:t> </a:t>
            </a:r>
            <a:r>
              <a:rPr sz="1400" dirty="0">
                <a:solidFill>
                  <a:srgbClr val="2B2C2D"/>
                </a:solidFill>
                <a:latin typeface="Arial MT"/>
                <a:cs typeface="Arial MT"/>
              </a:rPr>
              <a:t>Transparency</a:t>
            </a:r>
            <a:r>
              <a:rPr sz="1400" spc="65" dirty="0">
                <a:solidFill>
                  <a:srgbClr val="2B2C2D"/>
                </a:solidFill>
                <a:latin typeface="Arial MT"/>
                <a:cs typeface="Arial MT"/>
              </a:rPr>
              <a:t> </a:t>
            </a:r>
            <a:r>
              <a:rPr sz="1400" dirty="0">
                <a:solidFill>
                  <a:srgbClr val="2B2C2D"/>
                </a:solidFill>
                <a:latin typeface="Arial MT"/>
                <a:cs typeface="Arial MT"/>
              </a:rPr>
              <a:t>in</a:t>
            </a:r>
            <a:r>
              <a:rPr sz="1400" spc="75" dirty="0">
                <a:solidFill>
                  <a:srgbClr val="2B2C2D"/>
                </a:solidFill>
                <a:latin typeface="Arial MT"/>
                <a:cs typeface="Arial MT"/>
              </a:rPr>
              <a:t> </a:t>
            </a:r>
            <a:r>
              <a:rPr sz="1400" dirty="0">
                <a:solidFill>
                  <a:srgbClr val="2B2C2D"/>
                </a:solidFill>
                <a:latin typeface="Arial MT"/>
                <a:cs typeface="Arial MT"/>
              </a:rPr>
              <a:t>Supply</a:t>
            </a:r>
            <a:r>
              <a:rPr sz="1400" spc="65" dirty="0">
                <a:solidFill>
                  <a:srgbClr val="2B2C2D"/>
                </a:solidFill>
                <a:latin typeface="Arial MT"/>
                <a:cs typeface="Arial MT"/>
              </a:rPr>
              <a:t> </a:t>
            </a:r>
            <a:r>
              <a:rPr sz="1400" dirty="0">
                <a:solidFill>
                  <a:srgbClr val="2B2C2D"/>
                </a:solidFill>
                <a:latin typeface="Arial MT"/>
                <a:cs typeface="Arial MT"/>
              </a:rPr>
              <a:t>Chains</a:t>
            </a:r>
            <a:r>
              <a:rPr sz="1400" spc="85" dirty="0">
                <a:solidFill>
                  <a:srgbClr val="2B2C2D"/>
                </a:solidFill>
                <a:latin typeface="Arial MT"/>
                <a:cs typeface="Arial MT"/>
              </a:rPr>
              <a:t> </a:t>
            </a:r>
            <a:r>
              <a:rPr sz="1400" dirty="0">
                <a:solidFill>
                  <a:srgbClr val="2B2C2D"/>
                </a:solidFill>
                <a:latin typeface="Arial MT"/>
                <a:cs typeface="Arial MT"/>
              </a:rPr>
              <a:t>Act</a:t>
            </a:r>
            <a:r>
              <a:rPr sz="1400" spc="70" dirty="0">
                <a:solidFill>
                  <a:srgbClr val="2B2C2D"/>
                </a:solidFill>
                <a:latin typeface="Arial MT"/>
                <a:cs typeface="Arial MT"/>
              </a:rPr>
              <a:t> </a:t>
            </a:r>
            <a:r>
              <a:rPr sz="1400" dirty="0">
                <a:solidFill>
                  <a:srgbClr val="2B2C2D"/>
                </a:solidFill>
                <a:latin typeface="Arial MT"/>
                <a:cs typeface="Arial MT"/>
              </a:rPr>
              <a:t>of</a:t>
            </a:r>
            <a:r>
              <a:rPr sz="1400" spc="65" dirty="0">
                <a:solidFill>
                  <a:srgbClr val="2B2C2D"/>
                </a:solidFill>
                <a:latin typeface="Arial MT"/>
                <a:cs typeface="Arial MT"/>
              </a:rPr>
              <a:t> </a:t>
            </a:r>
            <a:r>
              <a:rPr sz="1400" spc="-10" dirty="0">
                <a:solidFill>
                  <a:srgbClr val="2B2C2D"/>
                </a:solidFill>
                <a:latin typeface="Arial MT"/>
                <a:cs typeface="Arial MT"/>
              </a:rPr>
              <a:t>2010, </a:t>
            </a:r>
            <a:r>
              <a:rPr sz="1400" dirty="0">
                <a:solidFill>
                  <a:srgbClr val="2B2C2D"/>
                </a:solidFill>
                <a:latin typeface="Arial MT"/>
                <a:cs typeface="Arial MT"/>
              </a:rPr>
              <a:t>California</a:t>
            </a:r>
            <a:r>
              <a:rPr sz="1400" spc="-5" dirty="0">
                <a:solidFill>
                  <a:srgbClr val="2B2C2D"/>
                </a:solidFill>
                <a:latin typeface="Arial MT"/>
                <a:cs typeface="Arial MT"/>
              </a:rPr>
              <a:t> </a:t>
            </a:r>
            <a:r>
              <a:rPr sz="1400" dirty="0">
                <a:solidFill>
                  <a:srgbClr val="2B2C2D"/>
                </a:solidFill>
                <a:latin typeface="Arial MT"/>
                <a:cs typeface="Arial MT"/>
              </a:rPr>
              <a:t>Civil</a:t>
            </a:r>
            <a:r>
              <a:rPr sz="1400" spc="10" dirty="0">
                <a:solidFill>
                  <a:srgbClr val="2B2C2D"/>
                </a:solidFill>
                <a:latin typeface="Arial MT"/>
                <a:cs typeface="Arial MT"/>
              </a:rPr>
              <a:t> </a:t>
            </a:r>
            <a:r>
              <a:rPr sz="1400" dirty="0">
                <a:solidFill>
                  <a:srgbClr val="2B2C2D"/>
                </a:solidFill>
                <a:latin typeface="Arial MT"/>
                <a:cs typeface="Arial MT"/>
              </a:rPr>
              <a:t>Code</a:t>
            </a:r>
            <a:r>
              <a:rPr sz="1400" spc="10" dirty="0">
                <a:solidFill>
                  <a:srgbClr val="2B2C2D"/>
                </a:solidFill>
                <a:latin typeface="Arial MT"/>
                <a:cs typeface="Arial MT"/>
              </a:rPr>
              <a:t> </a:t>
            </a:r>
            <a:r>
              <a:rPr sz="1400" dirty="0">
                <a:solidFill>
                  <a:srgbClr val="2B2C2D"/>
                </a:solidFill>
                <a:latin typeface="Arial MT"/>
                <a:cs typeface="Arial MT"/>
              </a:rPr>
              <a:t>Section 1714.43,</a:t>
            </a:r>
            <a:r>
              <a:rPr sz="1400" spc="-15" dirty="0">
                <a:solidFill>
                  <a:srgbClr val="2B2C2D"/>
                </a:solidFill>
                <a:latin typeface="Arial MT"/>
                <a:cs typeface="Arial MT"/>
              </a:rPr>
              <a:t> </a:t>
            </a:r>
            <a:r>
              <a:rPr sz="1400" dirty="0">
                <a:solidFill>
                  <a:srgbClr val="2B2C2D"/>
                </a:solidFill>
                <a:latin typeface="Arial MT"/>
                <a:cs typeface="Arial MT"/>
              </a:rPr>
              <a:t>which focuses on</a:t>
            </a:r>
            <a:r>
              <a:rPr sz="1400" spc="-15" dirty="0">
                <a:solidFill>
                  <a:srgbClr val="2B2C2D"/>
                </a:solidFill>
                <a:latin typeface="Arial MT"/>
                <a:cs typeface="Arial MT"/>
              </a:rPr>
              <a:t> </a:t>
            </a:r>
            <a:r>
              <a:rPr sz="1400" dirty="0">
                <a:solidFill>
                  <a:srgbClr val="2B2C2D"/>
                </a:solidFill>
                <a:latin typeface="Arial MT"/>
                <a:cs typeface="Arial MT"/>
              </a:rPr>
              <a:t>prevention of </a:t>
            </a:r>
            <a:r>
              <a:rPr sz="1400" spc="-10" dirty="0">
                <a:solidFill>
                  <a:srgbClr val="2B2C2D"/>
                </a:solidFill>
                <a:latin typeface="Arial MT"/>
                <a:cs typeface="Arial MT"/>
              </a:rPr>
              <a:t>human </a:t>
            </a:r>
            <a:r>
              <a:rPr sz="1400" dirty="0">
                <a:solidFill>
                  <a:srgbClr val="2B2C2D"/>
                </a:solidFill>
                <a:latin typeface="Arial MT"/>
                <a:cs typeface="Arial MT"/>
              </a:rPr>
              <a:t>trafficking</a:t>
            </a:r>
            <a:r>
              <a:rPr sz="1400" spc="-65" dirty="0">
                <a:solidFill>
                  <a:srgbClr val="2B2C2D"/>
                </a:solidFill>
                <a:latin typeface="Arial MT"/>
                <a:cs typeface="Arial MT"/>
              </a:rPr>
              <a:t> </a:t>
            </a:r>
            <a:r>
              <a:rPr sz="1400" dirty="0">
                <a:solidFill>
                  <a:srgbClr val="2B2C2D"/>
                </a:solidFill>
                <a:latin typeface="Arial MT"/>
                <a:cs typeface="Arial MT"/>
              </a:rPr>
              <a:t>and</a:t>
            </a:r>
            <a:r>
              <a:rPr sz="1400" spc="-30" dirty="0">
                <a:solidFill>
                  <a:srgbClr val="2B2C2D"/>
                </a:solidFill>
                <a:latin typeface="Arial MT"/>
                <a:cs typeface="Arial MT"/>
              </a:rPr>
              <a:t> </a:t>
            </a:r>
            <a:r>
              <a:rPr sz="1400" dirty="0">
                <a:solidFill>
                  <a:srgbClr val="2B2C2D"/>
                </a:solidFill>
                <a:latin typeface="Arial MT"/>
                <a:cs typeface="Arial MT"/>
              </a:rPr>
              <a:t>use</a:t>
            </a:r>
            <a:r>
              <a:rPr sz="1400" spc="-25" dirty="0">
                <a:solidFill>
                  <a:srgbClr val="2B2C2D"/>
                </a:solidFill>
                <a:latin typeface="Arial MT"/>
                <a:cs typeface="Arial MT"/>
              </a:rPr>
              <a:t> </a:t>
            </a:r>
            <a:r>
              <a:rPr sz="1400" dirty="0">
                <a:solidFill>
                  <a:srgbClr val="2B2C2D"/>
                </a:solidFill>
                <a:latin typeface="Arial MT"/>
                <a:cs typeface="Arial MT"/>
              </a:rPr>
              <a:t>of</a:t>
            </a:r>
            <a:r>
              <a:rPr sz="1400" spc="-25" dirty="0">
                <a:solidFill>
                  <a:srgbClr val="2B2C2D"/>
                </a:solidFill>
                <a:latin typeface="Arial MT"/>
                <a:cs typeface="Arial MT"/>
              </a:rPr>
              <a:t> </a:t>
            </a:r>
            <a:r>
              <a:rPr sz="1400" dirty="0">
                <a:solidFill>
                  <a:srgbClr val="2B2C2D"/>
                </a:solidFill>
                <a:latin typeface="Arial MT"/>
                <a:cs typeface="Arial MT"/>
              </a:rPr>
              <a:t>child</a:t>
            </a:r>
            <a:r>
              <a:rPr sz="1400" spc="-25" dirty="0">
                <a:solidFill>
                  <a:srgbClr val="2B2C2D"/>
                </a:solidFill>
                <a:latin typeface="Arial MT"/>
                <a:cs typeface="Arial MT"/>
              </a:rPr>
              <a:t> </a:t>
            </a:r>
            <a:r>
              <a:rPr sz="1400" dirty="0">
                <a:solidFill>
                  <a:srgbClr val="2B2C2D"/>
                </a:solidFill>
                <a:latin typeface="Arial MT"/>
                <a:cs typeface="Arial MT"/>
              </a:rPr>
              <a:t>labor</a:t>
            </a:r>
            <a:r>
              <a:rPr sz="1400" spc="-30" dirty="0">
                <a:solidFill>
                  <a:srgbClr val="2B2C2D"/>
                </a:solidFill>
                <a:latin typeface="Arial MT"/>
                <a:cs typeface="Arial MT"/>
              </a:rPr>
              <a:t> </a:t>
            </a:r>
            <a:r>
              <a:rPr sz="1400" dirty="0">
                <a:solidFill>
                  <a:srgbClr val="2B2C2D"/>
                </a:solidFill>
                <a:latin typeface="Arial MT"/>
                <a:cs typeface="Arial MT"/>
              </a:rPr>
              <a:t>in</a:t>
            </a:r>
            <a:r>
              <a:rPr sz="1400" spc="-15" dirty="0">
                <a:solidFill>
                  <a:srgbClr val="2B2C2D"/>
                </a:solidFill>
                <a:latin typeface="Arial MT"/>
                <a:cs typeface="Arial MT"/>
              </a:rPr>
              <a:t> </a:t>
            </a:r>
            <a:r>
              <a:rPr sz="1400" spc="-10" dirty="0">
                <a:solidFill>
                  <a:srgbClr val="2B2C2D"/>
                </a:solidFill>
                <a:latin typeface="Arial MT"/>
                <a:cs typeface="Arial MT"/>
              </a:rPr>
              <a:t>manufacturing.</a:t>
            </a:r>
            <a:endParaRPr sz="140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623175" cy="528891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Smart</a:t>
            </a:r>
            <a:r>
              <a:rPr sz="2800" b="1" spc="-100" dirty="0">
                <a:solidFill>
                  <a:srgbClr val="00339F"/>
                </a:solidFill>
                <a:latin typeface="Arial"/>
                <a:cs typeface="Arial"/>
              </a:rPr>
              <a:t> </a:t>
            </a:r>
            <a:r>
              <a:rPr sz="2800" b="1" dirty="0">
                <a:solidFill>
                  <a:srgbClr val="00339F"/>
                </a:solidFill>
                <a:latin typeface="Arial"/>
                <a:cs typeface="Arial"/>
              </a:rPr>
              <a:t>Contract</a:t>
            </a:r>
            <a:r>
              <a:rPr sz="2800" b="1" spc="-70" dirty="0">
                <a:solidFill>
                  <a:srgbClr val="00339F"/>
                </a:solidFill>
                <a:latin typeface="Arial"/>
                <a:cs typeface="Arial"/>
              </a:rPr>
              <a:t> </a:t>
            </a:r>
            <a:r>
              <a:rPr sz="2800" b="1" dirty="0">
                <a:solidFill>
                  <a:srgbClr val="00339F"/>
                </a:solidFill>
                <a:latin typeface="Arial"/>
                <a:cs typeface="Arial"/>
              </a:rPr>
              <a:t>Example:</a:t>
            </a:r>
            <a:r>
              <a:rPr sz="2800" b="1" spc="-85" dirty="0">
                <a:solidFill>
                  <a:srgbClr val="00339F"/>
                </a:solidFill>
                <a:latin typeface="Arial"/>
                <a:cs typeface="Arial"/>
              </a:rPr>
              <a:t> </a:t>
            </a:r>
            <a:r>
              <a:rPr sz="2800" b="1" dirty="0">
                <a:solidFill>
                  <a:srgbClr val="00339F"/>
                </a:solidFill>
                <a:latin typeface="Arial"/>
                <a:cs typeface="Arial"/>
              </a:rPr>
              <a:t>Supply</a:t>
            </a:r>
            <a:r>
              <a:rPr sz="2800" b="1" spc="-70" dirty="0">
                <a:solidFill>
                  <a:srgbClr val="00339F"/>
                </a:solidFill>
                <a:latin typeface="Arial"/>
                <a:cs typeface="Arial"/>
              </a:rPr>
              <a:t> </a:t>
            </a:r>
            <a:r>
              <a:rPr sz="2800" b="1" spc="-10" dirty="0">
                <a:solidFill>
                  <a:srgbClr val="00339F"/>
                </a:solidFill>
                <a:latin typeface="Arial"/>
                <a:cs typeface="Arial"/>
              </a:rPr>
              <a:t>Chain</a:t>
            </a:r>
            <a:endParaRPr sz="2800">
              <a:latin typeface="Arial"/>
              <a:cs typeface="Arial"/>
            </a:endParaRPr>
          </a:p>
          <a:p>
            <a:pPr>
              <a:lnSpc>
                <a:spcPct val="100000"/>
              </a:lnSpc>
              <a:spcBef>
                <a:spcPts val="270"/>
              </a:spcBef>
            </a:pPr>
            <a:endParaRPr sz="2800">
              <a:latin typeface="Arial"/>
              <a:cs typeface="Arial"/>
            </a:endParaRPr>
          </a:p>
          <a:p>
            <a:pPr marL="928369" marR="255270" indent="-457200">
              <a:lnSpc>
                <a:spcPct val="100000"/>
              </a:lnSpc>
              <a:buClr>
                <a:srgbClr val="6D2C91"/>
              </a:buClr>
              <a:buFont typeface="Wingdings"/>
              <a:buChar char=""/>
              <a:tabLst>
                <a:tab pos="928369" algn="l"/>
              </a:tabLst>
            </a:pPr>
            <a:r>
              <a:rPr sz="2800" dirty="0">
                <a:solidFill>
                  <a:srgbClr val="2B2C2D"/>
                </a:solidFill>
                <a:latin typeface="Arial MT"/>
                <a:cs typeface="Arial MT"/>
              </a:rPr>
              <a:t>Use</a:t>
            </a:r>
            <a:r>
              <a:rPr sz="2800" spc="-65"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smart</a:t>
            </a:r>
            <a:r>
              <a:rPr sz="2800" spc="-65" dirty="0">
                <a:solidFill>
                  <a:srgbClr val="2B2C2D"/>
                </a:solidFill>
                <a:latin typeface="Arial MT"/>
                <a:cs typeface="Arial MT"/>
              </a:rPr>
              <a:t> </a:t>
            </a:r>
            <a:r>
              <a:rPr sz="2800" dirty="0">
                <a:solidFill>
                  <a:srgbClr val="2B2C2D"/>
                </a:solidFill>
                <a:latin typeface="Arial MT"/>
                <a:cs typeface="Arial MT"/>
              </a:rPr>
              <a:t>contract:</a:t>
            </a:r>
            <a:r>
              <a:rPr sz="2800" spc="635" dirty="0">
                <a:solidFill>
                  <a:srgbClr val="2B2C2D"/>
                </a:solidFill>
                <a:latin typeface="Arial MT"/>
                <a:cs typeface="Arial MT"/>
              </a:rPr>
              <a:t> </a:t>
            </a:r>
            <a:r>
              <a:rPr sz="2800" b="1" dirty="0">
                <a:solidFill>
                  <a:srgbClr val="2B2C2D"/>
                </a:solidFill>
                <a:latin typeface="Arial"/>
                <a:cs typeface="Arial"/>
              </a:rPr>
              <a:t>Coordination</a:t>
            </a:r>
            <a:r>
              <a:rPr sz="2800" b="1" spc="-35" dirty="0">
                <a:solidFill>
                  <a:srgbClr val="2B2C2D"/>
                </a:solidFill>
                <a:latin typeface="Arial"/>
                <a:cs typeface="Arial"/>
              </a:rPr>
              <a:t> </a:t>
            </a:r>
            <a:r>
              <a:rPr sz="2800" b="1" spc="-25" dirty="0">
                <a:solidFill>
                  <a:srgbClr val="2B2C2D"/>
                </a:solidFill>
                <a:latin typeface="Arial"/>
                <a:cs typeface="Arial"/>
              </a:rPr>
              <a:t>of </a:t>
            </a:r>
            <a:r>
              <a:rPr sz="2800" b="1" dirty="0">
                <a:solidFill>
                  <a:srgbClr val="2B2C2D"/>
                </a:solidFill>
                <a:latin typeface="Arial"/>
                <a:cs typeface="Arial"/>
              </a:rPr>
              <a:t>numerous</a:t>
            </a:r>
            <a:r>
              <a:rPr sz="2800" b="1" spc="-105" dirty="0">
                <a:solidFill>
                  <a:srgbClr val="2B2C2D"/>
                </a:solidFill>
                <a:latin typeface="Arial"/>
                <a:cs typeface="Arial"/>
              </a:rPr>
              <a:t> </a:t>
            </a:r>
            <a:r>
              <a:rPr sz="2800" b="1" dirty="0">
                <a:solidFill>
                  <a:srgbClr val="2B2C2D"/>
                </a:solidFill>
                <a:latin typeface="Arial"/>
                <a:cs typeface="Arial"/>
              </a:rPr>
              <a:t>counterparties</a:t>
            </a:r>
            <a:r>
              <a:rPr sz="2800" dirty="0">
                <a:solidFill>
                  <a:srgbClr val="2B2C2D"/>
                </a:solidFill>
                <a:latin typeface="Arial MT"/>
                <a:cs typeface="Arial MT"/>
              </a:rPr>
              <a:t>;</a:t>
            </a:r>
            <a:r>
              <a:rPr sz="2800" spc="-110" dirty="0">
                <a:solidFill>
                  <a:srgbClr val="2B2C2D"/>
                </a:solidFill>
                <a:latin typeface="Arial MT"/>
                <a:cs typeface="Arial MT"/>
              </a:rPr>
              <a:t> </a:t>
            </a:r>
            <a:r>
              <a:rPr sz="2800" dirty="0">
                <a:solidFill>
                  <a:srgbClr val="2B2C2D"/>
                </a:solidFill>
                <a:latin typeface="Arial MT"/>
                <a:cs typeface="Arial MT"/>
              </a:rPr>
              <a:t>tracking</a:t>
            </a:r>
            <a:r>
              <a:rPr sz="2800" spc="-145" dirty="0">
                <a:solidFill>
                  <a:srgbClr val="2B2C2D"/>
                </a:solidFill>
                <a:latin typeface="Arial MT"/>
                <a:cs typeface="Arial MT"/>
              </a:rPr>
              <a:t> </a:t>
            </a:r>
            <a:r>
              <a:rPr sz="2800" spc="-25" dirty="0">
                <a:solidFill>
                  <a:srgbClr val="2B2C2D"/>
                </a:solidFill>
                <a:latin typeface="Arial MT"/>
                <a:cs typeface="Arial MT"/>
              </a:rPr>
              <a:t>and </a:t>
            </a:r>
            <a:r>
              <a:rPr sz="2800" dirty="0">
                <a:solidFill>
                  <a:srgbClr val="2B2C2D"/>
                </a:solidFill>
                <a:latin typeface="Arial MT"/>
                <a:cs typeface="Arial MT"/>
              </a:rPr>
              <a:t>verification</a:t>
            </a:r>
            <a:r>
              <a:rPr sz="2800" spc="-6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b="1" dirty="0">
                <a:solidFill>
                  <a:srgbClr val="2B2C2D"/>
                </a:solidFill>
                <a:latin typeface="Arial"/>
                <a:cs typeface="Arial"/>
              </a:rPr>
              <a:t>source</a:t>
            </a:r>
            <a:r>
              <a:rPr sz="2800" b="1" spc="-40" dirty="0">
                <a:solidFill>
                  <a:srgbClr val="2B2C2D"/>
                </a:solidFill>
                <a:latin typeface="Arial"/>
                <a:cs typeface="Arial"/>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spc="-10" dirty="0">
                <a:solidFill>
                  <a:srgbClr val="2B2C2D"/>
                </a:solidFill>
                <a:latin typeface="Arial MT"/>
                <a:cs typeface="Arial MT"/>
              </a:rPr>
              <a:t>components; </a:t>
            </a:r>
            <a:r>
              <a:rPr sz="2800" b="1" dirty="0">
                <a:solidFill>
                  <a:srgbClr val="2B2C2D"/>
                </a:solidFill>
                <a:latin typeface="Arial"/>
                <a:cs typeface="Arial"/>
              </a:rPr>
              <a:t>supply</a:t>
            </a:r>
            <a:r>
              <a:rPr sz="2800" b="1" spc="-80" dirty="0">
                <a:solidFill>
                  <a:srgbClr val="2B2C2D"/>
                </a:solidFill>
                <a:latin typeface="Arial"/>
                <a:cs typeface="Arial"/>
              </a:rPr>
              <a:t> </a:t>
            </a:r>
            <a:r>
              <a:rPr sz="2800" b="1" dirty="0">
                <a:solidFill>
                  <a:srgbClr val="2B2C2D"/>
                </a:solidFill>
                <a:latin typeface="Arial"/>
                <a:cs typeface="Arial"/>
              </a:rPr>
              <a:t>chain</a:t>
            </a:r>
            <a:r>
              <a:rPr sz="2800" b="1" spc="-100" dirty="0">
                <a:solidFill>
                  <a:srgbClr val="2B2C2D"/>
                </a:solidFill>
                <a:latin typeface="Arial"/>
                <a:cs typeface="Arial"/>
              </a:rPr>
              <a:t> </a:t>
            </a:r>
            <a:r>
              <a:rPr sz="2800" b="1" dirty="0">
                <a:solidFill>
                  <a:srgbClr val="2B2C2D"/>
                </a:solidFill>
                <a:latin typeface="Arial"/>
                <a:cs typeface="Arial"/>
              </a:rPr>
              <a:t>transparency</a:t>
            </a:r>
            <a:r>
              <a:rPr sz="2800" b="1" spc="-90" dirty="0">
                <a:solidFill>
                  <a:srgbClr val="2B2C2D"/>
                </a:solidFill>
                <a:latin typeface="Arial"/>
                <a:cs typeface="Arial"/>
              </a:rPr>
              <a:t> </a:t>
            </a:r>
            <a:r>
              <a:rPr sz="2800" spc="-10" dirty="0">
                <a:solidFill>
                  <a:srgbClr val="2B2C2D"/>
                </a:solidFill>
                <a:latin typeface="Arial MT"/>
                <a:cs typeface="Arial MT"/>
              </a:rPr>
              <a:t>under </a:t>
            </a:r>
            <a:r>
              <a:rPr sz="2800" dirty="0">
                <a:solidFill>
                  <a:srgbClr val="2B2C2D"/>
                </a:solidFill>
                <a:latin typeface="Arial MT"/>
                <a:cs typeface="Arial MT"/>
              </a:rPr>
              <a:t>applicable</a:t>
            </a:r>
            <a:r>
              <a:rPr sz="2800" spc="-95" dirty="0">
                <a:solidFill>
                  <a:srgbClr val="2B2C2D"/>
                </a:solidFill>
                <a:latin typeface="Arial MT"/>
                <a:cs typeface="Arial MT"/>
              </a:rPr>
              <a:t> </a:t>
            </a:r>
            <a:r>
              <a:rPr sz="2800" spc="-20" dirty="0">
                <a:solidFill>
                  <a:srgbClr val="2B2C2D"/>
                </a:solidFill>
                <a:latin typeface="Arial MT"/>
                <a:cs typeface="Arial MT"/>
              </a:rPr>
              <a:t>law.</a:t>
            </a:r>
            <a:endParaRPr sz="2800">
              <a:latin typeface="Arial MT"/>
              <a:cs typeface="Arial MT"/>
            </a:endParaRPr>
          </a:p>
          <a:p>
            <a:pPr marL="928369" marR="508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Bar</a:t>
            </a:r>
            <a:r>
              <a:rPr sz="2800" spc="-40" dirty="0">
                <a:solidFill>
                  <a:srgbClr val="2B2C2D"/>
                </a:solidFill>
                <a:latin typeface="Arial MT"/>
                <a:cs typeface="Arial MT"/>
              </a:rPr>
              <a:t> </a:t>
            </a:r>
            <a:r>
              <a:rPr sz="2800" dirty="0">
                <a:solidFill>
                  <a:srgbClr val="2B2C2D"/>
                </a:solidFill>
                <a:latin typeface="Arial MT"/>
                <a:cs typeface="Arial MT"/>
              </a:rPr>
              <a:t>codes</a:t>
            </a:r>
            <a:r>
              <a:rPr sz="2800" spc="-35" dirty="0">
                <a:solidFill>
                  <a:srgbClr val="2B2C2D"/>
                </a:solidFill>
                <a:latin typeface="Arial MT"/>
                <a:cs typeface="Arial MT"/>
              </a:rPr>
              <a:t> </a:t>
            </a:r>
            <a:r>
              <a:rPr sz="2800" dirty="0">
                <a:solidFill>
                  <a:srgbClr val="2B2C2D"/>
                </a:solidFill>
                <a:latin typeface="Arial MT"/>
                <a:cs typeface="Arial MT"/>
              </a:rPr>
              <a:t>or</a:t>
            </a:r>
            <a:r>
              <a:rPr sz="2800" spc="-45" dirty="0">
                <a:solidFill>
                  <a:srgbClr val="2B2C2D"/>
                </a:solidFill>
                <a:latin typeface="Arial MT"/>
                <a:cs typeface="Arial MT"/>
              </a:rPr>
              <a:t> </a:t>
            </a:r>
            <a:r>
              <a:rPr sz="2800" dirty="0">
                <a:solidFill>
                  <a:srgbClr val="2B2C2D"/>
                </a:solidFill>
                <a:latin typeface="Arial MT"/>
                <a:cs typeface="Arial MT"/>
              </a:rPr>
              <a:t>RFID</a:t>
            </a:r>
            <a:r>
              <a:rPr sz="2800" spc="-30" dirty="0">
                <a:solidFill>
                  <a:srgbClr val="2B2C2D"/>
                </a:solidFill>
                <a:latin typeface="Arial MT"/>
                <a:cs typeface="Arial MT"/>
              </a:rPr>
              <a:t> </a:t>
            </a:r>
            <a:r>
              <a:rPr sz="2800" dirty="0">
                <a:solidFill>
                  <a:srgbClr val="2B2C2D"/>
                </a:solidFill>
                <a:latin typeface="Arial MT"/>
                <a:cs typeface="Arial MT"/>
              </a:rPr>
              <a:t>or</a:t>
            </a:r>
            <a:r>
              <a:rPr sz="2800" spc="-45" dirty="0">
                <a:solidFill>
                  <a:srgbClr val="2B2C2D"/>
                </a:solidFill>
                <a:latin typeface="Arial MT"/>
                <a:cs typeface="Arial MT"/>
              </a:rPr>
              <a:t> </a:t>
            </a:r>
            <a:r>
              <a:rPr sz="2800" dirty="0">
                <a:solidFill>
                  <a:srgbClr val="2B2C2D"/>
                </a:solidFill>
                <a:latin typeface="Arial MT"/>
                <a:cs typeface="Arial MT"/>
              </a:rPr>
              <a:t>IOT</a:t>
            </a:r>
            <a:r>
              <a:rPr sz="2800" spc="-100" dirty="0">
                <a:solidFill>
                  <a:srgbClr val="2B2C2D"/>
                </a:solidFill>
                <a:latin typeface="Arial MT"/>
                <a:cs typeface="Arial MT"/>
              </a:rPr>
              <a:t> </a:t>
            </a:r>
            <a:r>
              <a:rPr sz="2800" dirty="0">
                <a:solidFill>
                  <a:srgbClr val="2B2C2D"/>
                </a:solidFill>
                <a:latin typeface="Arial MT"/>
                <a:cs typeface="Arial MT"/>
              </a:rPr>
              <a:t>devices</a:t>
            </a:r>
            <a:r>
              <a:rPr sz="2800" spc="-45" dirty="0">
                <a:solidFill>
                  <a:srgbClr val="2B2C2D"/>
                </a:solidFill>
                <a:latin typeface="Arial MT"/>
                <a:cs typeface="Arial MT"/>
              </a:rPr>
              <a:t> </a:t>
            </a:r>
            <a:r>
              <a:rPr sz="2800" dirty="0">
                <a:solidFill>
                  <a:srgbClr val="2B2C2D"/>
                </a:solidFill>
                <a:latin typeface="Arial MT"/>
                <a:cs typeface="Arial MT"/>
              </a:rPr>
              <a:t>or</a:t>
            </a:r>
            <a:r>
              <a:rPr sz="2800" spc="-35" dirty="0">
                <a:solidFill>
                  <a:srgbClr val="2B2C2D"/>
                </a:solidFill>
                <a:latin typeface="Arial MT"/>
                <a:cs typeface="Arial MT"/>
              </a:rPr>
              <a:t> </a:t>
            </a:r>
            <a:r>
              <a:rPr sz="2800" spc="-10" dirty="0">
                <a:solidFill>
                  <a:srgbClr val="2B2C2D"/>
                </a:solidFill>
                <a:latin typeface="Arial MT"/>
                <a:cs typeface="Arial MT"/>
              </a:rPr>
              <a:t>other </a:t>
            </a:r>
            <a:r>
              <a:rPr sz="2800" dirty="0">
                <a:solidFill>
                  <a:srgbClr val="2B2C2D"/>
                </a:solidFill>
                <a:latin typeface="Arial MT"/>
                <a:cs typeface="Arial MT"/>
              </a:rPr>
              <a:t>sensors</a:t>
            </a:r>
            <a:r>
              <a:rPr sz="2800" spc="-105" dirty="0">
                <a:solidFill>
                  <a:srgbClr val="2B2C2D"/>
                </a:solidFill>
                <a:latin typeface="Arial MT"/>
                <a:cs typeface="Arial MT"/>
              </a:rPr>
              <a:t> </a:t>
            </a:r>
            <a:r>
              <a:rPr sz="2800" dirty="0">
                <a:solidFill>
                  <a:srgbClr val="2B2C2D"/>
                </a:solidFill>
                <a:latin typeface="Arial MT"/>
                <a:cs typeface="Arial MT"/>
              </a:rPr>
              <a:t>would</a:t>
            </a:r>
            <a:r>
              <a:rPr sz="2800" spc="-85" dirty="0">
                <a:solidFill>
                  <a:srgbClr val="2B2C2D"/>
                </a:solidFill>
                <a:latin typeface="Arial MT"/>
                <a:cs typeface="Arial MT"/>
              </a:rPr>
              <a:t> </a:t>
            </a:r>
            <a:r>
              <a:rPr sz="2800" dirty="0">
                <a:solidFill>
                  <a:srgbClr val="2B2C2D"/>
                </a:solidFill>
                <a:latin typeface="Arial MT"/>
                <a:cs typeface="Arial MT"/>
              </a:rPr>
              <a:t>automatically</a:t>
            </a:r>
            <a:r>
              <a:rPr sz="2800" spc="-85" dirty="0">
                <a:solidFill>
                  <a:srgbClr val="2B2C2D"/>
                </a:solidFill>
                <a:latin typeface="Arial MT"/>
                <a:cs typeface="Arial MT"/>
              </a:rPr>
              <a:t> </a:t>
            </a:r>
            <a:r>
              <a:rPr sz="2800" b="1" dirty="0">
                <a:solidFill>
                  <a:srgbClr val="2B2C2D"/>
                </a:solidFill>
                <a:latin typeface="Arial"/>
                <a:cs typeface="Arial"/>
              </a:rPr>
              <a:t>identify</a:t>
            </a:r>
            <a:r>
              <a:rPr sz="2800" b="1" spc="-100" dirty="0">
                <a:solidFill>
                  <a:srgbClr val="2B2C2D"/>
                </a:solidFill>
                <a:latin typeface="Arial"/>
                <a:cs typeface="Arial"/>
              </a:rPr>
              <a:t> </a:t>
            </a:r>
            <a:r>
              <a:rPr sz="2800" b="1" spc="-25" dirty="0">
                <a:solidFill>
                  <a:srgbClr val="2B2C2D"/>
                </a:solidFill>
                <a:latin typeface="Arial"/>
                <a:cs typeface="Arial"/>
              </a:rPr>
              <a:t>and </a:t>
            </a:r>
            <a:r>
              <a:rPr sz="2800" b="1" dirty="0">
                <a:solidFill>
                  <a:srgbClr val="2B2C2D"/>
                </a:solidFill>
                <a:latin typeface="Arial"/>
                <a:cs typeface="Arial"/>
              </a:rPr>
              <a:t>track</a:t>
            </a:r>
            <a:r>
              <a:rPr sz="2800" b="1" spc="-100" dirty="0">
                <a:solidFill>
                  <a:srgbClr val="2B2C2D"/>
                </a:solidFill>
                <a:latin typeface="Arial"/>
                <a:cs typeface="Arial"/>
              </a:rPr>
              <a:t> </a:t>
            </a:r>
            <a:r>
              <a:rPr sz="2800" dirty="0">
                <a:solidFill>
                  <a:srgbClr val="2B2C2D"/>
                </a:solidFill>
                <a:latin typeface="Arial MT"/>
                <a:cs typeface="Arial MT"/>
              </a:rPr>
              <a:t>each</a:t>
            </a:r>
            <a:r>
              <a:rPr sz="2800" spc="-95" dirty="0">
                <a:solidFill>
                  <a:srgbClr val="2B2C2D"/>
                </a:solidFill>
                <a:latin typeface="Arial MT"/>
                <a:cs typeface="Arial MT"/>
              </a:rPr>
              <a:t> </a:t>
            </a:r>
            <a:r>
              <a:rPr sz="2800" b="1" dirty="0">
                <a:solidFill>
                  <a:srgbClr val="2B2C2D"/>
                </a:solidFill>
                <a:latin typeface="Arial"/>
                <a:cs typeface="Arial"/>
              </a:rPr>
              <a:t>individual</a:t>
            </a:r>
            <a:r>
              <a:rPr sz="2800" b="1" spc="-80" dirty="0">
                <a:solidFill>
                  <a:srgbClr val="2B2C2D"/>
                </a:solidFill>
                <a:latin typeface="Arial"/>
                <a:cs typeface="Arial"/>
              </a:rPr>
              <a:t> </a:t>
            </a:r>
            <a:r>
              <a:rPr sz="2800" b="1" dirty="0">
                <a:solidFill>
                  <a:srgbClr val="2B2C2D"/>
                </a:solidFill>
                <a:latin typeface="Arial"/>
                <a:cs typeface="Arial"/>
              </a:rPr>
              <a:t>component</a:t>
            </a:r>
            <a:r>
              <a:rPr sz="2800" b="1" spc="-60" dirty="0">
                <a:solidFill>
                  <a:srgbClr val="2B2C2D"/>
                </a:solidFill>
                <a:latin typeface="Arial"/>
                <a:cs typeface="Arial"/>
              </a:rPr>
              <a:t> </a:t>
            </a:r>
            <a:r>
              <a:rPr sz="2800" spc="-25" dirty="0">
                <a:solidFill>
                  <a:srgbClr val="2B2C2D"/>
                </a:solidFill>
                <a:latin typeface="Arial MT"/>
                <a:cs typeface="Arial MT"/>
              </a:rPr>
              <a:t>and </a:t>
            </a:r>
            <a:r>
              <a:rPr sz="2800" dirty="0">
                <a:solidFill>
                  <a:srgbClr val="2B2C2D"/>
                </a:solidFill>
                <a:latin typeface="Arial MT"/>
                <a:cs typeface="Arial MT"/>
              </a:rPr>
              <a:t>upload</a:t>
            </a:r>
            <a:r>
              <a:rPr sz="2800" spc="-35" dirty="0">
                <a:solidFill>
                  <a:srgbClr val="2B2C2D"/>
                </a:solidFill>
                <a:latin typeface="Arial MT"/>
                <a:cs typeface="Arial MT"/>
              </a:rPr>
              <a:t> </a:t>
            </a:r>
            <a:r>
              <a:rPr sz="2800" dirty="0">
                <a:solidFill>
                  <a:srgbClr val="2B2C2D"/>
                </a:solidFill>
                <a:latin typeface="Arial MT"/>
                <a:cs typeface="Arial MT"/>
              </a:rPr>
              <a:t>data</a:t>
            </a:r>
            <a:r>
              <a:rPr sz="2800" spc="-45" dirty="0">
                <a:solidFill>
                  <a:srgbClr val="2B2C2D"/>
                </a:solidFill>
                <a:latin typeface="Arial MT"/>
                <a:cs typeface="Arial MT"/>
              </a:rPr>
              <a:t> </a:t>
            </a:r>
            <a:r>
              <a:rPr sz="2800" dirty="0">
                <a:solidFill>
                  <a:srgbClr val="2B2C2D"/>
                </a:solidFill>
                <a:latin typeface="Arial MT"/>
                <a:cs typeface="Arial MT"/>
              </a:rPr>
              <a:t>to</a:t>
            </a:r>
            <a:r>
              <a:rPr sz="2800" spc="-50"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blockchain</a:t>
            </a:r>
            <a:r>
              <a:rPr sz="2800" spc="-45" dirty="0">
                <a:solidFill>
                  <a:srgbClr val="2B2C2D"/>
                </a:solidFill>
                <a:latin typeface="Arial MT"/>
                <a:cs typeface="Arial MT"/>
              </a:rPr>
              <a:t> </a:t>
            </a:r>
            <a:r>
              <a:rPr sz="2800" dirty="0">
                <a:solidFill>
                  <a:srgbClr val="2B2C2D"/>
                </a:solidFill>
                <a:latin typeface="Arial MT"/>
                <a:cs typeface="Arial MT"/>
              </a:rPr>
              <a:t>as</a:t>
            </a:r>
            <a:r>
              <a:rPr sz="2800" spc="-40" dirty="0">
                <a:solidFill>
                  <a:srgbClr val="2B2C2D"/>
                </a:solidFill>
                <a:latin typeface="Arial MT"/>
                <a:cs typeface="Arial MT"/>
              </a:rPr>
              <a:t> </a:t>
            </a:r>
            <a:r>
              <a:rPr sz="2800" dirty="0">
                <a:solidFill>
                  <a:srgbClr val="2B2C2D"/>
                </a:solidFill>
                <a:latin typeface="Arial MT"/>
                <a:cs typeface="Arial MT"/>
              </a:rPr>
              <a:t>its</a:t>
            </a:r>
            <a:r>
              <a:rPr sz="2800" spc="-55" dirty="0">
                <a:solidFill>
                  <a:srgbClr val="2B2C2D"/>
                </a:solidFill>
                <a:latin typeface="Arial MT"/>
                <a:cs typeface="Arial MT"/>
              </a:rPr>
              <a:t> </a:t>
            </a:r>
            <a:r>
              <a:rPr sz="2800" spc="-10" dirty="0">
                <a:solidFill>
                  <a:srgbClr val="2B2C2D"/>
                </a:solidFill>
                <a:latin typeface="Arial MT"/>
                <a:cs typeface="Arial MT"/>
              </a:rPr>
              <a:t>status changes.</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829550" cy="541718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Other</a:t>
            </a:r>
            <a:r>
              <a:rPr sz="2800" b="1" spc="-8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50" dirty="0">
                <a:solidFill>
                  <a:srgbClr val="00339F"/>
                </a:solidFill>
                <a:latin typeface="Arial"/>
                <a:cs typeface="Arial"/>
              </a:rPr>
              <a:t> </a:t>
            </a:r>
            <a:r>
              <a:rPr sz="2800" b="1" dirty="0">
                <a:solidFill>
                  <a:srgbClr val="00339F"/>
                </a:solidFill>
                <a:latin typeface="Arial"/>
                <a:cs typeface="Arial"/>
              </a:rPr>
              <a:t>Use</a:t>
            </a:r>
            <a:r>
              <a:rPr sz="2800" b="1" spc="-70" dirty="0">
                <a:solidFill>
                  <a:srgbClr val="00339F"/>
                </a:solidFill>
                <a:latin typeface="Arial"/>
                <a:cs typeface="Arial"/>
              </a:rPr>
              <a:t> </a:t>
            </a:r>
            <a:r>
              <a:rPr sz="2800" b="1" spc="-10" dirty="0">
                <a:solidFill>
                  <a:srgbClr val="00339F"/>
                </a:solidFill>
                <a:latin typeface="Arial"/>
                <a:cs typeface="Arial"/>
              </a:rPr>
              <a:t>Cases</a:t>
            </a:r>
            <a:endParaRPr sz="2800">
              <a:latin typeface="Arial"/>
              <a:cs typeface="Arial"/>
            </a:endParaRPr>
          </a:p>
          <a:p>
            <a:pPr>
              <a:lnSpc>
                <a:spcPct val="100000"/>
              </a:lnSpc>
              <a:spcBef>
                <a:spcPts val="270"/>
              </a:spcBef>
            </a:pPr>
            <a:endParaRPr sz="2800">
              <a:latin typeface="Arial"/>
              <a:cs typeface="Arial"/>
            </a:endParaRPr>
          </a:p>
          <a:p>
            <a:pPr marL="928369" marR="5080" indent="-457200">
              <a:lnSpc>
                <a:spcPct val="100000"/>
              </a:lnSpc>
              <a:buClr>
                <a:srgbClr val="6D2C91"/>
              </a:buClr>
              <a:buFont typeface="Wingdings"/>
              <a:buChar char=""/>
              <a:tabLst>
                <a:tab pos="928369" algn="l"/>
              </a:tabLst>
            </a:pPr>
            <a:r>
              <a:rPr sz="2800" b="1" dirty="0">
                <a:solidFill>
                  <a:srgbClr val="2B2C2D"/>
                </a:solidFill>
                <a:latin typeface="Arial"/>
                <a:cs typeface="Arial"/>
              </a:rPr>
              <a:t>Stocks:</a:t>
            </a:r>
            <a:r>
              <a:rPr sz="2800" b="1" spc="610" dirty="0">
                <a:solidFill>
                  <a:srgbClr val="2B2C2D"/>
                </a:solidFill>
                <a:latin typeface="Arial"/>
                <a:cs typeface="Arial"/>
              </a:rPr>
              <a:t> </a:t>
            </a:r>
            <a:r>
              <a:rPr sz="2800" spc="-10" dirty="0">
                <a:solidFill>
                  <a:srgbClr val="2B2C2D"/>
                </a:solidFill>
                <a:latin typeface="Arial MT"/>
                <a:cs typeface="Arial MT"/>
              </a:rPr>
              <a:t>Trading</a:t>
            </a:r>
            <a:r>
              <a:rPr sz="2800" spc="-50" dirty="0">
                <a:solidFill>
                  <a:srgbClr val="2B2C2D"/>
                </a:solidFill>
                <a:latin typeface="Arial MT"/>
                <a:cs typeface="Arial MT"/>
              </a:rPr>
              <a:t> </a:t>
            </a:r>
            <a:r>
              <a:rPr sz="2800" dirty="0">
                <a:solidFill>
                  <a:srgbClr val="2B2C2D"/>
                </a:solidFill>
                <a:latin typeface="Arial MT"/>
                <a:cs typeface="Arial MT"/>
              </a:rPr>
              <a:t>and</a:t>
            </a:r>
            <a:r>
              <a:rPr sz="2800" spc="-55" dirty="0">
                <a:solidFill>
                  <a:srgbClr val="2B2C2D"/>
                </a:solidFill>
                <a:latin typeface="Arial MT"/>
                <a:cs typeface="Arial MT"/>
              </a:rPr>
              <a:t> </a:t>
            </a:r>
            <a:r>
              <a:rPr sz="2800" dirty="0">
                <a:solidFill>
                  <a:srgbClr val="2B2C2D"/>
                </a:solidFill>
                <a:latin typeface="Arial MT"/>
                <a:cs typeface="Arial MT"/>
              </a:rPr>
              <a:t>registration</a:t>
            </a:r>
            <a:r>
              <a:rPr sz="2800" spc="-60" dirty="0">
                <a:solidFill>
                  <a:srgbClr val="2B2C2D"/>
                </a:solidFill>
                <a:latin typeface="Arial MT"/>
                <a:cs typeface="Arial MT"/>
              </a:rPr>
              <a:t> </a:t>
            </a:r>
            <a:r>
              <a:rPr sz="2800" dirty="0">
                <a:solidFill>
                  <a:srgbClr val="2B2C2D"/>
                </a:solidFill>
                <a:latin typeface="Arial MT"/>
                <a:cs typeface="Arial MT"/>
              </a:rPr>
              <a:t>of</a:t>
            </a:r>
            <a:r>
              <a:rPr sz="2800" spc="-75" dirty="0">
                <a:solidFill>
                  <a:srgbClr val="2B2C2D"/>
                </a:solidFill>
                <a:latin typeface="Arial MT"/>
                <a:cs typeface="Arial MT"/>
              </a:rPr>
              <a:t> </a:t>
            </a:r>
            <a:r>
              <a:rPr sz="2800" spc="-10" dirty="0">
                <a:solidFill>
                  <a:srgbClr val="2B2C2D"/>
                </a:solidFill>
                <a:latin typeface="Arial MT"/>
                <a:cs typeface="Arial MT"/>
              </a:rPr>
              <a:t>shares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corporate</a:t>
            </a:r>
            <a:r>
              <a:rPr sz="2800" spc="-35" dirty="0">
                <a:solidFill>
                  <a:srgbClr val="2B2C2D"/>
                </a:solidFill>
                <a:latin typeface="Arial MT"/>
                <a:cs typeface="Arial MT"/>
              </a:rPr>
              <a:t> </a:t>
            </a:r>
            <a:r>
              <a:rPr sz="2800" dirty="0">
                <a:solidFill>
                  <a:srgbClr val="2B2C2D"/>
                </a:solidFill>
                <a:latin typeface="Arial MT"/>
                <a:cs typeface="Arial MT"/>
              </a:rPr>
              <a:t>stock.</a:t>
            </a:r>
            <a:r>
              <a:rPr sz="2800" spc="645" dirty="0">
                <a:solidFill>
                  <a:srgbClr val="2B2C2D"/>
                </a:solidFill>
                <a:latin typeface="Arial MT"/>
                <a:cs typeface="Arial MT"/>
              </a:rPr>
              <a:t> </a:t>
            </a:r>
            <a:r>
              <a:rPr sz="2800" dirty="0">
                <a:solidFill>
                  <a:srgbClr val="2B2C2D"/>
                </a:solidFill>
                <a:latin typeface="Arial MT"/>
                <a:cs typeface="Arial MT"/>
              </a:rPr>
              <a:t>Several</a:t>
            </a:r>
            <a:r>
              <a:rPr sz="2800" spc="-50" dirty="0">
                <a:solidFill>
                  <a:srgbClr val="2B2C2D"/>
                </a:solidFill>
                <a:latin typeface="Arial MT"/>
                <a:cs typeface="Arial MT"/>
              </a:rPr>
              <a:t> </a:t>
            </a:r>
            <a:r>
              <a:rPr sz="2800" dirty="0">
                <a:solidFill>
                  <a:srgbClr val="2B2C2D"/>
                </a:solidFill>
                <a:latin typeface="Arial MT"/>
                <a:cs typeface="Arial MT"/>
              </a:rPr>
              <a:t>states</a:t>
            </a:r>
            <a:r>
              <a:rPr sz="2800" spc="-50" dirty="0">
                <a:solidFill>
                  <a:srgbClr val="2B2C2D"/>
                </a:solidFill>
                <a:latin typeface="Arial MT"/>
                <a:cs typeface="Arial MT"/>
              </a:rPr>
              <a:t> </a:t>
            </a:r>
            <a:r>
              <a:rPr sz="2800" spc="-10" dirty="0">
                <a:solidFill>
                  <a:srgbClr val="2B2C2D"/>
                </a:solidFill>
                <a:latin typeface="Arial MT"/>
                <a:cs typeface="Arial MT"/>
              </a:rPr>
              <a:t>including </a:t>
            </a:r>
            <a:r>
              <a:rPr sz="2800" dirty="0">
                <a:solidFill>
                  <a:srgbClr val="2B2C2D"/>
                </a:solidFill>
                <a:latin typeface="Arial MT"/>
                <a:cs typeface="Arial MT"/>
              </a:rPr>
              <a:t>Delaware</a:t>
            </a:r>
            <a:r>
              <a:rPr sz="2800" spc="-60" dirty="0">
                <a:solidFill>
                  <a:srgbClr val="2B2C2D"/>
                </a:solidFill>
                <a:latin typeface="Arial MT"/>
                <a:cs typeface="Arial MT"/>
              </a:rPr>
              <a:t> </a:t>
            </a:r>
            <a:r>
              <a:rPr sz="2800" dirty="0">
                <a:solidFill>
                  <a:srgbClr val="2B2C2D"/>
                </a:solidFill>
                <a:latin typeface="Arial MT"/>
                <a:cs typeface="Arial MT"/>
              </a:rPr>
              <a:t>have</a:t>
            </a:r>
            <a:r>
              <a:rPr sz="2800" spc="-80" dirty="0">
                <a:solidFill>
                  <a:srgbClr val="2B2C2D"/>
                </a:solidFill>
                <a:latin typeface="Arial MT"/>
                <a:cs typeface="Arial MT"/>
              </a:rPr>
              <a:t> </a:t>
            </a:r>
            <a:r>
              <a:rPr sz="2800" dirty="0">
                <a:solidFill>
                  <a:srgbClr val="2B2C2D"/>
                </a:solidFill>
                <a:latin typeface="Arial MT"/>
                <a:cs typeface="Arial MT"/>
              </a:rPr>
              <a:t>recently</a:t>
            </a:r>
            <a:r>
              <a:rPr sz="2800" spc="-85" dirty="0">
                <a:solidFill>
                  <a:srgbClr val="2B2C2D"/>
                </a:solidFill>
                <a:latin typeface="Arial MT"/>
                <a:cs typeface="Arial MT"/>
              </a:rPr>
              <a:t> </a:t>
            </a:r>
            <a:r>
              <a:rPr sz="2800" dirty="0">
                <a:solidFill>
                  <a:srgbClr val="2B2C2D"/>
                </a:solidFill>
                <a:latin typeface="Arial MT"/>
                <a:cs typeface="Arial MT"/>
              </a:rPr>
              <a:t>enacted</a:t>
            </a:r>
            <a:r>
              <a:rPr sz="2800" spc="-85" dirty="0">
                <a:solidFill>
                  <a:srgbClr val="2B2C2D"/>
                </a:solidFill>
                <a:latin typeface="Arial MT"/>
                <a:cs typeface="Arial MT"/>
              </a:rPr>
              <a:t> </a:t>
            </a:r>
            <a:r>
              <a:rPr sz="2800" spc="-10" dirty="0">
                <a:solidFill>
                  <a:srgbClr val="2B2C2D"/>
                </a:solidFill>
                <a:latin typeface="Arial MT"/>
                <a:cs typeface="Arial MT"/>
              </a:rPr>
              <a:t>statutes </a:t>
            </a:r>
            <a:r>
              <a:rPr sz="2800" dirty="0">
                <a:solidFill>
                  <a:srgbClr val="2B2C2D"/>
                </a:solidFill>
                <a:latin typeface="Arial MT"/>
                <a:cs typeface="Arial MT"/>
              </a:rPr>
              <a:t>permitting</a:t>
            </a:r>
            <a:r>
              <a:rPr sz="2800" spc="-45" dirty="0">
                <a:solidFill>
                  <a:srgbClr val="2B2C2D"/>
                </a:solidFill>
                <a:latin typeface="Arial MT"/>
                <a:cs typeface="Arial MT"/>
              </a:rPr>
              <a:t> </a:t>
            </a:r>
            <a:r>
              <a:rPr sz="2800" dirty="0">
                <a:solidFill>
                  <a:srgbClr val="2B2C2D"/>
                </a:solidFill>
                <a:latin typeface="Arial MT"/>
                <a:cs typeface="Arial MT"/>
              </a:rPr>
              <a:t>use</a:t>
            </a:r>
            <a:r>
              <a:rPr sz="2800" spc="-60"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blockchain</a:t>
            </a:r>
            <a:r>
              <a:rPr sz="2800" spc="-55" dirty="0">
                <a:solidFill>
                  <a:srgbClr val="2B2C2D"/>
                </a:solidFill>
                <a:latin typeface="Arial MT"/>
                <a:cs typeface="Arial MT"/>
              </a:rPr>
              <a:t> </a:t>
            </a:r>
            <a:r>
              <a:rPr sz="2800" dirty="0">
                <a:solidFill>
                  <a:srgbClr val="2B2C2D"/>
                </a:solidFill>
                <a:latin typeface="Arial MT"/>
                <a:cs typeface="Arial MT"/>
              </a:rPr>
              <a:t>as</a:t>
            </a:r>
            <a:r>
              <a:rPr sz="2800" spc="-60"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spc="-10" dirty="0">
                <a:solidFill>
                  <a:srgbClr val="2B2C2D"/>
                </a:solidFill>
                <a:latin typeface="Arial MT"/>
                <a:cs typeface="Arial MT"/>
              </a:rPr>
              <a:t>official </a:t>
            </a:r>
            <a:r>
              <a:rPr sz="2800" dirty="0">
                <a:solidFill>
                  <a:srgbClr val="2B2C2D"/>
                </a:solidFill>
                <a:latin typeface="Arial MT"/>
                <a:cs typeface="Arial MT"/>
              </a:rPr>
              <a:t>stock</a:t>
            </a:r>
            <a:r>
              <a:rPr sz="2800" spc="-80" dirty="0">
                <a:solidFill>
                  <a:srgbClr val="2B2C2D"/>
                </a:solidFill>
                <a:latin typeface="Arial MT"/>
                <a:cs typeface="Arial MT"/>
              </a:rPr>
              <a:t> </a:t>
            </a:r>
            <a:r>
              <a:rPr sz="2800" spc="-10" dirty="0">
                <a:solidFill>
                  <a:srgbClr val="2B2C2D"/>
                </a:solidFill>
                <a:latin typeface="Arial MT"/>
                <a:cs typeface="Arial MT"/>
              </a:rPr>
              <a:t>ledger.</a:t>
            </a:r>
            <a:endParaRPr sz="2800">
              <a:latin typeface="Arial MT"/>
              <a:cs typeface="Arial MT"/>
            </a:endParaRPr>
          </a:p>
          <a:p>
            <a:pPr marL="928369" marR="416559" indent="-457200">
              <a:lnSpc>
                <a:spcPct val="100000"/>
              </a:lnSpc>
              <a:spcBef>
                <a:spcPts val="1000"/>
              </a:spcBef>
              <a:buClr>
                <a:srgbClr val="6D2C91"/>
              </a:buClr>
              <a:buFont typeface="Wingdings"/>
              <a:buChar char=""/>
              <a:tabLst>
                <a:tab pos="928369" algn="l"/>
              </a:tabLst>
            </a:pPr>
            <a:r>
              <a:rPr sz="2800" b="1" dirty="0">
                <a:solidFill>
                  <a:srgbClr val="2B2C2D"/>
                </a:solidFill>
                <a:latin typeface="Arial"/>
                <a:cs typeface="Arial"/>
              </a:rPr>
              <a:t>Financial</a:t>
            </a:r>
            <a:r>
              <a:rPr sz="2800" b="1" spc="-110" dirty="0">
                <a:solidFill>
                  <a:srgbClr val="2B2C2D"/>
                </a:solidFill>
                <a:latin typeface="Arial"/>
                <a:cs typeface="Arial"/>
              </a:rPr>
              <a:t> </a:t>
            </a:r>
            <a:r>
              <a:rPr sz="2800" b="1" dirty="0">
                <a:solidFill>
                  <a:srgbClr val="2B2C2D"/>
                </a:solidFill>
                <a:latin typeface="Arial"/>
                <a:cs typeface="Arial"/>
              </a:rPr>
              <a:t>Instruments:</a:t>
            </a:r>
            <a:r>
              <a:rPr sz="2800" b="1" spc="525" dirty="0">
                <a:solidFill>
                  <a:srgbClr val="2B2C2D"/>
                </a:solidFill>
                <a:latin typeface="Arial"/>
                <a:cs typeface="Arial"/>
              </a:rPr>
              <a:t> </a:t>
            </a:r>
            <a:r>
              <a:rPr sz="2800" dirty="0">
                <a:solidFill>
                  <a:srgbClr val="2B2C2D"/>
                </a:solidFill>
                <a:latin typeface="Arial MT"/>
                <a:cs typeface="Arial MT"/>
              </a:rPr>
              <a:t>Trading</a:t>
            </a:r>
            <a:r>
              <a:rPr sz="2800" spc="-110" dirty="0">
                <a:solidFill>
                  <a:srgbClr val="2B2C2D"/>
                </a:solidFill>
                <a:latin typeface="Arial MT"/>
                <a:cs typeface="Arial MT"/>
              </a:rPr>
              <a:t> </a:t>
            </a:r>
            <a:r>
              <a:rPr sz="2800" spc="-25" dirty="0">
                <a:solidFill>
                  <a:srgbClr val="2B2C2D"/>
                </a:solidFill>
                <a:latin typeface="Arial MT"/>
                <a:cs typeface="Arial MT"/>
              </a:rPr>
              <a:t>of </a:t>
            </a:r>
            <a:r>
              <a:rPr sz="2800" dirty="0">
                <a:solidFill>
                  <a:srgbClr val="2B2C2D"/>
                </a:solidFill>
                <a:latin typeface="Arial MT"/>
                <a:cs typeface="Arial MT"/>
              </a:rPr>
              <a:t>derivatives</a:t>
            </a:r>
            <a:r>
              <a:rPr sz="2800" spc="-75" dirty="0">
                <a:solidFill>
                  <a:srgbClr val="2B2C2D"/>
                </a:solidFill>
                <a:latin typeface="Arial MT"/>
                <a:cs typeface="Arial MT"/>
              </a:rPr>
              <a:t> </a:t>
            </a:r>
            <a:r>
              <a:rPr sz="2800" dirty="0">
                <a:solidFill>
                  <a:srgbClr val="2B2C2D"/>
                </a:solidFill>
                <a:latin typeface="Arial MT"/>
                <a:cs typeface="Arial MT"/>
              </a:rPr>
              <a:t>or</a:t>
            </a:r>
            <a:r>
              <a:rPr sz="2800" spc="-75" dirty="0">
                <a:solidFill>
                  <a:srgbClr val="2B2C2D"/>
                </a:solidFill>
                <a:latin typeface="Arial MT"/>
                <a:cs typeface="Arial MT"/>
              </a:rPr>
              <a:t> </a:t>
            </a:r>
            <a:r>
              <a:rPr sz="2800" dirty="0">
                <a:solidFill>
                  <a:srgbClr val="2B2C2D"/>
                </a:solidFill>
                <a:latin typeface="Arial MT"/>
                <a:cs typeface="Arial MT"/>
              </a:rPr>
              <a:t>other</a:t>
            </a:r>
            <a:r>
              <a:rPr sz="2800" spc="-65" dirty="0">
                <a:solidFill>
                  <a:srgbClr val="2B2C2D"/>
                </a:solidFill>
                <a:latin typeface="Arial MT"/>
                <a:cs typeface="Arial MT"/>
              </a:rPr>
              <a:t> </a:t>
            </a:r>
            <a:r>
              <a:rPr sz="2800" dirty="0">
                <a:solidFill>
                  <a:srgbClr val="2B2C2D"/>
                </a:solidFill>
                <a:latin typeface="Arial MT"/>
                <a:cs typeface="Arial MT"/>
              </a:rPr>
              <a:t>financial</a:t>
            </a:r>
            <a:r>
              <a:rPr sz="2800" spc="-70" dirty="0">
                <a:solidFill>
                  <a:srgbClr val="2B2C2D"/>
                </a:solidFill>
                <a:latin typeface="Arial MT"/>
                <a:cs typeface="Arial MT"/>
              </a:rPr>
              <a:t> </a:t>
            </a:r>
            <a:r>
              <a:rPr sz="2800" spc="-10" dirty="0">
                <a:solidFill>
                  <a:srgbClr val="2B2C2D"/>
                </a:solidFill>
                <a:latin typeface="Arial MT"/>
                <a:cs typeface="Arial MT"/>
              </a:rPr>
              <a:t>instruments.</a:t>
            </a:r>
            <a:endParaRPr sz="2800">
              <a:latin typeface="Arial MT"/>
              <a:cs typeface="Arial MT"/>
            </a:endParaRPr>
          </a:p>
          <a:p>
            <a:pPr marL="928369" marR="161290" indent="-457200" algn="just">
              <a:lnSpc>
                <a:spcPct val="100000"/>
              </a:lnSpc>
              <a:spcBef>
                <a:spcPts val="1005"/>
              </a:spcBef>
              <a:buClr>
                <a:srgbClr val="6D2C91"/>
              </a:buClr>
              <a:buFont typeface="Wingdings"/>
              <a:buChar char=""/>
              <a:tabLst>
                <a:tab pos="928369" algn="l"/>
              </a:tabLst>
            </a:pPr>
            <a:r>
              <a:rPr sz="2800" b="1" spc="-10" dirty="0">
                <a:solidFill>
                  <a:srgbClr val="2B2C2D"/>
                </a:solidFill>
                <a:latin typeface="Arial"/>
                <a:cs typeface="Arial"/>
              </a:rPr>
              <a:t>Trade</a:t>
            </a:r>
            <a:r>
              <a:rPr sz="2800" b="1" spc="-80" dirty="0">
                <a:solidFill>
                  <a:srgbClr val="2B2C2D"/>
                </a:solidFill>
                <a:latin typeface="Arial"/>
                <a:cs typeface="Arial"/>
              </a:rPr>
              <a:t> </a:t>
            </a:r>
            <a:r>
              <a:rPr sz="2800" b="1" dirty="0">
                <a:solidFill>
                  <a:srgbClr val="2B2C2D"/>
                </a:solidFill>
                <a:latin typeface="Arial"/>
                <a:cs typeface="Arial"/>
              </a:rPr>
              <a:t>Finance:</a:t>
            </a:r>
            <a:r>
              <a:rPr sz="2800" b="1" spc="490" dirty="0">
                <a:solidFill>
                  <a:srgbClr val="2B2C2D"/>
                </a:solidFill>
                <a:latin typeface="Arial"/>
                <a:cs typeface="Arial"/>
              </a:rPr>
              <a:t> </a:t>
            </a:r>
            <a:r>
              <a:rPr sz="2800" dirty="0">
                <a:solidFill>
                  <a:srgbClr val="2B2C2D"/>
                </a:solidFill>
                <a:latin typeface="Arial MT"/>
                <a:cs typeface="Arial MT"/>
              </a:rPr>
              <a:t>Automated</a:t>
            </a:r>
            <a:r>
              <a:rPr sz="2800" spc="-70" dirty="0">
                <a:solidFill>
                  <a:srgbClr val="2B2C2D"/>
                </a:solidFill>
                <a:latin typeface="Arial MT"/>
                <a:cs typeface="Arial MT"/>
              </a:rPr>
              <a:t> </a:t>
            </a:r>
            <a:r>
              <a:rPr sz="2800" dirty="0">
                <a:solidFill>
                  <a:srgbClr val="2B2C2D"/>
                </a:solidFill>
                <a:latin typeface="Arial MT"/>
                <a:cs typeface="Arial MT"/>
              </a:rPr>
              <a:t>issuance</a:t>
            </a:r>
            <a:r>
              <a:rPr sz="2800" spc="-100" dirty="0">
                <a:solidFill>
                  <a:srgbClr val="2B2C2D"/>
                </a:solidFill>
                <a:latin typeface="Arial MT"/>
                <a:cs typeface="Arial MT"/>
              </a:rPr>
              <a:t> </a:t>
            </a:r>
            <a:r>
              <a:rPr sz="2800" dirty="0">
                <a:solidFill>
                  <a:srgbClr val="2B2C2D"/>
                </a:solidFill>
                <a:latin typeface="Arial MT"/>
                <a:cs typeface="Arial MT"/>
              </a:rPr>
              <a:t>of</a:t>
            </a:r>
            <a:r>
              <a:rPr sz="2800" spc="-80" dirty="0">
                <a:solidFill>
                  <a:srgbClr val="2B2C2D"/>
                </a:solidFill>
                <a:latin typeface="Arial MT"/>
                <a:cs typeface="Arial MT"/>
              </a:rPr>
              <a:t> </a:t>
            </a:r>
            <a:r>
              <a:rPr sz="2800" spc="-25" dirty="0">
                <a:solidFill>
                  <a:srgbClr val="2B2C2D"/>
                </a:solidFill>
                <a:latin typeface="Arial MT"/>
                <a:cs typeface="Arial MT"/>
              </a:rPr>
              <a:t>or </a:t>
            </a:r>
            <a:r>
              <a:rPr sz="2800" dirty="0">
                <a:solidFill>
                  <a:srgbClr val="2B2C2D"/>
                </a:solidFill>
                <a:latin typeface="Arial MT"/>
                <a:cs typeface="Arial MT"/>
              </a:rPr>
              <a:t>substitution</a:t>
            </a:r>
            <a:r>
              <a:rPr sz="2800" spc="-65" dirty="0">
                <a:solidFill>
                  <a:srgbClr val="2B2C2D"/>
                </a:solidFill>
                <a:latin typeface="Arial MT"/>
                <a:cs typeface="Arial MT"/>
              </a:rPr>
              <a:t> </a:t>
            </a:r>
            <a:r>
              <a:rPr sz="2800" dirty="0">
                <a:solidFill>
                  <a:srgbClr val="2B2C2D"/>
                </a:solidFill>
                <a:latin typeface="Arial MT"/>
                <a:cs typeface="Arial MT"/>
              </a:rPr>
              <a:t>for</a:t>
            </a:r>
            <a:r>
              <a:rPr sz="2800" spc="-65" dirty="0">
                <a:solidFill>
                  <a:srgbClr val="2B2C2D"/>
                </a:solidFill>
                <a:latin typeface="Arial MT"/>
                <a:cs typeface="Arial MT"/>
              </a:rPr>
              <a:t> </a:t>
            </a:r>
            <a:r>
              <a:rPr sz="2800" dirty="0">
                <a:solidFill>
                  <a:srgbClr val="2B2C2D"/>
                </a:solidFill>
                <a:latin typeface="Arial MT"/>
                <a:cs typeface="Arial MT"/>
              </a:rPr>
              <a:t>letters</a:t>
            </a:r>
            <a:r>
              <a:rPr sz="2800" spc="-65"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credit,</a:t>
            </a:r>
            <a:r>
              <a:rPr sz="2800" spc="-60" dirty="0">
                <a:solidFill>
                  <a:srgbClr val="2B2C2D"/>
                </a:solidFill>
                <a:latin typeface="Arial MT"/>
                <a:cs typeface="Arial MT"/>
              </a:rPr>
              <a:t> </a:t>
            </a:r>
            <a:r>
              <a:rPr sz="2800" spc="-10" dirty="0">
                <a:solidFill>
                  <a:srgbClr val="2B2C2D"/>
                </a:solidFill>
                <a:latin typeface="Arial MT"/>
                <a:cs typeface="Arial MT"/>
              </a:rPr>
              <a:t>guarantees </a:t>
            </a:r>
            <a:r>
              <a:rPr sz="2800" dirty="0">
                <a:solidFill>
                  <a:srgbClr val="2B2C2D"/>
                </a:solidFill>
                <a:latin typeface="Arial MT"/>
                <a:cs typeface="Arial MT"/>
              </a:rPr>
              <a:t>and</a:t>
            </a:r>
            <a:r>
              <a:rPr sz="2800" spc="-55" dirty="0">
                <a:solidFill>
                  <a:srgbClr val="2B2C2D"/>
                </a:solidFill>
                <a:latin typeface="Arial MT"/>
                <a:cs typeface="Arial MT"/>
              </a:rPr>
              <a:t> </a:t>
            </a:r>
            <a:r>
              <a:rPr sz="2800" dirty="0">
                <a:solidFill>
                  <a:srgbClr val="2B2C2D"/>
                </a:solidFill>
                <a:latin typeface="Arial MT"/>
                <a:cs typeface="Arial MT"/>
              </a:rPr>
              <a:t>trade</a:t>
            </a:r>
            <a:r>
              <a:rPr sz="2800" spc="-50" dirty="0">
                <a:solidFill>
                  <a:srgbClr val="2B2C2D"/>
                </a:solidFill>
                <a:latin typeface="Arial MT"/>
                <a:cs typeface="Arial MT"/>
              </a:rPr>
              <a:t> </a:t>
            </a:r>
            <a:r>
              <a:rPr sz="2800" dirty="0">
                <a:solidFill>
                  <a:srgbClr val="2B2C2D"/>
                </a:solidFill>
                <a:latin typeface="Arial MT"/>
                <a:cs typeface="Arial MT"/>
              </a:rPr>
              <a:t>finance</a:t>
            </a:r>
            <a:r>
              <a:rPr sz="2800" spc="-50" dirty="0">
                <a:solidFill>
                  <a:srgbClr val="2B2C2D"/>
                </a:solidFill>
                <a:latin typeface="Arial MT"/>
                <a:cs typeface="Arial MT"/>
              </a:rPr>
              <a:t> </a:t>
            </a:r>
            <a:r>
              <a:rPr sz="2800" spc="-10" dirty="0">
                <a:solidFill>
                  <a:srgbClr val="2B2C2D"/>
                </a:solidFill>
                <a:latin typeface="Arial MT"/>
                <a:cs typeface="Arial MT"/>
              </a:rPr>
              <a:t>instruments.</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846695" cy="571563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Other</a:t>
            </a:r>
            <a:r>
              <a:rPr sz="2800" b="1" spc="-8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50" dirty="0">
                <a:solidFill>
                  <a:srgbClr val="00339F"/>
                </a:solidFill>
                <a:latin typeface="Arial"/>
                <a:cs typeface="Arial"/>
              </a:rPr>
              <a:t> </a:t>
            </a:r>
            <a:r>
              <a:rPr sz="2800" b="1" dirty="0">
                <a:solidFill>
                  <a:srgbClr val="00339F"/>
                </a:solidFill>
                <a:latin typeface="Arial"/>
                <a:cs typeface="Arial"/>
              </a:rPr>
              <a:t>Use</a:t>
            </a:r>
            <a:r>
              <a:rPr sz="2800" b="1" spc="-70" dirty="0">
                <a:solidFill>
                  <a:srgbClr val="00339F"/>
                </a:solidFill>
                <a:latin typeface="Arial"/>
                <a:cs typeface="Arial"/>
              </a:rPr>
              <a:t> </a:t>
            </a:r>
            <a:r>
              <a:rPr sz="2800" b="1" spc="-10" dirty="0">
                <a:solidFill>
                  <a:srgbClr val="00339F"/>
                </a:solidFill>
                <a:latin typeface="Arial"/>
                <a:cs typeface="Arial"/>
              </a:rPr>
              <a:t>Cases</a:t>
            </a:r>
            <a:endParaRPr sz="2800">
              <a:latin typeface="Arial"/>
              <a:cs typeface="Arial"/>
            </a:endParaRPr>
          </a:p>
          <a:p>
            <a:pPr>
              <a:lnSpc>
                <a:spcPct val="100000"/>
              </a:lnSpc>
              <a:spcBef>
                <a:spcPts val="270"/>
              </a:spcBef>
            </a:pPr>
            <a:endParaRPr sz="2800">
              <a:latin typeface="Arial"/>
              <a:cs typeface="Arial"/>
            </a:endParaRPr>
          </a:p>
          <a:p>
            <a:pPr marL="928369" marR="338455" indent="-457200">
              <a:lnSpc>
                <a:spcPct val="100000"/>
              </a:lnSpc>
              <a:buClr>
                <a:srgbClr val="6D2C91"/>
              </a:buClr>
              <a:buFont typeface="Wingdings"/>
              <a:buChar char=""/>
              <a:tabLst>
                <a:tab pos="928369" algn="l"/>
              </a:tabLst>
            </a:pPr>
            <a:r>
              <a:rPr sz="2800" b="1" dirty="0">
                <a:solidFill>
                  <a:srgbClr val="2B2C2D"/>
                </a:solidFill>
                <a:latin typeface="Arial"/>
                <a:cs typeface="Arial"/>
              </a:rPr>
              <a:t>Clinical</a:t>
            </a:r>
            <a:r>
              <a:rPr sz="2800" b="1" spc="-110" dirty="0">
                <a:solidFill>
                  <a:srgbClr val="2B2C2D"/>
                </a:solidFill>
                <a:latin typeface="Arial"/>
                <a:cs typeface="Arial"/>
              </a:rPr>
              <a:t> </a:t>
            </a:r>
            <a:r>
              <a:rPr sz="2800" b="1" dirty="0">
                <a:solidFill>
                  <a:srgbClr val="2B2C2D"/>
                </a:solidFill>
                <a:latin typeface="Arial"/>
                <a:cs typeface="Arial"/>
              </a:rPr>
              <a:t>Trials:</a:t>
            </a:r>
            <a:r>
              <a:rPr sz="2800" b="1" spc="550" dirty="0">
                <a:solidFill>
                  <a:srgbClr val="2B2C2D"/>
                </a:solidFill>
                <a:latin typeface="Arial"/>
                <a:cs typeface="Arial"/>
              </a:rPr>
              <a:t> </a:t>
            </a:r>
            <a:r>
              <a:rPr sz="2800" dirty="0">
                <a:solidFill>
                  <a:srgbClr val="2B2C2D"/>
                </a:solidFill>
                <a:latin typeface="Arial MT"/>
                <a:cs typeface="Arial MT"/>
              </a:rPr>
              <a:t>Automated</a:t>
            </a:r>
            <a:r>
              <a:rPr sz="2800" spc="-95" dirty="0">
                <a:solidFill>
                  <a:srgbClr val="2B2C2D"/>
                </a:solidFill>
                <a:latin typeface="Arial MT"/>
                <a:cs typeface="Arial MT"/>
              </a:rPr>
              <a:t> </a:t>
            </a:r>
            <a:r>
              <a:rPr sz="2800" dirty="0">
                <a:solidFill>
                  <a:srgbClr val="2B2C2D"/>
                </a:solidFill>
                <a:latin typeface="Arial MT"/>
                <a:cs typeface="Arial MT"/>
              </a:rPr>
              <a:t>obtaining</a:t>
            </a:r>
            <a:r>
              <a:rPr sz="2800" spc="-95" dirty="0">
                <a:solidFill>
                  <a:srgbClr val="2B2C2D"/>
                </a:solidFill>
                <a:latin typeface="Arial MT"/>
                <a:cs typeface="Arial MT"/>
              </a:rPr>
              <a:t> </a:t>
            </a:r>
            <a:r>
              <a:rPr sz="2800" spc="-25" dirty="0">
                <a:solidFill>
                  <a:srgbClr val="2B2C2D"/>
                </a:solidFill>
                <a:latin typeface="Arial MT"/>
                <a:cs typeface="Arial MT"/>
              </a:rPr>
              <a:t>and </a:t>
            </a:r>
            <a:r>
              <a:rPr sz="2800" dirty="0">
                <a:solidFill>
                  <a:srgbClr val="2B2C2D"/>
                </a:solidFill>
                <a:latin typeface="Arial MT"/>
                <a:cs typeface="Arial MT"/>
              </a:rPr>
              <a:t>tracking</a:t>
            </a:r>
            <a:r>
              <a:rPr sz="2800" spc="-7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dirty="0">
                <a:solidFill>
                  <a:srgbClr val="2B2C2D"/>
                </a:solidFill>
                <a:latin typeface="Arial MT"/>
                <a:cs typeface="Arial MT"/>
              </a:rPr>
              <a:t>required</a:t>
            </a:r>
            <a:r>
              <a:rPr sz="2800" spc="-45" dirty="0">
                <a:solidFill>
                  <a:srgbClr val="2B2C2D"/>
                </a:solidFill>
                <a:latin typeface="Arial MT"/>
                <a:cs typeface="Arial MT"/>
              </a:rPr>
              <a:t> </a:t>
            </a:r>
            <a:r>
              <a:rPr sz="2800" dirty="0">
                <a:solidFill>
                  <a:srgbClr val="2B2C2D"/>
                </a:solidFill>
                <a:latin typeface="Arial MT"/>
                <a:cs typeface="Arial MT"/>
              </a:rPr>
              <a:t>patient</a:t>
            </a:r>
            <a:r>
              <a:rPr sz="2800" spc="-70" dirty="0">
                <a:solidFill>
                  <a:srgbClr val="2B2C2D"/>
                </a:solidFill>
                <a:latin typeface="Arial MT"/>
                <a:cs typeface="Arial MT"/>
              </a:rPr>
              <a:t> </a:t>
            </a:r>
            <a:r>
              <a:rPr sz="2800" spc="-10" dirty="0">
                <a:solidFill>
                  <a:srgbClr val="2B2C2D"/>
                </a:solidFill>
                <a:latin typeface="Arial MT"/>
                <a:cs typeface="Arial MT"/>
              </a:rPr>
              <a:t>consents; </a:t>
            </a:r>
            <a:r>
              <a:rPr sz="2800" dirty="0">
                <a:solidFill>
                  <a:srgbClr val="2B2C2D"/>
                </a:solidFill>
                <a:latin typeface="Arial MT"/>
                <a:cs typeface="Arial MT"/>
              </a:rPr>
              <a:t>standardization</a:t>
            </a:r>
            <a:r>
              <a:rPr sz="2800" spc="-80" dirty="0">
                <a:solidFill>
                  <a:srgbClr val="2B2C2D"/>
                </a:solidFill>
                <a:latin typeface="Arial MT"/>
                <a:cs typeface="Arial MT"/>
              </a:rPr>
              <a:t> </a:t>
            </a:r>
            <a:r>
              <a:rPr sz="2800" dirty="0">
                <a:solidFill>
                  <a:srgbClr val="2B2C2D"/>
                </a:solidFill>
                <a:latin typeface="Arial MT"/>
                <a:cs typeface="Arial MT"/>
              </a:rPr>
              <a:t>of</a:t>
            </a:r>
            <a:r>
              <a:rPr sz="2800" spc="-80" dirty="0">
                <a:solidFill>
                  <a:srgbClr val="2B2C2D"/>
                </a:solidFill>
                <a:latin typeface="Arial MT"/>
                <a:cs typeface="Arial MT"/>
              </a:rPr>
              <a:t> </a:t>
            </a:r>
            <a:r>
              <a:rPr sz="2800" dirty="0">
                <a:solidFill>
                  <a:srgbClr val="2B2C2D"/>
                </a:solidFill>
                <a:latin typeface="Arial MT"/>
                <a:cs typeface="Arial MT"/>
              </a:rPr>
              <a:t>patient</a:t>
            </a:r>
            <a:r>
              <a:rPr sz="2800" spc="-70" dirty="0">
                <a:solidFill>
                  <a:srgbClr val="2B2C2D"/>
                </a:solidFill>
                <a:latin typeface="Arial MT"/>
                <a:cs typeface="Arial MT"/>
              </a:rPr>
              <a:t> </a:t>
            </a:r>
            <a:r>
              <a:rPr sz="2800" dirty="0">
                <a:solidFill>
                  <a:srgbClr val="2B2C2D"/>
                </a:solidFill>
                <a:latin typeface="Arial MT"/>
                <a:cs typeface="Arial MT"/>
              </a:rPr>
              <a:t>inquiries;</a:t>
            </a:r>
            <a:r>
              <a:rPr sz="2800" spc="-70" dirty="0">
                <a:solidFill>
                  <a:srgbClr val="2B2C2D"/>
                </a:solidFill>
                <a:latin typeface="Arial MT"/>
                <a:cs typeface="Arial MT"/>
              </a:rPr>
              <a:t> </a:t>
            </a:r>
            <a:r>
              <a:rPr sz="2800" spc="-25" dirty="0">
                <a:solidFill>
                  <a:srgbClr val="2B2C2D"/>
                </a:solidFill>
                <a:latin typeface="Arial MT"/>
                <a:cs typeface="Arial MT"/>
              </a:rPr>
              <a:t>and </a:t>
            </a:r>
            <a:r>
              <a:rPr sz="2800" dirty="0">
                <a:solidFill>
                  <a:srgbClr val="2B2C2D"/>
                </a:solidFill>
                <a:latin typeface="Arial MT"/>
                <a:cs typeface="Arial MT"/>
              </a:rPr>
              <a:t>secure</a:t>
            </a:r>
            <a:r>
              <a:rPr sz="2800" spc="-60" dirty="0">
                <a:solidFill>
                  <a:srgbClr val="2B2C2D"/>
                </a:solidFill>
                <a:latin typeface="Arial MT"/>
                <a:cs typeface="Arial MT"/>
              </a:rPr>
              <a:t> </a:t>
            </a:r>
            <a:r>
              <a:rPr sz="2800" dirty="0">
                <a:solidFill>
                  <a:srgbClr val="2B2C2D"/>
                </a:solidFill>
                <a:latin typeface="Arial MT"/>
                <a:cs typeface="Arial MT"/>
              </a:rPr>
              <a:t>sharing</a:t>
            </a:r>
            <a:r>
              <a:rPr sz="2800" spc="-55" dirty="0">
                <a:solidFill>
                  <a:srgbClr val="2B2C2D"/>
                </a:solidFill>
                <a:latin typeface="Arial MT"/>
                <a:cs typeface="Arial MT"/>
              </a:rPr>
              <a:t> </a:t>
            </a:r>
            <a:r>
              <a:rPr sz="2800" dirty="0">
                <a:solidFill>
                  <a:srgbClr val="2B2C2D"/>
                </a:solidFill>
                <a:latin typeface="Arial MT"/>
                <a:cs typeface="Arial MT"/>
              </a:rPr>
              <a:t>of</a:t>
            </a:r>
            <a:r>
              <a:rPr sz="2800" spc="-70" dirty="0">
                <a:solidFill>
                  <a:srgbClr val="2B2C2D"/>
                </a:solidFill>
                <a:latin typeface="Arial MT"/>
                <a:cs typeface="Arial MT"/>
              </a:rPr>
              <a:t> </a:t>
            </a:r>
            <a:r>
              <a:rPr sz="2800" dirty="0">
                <a:solidFill>
                  <a:srgbClr val="2B2C2D"/>
                </a:solidFill>
                <a:latin typeface="Arial MT"/>
                <a:cs typeface="Arial MT"/>
              </a:rPr>
              <a:t>personal</a:t>
            </a:r>
            <a:r>
              <a:rPr sz="2800" spc="-45" dirty="0">
                <a:solidFill>
                  <a:srgbClr val="2B2C2D"/>
                </a:solidFill>
                <a:latin typeface="Arial MT"/>
                <a:cs typeface="Arial MT"/>
              </a:rPr>
              <a:t> </a:t>
            </a:r>
            <a:r>
              <a:rPr sz="2800" spc="-10" dirty="0">
                <a:solidFill>
                  <a:srgbClr val="2B2C2D"/>
                </a:solidFill>
                <a:latin typeface="Arial MT"/>
                <a:cs typeface="Arial MT"/>
              </a:rPr>
              <a:t>medical </a:t>
            </a:r>
            <a:r>
              <a:rPr sz="2800" dirty="0">
                <a:solidFill>
                  <a:srgbClr val="2B2C2D"/>
                </a:solidFill>
                <a:latin typeface="Arial MT"/>
                <a:cs typeface="Arial MT"/>
              </a:rPr>
              <a:t>information</a:t>
            </a:r>
            <a:r>
              <a:rPr sz="2800" spc="-85" dirty="0">
                <a:solidFill>
                  <a:srgbClr val="2B2C2D"/>
                </a:solidFill>
                <a:latin typeface="Arial MT"/>
                <a:cs typeface="Arial MT"/>
              </a:rPr>
              <a:t> </a:t>
            </a:r>
            <a:r>
              <a:rPr sz="2800" dirty="0">
                <a:solidFill>
                  <a:srgbClr val="2B2C2D"/>
                </a:solidFill>
                <a:latin typeface="Arial MT"/>
                <a:cs typeface="Arial MT"/>
              </a:rPr>
              <a:t>across</a:t>
            </a:r>
            <a:r>
              <a:rPr sz="2800" spc="-105" dirty="0">
                <a:solidFill>
                  <a:srgbClr val="2B2C2D"/>
                </a:solidFill>
                <a:latin typeface="Arial MT"/>
                <a:cs typeface="Arial MT"/>
              </a:rPr>
              <a:t> </a:t>
            </a:r>
            <a:r>
              <a:rPr sz="2800" spc="-10" dirty="0">
                <a:solidFill>
                  <a:srgbClr val="2B2C2D"/>
                </a:solidFill>
                <a:latin typeface="Arial MT"/>
                <a:cs typeface="Arial MT"/>
              </a:rPr>
              <a:t>institutions.</a:t>
            </a:r>
            <a:endParaRPr sz="2800">
              <a:latin typeface="Arial MT"/>
              <a:cs typeface="Arial MT"/>
            </a:endParaRPr>
          </a:p>
          <a:p>
            <a:pPr marL="928369" marR="5080" indent="-457200">
              <a:lnSpc>
                <a:spcPct val="100000"/>
              </a:lnSpc>
              <a:spcBef>
                <a:spcPts val="1000"/>
              </a:spcBef>
              <a:buClr>
                <a:srgbClr val="6D2C91"/>
              </a:buClr>
              <a:buFont typeface="Wingdings"/>
              <a:buChar char=""/>
              <a:tabLst>
                <a:tab pos="928369" algn="l"/>
              </a:tabLst>
            </a:pPr>
            <a:r>
              <a:rPr sz="2800" b="1" dirty="0">
                <a:solidFill>
                  <a:srgbClr val="2B2C2D"/>
                </a:solidFill>
                <a:latin typeface="Arial"/>
                <a:cs typeface="Arial"/>
              </a:rPr>
              <a:t>Scientific</a:t>
            </a:r>
            <a:r>
              <a:rPr sz="2800" b="1" spc="-60" dirty="0">
                <a:solidFill>
                  <a:srgbClr val="2B2C2D"/>
                </a:solidFill>
                <a:latin typeface="Arial"/>
                <a:cs typeface="Arial"/>
              </a:rPr>
              <a:t> </a:t>
            </a:r>
            <a:r>
              <a:rPr sz="2800" b="1" dirty="0">
                <a:solidFill>
                  <a:srgbClr val="2B2C2D"/>
                </a:solidFill>
                <a:latin typeface="Arial"/>
                <a:cs typeface="Arial"/>
              </a:rPr>
              <a:t>Research:</a:t>
            </a:r>
            <a:r>
              <a:rPr sz="2800" b="1" spc="670" dirty="0">
                <a:solidFill>
                  <a:srgbClr val="2B2C2D"/>
                </a:solidFill>
                <a:latin typeface="Arial"/>
                <a:cs typeface="Arial"/>
              </a:rPr>
              <a:t> </a:t>
            </a:r>
            <a:r>
              <a:rPr sz="2800" spc="-20" dirty="0">
                <a:solidFill>
                  <a:srgbClr val="2B2C2D"/>
                </a:solidFill>
                <a:latin typeface="Arial MT"/>
                <a:cs typeface="Arial MT"/>
              </a:rPr>
              <a:t>Real-</a:t>
            </a:r>
            <a:r>
              <a:rPr sz="2800" dirty="0">
                <a:solidFill>
                  <a:srgbClr val="2B2C2D"/>
                </a:solidFill>
                <a:latin typeface="Arial MT"/>
                <a:cs typeface="Arial MT"/>
              </a:rPr>
              <a:t>time</a:t>
            </a:r>
            <a:r>
              <a:rPr sz="2800" spc="-55" dirty="0">
                <a:solidFill>
                  <a:srgbClr val="2B2C2D"/>
                </a:solidFill>
                <a:latin typeface="Arial MT"/>
                <a:cs typeface="Arial MT"/>
              </a:rPr>
              <a:t> </a:t>
            </a:r>
            <a:r>
              <a:rPr sz="2800" spc="-10" dirty="0">
                <a:solidFill>
                  <a:srgbClr val="2B2C2D"/>
                </a:solidFill>
                <a:latin typeface="Arial MT"/>
                <a:cs typeface="Arial MT"/>
              </a:rPr>
              <a:t>secure </a:t>
            </a:r>
            <a:r>
              <a:rPr sz="2800" dirty="0">
                <a:solidFill>
                  <a:srgbClr val="2B2C2D"/>
                </a:solidFill>
                <a:latin typeface="Arial MT"/>
                <a:cs typeface="Arial MT"/>
              </a:rPr>
              <a:t>sharing</a:t>
            </a:r>
            <a:r>
              <a:rPr sz="2800" spc="-50" dirty="0">
                <a:solidFill>
                  <a:srgbClr val="2B2C2D"/>
                </a:solidFill>
                <a:latin typeface="Arial MT"/>
                <a:cs typeface="Arial MT"/>
              </a:rPr>
              <a:t> </a:t>
            </a:r>
            <a:r>
              <a:rPr sz="2800" dirty="0">
                <a:solidFill>
                  <a:srgbClr val="2B2C2D"/>
                </a:solidFill>
                <a:latin typeface="Arial MT"/>
                <a:cs typeface="Arial MT"/>
              </a:rPr>
              <a:t>of</a:t>
            </a:r>
            <a:r>
              <a:rPr sz="2800" spc="-50" dirty="0">
                <a:solidFill>
                  <a:srgbClr val="2B2C2D"/>
                </a:solidFill>
                <a:latin typeface="Arial MT"/>
                <a:cs typeface="Arial MT"/>
              </a:rPr>
              <a:t> </a:t>
            </a:r>
            <a:r>
              <a:rPr sz="2800" dirty="0">
                <a:solidFill>
                  <a:srgbClr val="2B2C2D"/>
                </a:solidFill>
                <a:latin typeface="Arial MT"/>
                <a:cs typeface="Arial MT"/>
              </a:rPr>
              <a:t>medical</a:t>
            </a:r>
            <a:r>
              <a:rPr sz="2800" spc="-35"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other</a:t>
            </a:r>
            <a:r>
              <a:rPr sz="2800" spc="-45" dirty="0">
                <a:solidFill>
                  <a:srgbClr val="2B2C2D"/>
                </a:solidFill>
                <a:latin typeface="Arial MT"/>
                <a:cs typeface="Arial MT"/>
              </a:rPr>
              <a:t> </a:t>
            </a:r>
            <a:r>
              <a:rPr sz="2800" spc="-10" dirty="0">
                <a:solidFill>
                  <a:srgbClr val="2B2C2D"/>
                </a:solidFill>
                <a:latin typeface="Arial MT"/>
                <a:cs typeface="Arial MT"/>
              </a:rPr>
              <a:t>scientific </a:t>
            </a:r>
            <a:r>
              <a:rPr sz="2800" dirty="0">
                <a:solidFill>
                  <a:srgbClr val="2B2C2D"/>
                </a:solidFill>
                <a:latin typeface="Arial MT"/>
                <a:cs typeface="Arial MT"/>
              </a:rPr>
              <a:t>research</a:t>
            </a:r>
            <a:r>
              <a:rPr sz="2800" spc="-75" dirty="0">
                <a:solidFill>
                  <a:srgbClr val="2B2C2D"/>
                </a:solidFill>
                <a:latin typeface="Arial MT"/>
                <a:cs typeface="Arial MT"/>
              </a:rPr>
              <a:t> </a:t>
            </a:r>
            <a:r>
              <a:rPr sz="2800" dirty="0">
                <a:solidFill>
                  <a:srgbClr val="2B2C2D"/>
                </a:solidFill>
                <a:latin typeface="Arial MT"/>
                <a:cs typeface="Arial MT"/>
              </a:rPr>
              <a:t>between</a:t>
            </a:r>
            <a:r>
              <a:rPr sz="2800" spc="-65" dirty="0">
                <a:solidFill>
                  <a:srgbClr val="2B2C2D"/>
                </a:solidFill>
                <a:latin typeface="Arial MT"/>
                <a:cs typeface="Arial MT"/>
              </a:rPr>
              <a:t> </a:t>
            </a:r>
            <a:r>
              <a:rPr sz="2800" dirty="0">
                <a:solidFill>
                  <a:srgbClr val="2B2C2D"/>
                </a:solidFill>
                <a:latin typeface="Arial MT"/>
                <a:cs typeface="Arial MT"/>
              </a:rPr>
              <a:t>institutions</a:t>
            </a:r>
            <a:r>
              <a:rPr sz="2800" spc="-80" dirty="0">
                <a:solidFill>
                  <a:srgbClr val="2B2C2D"/>
                </a:solidFill>
                <a:latin typeface="Arial MT"/>
                <a:cs typeface="Arial MT"/>
              </a:rPr>
              <a:t> </a:t>
            </a:r>
            <a:r>
              <a:rPr sz="2800" dirty="0">
                <a:solidFill>
                  <a:srgbClr val="2B2C2D"/>
                </a:solidFill>
                <a:latin typeface="Arial MT"/>
                <a:cs typeface="Arial MT"/>
              </a:rPr>
              <a:t>to</a:t>
            </a:r>
            <a:r>
              <a:rPr sz="2800" spc="-85" dirty="0">
                <a:solidFill>
                  <a:srgbClr val="2B2C2D"/>
                </a:solidFill>
                <a:latin typeface="Arial MT"/>
                <a:cs typeface="Arial MT"/>
              </a:rPr>
              <a:t> </a:t>
            </a:r>
            <a:r>
              <a:rPr sz="2800" dirty="0">
                <a:solidFill>
                  <a:srgbClr val="2B2C2D"/>
                </a:solidFill>
                <a:latin typeface="Arial MT"/>
                <a:cs typeface="Arial MT"/>
              </a:rPr>
              <a:t>avoid</a:t>
            </a:r>
            <a:r>
              <a:rPr sz="2800" spc="-75" dirty="0">
                <a:solidFill>
                  <a:srgbClr val="2B2C2D"/>
                </a:solidFill>
                <a:latin typeface="Arial MT"/>
                <a:cs typeface="Arial MT"/>
              </a:rPr>
              <a:t> </a:t>
            </a:r>
            <a:r>
              <a:rPr sz="2800" spc="-25" dirty="0">
                <a:solidFill>
                  <a:srgbClr val="2B2C2D"/>
                </a:solidFill>
                <a:latin typeface="Arial MT"/>
                <a:cs typeface="Arial MT"/>
              </a:rPr>
              <a:t>the </a:t>
            </a:r>
            <a:r>
              <a:rPr sz="2800" dirty="0">
                <a:solidFill>
                  <a:srgbClr val="2B2C2D"/>
                </a:solidFill>
                <a:latin typeface="Arial MT"/>
                <a:cs typeface="Arial MT"/>
              </a:rPr>
              <a:t>“silo”</a:t>
            </a:r>
            <a:r>
              <a:rPr sz="2800" spc="-100" dirty="0">
                <a:solidFill>
                  <a:srgbClr val="2B2C2D"/>
                </a:solidFill>
                <a:latin typeface="Arial MT"/>
                <a:cs typeface="Arial MT"/>
              </a:rPr>
              <a:t> </a:t>
            </a:r>
            <a:r>
              <a:rPr sz="2800" dirty="0">
                <a:solidFill>
                  <a:srgbClr val="2B2C2D"/>
                </a:solidFill>
                <a:latin typeface="Arial MT"/>
                <a:cs typeface="Arial MT"/>
              </a:rPr>
              <a:t>effect;</a:t>
            </a:r>
            <a:r>
              <a:rPr sz="2800" spc="-110" dirty="0">
                <a:solidFill>
                  <a:srgbClr val="2B2C2D"/>
                </a:solidFill>
                <a:latin typeface="Arial MT"/>
                <a:cs typeface="Arial MT"/>
              </a:rPr>
              <a:t> </a:t>
            </a:r>
            <a:r>
              <a:rPr sz="2800" dirty="0">
                <a:solidFill>
                  <a:srgbClr val="2B2C2D"/>
                </a:solidFill>
                <a:latin typeface="Arial MT"/>
                <a:cs typeface="Arial MT"/>
              </a:rPr>
              <a:t>automated</a:t>
            </a:r>
            <a:r>
              <a:rPr sz="2800" spc="-95" dirty="0">
                <a:solidFill>
                  <a:srgbClr val="2B2C2D"/>
                </a:solidFill>
                <a:latin typeface="Arial MT"/>
                <a:cs typeface="Arial MT"/>
              </a:rPr>
              <a:t> </a:t>
            </a:r>
            <a:r>
              <a:rPr sz="2800" dirty="0">
                <a:solidFill>
                  <a:srgbClr val="2B2C2D"/>
                </a:solidFill>
                <a:latin typeface="Arial MT"/>
                <a:cs typeface="Arial MT"/>
              </a:rPr>
              <a:t>nondisclosure</a:t>
            </a:r>
            <a:r>
              <a:rPr sz="2800" spc="-85" dirty="0">
                <a:solidFill>
                  <a:srgbClr val="2B2C2D"/>
                </a:solidFill>
                <a:latin typeface="Arial MT"/>
                <a:cs typeface="Arial MT"/>
              </a:rPr>
              <a:t> </a:t>
            </a:r>
            <a:r>
              <a:rPr sz="2800" spc="-10" dirty="0">
                <a:solidFill>
                  <a:srgbClr val="2B2C2D"/>
                </a:solidFill>
                <a:latin typeface="Arial MT"/>
                <a:cs typeface="Arial MT"/>
              </a:rPr>
              <a:t>terms </a:t>
            </a:r>
            <a:r>
              <a:rPr sz="2800" dirty="0">
                <a:solidFill>
                  <a:srgbClr val="2B2C2D"/>
                </a:solidFill>
                <a:latin typeface="Arial MT"/>
                <a:cs typeface="Arial MT"/>
              </a:rPr>
              <a:t>to</a:t>
            </a:r>
            <a:r>
              <a:rPr sz="2800" spc="-45" dirty="0">
                <a:solidFill>
                  <a:srgbClr val="2B2C2D"/>
                </a:solidFill>
                <a:latin typeface="Arial MT"/>
                <a:cs typeface="Arial MT"/>
              </a:rPr>
              <a:t> </a:t>
            </a:r>
            <a:r>
              <a:rPr sz="2800" dirty="0">
                <a:solidFill>
                  <a:srgbClr val="2B2C2D"/>
                </a:solidFill>
                <a:latin typeface="Arial MT"/>
                <a:cs typeface="Arial MT"/>
              </a:rPr>
              <a:t>protect</a:t>
            </a:r>
            <a:r>
              <a:rPr sz="2800" spc="-40" dirty="0">
                <a:solidFill>
                  <a:srgbClr val="2B2C2D"/>
                </a:solidFill>
                <a:latin typeface="Arial MT"/>
                <a:cs typeface="Arial MT"/>
              </a:rPr>
              <a:t> </a:t>
            </a:r>
            <a:r>
              <a:rPr sz="2800" dirty="0">
                <a:solidFill>
                  <a:srgbClr val="2B2C2D"/>
                </a:solidFill>
                <a:latin typeface="Arial MT"/>
                <a:cs typeface="Arial MT"/>
              </a:rPr>
              <a:t>patent</a:t>
            </a:r>
            <a:r>
              <a:rPr sz="2800" spc="-45" dirty="0">
                <a:solidFill>
                  <a:srgbClr val="2B2C2D"/>
                </a:solidFill>
                <a:latin typeface="Arial MT"/>
                <a:cs typeface="Arial MT"/>
              </a:rPr>
              <a:t> </a:t>
            </a:r>
            <a:r>
              <a:rPr sz="2800" dirty="0">
                <a:solidFill>
                  <a:srgbClr val="2B2C2D"/>
                </a:solidFill>
                <a:latin typeface="Arial MT"/>
                <a:cs typeface="Arial MT"/>
              </a:rPr>
              <a:t>and</a:t>
            </a:r>
            <a:r>
              <a:rPr sz="2800" spc="-35" dirty="0">
                <a:solidFill>
                  <a:srgbClr val="2B2C2D"/>
                </a:solidFill>
                <a:latin typeface="Arial MT"/>
                <a:cs typeface="Arial MT"/>
              </a:rPr>
              <a:t> </a:t>
            </a:r>
            <a:r>
              <a:rPr sz="2800" dirty="0">
                <a:solidFill>
                  <a:srgbClr val="2B2C2D"/>
                </a:solidFill>
                <a:latin typeface="Arial MT"/>
                <a:cs typeface="Arial MT"/>
              </a:rPr>
              <a:t>other</a:t>
            </a:r>
            <a:r>
              <a:rPr sz="2800" spc="-35" dirty="0">
                <a:solidFill>
                  <a:srgbClr val="2B2C2D"/>
                </a:solidFill>
                <a:latin typeface="Arial MT"/>
                <a:cs typeface="Arial MT"/>
              </a:rPr>
              <a:t> </a:t>
            </a:r>
            <a:r>
              <a:rPr sz="2800" dirty="0">
                <a:solidFill>
                  <a:srgbClr val="2B2C2D"/>
                </a:solidFill>
                <a:latin typeface="Arial MT"/>
                <a:cs typeface="Arial MT"/>
              </a:rPr>
              <a:t>IP</a:t>
            </a:r>
            <a:r>
              <a:rPr sz="2800" spc="-95" dirty="0">
                <a:solidFill>
                  <a:srgbClr val="2B2C2D"/>
                </a:solidFill>
                <a:latin typeface="Arial MT"/>
                <a:cs typeface="Arial MT"/>
              </a:rPr>
              <a:t> </a:t>
            </a:r>
            <a:r>
              <a:rPr sz="2800" spc="-10" dirty="0">
                <a:solidFill>
                  <a:srgbClr val="2B2C2D"/>
                </a:solidFill>
                <a:latin typeface="Arial MT"/>
                <a:cs typeface="Arial MT"/>
              </a:rPr>
              <a:t>rights; </a:t>
            </a:r>
            <a:r>
              <a:rPr sz="2800" dirty="0">
                <a:solidFill>
                  <a:srgbClr val="2B2C2D"/>
                </a:solidFill>
                <a:latin typeface="Arial MT"/>
                <a:cs typeface="Arial MT"/>
              </a:rPr>
              <a:t>automatic</a:t>
            </a:r>
            <a:r>
              <a:rPr sz="2800" spc="-60" dirty="0">
                <a:solidFill>
                  <a:srgbClr val="2B2C2D"/>
                </a:solidFill>
                <a:latin typeface="Arial MT"/>
                <a:cs typeface="Arial MT"/>
              </a:rPr>
              <a:t> </a:t>
            </a:r>
            <a:r>
              <a:rPr sz="2800" dirty="0">
                <a:solidFill>
                  <a:srgbClr val="2B2C2D"/>
                </a:solidFill>
                <a:latin typeface="Arial MT"/>
                <a:cs typeface="Arial MT"/>
              </a:rPr>
              <a:t>release</a:t>
            </a:r>
            <a:r>
              <a:rPr sz="2800" spc="-6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dirty="0">
                <a:solidFill>
                  <a:srgbClr val="2B2C2D"/>
                </a:solidFill>
                <a:latin typeface="Arial MT"/>
                <a:cs typeface="Arial MT"/>
              </a:rPr>
              <a:t>grant</a:t>
            </a:r>
            <a:r>
              <a:rPr sz="2800" spc="-65" dirty="0">
                <a:solidFill>
                  <a:srgbClr val="2B2C2D"/>
                </a:solidFill>
                <a:latin typeface="Arial MT"/>
                <a:cs typeface="Arial MT"/>
              </a:rPr>
              <a:t> </a:t>
            </a:r>
            <a:r>
              <a:rPr sz="2800" spc="-10" dirty="0">
                <a:solidFill>
                  <a:srgbClr val="2B2C2D"/>
                </a:solidFill>
                <a:latin typeface="Arial MT"/>
                <a:cs typeface="Arial MT"/>
              </a:rPr>
              <a:t>funds.</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40" dirty="0"/>
              <a:t> </a:t>
            </a:r>
            <a:r>
              <a:rPr dirty="0"/>
              <a:t>of</a:t>
            </a:r>
            <a:r>
              <a:rPr spc="-60" dirty="0"/>
              <a:t> </a:t>
            </a:r>
            <a:r>
              <a:rPr dirty="0"/>
              <a:t>Smart</a:t>
            </a:r>
            <a:r>
              <a:rPr spc="-55" dirty="0"/>
              <a:t> </a:t>
            </a:r>
            <a:r>
              <a:rPr spc="-10" dirty="0"/>
              <a:t>Contracts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52</a:t>
            </a:fld>
            <a:endParaRPr spc="-25" dirty="0"/>
          </a:p>
        </p:txBody>
      </p:sp>
      <p:sp>
        <p:nvSpPr>
          <p:cNvPr id="3" name="object 3"/>
          <p:cNvSpPr txBox="1"/>
          <p:nvPr/>
        </p:nvSpPr>
        <p:spPr>
          <a:xfrm>
            <a:off x="816355" y="1214119"/>
            <a:ext cx="6832600" cy="878840"/>
          </a:xfrm>
          <a:prstGeom prst="rect">
            <a:avLst/>
          </a:prstGeom>
        </p:spPr>
        <p:txBody>
          <a:bodyPr vert="horz" wrap="square" lIns="0" tIns="12065" rIns="0" bIns="0" rtlCol="0">
            <a:spAutoFit/>
          </a:bodyPr>
          <a:lstStyle/>
          <a:p>
            <a:pPr marL="12700" marR="5080">
              <a:lnSpc>
                <a:spcPct val="100000"/>
              </a:lnSpc>
              <a:spcBef>
                <a:spcPts val="95"/>
              </a:spcBef>
            </a:pPr>
            <a:r>
              <a:rPr sz="2800" dirty="0">
                <a:solidFill>
                  <a:srgbClr val="2B2C2D"/>
                </a:solidFill>
                <a:latin typeface="Arial MT"/>
                <a:cs typeface="Arial MT"/>
              </a:rPr>
              <a:t>How</a:t>
            </a:r>
            <a:r>
              <a:rPr sz="2800" spc="-55" dirty="0">
                <a:solidFill>
                  <a:srgbClr val="2B2C2D"/>
                </a:solidFill>
                <a:latin typeface="Arial MT"/>
                <a:cs typeface="Arial MT"/>
              </a:rPr>
              <a:t> </a:t>
            </a:r>
            <a:r>
              <a:rPr sz="2800" dirty="0">
                <a:solidFill>
                  <a:srgbClr val="2B2C2D"/>
                </a:solidFill>
                <a:latin typeface="Arial MT"/>
                <a:cs typeface="Arial MT"/>
              </a:rPr>
              <a:t>is</a:t>
            </a:r>
            <a:r>
              <a:rPr sz="2800" spc="-55" dirty="0">
                <a:solidFill>
                  <a:srgbClr val="2B2C2D"/>
                </a:solidFill>
                <a:latin typeface="Arial MT"/>
                <a:cs typeface="Arial MT"/>
              </a:rPr>
              <a:t> </a:t>
            </a:r>
            <a:r>
              <a:rPr sz="2800" dirty="0">
                <a:solidFill>
                  <a:srgbClr val="2B2C2D"/>
                </a:solidFill>
                <a:latin typeface="Arial MT"/>
                <a:cs typeface="Arial MT"/>
              </a:rPr>
              <a:t>a</a:t>
            </a:r>
            <a:r>
              <a:rPr sz="2800" spc="-65" dirty="0">
                <a:solidFill>
                  <a:srgbClr val="2B2C2D"/>
                </a:solidFill>
                <a:latin typeface="Arial MT"/>
                <a:cs typeface="Arial MT"/>
              </a:rPr>
              <a:t> </a:t>
            </a:r>
            <a:r>
              <a:rPr sz="2800" dirty="0">
                <a:solidFill>
                  <a:srgbClr val="2B2C2D"/>
                </a:solidFill>
                <a:latin typeface="Arial MT"/>
                <a:cs typeface="Arial MT"/>
              </a:rPr>
              <a:t>smart</a:t>
            </a:r>
            <a:r>
              <a:rPr sz="2800" spc="-55" dirty="0">
                <a:solidFill>
                  <a:srgbClr val="2B2C2D"/>
                </a:solidFill>
                <a:latin typeface="Arial MT"/>
                <a:cs typeface="Arial MT"/>
              </a:rPr>
              <a:t> </a:t>
            </a:r>
            <a:r>
              <a:rPr sz="2800" dirty="0">
                <a:solidFill>
                  <a:srgbClr val="2B2C2D"/>
                </a:solidFill>
                <a:latin typeface="Arial MT"/>
                <a:cs typeface="Arial MT"/>
              </a:rPr>
              <a:t>contract</a:t>
            </a:r>
            <a:r>
              <a:rPr sz="2800" spc="-80" dirty="0">
                <a:solidFill>
                  <a:srgbClr val="2B2C2D"/>
                </a:solidFill>
                <a:latin typeface="Arial MT"/>
                <a:cs typeface="Arial MT"/>
              </a:rPr>
              <a:t> </a:t>
            </a:r>
            <a:r>
              <a:rPr sz="2800" b="1" dirty="0">
                <a:solidFill>
                  <a:srgbClr val="2B2C2D"/>
                </a:solidFill>
                <a:latin typeface="Arial"/>
                <a:cs typeface="Arial"/>
              </a:rPr>
              <a:t>constructed</a:t>
            </a:r>
            <a:r>
              <a:rPr sz="2800" b="1" spc="-35" dirty="0">
                <a:solidFill>
                  <a:srgbClr val="2B2C2D"/>
                </a:solidFill>
                <a:latin typeface="Arial"/>
                <a:cs typeface="Arial"/>
              </a:rPr>
              <a:t> </a:t>
            </a:r>
            <a:r>
              <a:rPr sz="2800" spc="-10" dirty="0">
                <a:solidFill>
                  <a:srgbClr val="2B2C2D"/>
                </a:solidFill>
                <a:latin typeface="Arial MT"/>
                <a:cs typeface="Arial MT"/>
              </a:rPr>
              <a:t>using </a:t>
            </a:r>
            <a:r>
              <a:rPr sz="2800" dirty="0">
                <a:solidFill>
                  <a:srgbClr val="2B2C2D"/>
                </a:solidFill>
                <a:latin typeface="Arial MT"/>
                <a:cs typeface="Arial MT"/>
              </a:rPr>
              <a:t>a</a:t>
            </a:r>
            <a:r>
              <a:rPr sz="2800" spc="-20" dirty="0">
                <a:solidFill>
                  <a:srgbClr val="2B2C2D"/>
                </a:solidFill>
                <a:latin typeface="Arial MT"/>
                <a:cs typeface="Arial MT"/>
              </a:rPr>
              <a:t> </a:t>
            </a:r>
            <a:r>
              <a:rPr sz="2800" spc="-10" dirty="0">
                <a:solidFill>
                  <a:srgbClr val="2B2C2D"/>
                </a:solidFill>
                <a:latin typeface="Arial MT"/>
                <a:cs typeface="Arial MT"/>
              </a:rPr>
              <a:t>blockchain?</a:t>
            </a:r>
            <a:endParaRPr sz="2800">
              <a:latin typeface="Arial MT"/>
              <a:cs typeface="Arial M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40" dirty="0"/>
              <a:t> </a:t>
            </a:r>
            <a:r>
              <a:rPr dirty="0"/>
              <a:t>of</a:t>
            </a:r>
            <a:r>
              <a:rPr spc="-60" dirty="0"/>
              <a:t> </a:t>
            </a:r>
            <a:r>
              <a:rPr dirty="0"/>
              <a:t>Smart</a:t>
            </a:r>
            <a:r>
              <a:rPr spc="-55" dirty="0"/>
              <a:t> </a:t>
            </a:r>
            <a:r>
              <a:rPr spc="-10" dirty="0"/>
              <a:t>Contracts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53</a:t>
            </a:fld>
            <a:endParaRPr spc="-25" dirty="0"/>
          </a:p>
        </p:txBody>
      </p:sp>
      <p:sp>
        <p:nvSpPr>
          <p:cNvPr id="3" name="object 3"/>
          <p:cNvSpPr txBox="1"/>
          <p:nvPr/>
        </p:nvSpPr>
        <p:spPr>
          <a:xfrm>
            <a:off x="816355" y="1214119"/>
            <a:ext cx="6818630" cy="3992245"/>
          </a:xfrm>
          <a:prstGeom prst="rect">
            <a:avLst/>
          </a:prstGeom>
        </p:spPr>
        <p:txBody>
          <a:bodyPr vert="horz" wrap="square" lIns="0" tIns="12065" rIns="0" bIns="0" rtlCol="0">
            <a:spAutoFit/>
          </a:bodyPr>
          <a:lstStyle/>
          <a:p>
            <a:pPr marL="469900" marR="64135" indent="-457200">
              <a:lnSpc>
                <a:spcPct val="100000"/>
              </a:lnSpc>
              <a:spcBef>
                <a:spcPts val="95"/>
              </a:spcBef>
              <a:buClr>
                <a:srgbClr val="6D2C91"/>
              </a:buClr>
              <a:buFont typeface="Wingdings"/>
              <a:buChar char=""/>
              <a:tabLst>
                <a:tab pos="469900" algn="l"/>
              </a:tabLst>
            </a:pPr>
            <a:r>
              <a:rPr sz="2800" dirty="0">
                <a:solidFill>
                  <a:srgbClr val="2B2C2D"/>
                </a:solidFill>
                <a:latin typeface="Arial MT"/>
                <a:cs typeface="Arial MT"/>
              </a:rPr>
              <a:t>There</a:t>
            </a:r>
            <a:r>
              <a:rPr sz="2800" spc="-80" dirty="0">
                <a:solidFill>
                  <a:srgbClr val="2B2C2D"/>
                </a:solidFill>
                <a:latin typeface="Arial MT"/>
                <a:cs typeface="Arial MT"/>
              </a:rPr>
              <a:t> </a:t>
            </a:r>
            <a:r>
              <a:rPr sz="2800" dirty="0">
                <a:solidFill>
                  <a:srgbClr val="2B2C2D"/>
                </a:solidFill>
                <a:latin typeface="Arial MT"/>
                <a:cs typeface="Arial MT"/>
              </a:rPr>
              <a:t>are</a:t>
            </a:r>
            <a:r>
              <a:rPr sz="2800" spc="-85" dirty="0">
                <a:solidFill>
                  <a:srgbClr val="2B2C2D"/>
                </a:solidFill>
                <a:latin typeface="Arial MT"/>
                <a:cs typeface="Arial MT"/>
              </a:rPr>
              <a:t> </a:t>
            </a:r>
            <a:r>
              <a:rPr sz="2800" b="1" dirty="0">
                <a:solidFill>
                  <a:srgbClr val="2B2C2D"/>
                </a:solidFill>
                <a:latin typeface="Arial"/>
                <a:cs typeface="Arial"/>
              </a:rPr>
              <a:t>competing</a:t>
            </a:r>
            <a:r>
              <a:rPr sz="2800" b="1" spc="-60" dirty="0">
                <a:solidFill>
                  <a:srgbClr val="2B2C2D"/>
                </a:solidFill>
                <a:latin typeface="Arial"/>
                <a:cs typeface="Arial"/>
              </a:rPr>
              <a:t> </a:t>
            </a:r>
            <a:r>
              <a:rPr sz="2800" b="1" dirty="0">
                <a:solidFill>
                  <a:srgbClr val="2B2C2D"/>
                </a:solidFill>
                <a:latin typeface="Arial"/>
                <a:cs typeface="Arial"/>
              </a:rPr>
              <a:t>versions</a:t>
            </a:r>
            <a:r>
              <a:rPr sz="2800" b="1" spc="-80" dirty="0">
                <a:solidFill>
                  <a:srgbClr val="2B2C2D"/>
                </a:solidFill>
                <a:latin typeface="Arial"/>
                <a:cs typeface="Arial"/>
              </a:rPr>
              <a:t> </a:t>
            </a:r>
            <a:r>
              <a:rPr sz="2800" b="1" spc="-25" dirty="0">
                <a:solidFill>
                  <a:srgbClr val="2B2C2D"/>
                </a:solidFill>
                <a:latin typeface="Arial"/>
                <a:cs typeface="Arial"/>
              </a:rPr>
              <a:t>of </a:t>
            </a:r>
            <a:r>
              <a:rPr sz="2800" b="1" dirty="0">
                <a:solidFill>
                  <a:srgbClr val="2B2C2D"/>
                </a:solidFill>
                <a:latin typeface="Arial"/>
                <a:cs typeface="Arial"/>
              </a:rPr>
              <a:t>blockchain</a:t>
            </a:r>
            <a:r>
              <a:rPr sz="2800" b="1" spc="-90" dirty="0">
                <a:solidFill>
                  <a:srgbClr val="2B2C2D"/>
                </a:solidFill>
                <a:latin typeface="Arial"/>
                <a:cs typeface="Arial"/>
              </a:rPr>
              <a:t> </a:t>
            </a:r>
            <a:r>
              <a:rPr sz="2800" b="1" dirty="0">
                <a:solidFill>
                  <a:srgbClr val="2B2C2D"/>
                </a:solidFill>
                <a:latin typeface="Arial"/>
                <a:cs typeface="Arial"/>
              </a:rPr>
              <a:t>software</a:t>
            </a:r>
            <a:r>
              <a:rPr sz="2800" dirty="0">
                <a:solidFill>
                  <a:srgbClr val="2B2C2D"/>
                </a:solidFill>
                <a:latin typeface="Arial MT"/>
                <a:cs typeface="Arial MT"/>
              </a:rPr>
              <a:t>,</a:t>
            </a:r>
            <a:r>
              <a:rPr sz="2800" spc="-100" dirty="0">
                <a:solidFill>
                  <a:srgbClr val="2B2C2D"/>
                </a:solidFill>
                <a:latin typeface="Arial MT"/>
                <a:cs typeface="Arial MT"/>
              </a:rPr>
              <a:t> </a:t>
            </a:r>
            <a:r>
              <a:rPr sz="2800" dirty="0">
                <a:solidFill>
                  <a:srgbClr val="2B2C2D"/>
                </a:solidFill>
                <a:latin typeface="Arial MT"/>
                <a:cs typeface="Arial MT"/>
              </a:rPr>
              <a:t>similar</a:t>
            </a:r>
            <a:r>
              <a:rPr sz="2800" spc="-95" dirty="0">
                <a:solidFill>
                  <a:srgbClr val="2B2C2D"/>
                </a:solidFill>
                <a:latin typeface="Arial MT"/>
                <a:cs typeface="Arial MT"/>
              </a:rPr>
              <a:t> </a:t>
            </a:r>
            <a:r>
              <a:rPr sz="2800" spc="-25" dirty="0">
                <a:solidFill>
                  <a:srgbClr val="2B2C2D"/>
                </a:solidFill>
                <a:latin typeface="Arial MT"/>
                <a:cs typeface="Arial MT"/>
              </a:rPr>
              <a:t>to </a:t>
            </a:r>
            <a:r>
              <a:rPr sz="2800" dirty="0">
                <a:solidFill>
                  <a:srgbClr val="2B2C2D"/>
                </a:solidFill>
                <a:latin typeface="Arial MT"/>
                <a:cs typeface="Arial MT"/>
              </a:rPr>
              <a:t>competing</a:t>
            </a:r>
            <a:r>
              <a:rPr sz="2800" spc="-75" dirty="0">
                <a:solidFill>
                  <a:srgbClr val="2B2C2D"/>
                </a:solidFill>
                <a:latin typeface="Arial MT"/>
                <a:cs typeface="Arial MT"/>
              </a:rPr>
              <a:t> </a:t>
            </a:r>
            <a:r>
              <a:rPr sz="2800" dirty="0">
                <a:solidFill>
                  <a:srgbClr val="2B2C2D"/>
                </a:solidFill>
                <a:latin typeface="Arial MT"/>
                <a:cs typeface="Arial MT"/>
              </a:rPr>
              <a:t>versions</a:t>
            </a:r>
            <a:r>
              <a:rPr sz="2800" spc="-85" dirty="0">
                <a:solidFill>
                  <a:srgbClr val="2B2C2D"/>
                </a:solidFill>
                <a:latin typeface="Arial MT"/>
                <a:cs typeface="Arial MT"/>
              </a:rPr>
              <a:t> </a:t>
            </a:r>
            <a:r>
              <a:rPr sz="2800" dirty="0">
                <a:solidFill>
                  <a:srgbClr val="2B2C2D"/>
                </a:solidFill>
                <a:latin typeface="Arial MT"/>
                <a:cs typeface="Arial MT"/>
              </a:rPr>
              <a:t>of</a:t>
            </a:r>
            <a:r>
              <a:rPr sz="2800" spc="-85" dirty="0">
                <a:solidFill>
                  <a:srgbClr val="2B2C2D"/>
                </a:solidFill>
                <a:latin typeface="Arial MT"/>
                <a:cs typeface="Arial MT"/>
              </a:rPr>
              <a:t> </a:t>
            </a:r>
            <a:r>
              <a:rPr sz="2800" dirty="0">
                <a:solidFill>
                  <a:srgbClr val="2B2C2D"/>
                </a:solidFill>
                <a:latin typeface="Arial MT"/>
                <a:cs typeface="Arial MT"/>
              </a:rPr>
              <a:t>computer</a:t>
            </a:r>
            <a:r>
              <a:rPr sz="2800" spc="-80" dirty="0">
                <a:solidFill>
                  <a:srgbClr val="2B2C2D"/>
                </a:solidFill>
                <a:latin typeface="Arial MT"/>
                <a:cs typeface="Arial MT"/>
              </a:rPr>
              <a:t> </a:t>
            </a:r>
            <a:r>
              <a:rPr sz="2800" spc="-10" dirty="0">
                <a:solidFill>
                  <a:srgbClr val="2B2C2D"/>
                </a:solidFill>
                <a:latin typeface="Arial MT"/>
                <a:cs typeface="Arial MT"/>
              </a:rPr>
              <a:t>system </a:t>
            </a:r>
            <a:r>
              <a:rPr sz="2800" dirty="0">
                <a:solidFill>
                  <a:srgbClr val="2B2C2D"/>
                </a:solidFill>
                <a:latin typeface="Arial MT"/>
                <a:cs typeface="Arial MT"/>
              </a:rPr>
              <a:t>software</a:t>
            </a:r>
            <a:r>
              <a:rPr sz="2800" spc="-60" dirty="0">
                <a:solidFill>
                  <a:srgbClr val="2B2C2D"/>
                </a:solidFill>
                <a:latin typeface="Arial MT"/>
                <a:cs typeface="Arial MT"/>
              </a:rPr>
              <a:t> </a:t>
            </a:r>
            <a:r>
              <a:rPr sz="2800" dirty="0">
                <a:solidFill>
                  <a:srgbClr val="2B2C2D"/>
                </a:solidFill>
                <a:latin typeface="Arial MT"/>
                <a:cs typeface="Arial MT"/>
              </a:rPr>
              <a:t>such</a:t>
            </a:r>
            <a:r>
              <a:rPr sz="2800" spc="-60" dirty="0">
                <a:solidFill>
                  <a:srgbClr val="2B2C2D"/>
                </a:solidFill>
                <a:latin typeface="Arial MT"/>
                <a:cs typeface="Arial MT"/>
              </a:rPr>
              <a:t> </a:t>
            </a:r>
            <a:r>
              <a:rPr sz="2800" dirty="0">
                <a:solidFill>
                  <a:srgbClr val="2B2C2D"/>
                </a:solidFill>
                <a:latin typeface="Arial MT"/>
                <a:cs typeface="Arial MT"/>
              </a:rPr>
              <a:t>as</a:t>
            </a:r>
            <a:r>
              <a:rPr sz="2800" spc="-50" dirty="0">
                <a:solidFill>
                  <a:srgbClr val="2B2C2D"/>
                </a:solidFill>
                <a:latin typeface="Arial MT"/>
                <a:cs typeface="Arial MT"/>
              </a:rPr>
              <a:t> </a:t>
            </a:r>
            <a:r>
              <a:rPr sz="2800" dirty="0">
                <a:solidFill>
                  <a:srgbClr val="2B2C2D"/>
                </a:solidFill>
                <a:latin typeface="Arial MT"/>
                <a:cs typeface="Arial MT"/>
              </a:rPr>
              <a:t>Microsoft</a:t>
            </a:r>
            <a:r>
              <a:rPr sz="2800" spc="-60" dirty="0">
                <a:solidFill>
                  <a:srgbClr val="2B2C2D"/>
                </a:solidFill>
                <a:latin typeface="Arial MT"/>
                <a:cs typeface="Arial MT"/>
              </a:rPr>
              <a:t> </a:t>
            </a:r>
            <a:r>
              <a:rPr sz="2800" dirty="0">
                <a:solidFill>
                  <a:srgbClr val="2B2C2D"/>
                </a:solidFill>
                <a:latin typeface="Arial MT"/>
                <a:cs typeface="Arial MT"/>
              </a:rPr>
              <a:t>and</a:t>
            </a:r>
            <a:r>
              <a:rPr sz="2800" spc="-185" dirty="0">
                <a:solidFill>
                  <a:srgbClr val="2B2C2D"/>
                </a:solidFill>
                <a:latin typeface="Arial MT"/>
                <a:cs typeface="Arial MT"/>
              </a:rPr>
              <a:t> </a:t>
            </a:r>
            <a:r>
              <a:rPr sz="2800" spc="-10" dirty="0">
                <a:solidFill>
                  <a:srgbClr val="2B2C2D"/>
                </a:solidFill>
                <a:latin typeface="Arial MT"/>
                <a:cs typeface="Arial MT"/>
              </a:rPr>
              <a:t>Apple.</a:t>
            </a:r>
            <a:endParaRPr sz="2800">
              <a:latin typeface="Arial MT"/>
              <a:cs typeface="Arial MT"/>
            </a:endParaRPr>
          </a:p>
          <a:p>
            <a:pPr marL="469900" marR="5080" indent="-457200">
              <a:lnSpc>
                <a:spcPct val="100000"/>
              </a:lnSpc>
              <a:spcBef>
                <a:spcPts val="994"/>
              </a:spcBef>
              <a:buClr>
                <a:srgbClr val="6D2C91"/>
              </a:buClr>
              <a:buFont typeface="Wingdings"/>
              <a:buChar char=""/>
              <a:tabLst>
                <a:tab pos="469900" algn="l"/>
              </a:tabLst>
            </a:pPr>
            <a:r>
              <a:rPr sz="2800" dirty="0">
                <a:solidFill>
                  <a:srgbClr val="2B2C2D"/>
                </a:solidFill>
                <a:latin typeface="Arial MT"/>
                <a:cs typeface="Arial MT"/>
              </a:rPr>
              <a:t>For</a:t>
            </a:r>
            <a:r>
              <a:rPr sz="2800" spc="-50" dirty="0">
                <a:solidFill>
                  <a:srgbClr val="2B2C2D"/>
                </a:solidFill>
                <a:latin typeface="Arial MT"/>
                <a:cs typeface="Arial MT"/>
              </a:rPr>
              <a:t> </a:t>
            </a:r>
            <a:r>
              <a:rPr sz="2800" dirty="0">
                <a:solidFill>
                  <a:srgbClr val="2B2C2D"/>
                </a:solidFill>
                <a:latin typeface="Arial MT"/>
                <a:cs typeface="Arial MT"/>
              </a:rPr>
              <a:t>example,</a:t>
            </a:r>
            <a:r>
              <a:rPr sz="2800" spc="-60" dirty="0">
                <a:solidFill>
                  <a:srgbClr val="2B2C2D"/>
                </a:solidFill>
                <a:latin typeface="Arial MT"/>
                <a:cs typeface="Arial MT"/>
              </a:rPr>
              <a:t> </a:t>
            </a:r>
            <a:r>
              <a:rPr sz="2800" b="1" dirty="0">
                <a:solidFill>
                  <a:srgbClr val="2B2C2D"/>
                </a:solidFill>
                <a:latin typeface="Arial"/>
                <a:cs typeface="Arial"/>
              </a:rPr>
              <a:t>Bitcoin</a:t>
            </a:r>
            <a:r>
              <a:rPr sz="2800" b="1" spc="-50" dirty="0">
                <a:solidFill>
                  <a:srgbClr val="2B2C2D"/>
                </a:solidFill>
                <a:latin typeface="Arial"/>
                <a:cs typeface="Arial"/>
              </a:rPr>
              <a:t> </a:t>
            </a:r>
            <a:r>
              <a:rPr sz="2800" dirty="0">
                <a:solidFill>
                  <a:srgbClr val="2B2C2D"/>
                </a:solidFill>
                <a:latin typeface="Arial MT"/>
                <a:cs typeface="Arial MT"/>
              </a:rPr>
              <a:t>has</a:t>
            </a:r>
            <a:r>
              <a:rPr sz="2800" spc="-55" dirty="0">
                <a:solidFill>
                  <a:srgbClr val="2B2C2D"/>
                </a:solidFill>
                <a:latin typeface="Arial MT"/>
                <a:cs typeface="Arial MT"/>
              </a:rPr>
              <a:t> </a:t>
            </a:r>
            <a:r>
              <a:rPr sz="2800" dirty="0">
                <a:solidFill>
                  <a:srgbClr val="2B2C2D"/>
                </a:solidFill>
                <a:latin typeface="Arial MT"/>
                <a:cs typeface="Arial MT"/>
              </a:rPr>
              <a:t>its</a:t>
            </a:r>
            <a:r>
              <a:rPr sz="2800" spc="-70" dirty="0">
                <a:solidFill>
                  <a:srgbClr val="2B2C2D"/>
                </a:solidFill>
                <a:latin typeface="Arial MT"/>
                <a:cs typeface="Arial MT"/>
              </a:rPr>
              <a:t> </a:t>
            </a:r>
            <a:r>
              <a:rPr sz="2800" spc="-25" dirty="0">
                <a:solidFill>
                  <a:srgbClr val="2B2C2D"/>
                </a:solidFill>
                <a:latin typeface="Arial MT"/>
                <a:cs typeface="Arial MT"/>
              </a:rPr>
              <a:t>own </a:t>
            </a:r>
            <a:r>
              <a:rPr sz="2800" dirty="0">
                <a:solidFill>
                  <a:srgbClr val="2B2C2D"/>
                </a:solidFill>
                <a:latin typeface="Arial MT"/>
                <a:cs typeface="Arial MT"/>
              </a:rPr>
              <a:t>blockchain</a:t>
            </a:r>
            <a:r>
              <a:rPr sz="2800" spc="-70" dirty="0">
                <a:solidFill>
                  <a:srgbClr val="2B2C2D"/>
                </a:solidFill>
                <a:latin typeface="Arial MT"/>
                <a:cs typeface="Arial MT"/>
              </a:rPr>
              <a:t> </a:t>
            </a:r>
            <a:r>
              <a:rPr sz="2800" dirty="0">
                <a:solidFill>
                  <a:srgbClr val="2B2C2D"/>
                </a:solidFill>
                <a:latin typeface="Arial MT"/>
                <a:cs typeface="Arial MT"/>
              </a:rPr>
              <a:t>system</a:t>
            </a:r>
            <a:r>
              <a:rPr sz="2800" spc="-75" dirty="0">
                <a:solidFill>
                  <a:srgbClr val="2B2C2D"/>
                </a:solidFill>
                <a:latin typeface="Arial MT"/>
                <a:cs typeface="Arial MT"/>
              </a:rPr>
              <a:t> </a:t>
            </a:r>
            <a:r>
              <a:rPr sz="2800" dirty="0">
                <a:solidFill>
                  <a:srgbClr val="2B2C2D"/>
                </a:solidFill>
                <a:latin typeface="Arial MT"/>
                <a:cs typeface="Arial MT"/>
              </a:rPr>
              <a:t>for</a:t>
            </a:r>
            <a:r>
              <a:rPr sz="2800" spc="-70" dirty="0">
                <a:solidFill>
                  <a:srgbClr val="2B2C2D"/>
                </a:solidFill>
                <a:latin typeface="Arial MT"/>
                <a:cs typeface="Arial MT"/>
              </a:rPr>
              <a:t> </a:t>
            </a:r>
            <a:r>
              <a:rPr sz="2800" dirty="0">
                <a:solidFill>
                  <a:srgbClr val="2B2C2D"/>
                </a:solidFill>
                <a:latin typeface="Arial MT"/>
                <a:cs typeface="Arial MT"/>
              </a:rPr>
              <a:t>the</a:t>
            </a:r>
            <a:r>
              <a:rPr sz="2800" spc="-70" dirty="0">
                <a:solidFill>
                  <a:srgbClr val="2B2C2D"/>
                </a:solidFill>
                <a:latin typeface="Arial MT"/>
                <a:cs typeface="Arial MT"/>
              </a:rPr>
              <a:t> </a:t>
            </a:r>
            <a:r>
              <a:rPr sz="2800" dirty="0">
                <a:solidFill>
                  <a:srgbClr val="2B2C2D"/>
                </a:solidFill>
                <a:latin typeface="Arial MT"/>
                <a:cs typeface="Arial MT"/>
              </a:rPr>
              <a:t>issuance</a:t>
            </a:r>
            <a:r>
              <a:rPr sz="2800" spc="-60" dirty="0">
                <a:solidFill>
                  <a:srgbClr val="2B2C2D"/>
                </a:solidFill>
                <a:latin typeface="Arial MT"/>
                <a:cs typeface="Arial MT"/>
              </a:rPr>
              <a:t> </a:t>
            </a:r>
            <a:r>
              <a:rPr sz="2800" spc="-25" dirty="0">
                <a:solidFill>
                  <a:srgbClr val="2B2C2D"/>
                </a:solidFill>
                <a:latin typeface="Arial MT"/>
                <a:cs typeface="Arial MT"/>
              </a:rPr>
              <a:t>and </a:t>
            </a:r>
            <a:r>
              <a:rPr sz="2800" dirty="0">
                <a:solidFill>
                  <a:srgbClr val="2B2C2D"/>
                </a:solidFill>
                <a:latin typeface="Arial MT"/>
                <a:cs typeface="Arial MT"/>
              </a:rPr>
              <a:t>transacting</a:t>
            </a:r>
            <a:r>
              <a:rPr sz="2800" spc="-65"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the</a:t>
            </a:r>
            <a:r>
              <a:rPr sz="2800" spc="-60" dirty="0">
                <a:solidFill>
                  <a:srgbClr val="2B2C2D"/>
                </a:solidFill>
                <a:latin typeface="Arial MT"/>
                <a:cs typeface="Arial MT"/>
              </a:rPr>
              <a:t> </a:t>
            </a:r>
            <a:r>
              <a:rPr sz="2800" dirty="0">
                <a:solidFill>
                  <a:srgbClr val="2B2C2D"/>
                </a:solidFill>
                <a:latin typeface="Arial MT"/>
                <a:cs typeface="Arial MT"/>
              </a:rPr>
              <a:t>Bitcoin</a:t>
            </a:r>
            <a:r>
              <a:rPr sz="2800" spc="-50" dirty="0">
                <a:solidFill>
                  <a:srgbClr val="2B2C2D"/>
                </a:solidFill>
                <a:latin typeface="Arial MT"/>
                <a:cs typeface="Arial MT"/>
              </a:rPr>
              <a:t> </a:t>
            </a:r>
            <a:r>
              <a:rPr sz="2800" spc="-10" dirty="0">
                <a:solidFill>
                  <a:srgbClr val="2B2C2D"/>
                </a:solidFill>
                <a:latin typeface="Arial MT"/>
                <a:cs typeface="Arial MT"/>
              </a:rPr>
              <a:t>cryptocurrency </a:t>
            </a:r>
            <a:r>
              <a:rPr sz="2800" dirty="0">
                <a:solidFill>
                  <a:srgbClr val="2B2C2D"/>
                </a:solidFill>
                <a:latin typeface="Arial MT"/>
                <a:cs typeface="Arial MT"/>
              </a:rPr>
              <a:t>as</a:t>
            </a:r>
            <a:r>
              <a:rPr sz="2800" spc="-55" dirty="0">
                <a:solidFill>
                  <a:srgbClr val="2B2C2D"/>
                </a:solidFill>
                <a:latin typeface="Arial MT"/>
                <a:cs typeface="Arial MT"/>
              </a:rPr>
              <a:t> </a:t>
            </a:r>
            <a:r>
              <a:rPr sz="2800" dirty="0">
                <a:solidFill>
                  <a:srgbClr val="2B2C2D"/>
                </a:solidFill>
                <a:latin typeface="Arial MT"/>
                <a:cs typeface="Arial MT"/>
              </a:rPr>
              <a:t>an</a:t>
            </a:r>
            <a:r>
              <a:rPr sz="2800" spc="-45" dirty="0">
                <a:solidFill>
                  <a:srgbClr val="2B2C2D"/>
                </a:solidFill>
                <a:latin typeface="Arial MT"/>
                <a:cs typeface="Arial MT"/>
              </a:rPr>
              <a:t> </a:t>
            </a:r>
            <a:r>
              <a:rPr sz="2800" dirty="0">
                <a:solidFill>
                  <a:srgbClr val="2B2C2D"/>
                </a:solidFill>
                <a:latin typeface="Arial MT"/>
                <a:cs typeface="Arial MT"/>
              </a:rPr>
              <a:t>alternative</a:t>
            </a:r>
            <a:r>
              <a:rPr sz="2800" spc="-50" dirty="0">
                <a:solidFill>
                  <a:srgbClr val="2B2C2D"/>
                </a:solidFill>
                <a:latin typeface="Arial MT"/>
                <a:cs typeface="Arial MT"/>
              </a:rPr>
              <a:t> </a:t>
            </a:r>
            <a:r>
              <a:rPr sz="2800" dirty="0">
                <a:solidFill>
                  <a:srgbClr val="2B2C2D"/>
                </a:solidFill>
                <a:latin typeface="Arial MT"/>
                <a:cs typeface="Arial MT"/>
              </a:rPr>
              <a:t>to</a:t>
            </a:r>
            <a:r>
              <a:rPr sz="2800" spc="-45" dirty="0">
                <a:solidFill>
                  <a:srgbClr val="2B2C2D"/>
                </a:solidFill>
                <a:latin typeface="Arial MT"/>
                <a:cs typeface="Arial MT"/>
              </a:rPr>
              <a:t> </a:t>
            </a:r>
            <a:r>
              <a:rPr sz="2800" dirty="0">
                <a:solidFill>
                  <a:srgbClr val="2B2C2D"/>
                </a:solidFill>
                <a:latin typeface="Arial MT"/>
                <a:cs typeface="Arial MT"/>
              </a:rPr>
              <a:t>fiat</a:t>
            </a:r>
            <a:r>
              <a:rPr sz="2800" spc="-55" dirty="0">
                <a:solidFill>
                  <a:srgbClr val="2B2C2D"/>
                </a:solidFill>
                <a:latin typeface="Arial MT"/>
                <a:cs typeface="Arial MT"/>
              </a:rPr>
              <a:t> </a:t>
            </a:r>
            <a:r>
              <a:rPr sz="2800" dirty="0">
                <a:solidFill>
                  <a:srgbClr val="2B2C2D"/>
                </a:solidFill>
                <a:latin typeface="Arial MT"/>
                <a:cs typeface="Arial MT"/>
              </a:rPr>
              <a:t>currencies</a:t>
            </a:r>
            <a:r>
              <a:rPr sz="2800" spc="-55" dirty="0">
                <a:solidFill>
                  <a:srgbClr val="2B2C2D"/>
                </a:solidFill>
                <a:latin typeface="Arial MT"/>
                <a:cs typeface="Arial MT"/>
              </a:rPr>
              <a:t> </a:t>
            </a:r>
            <a:r>
              <a:rPr sz="2800" spc="-20" dirty="0">
                <a:solidFill>
                  <a:srgbClr val="2B2C2D"/>
                </a:solidFill>
                <a:latin typeface="Arial MT"/>
                <a:cs typeface="Arial MT"/>
              </a:rPr>
              <a:t>such </a:t>
            </a:r>
            <a:r>
              <a:rPr sz="2800" dirty="0">
                <a:solidFill>
                  <a:srgbClr val="2B2C2D"/>
                </a:solidFill>
                <a:latin typeface="Arial MT"/>
                <a:cs typeface="Arial MT"/>
              </a:rPr>
              <a:t>as</a:t>
            </a:r>
            <a:r>
              <a:rPr sz="2800" spc="-55" dirty="0">
                <a:solidFill>
                  <a:srgbClr val="2B2C2D"/>
                </a:solidFill>
                <a:latin typeface="Arial MT"/>
                <a:cs typeface="Arial MT"/>
              </a:rPr>
              <a:t> </a:t>
            </a:r>
            <a:r>
              <a:rPr sz="2800" dirty="0">
                <a:solidFill>
                  <a:srgbClr val="2B2C2D"/>
                </a:solidFill>
                <a:latin typeface="Arial MT"/>
                <a:cs typeface="Arial MT"/>
              </a:rPr>
              <a:t>dollars</a:t>
            </a:r>
            <a:r>
              <a:rPr sz="2800" spc="-30" dirty="0">
                <a:solidFill>
                  <a:srgbClr val="2B2C2D"/>
                </a:solidFill>
                <a:latin typeface="Arial MT"/>
                <a:cs typeface="Arial MT"/>
              </a:rPr>
              <a:t> </a:t>
            </a:r>
            <a:r>
              <a:rPr sz="2800" dirty="0">
                <a:solidFill>
                  <a:srgbClr val="2B2C2D"/>
                </a:solidFill>
                <a:latin typeface="Arial MT"/>
                <a:cs typeface="Arial MT"/>
              </a:rPr>
              <a:t>and</a:t>
            </a:r>
            <a:r>
              <a:rPr sz="2800" spc="-40" dirty="0">
                <a:solidFill>
                  <a:srgbClr val="2B2C2D"/>
                </a:solidFill>
                <a:latin typeface="Arial MT"/>
                <a:cs typeface="Arial MT"/>
              </a:rPr>
              <a:t> </a:t>
            </a:r>
            <a:r>
              <a:rPr sz="2800" spc="-10" dirty="0">
                <a:solidFill>
                  <a:srgbClr val="2B2C2D"/>
                </a:solidFill>
                <a:latin typeface="Arial MT"/>
                <a:cs typeface="Arial MT"/>
              </a:rPr>
              <a:t>Euros.</a:t>
            </a:r>
            <a:endParaRPr sz="2800">
              <a:latin typeface="Arial MT"/>
              <a:cs typeface="Arial M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Ethereum</a:t>
            </a:r>
            <a:r>
              <a:rPr spc="-110" dirty="0"/>
              <a:t> </a:t>
            </a:r>
            <a:r>
              <a:rPr dirty="0"/>
              <a:t>Blockchain</a:t>
            </a:r>
            <a:r>
              <a:rPr spc="-105" dirty="0"/>
              <a:t> </a:t>
            </a:r>
            <a:r>
              <a:rPr spc="-10" dirty="0"/>
              <a:t>System</a:t>
            </a:r>
          </a:p>
        </p:txBody>
      </p:sp>
      <p:sp>
        <p:nvSpPr>
          <p:cNvPr id="5" name="object 5"/>
          <p:cNvSpPr txBox="1">
            <a:spLocks noGrp="1"/>
          </p:cNvSpPr>
          <p:nvPr>
            <p:ph type="sldNum" sz="quarter" idx="7"/>
          </p:nvPr>
        </p:nvSpPr>
        <p:spPr>
          <a:xfrm>
            <a:off x="6553200" y="6368707"/>
            <a:ext cx="2133600" cy="365125"/>
          </a:xfrm>
          <a:prstGeom prst="rect">
            <a:avLst/>
          </a:prstGeom>
        </p:spPr>
        <p:txBody>
          <a:bodyPr vert="horz" wrap="square" lIns="0" tIns="0" rIns="0" bIns="0" rtlCol="0">
            <a:spAutoFit/>
          </a:bodyPr>
          <a:lstStyle/>
          <a:p>
            <a:pPr marL="12700">
              <a:lnSpc>
                <a:spcPct val="100000"/>
              </a:lnSpc>
            </a:pPr>
            <a:fld id="{81D60167-4931-47E6-BA6A-407CBD079E47}" type="slidenum">
              <a:rPr spc="-25" dirty="0"/>
              <a:t>54</a:t>
            </a:fld>
            <a:endParaRPr spc="-25" dirty="0"/>
          </a:p>
        </p:txBody>
      </p:sp>
      <p:sp>
        <p:nvSpPr>
          <p:cNvPr id="4" name="object 4"/>
          <p:cNvSpPr txBox="1"/>
          <p:nvPr/>
        </p:nvSpPr>
        <p:spPr>
          <a:xfrm>
            <a:off x="816355" y="1214119"/>
            <a:ext cx="6582409" cy="2712085"/>
          </a:xfrm>
          <a:prstGeom prst="rect">
            <a:avLst/>
          </a:prstGeom>
        </p:spPr>
        <p:txBody>
          <a:bodyPr vert="horz" wrap="square" lIns="0" tIns="12065" rIns="0" bIns="0" rtlCol="0">
            <a:spAutoFit/>
          </a:bodyPr>
          <a:lstStyle/>
          <a:p>
            <a:pPr marL="469900" marR="5080" indent="-457200">
              <a:lnSpc>
                <a:spcPct val="100000"/>
              </a:lnSpc>
              <a:spcBef>
                <a:spcPts val="95"/>
              </a:spcBef>
              <a:buClr>
                <a:srgbClr val="6D2C91"/>
              </a:buClr>
              <a:buFont typeface="Wingdings"/>
              <a:buChar char=""/>
              <a:tabLst>
                <a:tab pos="469900" algn="l"/>
              </a:tabLst>
            </a:pPr>
            <a:r>
              <a:rPr sz="2800" dirty="0">
                <a:solidFill>
                  <a:srgbClr val="2B2C2D"/>
                </a:solidFill>
                <a:latin typeface="Arial MT"/>
                <a:cs typeface="Arial MT"/>
              </a:rPr>
              <a:t>The</a:t>
            </a:r>
            <a:r>
              <a:rPr sz="2800" spc="-60" dirty="0">
                <a:solidFill>
                  <a:srgbClr val="2B2C2D"/>
                </a:solidFill>
                <a:latin typeface="Arial MT"/>
                <a:cs typeface="Arial MT"/>
              </a:rPr>
              <a:t> </a:t>
            </a:r>
            <a:r>
              <a:rPr sz="2800" dirty="0">
                <a:solidFill>
                  <a:srgbClr val="2B2C2D"/>
                </a:solidFill>
                <a:latin typeface="Arial MT"/>
                <a:cs typeface="Arial MT"/>
              </a:rPr>
              <a:t>main</a:t>
            </a:r>
            <a:r>
              <a:rPr sz="2800" spc="-50" dirty="0">
                <a:solidFill>
                  <a:srgbClr val="2B2C2D"/>
                </a:solidFill>
                <a:latin typeface="Arial MT"/>
                <a:cs typeface="Arial MT"/>
              </a:rPr>
              <a:t> </a:t>
            </a:r>
            <a:r>
              <a:rPr sz="2800" dirty="0">
                <a:solidFill>
                  <a:srgbClr val="2B2C2D"/>
                </a:solidFill>
                <a:latin typeface="Arial MT"/>
                <a:cs typeface="Arial MT"/>
              </a:rPr>
              <a:t>blockchain</a:t>
            </a:r>
            <a:r>
              <a:rPr sz="2800" spc="-75" dirty="0">
                <a:solidFill>
                  <a:srgbClr val="2B2C2D"/>
                </a:solidFill>
                <a:latin typeface="Arial MT"/>
                <a:cs typeface="Arial MT"/>
              </a:rPr>
              <a:t> </a:t>
            </a:r>
            <a:r>
              <a:rPr sz="2800" dirty="0">
                <a:solidFill>
                  <a:srgbClr val="2B2C2D"/>
                </a:solidFill>
                <a:latin typeface="Arial MT"/>
                <a:cs typeface="Arial MT"/>
              </a:rPr>
              <a:t>software</a:t>
            </a:r>
            <a:r>
              <a:rPr sz="2800" spc="-65" dirty="0">
                <a:solidFill>
                  <a:srgbClr val="2B2C2D"/>
                </a:solidFill>
                <a:latin typeface="Arial MT"/>
                <a:cs typeface="Arial MT"/>
              </a:rPr>
              <a:t> </a:t>
            </a:r>
            <a:r>
              <a:rPr sz="2800" dirty="0">
                <a:solidFill>
                  <a:srgbClr val="2B2C2D"/>
                </a:solidFill>
                <a:latin typeface="Arial MT"/>
                <a:cs typeface="Arial MT"/>
              </a:rPr>
              <a:t>used</a:t>
            </a:r>
            <a:r>
              <a:rPr sz="2800" spc="-65" dirty="0">
                <a:solidFill>
                  <a:srgbClr val="2B2C2D"/>
                </a:solidFill>
                <a:latin typeface="Arial MT"/>
                <a:cs typeface="Arial MT"/>
              </a:rPr>
              <a:t> </a:t>
            </a:r>
            <a:r>
              <a:rPr sz="2800" spc="-25" dirty="0">
                <a:solidFill>
                  <a:srgbClr val="2B2C2D"/>
                </a:solidFill>
                <a:latin typeface="Arial MT"/>
                <a:cs typeface="Arial MT"/>
              </a:rPr>
              <a:t>for </a:t>
            </a:r>
            <a:r>
              <a:rPr sz="2800" dirty="0">
                <a:solidFill>
                  <a:srgbClr val="2B2C2D"/>
                </a:solidFill>
                <a:latin typeface="Arial MT"/>
                <a:cs typeface="Arial MT"/>
              </a:rPr>
              <a:t>smart</a:t>
            </a:r>
            <a:r>
              <a:rPr sz="2800" spc="-50" dirty="0">
                <a:solidFill>
                  <a:srgbClr val="2B2C2D"/>
                </a:solidFill>
                <a:latin typeface="Arial MT"/>
                <a:cs typeface="Arial MT"/>
              </a:rPr>
              <a:t> </a:t>
            </a:r>
            <a:r>
              <a:rPr sz="2800" dirty="0">
                <a:solidFill>
                  <a:srgbClr val="2B2C2D"/>
                </a:solidFill>
                <a:latin typeface="Arial MT"/>
                <a:cs typeface="Arial MT"/>
              </a:rPr>
              <a:t>contracts</a:t>
            </a:r>
            <a:r>
              <a:rPr sz="2800" spc="-75" dirty="0">
                <a:solidFill>
                  <a:srgbClr val="2B2C2D"/>
                </a:solidFill>
                <a:latin typeface="Arial MT"/>
                <a:cs typeface="Arial MT"/>
              </a:rPr>
              <a:t> </a:t>
            </a:r>
            <a:r>
              <a:rPr sz="2800" dirty="0">
                <a:solidFill>
                  <a:srgbClr val="2B2C2D"/>
                </a:solidFill>
                <a:latin typeface="Arial MT"/>
                <a:cs typeface="Arial MT"/>
              </a:rPr>
              <a:t>is</a:t>
            </a:r>
            <a:r>
              <a:rPr sz="2800" spc="-45" dirty="0">
                <a:solidFill>
                  <a:srgbClr val="2B2C2D"/>
                </a:solidFill>
                <a:latin typeface="Arial MT"/>
                <a:cs typeface="Arial MT"/>
              </a:rPr>
              <a:t> </a:t>
            </a:r>
            <a:r>
              <a:rPr sz="2800" b="1" spc="-10" dirty="0">
                <a:solidFill>
                  <a:srgbClr val="2B2C2D"/>
                </a:solidFill>
                <a:latin typeface="Arial"/>
                <a:cs typeface="Arial"/>
              </a:rPr>
              <a:t>Ethereum</a:t>
            </a:r>
            <a:r>
              <a:rPr sz="2800" spc="-10" dirty="0">
                <a:solidFill>
                  <a:srgbClr val="2B2C2D"/>
                </a:solidFill>
                <a:latin typeface="Arial MT"/>
                <a:cs typeface="Arial MT"/>
              </a:rPr>
              <a:t>.</a:t>
            </a:r>
            <a:endParaRPr sz="2800">
              <a:latin typeface="Arial MT"/>
              <a:cs typeface="Arial MT"/>
            </a:endParaRPr>
          </a:p>
          <a:p>
            <a:pPr marL="472440" marR="141605" indent="-460375">
              <a:lnSpc>
                <a:spcPct val="100000"/>
              </a:lnSpc>
              <a:spcBef>
                <a:spcPts val="994"/>
              </a:spcBef>
              <a:buClr>
                <a:srgbClr val="6D2C91"/>
              </a:buClr>
              <a:buFont typeface="Wingdings"/>
              <a:buChar char=""/>
              <a:tabLst>
                <a:tab pos="472440" algn="l"/>
              </a:tabLst>
            </a:pPr>
            <a:r>
              <a:rPr sz="2800" b="1" dirty="0">
                <a:solidFill>
                  <a:srgbClr val="2B2C2D"/>
                </a:solidFill>
                <a:latin typeface="Arial"/>
                <a:cs typeface="Arial"/>
              </a:rPr>
              <a:t>Ethereum</a:t>
            </a:r>
            <a:r>
              <a:rPr sz="2800" b="1" spc="-30" dirty="0">
                <a:solidFill>
                  <a:srgbClr val="2B2C2D"/>
                </a:solidFill>
                <a:latin typeface="Arial"/>
                <a:cs typeface="Arial"/>
              </a:rPr>
              <a:t> </a:t>
            </a:r>
            <a:r>
              <a:rPr sz="2800" dirty="0">
                <a:solidFill>
                  <a:srgbClr val="2B2C2D"/>
                </a:solidFill>
                <a:latin typeface="Arial MT"/>
                <a:cs typeface="Arial MT"/>
              </a:rPr>
              <a:t>is</a:t>
            </a:r>
            <a:r>
              <a:rPr sz="2800" spc="-55" dirty="0">
                <a:solidFill>
                  <a:srgbClr val="2B2C2D"/>
                </a:solidFill>
                <a:latin typeface="Arial MT"/>
                <a:cs typeface="Arial MT"/>
              </a:rPr>
              <a:t> </a:t>
            </a:r>
            <a:r>
              <a:rPr sz="2800" dirty="0">
                <a:solidFill>
                  <a:srgbClr val="2B2C2D"/>
                </a:solidFill>
                <a:latin typeface="Arial MT"/>
                <a:cs typeface="Arial MT"/>
              </a:rPr>
              <a:t>a</a:t>
            </a:r>
            <a:r>
              <a:rPr sz="2800" spc="-40" dirty="0">
                <a:solidFill>
                  <a:srgbClr val="2B2C2D"/>
                </a:solidFill>
                <a:latin typeface="Arial MT"/>
                <a:cs typeface="Arial MT"/>
              </a:rPr>
              <a:t> </a:t>
            </a:r>
            <a:r>
              <a:rPr sz="2800" dirty="0">
                <a:solidFill>
                  <a:srgbClr val="2B2C2D"/>
                </a:solidFill>
                <a:latin typeface="Arial MT"/>
                <a:cs typeface="Arial MT"/>
              </a:rPr>
              <a:t>separate</a:t>
            </a:r>
            <a:r>
              <a:rPr sz="2800" spc="-40" dirty="0">
                <a:solidFill>
                  <a:srgbClr val="2B2C2D"/>
                </a:solidFill>
                <a:latin typeface="Arial MT"/>
                <a:cs typeface="Arial MT"/>
              </a:rPr>
              <a:t> </a:t>
            </a:r>
            <a:r>
              <a:rPr sz="2800" spc="-20" dirty="0">
                <a:solidFill>
                  <a:srgbClr val="2B2C2D"/>
                </a:solidFill>
                <a:latin typeface="Arial MT"/>
                <a:cs typeface="Arial MT"/>
              </a:rPr>
              <a:t>open-</a:t>
            </a:r>
            <a:r>
              <a:rPr sz="2800" spc="-10" dirty="0">
                <a:solidFill>
                  <a:srgbClr val="2B2C2D"/>
                </a:solidFill>
                <a:latin typeface="Arial MT"/>
                <a:cs typeface="Arial MT"/>
              </a:rPr>
              <a:t>source, </a:t>
            </a:r>
            <a:r>
              <a:rPr sz="2800" dirty="0">
                <a:solidFill>
                  <a:srgbClr val="2B2C2D"/>
                </a:solidFill>
                <a:latin typeface="Arial MT"/>
                <a:cs typeface="Arial MT"/>
              </a:rPr>
              <a:t>public,</a:t>
            </a:r>
            <a:r>
              <a:rPr sz="2800" spc="-15" dirty="0">
                <a:solidFill>
                  <a:srgbClr val="2B2C2D"/>
                </a:solidFill>
                <a:latin typeface="Arial MT"/>
                <a:cs typeface="Arial MT"/>
              </a:rPr>
              <a:t> </a:t>
            </a:r>
            <a:r>
              <a:rPr sz="2800" spc="-20" dirty="0">
                <a:solidFill>
                  <a:srgbClr val="2B2C2D"/>
                </a:solidFill>
                <a:latin typeface="Arial MT"/>
                <a:cs typeface="Arial MT"/>
              </a:rPr>
              <a:t>blockchain-</a:t>
            </a:r>
            <a:r>
              <a:rPr sz="2800" dirty="0">
                <a:solidFill>
                  <a:srgbClr val="2B2C2D"/>
                </a:solidFill>
                <a:latin typeface="Arial MT"/>
                <a:cs typeface="Arial MT"/>
              </a:rPr>
              <a:t>based</a:t>
            </a:r>
            <a:r>
              <a:rPr sz="2800" spc="-5" dirty="0">
                <a:solidFill>
                  <a:srgbClr val="2B2C2D"/>
                </a:solidFill>
                <a:latin typeface="Arial MT"/>
                <a:cs typeface="Arial MT"/>
              </a:rPr>
              <a:t> </a:t>
            </a:r>
            <a:r>
              <a:rPr sz="2800" spc="-10" dirty="0">
                <a:solidFill>
                  <a:srgbClr val="2B2C2D"/>
                </a:solidFill>
                <a:latin typeface="Arial MT"/>
                <a:cs typeface="Arial MT"/>
              </a:rPr>
              <a:t>distributed </a:t>
            </a:r>
            <a:r>
              <a:rPr sz="2800" dirty="0">
                <a:solidFill>
                  <a:srgbClr val="2B2C2D"/>
                </a:solidFill>
                <a:latin typeface="Arial MT"/>
                <a:cs typeface="Arial MT"/>
              </a:rPr>
              <a:t>computing</a:t>
            </a:r>
            <a:r>
              <a:rPr sz="2800" spc="-65" dirty="0">
                <a:solidFill>
                  <a:srgbClr val="2B2C2D"/>
                </a:solidFill>
                <a:latin typeface="Arial MT"/>
                <a:cs typeface="Arial MT"/>
              </a:rPr>
              <a:t> </a:t>
            </a:r>
            <a:r>
              <a:rPr sz="2800" dirty="0">
                <a:solidFill>
                  <a:srgbClr val="2B2C2D"/>
                </a:solidFill>
                <a:latin typeface="Arial MT"/>
                <a:cs typeface="Arial MT"/>
              </a:rPr>
              <a:t>platform</a:t>
            </a:r>
            <a:r>
              <a:rPr sz="2800" spc="-80" dirty="0">
                <a:solidFill>
                  <a:srgbClr val="2B2C2D"/>
                </a:solidFill>
                <a:latin typeface="Arial MT"/>
                <a:cs typeface="Arial MT"/>
              </a:rPr>
              <a:t> </a:t>
            </a:r>
            <a:r>
              <a:rPr sz="2800" dirty="0">
                <a:solidFill>
                  <a:srgbClr val="2B2C2D"/>
                </a:solidFill>
                <a:latin typeface="Arial MT"/>
                <a:cs typeface="Arial MT"/>
              </a:rPr>
              <a:t>and</a:t>
            </a:r>
            <a:r>
              <a:rPr sz="2800" spc="-75" dirty="0">
                <a:solidFill>
                  <a:srgbClr val="2B2C2D"/>
                </a:solidFill>
                <a:latin typeface="Arial MT"/>
                <a:cs typeface="Arial MT"/>
              </a:rPr>
              <a:t> </a:t>
            </a:r>
            <a:r>
              <a:rPr sz="2800" spc="-10" dirty="0">
                <a:solidFill>
                  <a:srgbClr val="2B2C2D"/>
                </a:solidFill>
                <a:latin typeface="Arial MT"/>
                <a:cs typeface="Arial MT"/>
              </a:rPr>
              <a:t>operating system.</a:t>
            </a:r>
            <a:endParaRPr sz="280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Ethereum</a:t>
            </a:r>
            <a:r>
              <a:rPr spc="-110" dirty="0"/>
              <a:t> </a:t>
            </a:r>
            <a:r>
              <a:rPr dirty="0"/>
              <a:t>Blockchain</a:t>
            </a:r>
            <a:r>
              <a:rPr spc="-105" dirty="0"/>
              <a:t> </a:t>
            </a:r>
            <a:r>
              <a:rPr spc="-10" dirty="0"/>
              <a:t>System</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55</a:t>
            </a:fld>
            <a:endParaRPr spc="-25" dirty="0"/>
          </a:p>
        </p:txBody>
      </p:sp>
      <p:sp>
        <p:nvSpPr>
          <p:cNvPr id="3" name="object 3"/>
          <p:cNvSpPr txBox="1"/>
          <p:nvPr/>
        </p:nvSpPr>
        <p:spPr>
          <a:xfrm>
            <a:off x="816355" y="1214119"/>
            <a:ext cx="6993255" cy="4119879"/>
          </a:xfrm>
          <a:prstGeom prst="rect">
            <a:avLst/>
          </a:prstGeom>
        </p:spPr>
        <p:txBody>
          <a:bodyPr vert="horz" wrap="square" lIns="0" tIns="12065" rIns="0" bIns="0" rtlCol="0">
            <a:spAutoFit/>
          </a:bodyPr>
          <a:lstStyle/>
          <a:p>
            <a:pPr marL="12700" marR="5080">
              <a:lnSpc>
                <a:spcPct val="100000"/>
              </a:lnSpc>
              <a:spcBef>
                <a:spcPts val="95"/>
              </a:spcBef>
            </a:pP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difference</a:t>
            </a:r>
            <a:r>
              <a:rPr sz="2800" spc="-70" dirty="0">
                <a:solidFill>
                  <a:srgbClr val="2B2C2D"/>
                </a:solidFill>
                <a:latin typeface="Arial MT"/>
                <a:cs typeface="Arial MT"/>
              </a:rPr>
              <a:t> </a:t>
            </a:r>
            <a:r>
              <a:rPr sz="2800" dirty="0">
                <a:solidFill>
                  <a:srgbClr val="2B2C2D"/>
                </a:solidFill>
                <a:latin typeface="Arial MT"/>
                <a:cs typeface="Arial MT"/>
              </a:rPr>
              <a:t>is</a:t>
            </a:r>
            <a:r>
              <a:rPr sz="2800" spc="-60" dirty="0">
                <a:solidFill>
                  <a:srgbClr val="2B2C2D"/>
                </a:solidFill>
                <a:latin typeface="Arial MT"/>
                <a:cs typeface="Arial MT"/>
              </a:rPr>
              <a:t> </a:t>
            </a:r>
            <a:r>
              <a:rPr sz="2800" dirty="0">
                <a:solidFill>
                  <a:srgbClr val="2B2C2D"/>
                </a:solidFill>
                <a:latin typeface="Arial MT"/>
                <a:cs typeface="Arial MT"/>
              </a:rPr>
              <a:t>that</a:t>
            </a:r>
            <a:r>
              <a:rPr sz="2800" spc="-65" dirty="0">
                <a:solidFill>
                  <a:srgbClr val="2B2C2D"/>
                </a:solidFill>
                <a:latin typeface="Arial MT"/>
                <a:cs typeface="Arial MT"/>
              </a:rPr>
              <a:t> </a:t>
            </a:r>
            <a:r>
              <a:rPr sz="2800" dirty="0">
                <a:solidFill>
                  <a:srgbClr val="2B2C2D"/>
                </a:solidFill>
                <a:latin typeface="Arial MT"/>
                <a:cs typeface="Arial MT"/>
              </a:rPr>
              <a:t>unlike</a:t>
            </a:r>
            <a:r>
              <a:rPr sz="2800" spc="-65" dirty="0">
                <a:solidFill>
                  <a:srgbClr val="2B2C2D"/>
                </a:solidFill>
                <a:latin typeface="Arial MT"/>
                <a:cs typeface="Arial MT"/>
              </a:rPr>
              <a:t> </a:t>
            </a:r>
            <a:r>
              <a:rPr sz="2800" dirty="0">
                <a:solidFill>
                  <a:srgbClr val="2B2C2D"/>
                </a:solidFill>
                <a:latin typeface="Arial MT"/>
                <a:cs typeface="Arial MT"/>
              </a:rPr>
              <a:t>Bitcoin,</a:t>
            </a:r>
            <a:r>
              <a:rPr sz="2800" spc="-70" dirty="0">
                <a:solidFill>
                  <a:srgbClr val="2B2C2D"/>
                </a:solidFill>
                <a:latin typeface="Arial MT"/>
                <a:cs typeface="Arial MT"/>
              </a:rPr>
              <a:t> </a:t>
            </a:r>
            <a:r>
              <a:rPr sz="2800" spc="-25" dirty="0">
                <a:solidFill>
                  <a:srgbClr val="2B2C2D"/>
                </a:solidFill>
                <a:latin typeface="Arial MT"/>
                <a:cs typeface="Arial MT"/>
              </a:rPr>
              <a:t>the </a:t>
            </a:r>
            <a:r>
              <a:rPr sz="2800" b="1" dirty="0">
                <a:solidFill>
                  <a:srgbClr val="2B2C2D"/>
                </a:solidFill>
                <a:latin typeface="Arial"/>
                <a:cs typeface="Arial"/>
              </a:rPr>
              <a:t>Ethereum</a:t>
            </a:r>
            <a:r>
              <a:rPr sz="2800" b="1" spc="-70" dirty="0">
                <a:solidFill>
                  <a:srgbClr val="2B2C2D"/>
                </a:solidFill>
                <a:latin typeface="Arial"/>
                <a:cs typeface="Arial"/>
              </a:rPr>
              <a:t> </a:t>
            </a:r>
            <a:r>
              <a:rPr sz="2800" b="1" dirty="0">
                <a:solidFill>
                  <a:srgbClr val="2B2C2D"/>
                </a:solidFill>
                <a:latin typeface="Arial"/>
                <a:cs typeface="Arial"/>
              </a:rPr>
              <a:t>platform</a:t>
            </a:r>
            <a:r>
              <a:rPr sz="2800" b="1" spc="-75" dirty="0">
                <a:solidFill>
                  <a:srgbClr val="2B2C2D"/>
                </a:solidFill>
                <a:latin typeface="Arial"/>
                <a:cs typeface="Arial"/>
              </a:rPr>
              <a:t> </a:t>
            </a:r>
            <a:r>
              <a:rPr sz="2800" dirty="0">
                <a:solidFill>
                  <a:srgbClr val="2B2C2D"/>
                </a:solidFill>
                <a:latin typeface="Arial MT"/>
                <a:cs typeface="Arial MT"/>
              </a:rPr>
              <a:t>also</a:t>
            </a:r>
            <a:r>
              <a:rPr sz="2800" spc="-90" dirty="0">
                <a:solidFill>
                  <a:srgbClr val="2B2C2D"/>
                </a:solidFill>
                <a:latin typeface="Arial MT"/>
                <a:cs typeface="Arial MT"/>
              </a:rPr>
              <a:t> </a:t>
            </a:r>
            <a:r>
              <a:rPr sz="2800" dirty="0">
                <a:solidFill>
                  <a:srgbClr val="2B2C2D"/>
                </a:solidFill>
                <a:latin typeface="Arial MT"/>
                <a:cs typeface="Arial MT"/>
              </a:rPr>
              <a:t>contains</a:t>
            </a:r>
            <a:r>
              <a:rPr sz="2800" spc="-80" dirty="0">
                <a:solidFill>
                  <a:srgbClr val="2B2C2D"/>
                </a:solidFill>
                <a:latin typeface="Arial MT"/>
                <a:cs typeface="Arial MT"/>
              </a:rPr>
              <a:t> </a:t>
            </a:r>
            <a:r>
              <a:rPr sz="2800" spc="-10" dirty="0">
                <a:solidFill>
                  <a:srgbClr val="2B2C2D"/>
                </a:solidFill>
                <a:latin typeface="Arial MT"/>
                <a:cs typeface="Arial MT"/>
              </a:rPr>
              <a:t>additional </a:t>
            </a:r>
            <a:r>
              <a:rPr sz="2800" dirty="0">
                <a:solidFill>
                  <a:srgbClr val="2B2C2D"/>
                </a:solidFill>
                <a:latin typeface="Arial MT"/>
                <a:cs typeface="Arial MT"/>
              </a:rPr>
              <a:t>critical</a:t>
            </a:r>
            <a:r>
              <a:rPr sz="2800" spc="-75" dirty="0">
                <a:solidFill>
                  <a:srgbClr val="2B2C2D"/>
                </a:solidFill>
                <a:latin typeface="Arial MT"/>
                <a:cs typeface="Arial MT"/>
              </a:rPr>
              <a:t> </a:t>
            </a:r>
            <a:r>
              <a:rPr sz="2800" spc="-10" dirty="0">
                <a:solidFill>
                  <a:srgbClr val="2B2C2D"/>
                </a:solidFill>
                <a:latin typeface="Arial MT"/>
                <a:cs typeface="Arial MT"/>
              </a:rPr>
              <a:t>features:</a:t>
            </a:r>
            <a:endParaRPr sz="2800">
              <a:latin typeface="Arial MT"/>
              <a:cs typeface="Arial MT"/>
            </a:endParaRPr>
          </a:p>
          <a:p>
            <a:pPr marL="541020" marR="363855" indent="-342900">
              <a:lnSpc>
                <a:spcPct val="100000"/>
              </a:lnSpc>
              <a:spcBef>
                <a:spcPts val="994"/>
              </a:spcBef>
              <a:buClr>
                <a:srgbClr val="6D2C91"/>
              </a:buClr>
              <a:buFont typeface="Wingdings"/>
              <a:buChar char=""/>
              <a:tabLst>
                <a:tab pos="541020" algn="l"/>
              </a:tabLst>
            </a:pPr>
            <a:r>
              <a:rPr sz="2800" b="1" dirty="0">
                <a:solidFill>
                  <a:srgbClr val="2B2C2D"/>
                </a:solidFill>
                <a:latin typeface="Arial"/>
                <a:cs typeface="Arial"/>
              </a:rPr>
              <a:t>Smart</a:t>
            </a:r>
            <a:r>
              <a:rPr sz="2800" b="1" spc="-105" dirty="0">
                <a:solidFill>
                  <a:srgbClr val="2B2C2D"/>
                </a:solidFill>
                <a:latin typeface="Arial"/>
                <a:cs typeface="Arial"/>
              </a:rPr>
              <a:t> </a:t>
            </a:r>
            <a:r>
              <a:rPr sz="2800" b="1" dirty="0">
                <a:solidFill>
                  <a:srgbClr val="2B2C2D"/>
                </a:solidFill>
                <a:latin typeface="Arial"/>
                <a:cs typeface="Arial"/>
              </a:rPr>
              <a:t>contract</a:t>
            </a:r>
            <a:r>
              <a:rPr sz="2800" b="1" spc="-80" dirty="0">
                <a:solidFill>
                  <a:srgbClr val="2B2C2D"/>
                </a:solidFill>
                <a:latin typeface="Arial"/>
                <a:cs typeface="Arial"/>
              </a:rPr>
              <a:t> </a:t>
            </a:r>
            <a:r>
              <a:rPr sz="2800" b="1" dirty="0">
                <a:solidFill>
                  <a:srgbClr val="2B2C2D"/>
                </a:solidFill>
                <a:latin typeface="Arial"/>
                <a:cs typeface="Arial"/>
              </a:rPr>
              <a:t>(computer</a:t>
            </a:r>
            <a:r>
              <a:rPr sz="2800" b="1" spc="-80" dirty="0">
                <a:solidFill>
                  <a:srgbClr val="2B2C2D"/>
                </a:solidFill>
                <a:latin typeface="Arial"/>
                <a:cs typeface="Arial"/>
              </a:rPr>
              <a:t> </a:t>
            </a:r>
            <a:r>
              <a:rPr sz="2800" b="1" spc="-10" dirty="0">
                <a:solidFill>
                  <a:srgbClr val="2B2C2D"/>
                </a:solidFill>
                <a:latin typeface="Arial"/>
                <a:cs typeface="Arial"/>
              </a:rPr>
              <a:t>code) </a:t>
            </a:r>
            <a:r>
              <a:rPr sz="2800" b="1" dirty="0">
                <a:solidFill>
                  <a:srgbClr val="2B2C2D"/>
                </a:solidFill>
                <a:latin typeface="Arial"/>
                <a:cs typeface="Arial"/>
              </a:rPr>
              <a:t>functionality</a:t>
            </a:r>
            <a:r>
              <a:rPr sz="2800" b="1" spc="-100" dirty="0">
                <a:solidFill>
                  <a:srgbClr val="2B2C2D"/>
                </a:solidFill>
                <a:latin typeface="Arial"/>
                <a:cs typeface="Arial"/>
              </a:rPr>
              <a:t> </a:t>
            </a:r>
            <a:r>
              <a:rPr sz="2800" dirty="0">
                <a:solidFill>
                  <a:srgbClr val="2B2C2D"/>
                </a:solidFill>
                <a:latin typeface="Arial MT"/>
                <a:cs typeface="Arial MT"/>
              </a:rPr>
              <a:t>permitting</a:t>
            </a:r>
            <a:r>
              <a:rPr sz="2800" spc="-100" dirty="0">
                <a:solidFill>
                  <a:srgbClr val="2B2C2D"/>
                </a:solidFill>
                <a:latin typeface="Arial MT"/>
                <a:cs typeface="Arial MT"/>
              </a:rPr>
              <a:t> </a:t>
            </a:r>
            <a:r>
              <a:rPr sz="2800" spc="-10" dirty="0">
                <a:solidFill>
                  <a:srgbClr val="2B2C2D"/>
                </a:solidFill>
                <a:latin typeface="Arial MT"/>
                <a:cs typeface="Arial MT"/>
              </a:rPr>
              <a:t>self-executing </a:t>
            </a:r>
            <a:r>
              <a:rPr sz="2800" dirty="0">
                <a:solidFill>
                  <a:srgbClr val="2B2C2D"/>
                </a:solidFill>
                <a:latin typeface="Arial MT"/>
                <a:cs typeface="Arial MT"/>
              </a:rPr>
              <a:t>contract</a:t>
            </a:r>
            <a:r>
              <a:rPr sz="2800" spc="-65" dirty="0">
                <a:solidFill>
                  <a:srgbClr val="2B2C2D"/>
                </a:solidFill>
                <a:latin typeface="Arial MT"/>
                <a:cs typeface="Arial MT"/>
              </a:rPr>
              <a:t> </a:t>
            </a:r>
            <a:r>
              <a:rPr sz="2800" dirty="0">
                <a:solidFill>
                  <a:srgbClr val="2B2C2D"/>
                </a:solidFill>
                <a:latin typeface="Arial MT"/>
                <a:cs typeface="Arial MT"/>
              </a:rPr>
              <a:t>terms</a:t>
            </a:r>
            <a:r>
              <a:rPr sz="2800" spc="-55" dirty="0">
                <a:solidFill>
                  <a:srgbClr val="2B2C2D"/>
                </a:solidFill>
                <a:latin typeface="Arial MT"/>
                <a:cs typeface="Arial MT"/>
              </a:rPr>
              <a:t> </a:t>
            </a:r>
            <a:r>
              <a:rPr sz="2800" dirty="0">
                <a:solidFill>
                  <a:srgbClr val="2B2C2D"/>
                </a:solidFill>
                <a:latin typeface="Arial MT"/>
                <a:cs typeface="Arial MT"/>
              </a:rPr>
              <a:t>and</a:t>
            </a:r>
            <a:r>
              <a:rPr sz="2800" spc="-50" dirty="0">
                <a:solidFill>
                  <a:srgbClr val="2B2C2D"/>
                </a:solidFill>
                <a:latin typeface="Arial MT"/>
                <a:cs typeface="Arial MT"/>
              </a:rPr>
              <a:t> </a:t>
            </a:r>
            <a:r>
              <a:rPr sz="2800" dirty="0">
                <a:solidFill>
                  <a:srgbClr val="2B2C2D"/>
                </a:solidFill>
                <a:latin typeface="Arial MT"/>
                <a:cs typeface="Arial MT"/>
              </a:rPr>
              <a:t>conditions</a:t>
            </a:r>
            <a:r>
              <a:rPr sz="2800" spc="-55" dirty="0">
                <a:solidFill>
                  <a:srgbClr val="2B2C2D"/>
                </a:solidFill>
                <a:latin typeface="Arial MT"/>
                <a:cs typeface="Arial MT"/>
              </a:rPr>
              <a:t> </a:t>
            </a:r>
            <a:r>
              <a:rPr sz="2800" dirty="0">
                <a:solidFill>
                  <a:srgbClr val="2B2C2D"/>
                </a:solidFill>
                <a:latin typeface="Arial MT"/>
                <a:cs typeface="Arial MT"/>
              </a:rPr>
              <a:t>to</a:t>
            </a:r>
            <a:r>
              <a:rPr sz="2800" spc="-65" dirty="0">
                <a:solidFill>
                  <a:srgbClr val="2B2C2D"/>
                </a:solidFill>
                <a:latin typeface="Arial MT"/>
                <a:cs typeface="Arial MT"/>
              </a:rPr>
              <a:t> </a:t>
            </a:r>
            <a:r>
              <a:rPr sz="2800" spc="-25" dirty="0">
                <a:solidFill>
                  <a:srgbClr val="2B2C2D"/>
                </a:solidFill>
                <a:latin typeface="Arial MT"/>
                <a:cs typeface="Arial MT"/>
              </a:rPr>
              <a:t>be </a:t>
            </a:r>
            <a:r>
              <a:rPr sz="2800" dirty="0">
                <a:solidFill>
                  <a:srgbClr val="2B2C2D"/>
                </a:solidFill>
                <a:latin typeface="Arial MT"/>
                <a:cs typeface="Arial MT"/>
              </a:rPr>
              <a:t>embedded</a:t>
            </a:r>
            <a:r>
              <a:rPr sz="2800" spc="-35" dirty="0">
                <a:solidFill>
                  <a:srgbClr val="2B2C2D"/>
                </a:solidFill>
                <a:latin typeface="Arial MT"/>
                <a:cs typeface="Arial MT"/>
              </a:rPr>
              <a:t> </a:t>
            </a:r>
            <a:r>
              <a:rPr sz="2800" dirty="0">
                <a:solidFill>
                  <a:srgbClr val="2B2C2D"/>
                </a:solidFill>
                <a:latin typeface="Arial MT"/>
                <a:cs typeface="Arial MT"/>
              </a:rPr>
              <a:t>in</a:t>
            </a:r>
            <a:r>
              <a:rPr sz="2800" spc="-50" dirty="0">
                <a:solidFill>
                  <a:srgbClr val="2B2C2D"/>
                </a:solidFill>
                <a:latin typeface="Arial MT"/>
                <a:cs typeface="Arial MT"/>
              </a:rPr>
              <a:t> </a:t>
            </a:r>
            <a:r>
              <a:rPr sz="2800" dirty="0">
                <a:solidFill>
                  <a:srgbClr val="2B2C2D"/>
                </a:solidFill>
                <a:latin typeface="Arial MT"/>
                <a:cs typeface="Arial MT"/>
              </a:rPr>
              <a:t>the</a:t>
            </a:r>
            <a:r>
              <a:rPr sz="2800" spc="-65" dirty="0">
                <a:solidFill>
                  <a:srgbClr val="2B2C2D"/>
                </a:solidFill>
                <a:latin typeface="Arial MT"/>
                <a:cs typeface="Arial MT"/>
              </a:rPr>
              <a:t> </a:t>
            </a:r>
            <a:r>
              <a:rPr sz="2800" spc="-10" dirty="0">
                <a:solidFill>
                  <a:srgbClr val="2B2C2D"/>
                </a:solidFill>
                <a:latin typeface="Arial MT"/>
                <a:cs typeface="Arial MT"/>
              </a:rPr>
              <a:t>blockchain.</a:t>
            </a:r>
            <a:endParaRPr sz="2800">
              <a:latin typeface="Arial MT"/>
              <a:cs typeface="Arial MT"/>
            </a:endParaRPr>
          </a:p>
          <a:p>
            <a:pPr marL="540385" indent="-342265">
              <a:lnSpc>
                <a:spcPts val="3360"/>
              </a:lnSpc>
              <a:spcBef>
                <a:spcPts val="1010"/>
              </a:spcBef>
              <a:buClr>
                <a:srgbClr val="6D2C91"/>
              </a:buClr>
              <a:buFont typeface="Wingdings"/>
              <a:buChar char=""/>
              <a:tabLst>
                <a:tab pos="540385" algn="l"/>
              </a:tabLst>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ability</a:t>
            </a:r>
            <a:r>
              <a:rPr sz="2800" spc="-65" dirty="0">
                <a:solidFill>
                  <a:srgbClr val="2B2C2D"/>
                </a:solidFill>
                <a:latin typeface="Arial MT"/>
                <a:cs typeface="Arial MT"/>
              </a:rPr>
              <a:t> </a:t>
            </a:r>
            <a:r>
              <a:rPr sz="2800" dirty="0">
                <a:solidFill>
                  <a:srgbClr val="2B2C2D"/>
                </a:solidFill>
                <a:latin typeface="Arial MT"/>
                <a:cs typeface="Arial MT"/>
              </a:rPr>
              <a:t>to</a:t>
            </a:r>
            <a:r>
              <a:rPr sz="2800" spc="-55" dirty="0">
                <a:solidFill>
                  <a:srgbClr val="2B2C2D"/>
                </a:solidFill>
                <a:latin typeface="Arial MT"/>
                <a:cs typeface="Arial MT"/>
              </a:rPr>
              <a:t> </a:t>
            </a:r>
            <a:r>
              <a:rPr sz="2800" dirty="0">
                <a:solidFill>
                  <a:srgbClr val="2B2C2D"/>
                </a:solidFill>
                <a:latin typeface="Arial MT"/>
                <a:cs typeface="Arial MT"/>
              </a:rPr>
              <a:t>perform</a:t>
            </a:r>
            <a:r>
              <a:rPr sz="2800" spc="-65" dirty="0">
                <a:solidFill>
                  <a:srgbClr val="2B2C2D"/>
                </a:solidFill>
                <a:latin typeface="Arial MT"/>
                <a:cs typeface="Arial MT"/>
              </a:rPr>
              <a:t> </a:t>
            </a:r>
            <a:r>
              <a:rPr sz="2800" b="1" spc="-10" dirty="0">
                <a:solidFill>
                  <a:srgbClr val="2B2C2D"/>
                </a:solidFill>
                <a:latin typeface="Arial"/>
                <a:cs typeface="Arial"/>
              </a:rPr>
              <a:t>computations</a:t>
            </a:r>
            <a:endParaRPr sz="2800">
              <a:latin typeface="Arial"/>
              <a:cs typeface="Arial"/>
            </a:endParaRPr>
          </a:p>
          <a:p>
            <a:pPr marL="541020">
              <a:lnSpc>
                <a:spcPct val="100000"/>
              </a:lnSpc>
            </a:pPr>
            <a:r>
              <a:rPr sz="2800" dirty="0">
                <a:solidFill>
                  <a:srgbClr val="2B2C2D"/>
                </a:solidFill>
                <a:latin typeface="Arial MT"/>
                <a:cs typeface="Arial MT"/>
              </a:rPr>
              <a:t>within</a:t>
            </a:r>
            <a:r>
              <a:rPr sz="2800" spc="-50" dirty="0">
                <a:solidFill>
                  <a:srgbClr val="2B2C2D"/>
                </a:solidFill>
                <a:latin typeface="Arial MT"/>
                <a:cs typeface="Arial MT"/>
              </a:rPr>
              <a:t> </a:t>
            </a:r>
            <a:r>
              <a:rPr sz="2800" dirty="0">
                <a:solidFill>
                  <a:srgbClr val="2B2C2D"/>
                </a:solidFill>
                <a:latin typeface="Arial MT"/>
                <a:cs typeface="Arial MT"/>
              </a:rPr>
              <a:t>the</a:t>
            </a:r>
            <a:r>
              <a:rPr sz="2800" spc="-45" dirty="0">
                <a:solidFill>
                  <a:srgbClr val="2B2C2D"/>
                </a:solidFill>
                <a:latin typeface="Arial MT"/>
                <a:cs typeface="Arial MT"/>
              </a:rPr>
              <a:t> </a:t>
            </a:r>
            <a:r>
              <a:rPr sz="2800" spc="-10" dirty="0">
                <a:solidFill>
                  <a:srgbClr val="2B2C2D"/>
                </a:solidFill>
                <a:latin typeface="Arial MT"/>
                <a:cs typeface="Arial MT"/>
              </a:rPr>
              <a:t>blockchain.</a:t>
            </a:r>
            <a:endParaRPr sz="2800">
              <a:latin typeface="Arial MT"/>
              <a:cs typeface="Arial M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Ethereum</a:t>
            </a:r>
            <a:r>
              <a:rPr spc="-110" dirty="0"/>
              <a:t> </a:t>
            </a:r>
            <a:r>
              <a:rPr dirty="0"/>
              <a:t>Blockchain</a:t>
            </a:r>
            <a:r>
              <a:rPr spc="-105" dirty="0"/>
              <a:t> </a:t>
            </a:r>
            <a:r>
              <a:rPr spc="-10" dirty="0"/>
              <a:t>System</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56</a:t>
            </a:fld>
            <a:endParaRPr spc="-25" dirty="0"/>
          </a:p>
        </p:txBody>
      </p:sp>
      <p:sp>
        <p:nvSpPr>
          <p:cNvPr id="3" name="object 3"/>
          <p:cNvSpPr txBox="1"/>
          <p:nvPr/>
        </p:nvSpPr>
        <p:spPr>
          <a:xfrm>
            <a:off x="1002283" y="1214119"/>
            <a:ext cx="6945630" cy="4546600"/>
          </a:xfrm>
          <a:prstGeom prst="rect">
            <a:avLst/>
          </a:prstGeom>
        </p:spPr>
        <p:txBody>
          <a:bodyPr vert="horz" wrap="square" lIns="0" tIns="12065" rIns="0" bIns="0" rtlCol="0">
            <a:spAutoFit/>
          </a:bodyPr>
          <a:lstStyle/>
          <a:p>
            <a:pPr marL="354965" marR="10160" indent="-342900">
              <a:lnSpc>
                <a:spcPct val="100000"/>
              </a:lnSpc>
              <a:spcBef>
                <a:spcPts val="95"/>
              </a:spcBef>
              <a:buClr>
                <a:srgbClr val="6D2C91"/>
              </a:buClr>
              <a:buFont typeface="Wingdings"/>
              <a:buChar char=""/>
              <a:tabLst>
                <a:tab pos="354965" algn="l"/>
              </a:tabLst>
            </a:pPr>
            <a:r>
              <a:rPr sz="2800" dirty="0">
                <a:solidFill>
                  <a:srgbClr val="2B2C2D"/>
                </a:solidFill>
                <a:latin typeface="Arial MT"/>
                <a:cs typeface="Arial MT"/>
              </a:rPr>
              <a:t>The</a:t>
            </a:r>
            <a:r>
              <a:rPr sz="2800" spc="-45" dirty="0">
                <a:solidFill>
                  <a:srgbClr val="2B2C2D"/>
                </a:solidFill>
                <a:latin typeface="Arial MT"/>
                <a:cs typeface="Arial MT"/>
              </a:rPr>
              <a:t> </a:t>
            </a:r>
            <a:r>
              <a:rPr sz="2800" dirty="0">
                <a:solidFill>
                  <a:srgbClr val="2B2C2D"/>
                </a:solidFill>
                <a:latin typeface="Arial MT"/>
                <a:cs typeface="Arial MT"/>
              </a:rPr>
              <a:t>ability</a:t>
            </a:r>
            <a:r>
              <a:rPr sz="2800" spc="-65" dirty="0">
                <a:solidFill>
                  <a:srgbClr val="2B2C2D"/>
                </a:solidFill>
                <a:latin typeface="Arial MT"/>
                <a:cs typeface="Arial MT"/>
              </a:rPr>
              <a:t> </a:t>
            </a:r>
            <a:r>
              <a:rPr sz="2800" dirty="0">
                <a:solidFill>
                  <a:srgbClr val="2B2C2D"/>
                </a:solidFill>
                <a:latin typeface="Arial MT"/>
                <a:cs typeface="Arial MT"/>
              </a:rPr>
              <a:t>to</a:t>
            </a:r>
            <a:r>
              <a:rPr sz="2800" spc="-55" dirty="0">
                <a:solidFill>
                  <a:srgbClr val="2B2C2D"/>
                </a:solidFill>
                <a:latin typeface="Arial MT"/>
                <a:cs typeface="Arial MT"/>
              </a:rPr>
              <a:t> </a:t>
            </a:r>
            <a:r>
              <a:rPr sz="2800" dirty="0">
                <a:solidFill>
                  <a:srgbClr val="2B2C2D"/>
                </a:solidFill>
                <a:latin typeface="Arial MT"/>
                <a:cs typeface="Arial MT"/>
              </a:rPr>
              <a:t>obtain</a:t>
            </a:r>
            <a:r>
              <a:rPr sz="2800" spc="-55" dirty="0">
                <a:solidFill>
                  <a:srgbClr val="2B2C2D"/>
                </a:solidFill>
                <a:latin typeface="Arial MT"/>
                <a:cs typeface="Arial MT"/>
              </a:rPr>
              <a:t> </a:t>
            </a:r>
            <a:r>
              <a:rPr sz="2800" b="1" dirty="0">
                <a:solidFill>
                  <a:srgbClr val="2B2C2D"/>
                </a:solidFill>
                <a:latin typeface="Arial"/>
                <a:cs typeface="Arial"/>
              </a:rPr>
              <a:t>extrinsic</a:t>
            </a:r>
            <a:r>
              <a:rPr sz="2800" b="1" spc="-50" dirty="0">
                <a:solidFill>
                  <a:srgbClr val="2B2C2D"/>
                </a:solidFill>
                <a:latin typeface="Arial"/>
                <a:cs typeface="Arial"/>
              </a:rPr>
              <a:t> </a:t>
            </a:r>
            <a:r>
              <a:rPr sz="2800" b="1" dirty="0">
                <a:solidFill>
                  <a:srgbClr val="2B2C2D"/>
                </a:solidFill>
                <a:latin typeface="Arial"/>
                <a:cs typeface="Arial"/>
              </a:rPr>
              <a:t>or</a:t>
            </a:r>
            <a:r>
              <a:rPr sz="2800" b="1" spc="-50" dirty="0">
                <a:solidFill>
                  <a:srgbClr val="2B2C2D"/>
                </a:solidFill>
                <a:latin typeface="Arial"/>
                <a:cs typeface="Arial"/>
              </a:rPr>
              <a:t> </a:t>
            </a:r>
            <a:r>
              <a:rPr sz="2800" b="1" spc="-10" dirty="0">
                <a:solidFill>
                  <a:srgbClr val="2B2C2D"/>
                </a:solidFill>
                <a:latin typeface="Arial"/>
                <a:cs typeface="Arial"/>
              </a:rPr>
              <a:t>external </a:t>
            </a:r>
            <a:r>
              <a:rPr sz="2800" b="1" dirty="0">
                <a:solidFill>
                  <a:srgbClr val="2B2C2D"/>
                </a:solidFill>
                <a:latin typeface="Arial"/>
                <a:cs typeface="Arial"/>
              </a:rPr>
              <a:t>data</a:t>
            </a:r>
            <a:r>
              <a:rPr sz="2800" b="1" spc="-40" dirty="0">
                <a:solidFill>
                  <a:srgbClr val="2B2C2D"/>
                </a:solidFill>
                <a:latin typeface="Arial"/>
                <a:cs typeface="Arial"/>
              </a:rPr>
              <a:t> </a:t>
            </a:r>
            <a:r>
              <a:rPr sz="2800" dirty="0">
                <a:solidFill>
                  <a:srgbClr val="2B2C2D"/>
                </a:solidFill>
                <a:latin typeface="Arial MT"/>
                <a:cs typeface="Arial MT"/>
              </a:rPr>
              <a:t>from</a:t>
            </a:r>
            <a:r>
              <a:rPr sz="2800" spc="-50" dirty="0">
                <a:solidFill>
                  <a:srgbClr val="2B2C2D"/>
                </a:solidFill>
                <a:latin typeface="Arial MT"/>
                <a:cs typeface="Arial MT"/>
              </a:rPr>
              <a:t> </a:t>
            </a:r>
            <a:r>
              <a:rPr sz="2800" dirty="0">
                <a:solidFill>
                  <a:srgbClr val="2B2C2D"/>
                </a:solidFill>
                <a:latin typeface="Arial MT"/>
                <a:cs typeface="Arial MT"/>
              </a:rPr>
              <a:t>third</a:t>
            </a:r>
            <a:r>
              <a:rPr sz="2800" spc="-50" dirty="0">
                <a:solidFill>
                  <a:srgbClr val="2B2C2D"/>
                </a:solidFill>
                <a:latin typeface="Arial MT"/>
                <a:cs typeface="Arial MT"/>
              </a:rPr>
              <a:t> </a:t>
            </a:r>
            <a:r>
              <a:rPr sz="2800" dirty="0">
                <a:solidFill>
                  <a:srgbClr val="2B2C2D"/>
                </a:solidFill>
                <a:latin typeface="Arial MT"/>
                <a:cs typeface="Arial MT"/>
              </a:rPr>
              <a:t>parties</a:t>
            </a:r>
            <a:r>
              <a:rPr sz="2800" spc="-45" dirty="0">
                <a:solidFill>
                  <a:srgbClr val="2B2C2D"/>
                </a:solidFill>
                <a:latin typeface="Arial MT"/>
                <a:cs typeface="Arial MT"/>
              </a:rPr>
              <a:t> </a:t>
            </a:r>
            <a:r>
              <a:rPr sz="2800" dirty="0">
                <a:solidFill>
                  <a:srgbClr val="2B2C2D"/>
                </a:solidFill>
                <a:latin typeface="Arial MT"/>
                <a:cs typeface="Arial MT"/>
              </a:rPr>
              <a:t>outside</a:t>
            </a:r>
            <a:r>
              <a:rPr sz="2800" spc="-60" dirty="0">
                <a:solidFill>
                  <a:srgbClr val="2B2C2D"/>
                </a:solidFill>
                <a:latin typeface="Arial MT"/>
                <a:cs typeface="Arial MT"/>
              </a:rPr>
              <a:t> </a:t>
            </a:r>
            <a:r>
              <a:rPr sz="2800" dirty="0">
                <a:solidFill>
                  <a:srgbClr val="2B2C2D"/>
                </a:solidFill>
                <a:latin typeface="Arial MT"/>
                <a:cs typeface="Arial MT"/>
              </a:rPr>
              <a:t>of</a:t>
            </a:r>
            <a:r>
              <a:rPr sz="2800" spc="-45" dirty="0">
                <a:solidFill>
                  <a:srgbClr val="2B2C2D"/>
                </a:solidFill>
                <a:latin typeface="Arial MT"/>
                <a:cs typeface="Arial MT"/>
              </a:rPr>
              <a:t> </a:t>
            </a:r>
            <a:r>
              <a:rPr sz="2800" spc="-25" dirty="0">
                <a:solidFill>
                  <a:srgbClr val="2B2C2D"/>
                </a:solidFill>
                <a:latin typeface="Arial MT"/>
                <a:cs typeface="Arial MT"/>
              </a:rPr>
              <a:t>the </a:t>
            </a:r>
            <a:r>
              <a:rPr sz="2800" dirty="0">
                <a:solidFill>
                  <a:srgbClr val="2B2C2D"/>
                </a:solidFill>
                <a:latin typeface="Arial MT"/>
                <a:cs typeface="Arial MT"/>
              </a:rPr>
              <a:t>blockchain</a:t>
            </a:r>
            <a:r>
              <a:rPr sz="2800" spc="-60" dirty="0">
                <a:solidFill>
                  <a:srgbClr val="2B2C2D"/>
                </a:solidFill>
                <a:latin typeface="Arial MT"/>
                <a:cs typeface="Arial MT"/>
              </a:rPr>
              <a:t> </a:t>
            </a:r>
            <a:r>
              <a:rPr sz="2800" dirty="0">
                <a:solidFill>
                  <a:srgbClr val="2B2C2D"/>
                </a:solidFill>
                <a:latin typeface="Arial MT"/>
                <a:cs typeface="Arial MT"/>
              </a:rPr>
              <a:t>using</a:t>
            </a:r>
            <a:r>
              <a:rPr sz="2800" spc="-60" dirty="0">
                <a:solidFill>
                  <a:srgbClr val="2B2C2D"/>
                </a:solidFill>
                <a:latin typeface="Arial MT"/>
                <a:cs typeface="Arial MT"/>
              </a:rPr>
              <a:t> </a:t>
            </a:r>
            <a:r>
              <a:rPr sz="2800" dirty="0">
                <a:solidFill>
                  <a:srgbClr val="2B2C2D"/>
                </a:solidFill>
                <a:latin typeface="Arial MT"/>
                <a:cs typeface="Arial MT"/>
              </a:rPr>
              <a:t>a</a:t>
            </a:r>
            <a:r>
              <a:rPr sz="2800" spc="-55" dirty="0">
                <a:solidFill>
                  <a:srgbClr val="2B2C2D"/>
                </a:solidFill>
                <a:latin typeface="Arial MT"/>
                <a:cs typeface="Arial MT"/>
              </a:rPr>
              <a:t> </a:t>
            </a:r>
            <a:r>
              <a:rPr sz="2800" dirty="0">
                <a:solidFill>
                  <a:srgbClr val="2B2C2D"/>
                </a:solidFill>
                <a:latin typeface="Arial MT"/>
                <a:cs typeface="Arial MT"/>
              </a:rPr>
              <a:t>function</a:t>
            </a:r>
            <a:r>
              <a:rPr sz="2800" spc="-70" dirty="0">
                <a:solidFill>
                  <a:srgbClr val="2B2C2D"/>
                </a:solidFill>
                <a:latin typeface="Arial MT"/>
                <a:cs typeface="Arial MT"/>
              </a:rPr>
              <a:t> </a:t>
            </a:r>
            <a:r>
              <a:rPr sz="2800" dirty="0">
                <a:solidFill>
                  <a:srgbClr val="2B2C2D"/>
                </a:solidFill>
                <a:latin typeface="Arial MT"/>
                <a:cs typeface="Arial MT"/>
              </a:rPr>
              <a:t>called</a:t>
            </a:r>
            <a:r>
              <a:rPr sz="2800" spc="-60" dirty="0">
                <a:solidFill>
                  <a:srgbClr val="2B2C2D"/>
                </a:solidFill>
                <a:latin typeface="Arial MT"/>
                <a:cs typeface="Arial MT"/>
              </a:rPr>
              <a:t> </a:t>
            </a:r>
            <a:r>
              <a:rPr sz="2800" spc="-25" dirty="0">
                <a:solidFill>
                  <a:srgbClr val="2B2C2D"/>
                </a:solidFill>
                <a:latin typeface="Arial MT"/>
                <a:cs typeface="Arial MT"/>
              </a:rPr>
              <a:t>an </a:t>
            </a:r>
            <a:r>
              <a:rPr sz="2800" spc="-10" dirty="0">
                <a:solidFill>
                  <a:srgbClr val="2B2C2D"/>
                </a:solidFill>
                <a:latin typeface="Arial MT"/>
                <a:cs typeface="Arial MT"/>
              </a:rPr>
              <a:t>“</a:t>
            </a:r>
            <a:r>
              <a:rPr sz="2800" b="1" spc="-10" dirty="0">
                <a:solidFill>
                  <a:srgbClr val="2B2C2D"/>
                </a:solidFill>
                <a:latin typeface="Arial"/>
                <a:cs typeface="Arial"/>
              </a:rPr>
              <a:t>oracle</a:t>
            </a:r>
            <a:r>
              <a:rPr sz="2800" spc="-10" dirty="0">
                <a:solidFill>
                  <a:srgbClr val="2B2C2D"/>
                </a:solidFill>
                <a:latin typeface="Arial MT"/>
                <a:cs typeface="Arial MT"/>
              </a:rPr>
              <a:t>”.</a:t>
            </a:r>
            <a:endParaRPr sz="2800">
              <a:latin typeface="Arial MT"/>
              <a:cs typeface="Arial MT"/>
            </a:endParaRPr>
          </a:p>
          <a:p>
            <a:pPr marL="354965" marR="67945" indent="-342900">
              <a:lnSpc>
                <a:spcPct val="100000"/>
              </a:lnSpc>
              <a:spcBef>
                <a:spcPts val="994"/>
              </a:spcBef>
              <a:buClr>
                <a:srgbClr val="6D2C91"/>
              </a:buClr>
              <a:buFont typeface="Wingdings"/>
              <a:buChar char=""/>
              <a:tabLst>
                <a:tab pos="354965" algn="l"/>
              </a:tabLst>
            </a:pPr>
            <a:r>
              <a:rPr sz="2800" dirty="0">
                <a:solidFill>
                  <a:srgbClr val="2B2C2D"/>
                </a:solidFill>
                <a:latin typeface="Arial MT"/>
                <a:cs typeface="Arial MT"/>
              </a:rPr>
              <a:t>The</a:t>
            </a:r>
            <a:r>
              <a:rPr sz="2800" spc="-55" dirty="0">
                <a:solidFill>
                  <a:srgbClr val="2B2C2D"/>
                </a:solidFill>
                <a:latin typeface="Arial MT"/>
                <a:cs typeface="Arial MT"/>
              </a:rPr>
              <a:t> </a:t>
            </a:r>
            <a:r>
              <a:rPr sz="2800" dirty="0">
                <a:solidFill>
                  <a:srgbClr val="2B2C2D"/>
                </a:solidFill>
                <a:latin typeface="Arial MT"/>
                <a:cs typeface="Arial MT"/>
              </a:rPr>
              <a:t>ability</a:t>
            </a:r>
            <a:r>
              <a:rPr sz="2800" spc="-75" dirty="0">
                <a:solidFill>
                  <a:srgbClr val="2B2C2D"/>
                </a:solidFill>
                <a:latin typeface="Arial MT"/>
                <a:cs typeface="Arial MT"/>
              </a:rPr>
              <a:t> </a:t>
            </a:r>
            <a:r>
              <a:rPr sz="2800" dirty="0">
                <a:solidFill>
                  <a:srgbClr val="2B2C2D"/>
                </a:solidFill>
                <a:latin typeface="Arial MT"/>
                <a:cs typeface="Arial MT"/>
              </a:rPr>
              <a:t>to</a:t>
            </a:r>
            <a:r>
              <a:rPr sz="2800" spc="-65" dirty="0">
                <a:solidFill>
                  <a:srgbClr val="2B2C2D"/>
                </a:solidFill>
                <a:latin typeface="Arial MT"/>
                <a:cs typeface="Arial MT"/>
              </a:rPr>
              <a:t> </a:t>
            </a:r>
            <a:r>
              <a:rPr sz="2800" b="1" dirty="0">
                <a:solidFill>
                  <a:srgbClr val="2B2C2D"/>
                </a:solidFill>
                <a:latin typeface="Arial"/>
                <a:cs typeface="Arial"/>
              </a:rPr>
              <a:t>combine</a:t>
            </a:r>
            <a:r>
              <a:rPr sz="2800" b="1" spc="-35" dirty="0">
                <a:solidFill>
                  <a:srgbClr val="2B2C2D"/>
                </a:solidFill>
                <a:latin typeface="Arial"/>
                <a:cs typeface="Arial"/>
              </a:rPr>
              <a:t> </a:t>
            </a:r>
            <a:r>
              <a:rPr sz="2800" dirty="0">
                <a:solidFill>
                  <a:srgbClr val="2B2C2D"/>
                </a:solidFill>
                <a:latin typeface="Arial MT"/>
                <a:cs typeface="Arial MT"/>
              </a:rPr>
              <a:t>this</a:t>
            </a:r>
            <a:r>
              <a:rPr sz="2800" spc="-65" dirty="0">
                <a:solidFill>
                  <a:srgbClr val="2B2C2D"/>
                </a:solidFill>
                <a:latin typeface="Arial MT"/>
                <a:cs typeface="Arial MT"/>
              </a:rPr>
              <a:t> </a:t>
            </a:r>
            <a:r>
              <a:rPr sz="2800" dirty="0">
                <a:solidFill>
                  <a:srgbClr val="2B2C2D"/>
                </a:solidFill>
                <a:latin typeface="Arial MT"/>
                <a:cs typeface="Arial MT"/>
              </a:rPr>
              <a:t>external</a:t>
            </a:r>
            <a:r>
              <a:rPr sz="2800" spc="-65" dirty="0">
                <a:solidFill>
                  <a:srgbClr val="2B2C2D"/>
                </a:solidFill>
                <a:latin typeface="Arial MT"/>
                <a:cs typeface="Arial MT"/>
              </a:rPr>
              <a:t> </a:t>
            </a:r>
            <a:r>
              <a:rPr sz="2800" spc="-20" dirty="0">
                <a:solidFill>
                  <a:srgbClr val="2B2C2D"/>
                </a:solidFill>
                <a:latin typeface="Arial MT"/>
                <a:cs typeface="Arial MT"/>
              </a:rPr>
              <a:t>data </a:t>
            </a:r>
            <a:r>
              <a:rPr sz="2800" dirty="0">
                <a:solidFill>
                  <a:srgbClr val="2B2C2D"/>
                </a:solidFill>
                <a:latin typeface="Arial MT"/>
                <a:cs typeface="Arial MT"/>
              </a:rPr>
              <a:t>with</a:t>
            </a:r>
            <a:r>
              <a:rPr sz="2800" spc="-65" dirty="0">
                <a:solidFill>
                  <a:srgbClr val="2B2C2D"/>
                </a:solidFill>
                <a:latin typeface="Arial MT"/>
                <a:cs typeface="Arial MT"/>
              </a:rPr>
              <a:t> </a:t>
            </a:r>
            <a:r>
              <a:rPr sz="2800" dirty="0">
                <a:solidFill>
                  <a:srgbClr val="2B2C2D"/>
                </a:solidFill>
                <a:latin typeface="Arial MT"/>
                <a:cs typeface="Arial MT"/>
              </a:rPr>
              <a:t>the</a:t>
            </a:r>
            <a:r>
              <a:rPr sz="2800" spc="-65" dirty="0">
                <a:solidFill>
                  <a:srgbClr val="2B2C2D"/>
                </a:solidFill>
                <a:latin typeface="Arial MT"/>
                <a:cs typeface="Arial MT"/>
              </a:rPr>
              <a:t> </a:t>
            </a:r>
            <a:r>
              <a:rPr sz="2800" dirty="0">
                <a:solidFill>
                  <a:srgbClr val="2B2C2D"/>
                </a:solidFill>
                <a:latin typeface="Arial MT"/>
                <a:cs typeface="Arial MT"/>
              </a:rPr>
              <a:t>executable</a:t>
            </a:r>
            <a:r>
              <a:rPr sz="2800" spc="-70" dirty="0">
                <a:solidFill>
                  <a:srgbClr val="2B2C2D"/>
                </a:solidFill>
                <a:latin typeface="Arial MT"/>
                <a:cs typeface="Arial MT"/>
              </a:rPr>
              <a:t> </a:t>
            </a:r>
            <a:r>
              <a:rPr sz="2800" dirty="0">
                <a:solidFill>
                  <a:srgbClr val="2B2C2D"/>
                </a:solidFill>
                <a:latin typeface="Arial MT"/>
                <a:cs typeface="Arial MT"/>
              </a:rPr>
              <a:t>computer</a:t>
            </a:r>
            <a:r>
              <a:rPr sz="2800" spc="-70" dirty="0">
                <a:solidFill>
                  <a:srgbClr val="2B2C2D"/>
                </a:solidFill>
                <a:latin typeface="Arial MT"/>
                <a:cs typeface="Arial MT"/>
              </a:rPr>
              <a:t> </a:t>
            </a:r>
            <a:r>
              <a:rPr sz="2800" dirty="0">
                <a:solidFill>
                  <a:srgbClr val="2B2C2D"/>
                </a:solidFill>
                <a:latin typeface="Arial MT"/>
                <a:cs typeface="Arial MT"/>
              </a:rPr>
              <a:t>code</a:t>
            </a:r>
            <a:r>
              <a:rPr sz="2800" spc="-65" dirty="0">
                <a:solidFill>
                  <a:srgbClr val="2B2C2D"/>
                </a:solidFill>
                <a:latin typeface="Arial MT"/>
                <a:cs typeface="Arial MT"/>
              </a:rPr>
              <a:t> </a:t>
            </a:r>
            <a:r>
              <a:rPr sz="2800" spc="-10" dirty="0">
                <a:solidFill>
                  <a:srgbClr val="2B2C2D"/>
                </a:solidFill>
                <a:latin typeface="Arial MT"/>
                <a:cs typeface="Arial MT"/>
              </a:rPr>
              <a:t>within </a:t>
            </a:r>
            <a:r>
              <a:rPr sz="2800" dirty="0">
                <a:solidFill>
                  <a:srgbClr val="2B2C2D"/>
                </a:solidFill>
                <a:latin typeface="Arial MT"/>
                <a:cs typeface="Arial MT"/>
              </a:rPr>
              <a:t>the</a:t>
            </a:r>
            <a:r>
              <a:rPr sz="2800" spc="-65" dirty="0">
                <a:solidFill>
                  <a:srgbClr val="2B2C2D"/>
                </a:solidFill>
                <a:latin typeface="Arial MT"/>
                <a:cs typeface="Arial MT"/>
              </a:rPr>
              <a:t> </a:t>
            </a:r>
            <a:r>
              <a:rPr sz="2800" dirty="0">
                <a:solidFill>
                  <a:srgbClr val="2B2C2D"/>
                </a:solidFill>
                <a:latin typeface="Arial MT"/>
                <a:cs typeface="Arial MT"/>
              </a:rPr>
              <a:t>blockchain</a:t>
            </a:r>
            <a:r>
              <a:rPr sz="2800" spc="-60" dirty="0">
                <a:solidFill>
                  <a:srgbClr val="2B2C2D"/>
                </a:solidFill>
                <a:latin typeface="Arial MT"/>
                <a:cs typeface="Arial MT"/>
              </a:rPr>
              <a:t> </a:t>
            </a:r>
            <a:r>
              <a:rPr sz="2800" dirty="0">
                <a:solidFill>
                  <a:srgbClr val="2B2C2D"/>
                </a:solidFill>
                <a:latin typeface="Arial MT"/>
                <a:cs typeface="Arial MT"/>
              </a:rPr>
              <a:t>to</a:t>
            </a:r>
            <a:r>
              <a:rPr sz="2800" spc="-55" dirty="0">
                <a:solidFill>
                  <a:srgbClr val="2B2C2D"/>
                </a:solidFill>
                <a:latin typeface="Arial MT"/>
                <a:cs typeface="Arial MT"/>
              </a:rPr>
              <a:t> </a:t>
            </a:r>
            <a:r>
              <a:rPr sz="2800" dirty="0">
                <a:solidFill>
                  <a:srgbClr val="2B2C2D"/>
                </a:solidFill>
                <a:latin typeface="Arial MT"/>
                <a:cs typeface="Arial MT"/>
              </a:rPr>
              <a:t>perform</a:t>
            </a:r>
            <a:r>
              <a:rPr sz="2800" spc="-55" dirty="0">
                <a:solidFill>
                  <a:srgbClr val="2B2C2D"/>
                </a:solidFill>
                <a:latin typeface="Arial MT"/>
                <a:cs typeface="Arial MT"/>
              </a:rPr>
              <a:t> </a:t>
            </a:r>
            <a:r>
              <a:rPr sz="2800" dirty="0">
                <a:solidFill>
                  <a:srgbClr val="2B2C2D"/>
                </a:solidFill>
                <a:latin typeface="Arial MT"/>
                <a:cs typeface="Arial MT"/>
              </a:rPr>
              <a:t>smart</a:t>
            </a:r>
            <a:r>
              <a:rPr sz="2800" spc="-55" dirty="0">
                <a:solidFill>
                  <a:srgbClr val="2B2C2D"/>
                </a:solidFill>
                <a:latin typeface="Arial MT"/>
                <a:cs typeface="Arial MT"/>
              </a:rPr>
              <a:t> </a:t>
            </a:r>
            <a:r>
              <a:rPr sz="2800" spc="-10" dirty="0">
                <a:solidFill>
                  <a:srgbClr val="2B2C2D"/>
                </a:solidFill>
                <a:latin typeface="Arial MT"/>
                <a:cs typeface="Arial MT"/>
              </a:rPr>
              <a:t>contract functions.</a:t>
            </a:r>
            <a:endParaRPr sz="2800">
              <a:latin typeface="Arial MT"/>
              <a:cs typeface="Arial MT"/>
            </a:endParaRPr>
          </a:p>
          <a:p>
            <a:pPr marL="354965" marR="5080" indent="-342900">
              <a:lnSpc>
                <a:spcPct val="100000"/>
              </a:lnSpc>
              <a:spcBef>
                <a:spcPts val="1010"/>
              </a:spcBef>
              <a:buClr>
                <a:srgbClr val="6D2C91"/>
              </a:buClr>
              <a:buFont typeface="Wingdings"/>
              <a:buChar char=""/>
              <a:tabLst>
                <a:tab pos="354965" algn="l"/>
              </a:tabLst>
            </a:pPr>
            <a:r>
              <a:rPr sz="2800" b="1" spc="-10" dirty="0">
                <a:solidFill>
                  <a:srgbClr val="2B2C2D"/>
                </a:solidFill>
                <a:latin typeface="Arial"/>
                <a:cs typeface="Arial"/>
              </a:rPr>
              <a:t>Decentralized</a:t>
            </a:r>
            <a:r>
              <a:rPr sz="2800" b="1" spc="-175" dirty="0">
                <a:solidFill>
                  <a:srgbClr val="2B2C2D"/>
                </a:solidFill>
                <a:latin typeface="Arial"/>
                <a:cs typeface="Arial"/>
              </a:rPr>
              <a:t> </a:t>
            </a:r>
            <a:r>
              <a:rPr sz="2800" b="1" dirty="0">
                <a:solidFill>
                  <a:srgbClr val="2B2C2D"/>
                </a:solidFill>
                <a:latin typeface="Arial"/>
                <a:cs typeface="Arial"/>
              </a:rPr>
              <a:t>Applications</a:t>
            </a:r>
            <a:r>
              <a:rPr sz="2800" b="1" spc="-70" dirty="0">
                <a:solidFill>
                  <a:srgbClr val="2B2C2D"/>
                </a:solidFill>
                <a:latin typeface="Arial"/>
                <a:cs typeface="Arial"/>
              </a:rPr>
              <a:t> </a:t>
            </a:r>
            <a:r>
              <a:rPr sz="2800" b="1" dirty="0">
                <a:solidFill>
                  <a:srgbClr val="2B2C2D"/>
                </a:solidFill>
                <a:latin typeface="Arial"/>
                <a:cs typeface="Arial"/>
              </a:rPr>
              <a:t>(Dapps)</a:t>
            </a:r>
            <a:r>
              <a:rPr sz="2800" b="1" spc="-60" dirty="0">
                <a:solidFill>
                  <a:srgbClr val="2B2C2D"/>
                </a:solidFill>
                <a:latin typeface="Arial"/>
                <a:cs typeface="Arial"/>
              </a:rPr>
              <a:t> </a:t>
            </a:r>
            <a:r>
              <a:rPr sz="2800" spc="-25" dirty="0">
                <a:solidFill>
                  <a:srgbClr val="2B2C2D"/>
                </a:solidFill>
                <a:latin typeface="Arial MT"/>
                <a:cs typeface="Arial MT"/>
              </a:rPr>
              <a:t>run </a:t>
            </a:r>
            <a:r>
              <a:rPr sz="2800" dirty="0">
                <a:solidFill>
                  <a:srgbClr val="2B2C2D"/>
                </a:solidFill>
                <a:latin typeface="Arial MT"/>
                <a:cs typeface="Arial MT"/>
              </a:rPr>
              <a:t>on</a:t>
            </a:r>
            <a:r>
              <a:rPr sz="2800" spc="-30" dirty="0">
                <a:solidFill>
                  <a:srgbClr val="2B2C2D"/>
                </a:solidFill>
                <a:latin typeface="Arial MT"/>
                <a:cs typeface="Arial MT"/>
              </a:rPr>
              <a:t> </a:t>
            </a:r>
            <a:r>
              <a:rPr sz="2800" dirty="0">
                <a:solidFill>
                  <a:srgbClr val="2B2C2D"/>
                </a:solidFill>
                <a:latin typeface="Arial MT"/>
                <a:cs typeface="Arial MT"/>
              </a:rPr>
              <a:t>top</a:t>
            </a:r>
            <a:r>
              <a:rPr sz="2800" spc="-35" dirty="0">
                <a:solidFill>
                  <a:srgbClr val="2B2C2D"/>
                </a:solidFill>
                <a:latin typeface="Arial MT"/>
                <a:cs typeface="Arial MT"/>
              </a:rPr>
              <a:t> </a:t>
            </a:r>
            <a:r>
              <a:rPr sz="2800" dirty="0">
                <a:solidFill>
                  <a:srgbClr val="2B2C2D"/>
                </a:solidFill>
                <a:latin typeface="Arial MT"/>
                <a:cs typeface="Arial MT"/>
              </a:rPr>
              <a:t>of</a:t>
            </a:r>
            <a:r>
              <a:rPr sz="2800" spc="-35" dirty="0">
                <a:solidFill>
                  <a:srgbClr val="2B2C2D"/>
                </a:solidFill>
                <a:latin typeface="Arial MT"/>
                <a:cs typeface="Arial MT"/>
              </a:rPr>
              <a:t> </a:t>
            </a:r>
            <a:r>
              <a:rPr sz="2800" dirty="0">
                <a:solidFill>
                  <a:srgbClr val="2B2C2D"/>
                </a:solidFill>
                <a:latin typeface="Arial MT"/>
                <a:cs typeface="Arial MT"/>
              </a:rPr>
              <a:t>the</a:t>
            </a:r>
            <a:r>
              <a:rPr sz="2800" spc="-30" dirty="0">
                <a:solidFill>
                  <a:srgbClr val="2B2C2D"/>
                </a:solidFill>
                <a:latin typeface="Arial MT"/>
                <a:cs typeface="Arial MT"/>
              </a:rPr>
              <a:t> </a:t>
            </a:r>
            <a:r>
              <a:rPr sz="2800" dirty="0">
                <a:solidFill>
                  <a:srgbClr val="2B2C2D"/>
                </a:solidFill>
                <a:latin typeface="Arial MT"/>
                <a:cs typeface="Arial MT"/>
              </a:rPr>
              <a:t>platform</a:t>
            </a:r>
            <a:r>
              <a:rPr sz="2800" spc="-35" dirty="0">
                <a:solidFill>
                  <a:srgbClr val="2B2C2D"/>
                </a:solidFill>
                <a:latin typeface="Arial MT"/>
                <a:cs typeface="Arial MT"/>
              </a:rPr>
              <a:t> </a:t>
            </a:r>
            <a:r>
              <a:rPr sz="2800" dirty="0">
                <a:solidFill>
                  <a:srgbClr val="2B2C2D"/>
                </a:solidFill>
                <a:latin typeface="Arial MT"/>
                <a:cs typeface="Arial MT"/>
              </a:rPr>
              <a:t>to</a:t>
            </a:r>
            <a:r>
              <a:rPr sz="2800" spc="-40" dirty="0">
                <a:solidFill>
                  <a:srgbClr val="2B2C2D"/>
                </a:solidFill>
                <a:latin typeface="Arial MT"/>
                <a:cs typeface="Arial MT"/>
              </a:rPr>
              <a:t> </a:t>
            </a:r>
            <a:r>
              <a:rPr sz="2800" dirty="0">
                <a:solidFill>
                  <a:srgbClr val="2B2C2D"/>
                </a:solidFill>
                <a:latin typeface="Arial MT"/>
                <a:cs typeface="Arial MT"/>
              </a:rPr>
              <a:t>add</a:t>
            </a:r>
            <a:r>
              <a:rPr sz="2800" spc="-20" dirty="0">
                <a:solidFill>
                  <a:srgbClr val="2B2C2D"/>
                </a:solidFill>
                <a:latin typeface="Arial MT"/>
                <a:cs typeface="Arial MT"/>
              </a:rPr>
              <a:t> </a:t>
            </a:r>
            <a:r>
              <a:rPr sz="2800" spc="-10" dirty="0">
                <a:solidFill>
                  <a:srgbClr val="2B2C2D"/>
                </a:solidFill>
                <a:latin typeface="Arial MT"/>
                <a:cs typeface="Arial MT"/>
              </a:rPr>
              <a:t>functions.</a:t>
            </a:r>
            <a:endParaRPr sz="2800">
              <a:latin typeface="Arial MT"/>
              <a:cs typeface="Arial M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760970" cy="486219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40"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1:</a:t>
            </a:r>
            <a:r>
              <a:rPr sz="2800" b="1" spc="-160" dirty="0">
                <a:solidFill>
                  <a:srgbClr val="00339F"/>
                </a:solidFill>
                <a:latin typeface="Arial"/>
                <a:cs typeface="Arial"/>
              </a:rPr>
              <a:t> </a:t>
            </a:r>
            <a:r>
              <a:rPr sz="2800" b="1" spc="-10" dirty="0">
                <a:solidFill>
                  <a:srgbClr val="00339F"/>
                </a:solidFill>
                <a:latin typeface="Arial"/>
                <a:cs typeface="Arial"/>
              </a:rPr>
              <a:t>Agreement</a:t>
            </a:r>
            <a:endParaRPr sz="2800">
              <a:latin typeface="Arial"/>
              <a:cs typeface="Arial"/>
            </a:endParaRPr>
          </a:p>
          <a:p>
            <a:pPr>
              <a:lnSpc>
                <a:spcPct val="100000"/>
              </a:lnSpc>
              <a:spcBef>
                <a:spcPts val="270"/>
              </a:spcBef>
            </a:pPr>
            <a:endParaRPr sz="2800">
              <a:latin typeface="Arial"/>
              <a:cs typeface="Arial"/>
            </a:endParaRPr>
          </a:p>
          <a:p>
            <a:pPr marL="928369" marR="826769" indent="-457200">
              <a:lnSpc>
                <a:spcPct val="100000"/>
              </a:lnSpc>
              <a:buClr>
                <a:srgbClr val="6D2C91"/>
              </a:buClr>
              <a:buFont typeface="Wingdings"/>
              <a:buChar char=""/>
              <a:tabLst>
                <a:tab pos="928369" algn="l"/>
              </a:tabLst>
            </a:pPr>
            <a:r>
              <a:rPr sz="2800" spc="-10" dirty="0">
                <a:solidFill>
                  <a:srgbClr val="2B2C2D"/>
                </a:solidFill>
                <a:latin typeface="Arial MT"/>
                <a:cs typeface="Arial MT"/>
              </a:rPr>
              <a:t>Two</a:t>
            </a:r>
            <a:r>
              <a:rPr sz="2800" spc="-80" dirty="0">
                <a:solidFill>
                  <a:srgbClr val="2B2C2D"/>
                </a:solidFill>
                <a:latin typeface="Arial MT"/>
                <a:cs typeface="Arial MT"/>
              </a:rPr>
              <a:t> </a:t>
            </a:r>
            <a:r>
              <a:rPr sz="2800" dirty="0">
                <a:solidFill>
                  <a:srgbClr val="2B2C2D"/>
                </a:solidFill>
                <a:latin typeface="Arial MT"/>
                <a:cs typeface="Arial MT"/>
              </a:rPr>
              <a:t>or</a:t>
            </a:r>
            <a:r>
              <a:rPr sz="2800" spc="-80" dirty="0">
                <a:solidFill>
                  <a:srgbClr val="2B2C2D"/>
                </a:solidFill>
                <a:latin typeface="Arial MT"/>
                <a:cs typeface="Arial MT"/>
              </a:rPr>
              <a:t> </a:t>
            </a:r>
            <a:r>
              <a:rPr sz="2800" dirty="0">
                <a:solidFill>
                  <a:srgbClr val="2B2C2D"/>
                </a:solidFill>
                <a:latin typeface="Arial MT"/>
                <a:cs typeface="Arial MT"/>
              </a:rPr>
              <a:t>more</a:t>
            </a:r>
            <a:r>
              <a:rPr sz="2800" spc="-75" dirty="0">
                <a:solidFill>
                  <a:srgbClr val="2B2C2D"/>
                </a:solidFill>
                <a:latin typeface="Arial MT"/>
                <a:cs typeface="Arial MT"/>
              </a:rPr>
              <a:t> </a:t>
            </a:r>
            <a:r>
              <a:rPr sz="2800" dirty="0">
                <a:solidFill>
                  <a:srgbClr val="2B2C2D"/>
                </a:solidFill>
                <a:latin typeface="Arial MT"/>
                <a:cs typeface="Arial MT"/>
              </a:rPr>
              <a:t>parties</a:t>
            </a:r>
            <a:r>
              <a:rPr sz="2800" spc="-80" dirty="0">
                <a:solidFill>
                  <a:srgbClr val="2B2C2D"/>
                </a:solidFill>
                <a:latin typeface="Arial MT"/>
                <a:cs typeface="Arial MT"/>
              </a:rPr>
              <a:t> </a:t>
            </a:r>
            <a:r>
              <a:rPr sz="2800" dirty="0">
                <a:solidFill>
                  <a:srgbClr val="2B2C2D"/>
                </a:solidFill>
                <a:latin typeface="Arial MT"/>
                <a:cs typeface="Arial MT"/>
              </a:rPr>
              <a:t>must</a:t>
            </a:r>
            <a:r>
              <a:rPr sz="2800" spc="-85" dirty="0">
                <a:solidFill>
                  <a:srgbClr val="2B2C2D"/>
                </a:solidFill>
                <a:latin typeface="Arial MT"/>
                <a:cs typeface="Arial MT"/>
              </a:rPr>
              <a:t> </a:t>
            </a:r>
            <a:r>
              <a:rPr sz="2800" b="1" dirty="0">
                <a:solidFill>
                  <a:srgbClr val="2B2C2D"/>
                </a:solidFill>
                <a:latin typeface="Arial"/>
                <a:cs typeface="Arial"/>
              </a:rPr>
              <a:t>negotiate</a:t>
            </a:r>
            <a:r>
              <a:rPr sz="2800" b="1" spc="-60" dirty="0">
                <a:solidFill>
                  <a:srgbClr val="2B2C2D"/>
                </a:solidFill>
                <a:latin typeface="Arial"/>
                <a:cs typeface="Arial"/>
              </a:rPr>
              <a:t> </a:t>
            </a:r>
            <a:r>
              <a:rPr sz="2800" spc="-50" dirty="0">
                <a:solidFill>
                  <a:srgbClr val="2B2C2D"/>
                </a:solidFill>
                <a:latin typeface="Arial MT"/>
                <a:cs typeface="Arial MT"/>
              </a:rPr>
              <a:t>a </a:t>
            </a:r>
            <a:r>
              <a:rPr sz="2800" dirty="0">
                <a:solidFill>
                  <a:srgbClr val="2B2C2D"/>
                </a:solidFill>
                <a:latin typeface="Arial MT"/>
                <a:cs typeface="Arial MT"/>
              </a:rPr>
              <a:t>written</a:t>
            </a:r>
            <a:r>
              <a:rPr sz="2800" spc="-40" dirty="0">
                <a:solidFill>
                  <a:srgbClr val="2B2C2D"/>
                </a:solidFill>
                <a:latin typeface="Arial MT"/>
                <a:cs typeface="Arial MT"/>
              </a:rPr>
              <a:t> </a:t>
            </a:r>
            <a:r>
              <a:rPr sz="2800" dirty="0">
                <a:solidFill>
                  <a:srgbClr val="2B2C2D"/>
                </a:solidFill>
                <a:latin typeface="Arial MT"/>
                <a:cs typeface="Arial MT"/>
              </a:rPr>
              <a:t>legal</a:t>
            </a:r>
            <a:r>
              <a:rPr sz="2800" spc="-30" dirty="0">
                <a:solidFill>
                  <a:srgbClr val="2B2C2D"/>
                </a:solidFill>
                <a:latin typeface="Arial MT"/>
                <a:cs typeface="Arial MT"/>
              </a:rPr>
              <a:t> </a:t>
            </a:r>
            <a:r>
              <a:rPr sz="2800" dirty="0">
                <a:solidFill>
                  <a:srgbClr val="2B2C2D"/>
                </a:solidFill>
                <a:latin typeface="Arial MT"/>
                <a:cs typeface="Arial MT"/>
              </a:rPr>
              <a:t>contract</a:t>
            </a:r>
            <a:r>
              <a:rPr sz="2800" spc="-65" dirty="0">
                <a:solidFill>
                  <a:srgbClr val="2B2C2D"/>
                </a:solidFill>
                <a:latin typeface="Arial MT"/>
                <a:cs typeface="Arial MT"/>
              </a:rPr>
              <a:t> </a:t>
            </a:r>
            <a:r>
              <a:rPr sz="2800" dirty="0">
                <a:solidFill>
                  <a:srgbClr val="2B2C2D"/>
                </a:solidFill>
                <a:latin typeface="Arial MT"/>
                <a:cs typeface="Arial MT"/>
              </a:rPr>
              <a:t>or</a:t>
            </a:r>
            <a:r>
              <a:rPr sz="2800" spc="-40" dirty="0">
                <a:solidFill>
                  <a:srgbClr val="2B2C2D"/>
                </a:solidFill>
                <a:latin typeface="Arial MT"/>
                <a:cs typeface="Arial MT"/>
              </a:rPr>
              <a:t> </a:t>
            </a:r>
            <a:r>
              <a:rPr sz="2800" dirty="0">
                <a:solidFill>
                  <a:srgbClr val="2B2C2D"/>
                </a:solidFill>
                <a:latin typeface="Arial MT"/>
                <a:cs typeface="Arial MT"/>
              </a:rPr>
              <a:t>use</a:t>
            </a:r>
            <a:r>
              <a:rPr sz="2800" spc="-45" dirty="0">
                <a:solidFill>
                  <a:srgbClr val="2B2C2D"/>
                </a:solidFill>
                <a:latin typeface="Arial MT"/>
                <a:cs typeface="Arial MT"/>
              </a:rPr>
              <a:t> </a:t>
            </a:r>
            <a:r>
              <a:rPr sz="2800" dirty="0">
                <a:solidFill>
                  <a:srgbClr val="2B2C2D"/>
                </a:solidFill>
                <a:latin typeface="Arial MT"/>
                <a:cs typeface="Arial MT"/>
              </a:rPr>
              <a:t>a</a:t>
            </a:r>
            <a:r>
              <a:rPr sz="2800" spc="-40" dirty="0">
                <a:solidFill>
                  <a:srgbClr val="2B2C2D"/>
                </a:solidFill>
                <a:latin typeface="Arial MT"/>
                <a:cs typeface="Arial MT"/>
              </a:rPr>
              <a:t> </a:t>
            </a:r>
            <a:r>
              <a:rPr sz="2800" b="1" spc="-20" dirty="0">
                <a:solidFill>
                  <a:srgbClr val="2B2C2D"/>
                </a:solidFill>
                <a:latin typeface="Arial"/>
                <a:cs typeface="Arial"/>
              </a:rPr>
              <a:t>form </a:t>
            </a:r>
            <a:r>
              <a:rPr sz="2800" b="1" dirty="0">
                <a:solidFill>
                  <a:srgbClr val="2B2C2D"/>
                </a:solidFill>
                <a:latin typeface="Arial"/>
                <a:cs typeface="Arial"/>
              </a:rPr>
              <a:t>contract</a:t>
            </a:r>
            <a:r>
              <a:rPr sz="2800" b="1" spc="-35" dirty="0">
                <a:solidFill>
                  <a:srgbClr val="2B2C2D"/>
                </a:solidFill>
                <a:latin typeface="Arial"/>
                <a:cs typeface="Arial"/>
              </a:rPr>
              <a:t> </a:t>
            </a:r>
            <a:r>
              <a:rPr sz="2800" dirty="0">
                <a:solidFill>
                  <a:srgbClr val="2B2C2D"/>
                </a:solidFill>
                <a:latin typeface="Arial MT"/>
                <a:cs typeface="Arial MT"/>
              </a:rPr>
              <a:t>from</a:t>
            </a:r>
            <a:r>
              <a:rPr sz="2800" spc="-35" dirty="0">
                <a:solidFill>
                  <a:srgbClr val="2B2C2D"/>
                </a:solidFill>
                <a:latin typeface="Arial MT"/>
                <a:cs typeface="Arial MT"/>
              </a:rPr>
              <a:t> </a:t>
            </a:r>
            <a:r>
              <a:rPr sz="2800" dirty="0">
                <a:solidFill>
                  <a:srgbClr val="2B2C2D"/>
                </a:solidFill>
                <a:latin typeface="Arial MT"/>
                <a:cs typeface="Arial MT"/>
              </a:rPr>
              <a:t>one</a:t>
            </a:r>
            <a:r>
              <a:rPr sz="2800" spc="-40"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parties</a:t>
            </a:r>
            <a:r>
              <a:rPr sz="2800" spc="-40" dirty="0">
                <a:solidFill>
                  <a:srgbClr val="2B2C2D"/>
                </a:solidFill>
                <a:latin typeface="Arial MT"/>
                <a:cs typeface="Arial MT"/>
              </a:rPr>
              <a:t> </a:t>
            </a:r>
            <a:r>
              <a:rPr sz="2800" dirty="0">
                <a:solidFill>
                  <a:srgbClr val="2B2C2D"/>
                </a:solidFill>
                <a:latin typeface="Arial MT"/>
                <a:cs typeface="Arial MT"/>
              </a:rPr>
              <a:t>or</a:t>
            </a:r>
            <a:r>
              <a:rPr sz="2800" spc="-45" dirty="0">
                <a:solidFill>
                  <a:srgbClr val="2B2C2D"/>
                </a:solidFill>
                <a:latin typeface="Arial MT"/>
                <a:cs typeface="Arial MT"/>
              </a:rPr>
              <a:t> </a:t>
            </a:r>
            <a:r>
              <a:rPr sz="2800" spc="-25" dirty="0">
                <a:solidFill>
                  <a:srgbClr val="2B2C2D"/>
                </a:solidFill>
                <a:latin typeface="Arial MT"/>
                <a:cs typeface="Arial MT"/>
              </a:rPr>
              <a:t>an </a:t>
            </a:r>
            <a:r>
              <a:rPr sz="2800" dirty="0">
                <a:solidFill>
                  <a:srgbClr val="2B2C2D"/>
                </a:solidFill>
                <a:latin typeface="Arial MT"/>
                <a:cs typeface="Arial MT"/>
              </a:rPr>
              <a:t>affiliation</a:t>
            </a:r>
            <a:r>
              <a:rPr sz="2800" spc="-114" dirty="0">
                <a:solidFill>
                  <a:srgbClr val="2B2C2D"/>
                </a:solidFill>
                <a:latin typeface="Arial MT"/>
                <a:cs typeface="Arial MT"/>
              </a:rPr>
              <a:t> </a:t>
            </a:r>
            <a:r>
              <a:rPr sz="2800" dirty="0">
                <a:solidFill>
                  <a:srgbClr val="2B2C2D"/>
                </a:solidFill>
                <a:latin typeface="Arial MT"/>
                <a:cs typeface="Arial MT"/>
              </a:rPr>
              <a:t>group</a:t>
            </a:r>
            <a:r>
              <a:rPr sz="2800" spc="-90" dirty="0">
                <a:solidFill>
                  <a:srgbClr val="2B2C2D"/>
                </a:solidFill>
                <a:latin typeface="Arial MT"/>
                <a:cs typeface="Arial MT"/>
              </a:rPr>
              <a:t> </a:t>
            </a:r>
            <a:r>
              <a:rPr sz="2800" dirty="0">
                <a:solidFill>
                  <a:srgbClr val="2B2C2D"/>
                </a:solidFill>
                <a:latin typeface="Arial MT"/>
                <a:cs typeface="Arial MT"/>
              </a:rPr>
              <a:t>containing</a:t>
            </a:r>
            <a:r>
              <a:rPr sz="2800" spc="-100" dirty="0">
                <a:solidFill>
                  <a:srgbClr val="2B2C2D"/>
                </a:solidFill>
                <a:latin typeface="Arial MT"/>
                <a:cs typeface="Arial MT"/>
              </a:rPr>
              <a:t> </a:t>
            </a:r>
            <a:r>
              <a:rPr sz="2800" spc="-10" dirty="0">
                <a:solidFill>
                  <a:srgbClr val="2B2C2D"/>
                </a:solidFill>
                <a:latin typeface="Arial MT"/>
                <a:cs typeface="Arial MT"/>
              </a:rPr>
              <a:t>their agreement.</a:t>
            </a:r>
            <a:endParaRPr sz="2800">
              <a:latin typeface="Arial MT"/>
              <a:cs typeface="Arial MT"/>
            </a:endParaRPr>
          </a:p>
          <a:p>
            <a:pPr marL="928369" marR="110109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contract</a:t>
            </a:r>
            <a:r>
              <a:rPr sz="2800" spc="-70" dirty="0">
                <a:solidFill>
                  <a:srgbClr val="2B2C2D"/>
                </a:solidFill>
                <a:latin typeface="Arial MT"/>
                <a:cs typeface="Arial MT"/>
              </a:rPr>
              <a:t> </a:t>
            </a:r>
            <a:r>
              <a:rPr sz="2800" dirty="0">
                <a:solidFill>
                  <a:srgbClr val="2B2C2D"/>
                </a:solidFill>
                <a:latin typeface="Arial MT"/>
                <a:cs typeface="Arial MT"/>
              </a:rPr>
              <a:t>must</a:t>
            </a:r>
            <a:r>
              <a:rPr sz="2800" spc="-70" dirty="0">
                <a:solidFill>
                  <a:srgbClr val="2B2C2D"/>
                </a:solidFill>
                <a:latin typeface="Arial MT"/>
                <a:cs typeface="Arial MT"/>
              </a:rPr>
              <a:t> </a:t>
            </a:r>
            <a:r>
              <a:rPr sz="2800" dirty="0">
                <a:solidFill>
                  <a:srgbClr val="2B2C2D"/>
                </a:solidFill>
                <a:latin typeface="Arial MT"/>
                <a:cs typeface="Arial MT"/>
              </a:rPr>
              <a:t>include</a:t>
            </a:r>
            <a:r>
              <a:rPr sz="2800" spc="-45" dirty="0">
                <a:solidFill>
                  <a:srgbClr val="2B2C2D"/>
                </a:solidFill>
                <a:latin typeface="Arial MT"/>
                <a:cs typeface="Arial MT"/>
              </a:rPr>
              <a:t> </a:t>
            </a:r>
            <a:r>
              <a:rPr sz="2800" spc="-10" dirty="0">
                <a:solidFill>
                  <a:srgbClr val="2B2C2D"/>
                </a:solidFill>
                <a:latin typeface="Arial MT"/>
                <a:cs typeface="Arial MT"/>
              </a:rPr>
              <a:t>specific </a:t>
            </a:r>
            <a:r>
              <a:rPr sz="2800" dirty="0">
                <a:solidFill>
                  <a:srgbClr val="2B2C2D"/>
                </a:solidFill>
                <a:latin typeface="Arial MT"/>
                <a:cs typeface="Arial MT"/>
              </a:rPr>
              <a:t>transactions</a:t>
            </a:r>
            <a:r>
              <a:rPr sz="2800" spc="-70"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other</a:t>
            </a:r>
            <a:r>
              <a:rPr sz="2800" spc="-60" dirty="0">
                <a:solidFill>
                  <a:srgbClr val="2B2C2D"/>
                </a:solidFill>
                <a:latin typeface="Arial MT"/>
                <a:cs typeface="Arial MT"/>
              </a:rPr>
              <a:t> </a:t>
            </a:r>
            <a:r>
              <a:rPr sz="2800" dirty="0">
                <a:solidFill>
                  <a:srgbClr val="2B2C2D"/>
                </a:solidFill>
                <a:latin typeface="Arial MT"/>
                <a:cs typeface="Arial MT"/>
              </a:rPr>
              <a:t>rights</a:t>
            </a:r>
            <a:r>
              <a:rPr sz="2800" spc="-70" dirty="0">
                <a:solidFill>
                  <a:srgbClr val="2B2C2D"/>
                </a:solidFill>
                <a:latin typeface="Arial MT"/>
                <a:cs typeface="Arial MT"/>
              </a:rPr>
              <a:t> </a:t>
            </a:r>
            <a:r>
              <a:rPr sz="2800" spc="-25" dirty="0">
                <a:solidFill>
                  <a:srgbClr val="2B2C2D"/>
                </a:solidFill>
                <a:latin typeface="Arial MT"/>
                <a:cs typeface="Arial MT"/>
              </a:rPr>
              <a:t>and </a:t>
            </a:r>
            <a:r>
              <a:rPr sz="2800" dirty="0">
                <a:solidFill>
                  <a:srgbClr val="2B2C2D"/>
                </a:solidFill>
                <a:latin typeface="Arial MT"/>
                <a:cs typeface="Arial MT"/>
              </a:rPr>
              <a:t>obligations</a:t>
            </a:r>
            <a:r>
              <a:rPr sz="2800" spc="-45" dirty="0">
                <a:solidFill>
                  <a:srgbClr val="2B2C2D"/>
                </a:solidFill>
                <a:latin typeface="Arial MT"/>
                <a:cs typeface="Arial MT"/>
              </a:rPr>
              <a:t> </a:t>
            </a:r>
            <a:r>
              <a:rPr sz="2800" dirty="0">
                <a:solidFill>
                  <a:srgbClr val="2B2C2D"/>
                </a:solidFill>
                <a:latin typeface="Arial MT"/>
                <a:cs typeface="Arial MT"/>
              </a:rPr>
              <a:t>that</a:t>
            </a:r>
            <a:r>
              <a:rPr sz="2800" spc="-40" dirty="0">
                <a:solidFill>
                  <a:srgbClr val="2B2C2D"/>
                </a:solidFill>
                <a:latin typeface="Arial MT"/>
                <a:cs typeface="Arial MT"/>
              </a:rPr>
              <a:t> </a:t>
            </a:r>
            <a:r>
              <a:rPr sz="2800" dirty="0">
                <a:solidFill>
                  <a:srgbClr val="2B2C2D"/>
                </a:solidFill>
                <a:latin typeface="Arial MT"/>
                <a:cs typeface="Arial MT"/>
              </a:rPr>
              <a:t>vest</a:t>
            </a:r>
            <a:r>
              <a:rPr sz="2800" spc="-60" dirty="0">
                <a:solidFill>
                  <a:srgbClr val="2B2C2D"/>
                </a:solidFill>
                <a:latin typeface="Arial MT"/>
                <a:cs typeface="Arial MT"/>
              </a:rPr>
              <a:t> </a:t>
            </a:r>
            <a:r>
              <a:rPr sz="2800" dirty="0">
                <a:solidFill>
                  <a:srgbClr val="2B2C2D"/>
                </a:solidFill>
                <a:latin typeface="Arial MT"/>
                <a:cs typeface="Arial MT"/>
              </a:rPr>
              <a:t>or</a:t>
            </a:r>
            <a:r>
              <a:rPr sz="2800" spc="-40" dirty="0">
                <a:solidFill>
                  <a:srgbClr val="2B2C2D"/>
                </a:solidFill>
                <a:latin typeface="Arial MT"/>
                <a:cs typeface="Arial MT"/>
              </a:rPr>
              <a:t> </a:t>
            </a:r>
            <a:r>
              <a:rPr sz="2800" dirty="0">
                <a:solidFill>
                  <a:srgbClr val="2B2C2D"/>
                </a:solidFill>
                <a:latin typeface="Arial MT"/>
                <a:cs typeface="Arial MT"/>
              </a:rPr>
              <a:t>are</a:t>
            </a:r>
            <a:r>
              <a:rPr sz="2800" spc="-40" dirty="0">
                <a:solidFill>
                  <a:srgbClr val="2B2C2D"/>
                </a:solidFill>
                <a:latin typeface="Arial MT"/>
                <a:cs typeface="Arial MT"/>
              </a:rPr>
              <a:t> </a:t>
            </a:r>
            <a:r>
              <a:rPr sz="2800" spc="-10" dirty="0">
                <a:solidFill>
                  <a:srgbClr val="2B2C2D"/>
                </a:solidFill>
                <a:latin typeface="Arial MT"/>
                <a:cs typeface="Arial MT"/>
              </a:rPr>
              <a:t>executed </a:t>
            </a:r>
            <a:r>
              <a:rPr sz="2800" dirty="0">
                <a:solidFill>
                  <a:srgbClr val="2B2C2D"/>
                </a:solidFill>
                <a:latin typeface="Arial MT"/>
                <a:cs typeface="Arial MT"/>
              </a:rPr>
              <a:t>upon</a:t>
            </a:r>
            <a:r>
              <a:rPr sz="2800" spc="-55" dirty="0">
                <a:solidFill>
                  <a:srgbClr val="2B2C2D"/>
                </a:solidFill>
                <a:latin typeface="Arial MT"/>
                <a:cs typeface="Arial MT"/>
              </a:rPr>
              <a:t> </a:t>
            </a:r>
            <a:r>
              <a:rPr sz="2800" b="1" dirty="0">
                <a:solidFill>
                  <a:srgbClr val="2B2C2D"/>
                </a:solidFill>
                <a:latin typeface="Arial"/>
                <a:cs typeface="Arial"/>
              </a:rPr>
              <a:t>specified</a:t>
            </a:r>
            <a:r>
              <a:rPr sz="2800" b="1" spc="-40" dirty="0">
                <a:solidFill>
                  <a:srgbClr val="2B2C2D"/>
                </a:solidFill>
                <a:latin typeface="Arial"/>
                <a:cs typeface="Arial"/>
              </a:rPr>
              <a:t> </a:t>
            </a:r>
            <a:r>
              <a:rPr sz="2800" b="1" dirty="0">
                <a:solidFill>
                  <a:srgbClr val="2B2C2D"/>
                </a:solidFill>
                <a:latin typeface="Arial"/>
                <a:cs typeface="Arial"/>
              </a:rPr>
              <a:t>sets</a:t>
            </a:r>
            <a:r>
              <a:rPr sz="2800" b="1" spc="-60" dirty="0">
                <a:solidFill>
                  <a:srgbClr val="2B2C2D"/>
                </a:solidFill>
                <a:latin typeface="Arial"/>
                <a:cs typeface="Arial"/>
              </a:rPr>
              <a:t> </a:t>
            </a:r>
            <a:r>
              <a:rPr sz="2800" dirty="0">
                <a:solidFill>
                  <a:srgbClr val="2B2C2D"/>
                </a:solidFill>
                <a:latin typeface="Arial MT"/>
                <a:cs typeface="Arial MT"/>
              </a:rPr>
              <a:t>of</a:t>
            </a:r>
            <a:r>
              <a:rPr sz="2800" spc="-70" dirty="0">
                <a:solidFill>
                  <a:srgbClr val="2B2C2D"/>
                </a:solidFill>
                <a:latin typeface="Arial MT"/>
                <a:cs typeface="Arial MT"/>
              </a:rPr>
              <a:t> </a:t>
            </a:r>
            <a:r>
              <a:rPr sz="2800" spc="-10" dirty="0">
                <a:solidFill>
                  <a:srgbClr val="2B2C2D"/>
                </a:solidFill>
                <a:latin typeface="Arial MT"/>
                <a:cs typeface="Arial MT"/>
              </a:rPr>
              <a:t>conditions.</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773034" cy="4263390"/>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2:</a:t>
            </a:r>
            <a:r>
              <a:rPr sz="2800" b="1" spc="-65" dirty="0">
                <a:solidFill>
                  <a:srgbClr val="00339F"/>
                </a:solidFill>
                <a:latin typeface="Arial"/>
                <a:cs typeface="Arial"/>
              </a:rPr>
              <a:t> </a:t>
            </a:r>
            <a:r>
              <a:rPr sz="2800" b="1" spc="-10" dirty="0">
                <a:solidFill>
                  <a:srgbClr val="00339F"/>
                </a:solidFill>
                <a:latin typeface="Arial"/>
                <a:cs typeface="Arial"/>
              </a:rPr>
              <a:t>Conditions</a:t>
            </a:r>
            <a:endParaRPr sz="2800">
              <a:latin typeface="Arial"/>
              <a:cs typeface="Arial"/>
            </a:endParaRPr>
          </a:p>
          <a:p>
            <a:pPr>
              <a:lnSpc>
                <a:spcPct val="100000"/>
              </a:lnSpc>
              <a:spcBef>
                <a:spcPts val="270"/>
              </a:spcBef>
            </a:pPr>
            <a:endParaRPr sz="2800">
              <a:latin typeface="Arial"/>
              <a:cs typeface="Arial"/>
            </a:endParaRPr>
          </a:p>
          <a:p>
            <a:pPr marL="471170">
              <a:lnSpc>
                <a:spcPct val="100000"/>
              </a:lnSpc>
            </a:pPr>
            <a:r>
              <a:rPr sz="2800" dirty="0">
                <a:solidFill>
                  <a:srgbClr val="2B2C2D"/>
                </a:solidFill>
                <a:latin typeface="Arial MT"/>
                <a:cs typeface="Arial MT"/>
              </a:rPr>
              <a:t>The</a:t>
            </a:r>
            <a:r>
              <a:rPr sz="2800" spc="-55" dirty="0">
                <a:solidFill>
                  <a:srgbClr val="2B2C2D"/>
                </a:solidFill>
                <a:latin typeface="Arial MT"/>
                <a:cs typeface="Arial MT"/>
              </a:rPr>
              <a:t> </a:t>
            </a:r>
            <a:r>
              <a:rPr sz="2800" dirty="0">
                <a:solidFill>
                  <a:srgbClr val="2B2C2D"/>
                </a:solidFill>
                <a:latin typeface="Arial MT"/>
                <a:cs typeface="Arial MT"/>
              </a:rPr>
              <a:t>parties</a:t>
            </a:r>
            <a:r>
              <a:rPr sz="2800" spc="-75" dirty="0">
                <a:solidFill>
                  <a:srgbClr val="2B2C2D"/>
                </a:solidFill>
                <a:latin typeface="Arial MT"/>
                <a:cs typeface="Arial MT"/>
              </a:rPr>
              <a:t> </a:t>
            </a:r>
            <a:r>
              <a:rPr sz="2800" b="1" dirty="0">
                <a:solidFill>
                  <a:srgbClr val="2B2C2D"/>
                </a:solidFill>
                <a:latin typeface="Arial"/>
                <a:cs typeface="Arial"/>
              </a:rPr>
              <a:t>must</a:t>
            </a:r>
            <a:r>
              <a:rPr sz="2800" b="1" spc="-45" dirty="0">
                <a:solidFill>
                  <a:srgbClr val="2B2C2D"/>
                </a:solidFill>
                <a:latin typeface="Arial"/>
                <a:cs typeface="Arial"/>
              </a:rPr>
              <a:t> </a:t>
            </a:r>
            <a:r>
              <a:rPr sz="2800" b="1" spc="-20" dirty="0">
                <a:solidFill>
                  <a:srgbClr val="2B2C2D"/>
                </a:solidFill>
                <a:latin typeface="Arial"/>
                <a:cs typeface="Arial"/>
              </a:rPr>
              <a:t>set</a:t>
            </a:r>
            <a:r>
              <a:rPr sz="2800" spc="-20" dirty="0">
                <a:solidFill>
                  <a:srgbClr val="2B2C2D"/>
                </a:solidFill>
                <a:latin typeface="Arial MT"/>
                <a:cs typeface="Arial MT"/>
              </a:rPr>
              <a:t>:</a:t>
            </a:r>
            <a:endParaRPr sz="2800">
              <a:latin typeface="Arial MT"/>
              <a:cs typeface="Arial MT"/>
            </a:endParaRPr>
          </a:p>
          <a:p>
            <a:pPr marL="928369" marR="742950" indent="-457200">
              <a:lnSpc>
                <a:spcPct val="100000"/>
              </a:lnSpc>
              <a:spcBef>
                <a:spcPts val="1000"/>
              </a:spcBef>
              <a:buClr>
                <a:srgbClr val="6D2C91"/>
              </a:buClr>
              <a:buFont typeface="Wingdings"/>
              <a:buChar char=""/>
              <a:tabLst>
                <a:tab pos="928369" algn="l"/>
              </a:tabLst>
            </a:pPr>
            <a:r>
              <a:rPr sz="2800" b="1" dirty="0">
                <a:solidFill>
                  <a:srgbClr val="2B2C2D"/>
                </a:solidFill>
                <a:latin typeface="Arial"/>
                <a:cs typeface="Arial"/>
              </a:rPr>
              <a:t>All</a:t>
            </a:r>
            <a:r>
              <a:rPr sz="2800" b="1" spc="-60" dirty="0">
                <a:solidFill>
                  <a:srgbClr val="2B2C2D"/>
                </a:solidFill>
                <a:latin typeface="Arial"/>
                <a:cs typeface="Arial"/>
              </a:rPr>
              <a:t> </a:t>
            </a:r>
            <a:r>
              <a:rPr sz="2800" b="1" dirty="0">
                <a:solidFill>
                  <a:srgbClr val="2B2C2D"/>
                </a:solidFill>
                <a:latin typeface="Arial"/>
                <a:cs typeface="Arial"/>
              </a:rPr>
              <a:t>of</a:t>
            </a:r>
            <a:r>
              <a:rPr sz="2800" b="1" spc="-35" dirty="0">
                <a:solidFill>
                  <a:srgbClr val="2B2C2D"/>
                </a:solidFill>
                <a:latin typeface="Arial"/>
                <a:cs typeface="Arial"/>
              </a:rPr>
              <a:t> </a:t>
            </a:r>
            <a:r>
              <a:rPr sz="2800" b="1" dirty="0">
                <a:solidFill>
                  <a:srgbClr val="2B2C2D"/>
                </a:solidFill>
                <a:latin typeface="Arial"/>
                <a:cs typeface="Arial"/>
              </a:rPr>
              <a:t>the</a:t>
            </a:r>
            <a:r>
              <a:rPr sz="2800" b="1" spc="-35" dirty="0">
                <a:solidFill>
                  <a:srgbClr val="2B2C2D"/>
                </a:solidFill>
                <a:latin typeface="Arial"/>
                <a:cs typeface="Arial"/>
              </a:rPr>
              <a:t> </a:t>
            </a:r>
            <a:r>
              <a:rPr sz="2800" b="1" dirty="0">
                <a:solidFill>
                  <a:srgbClr val="2B2C2D"/>
                </a:solidFill>
                <a:latin typeface="Arial"/>
                <a:cs typeface="Arial"/>
              </a:rPr>
              <a:t>conditions</a:t>
            </a:r>
            <a:r>
              <a:rPr sz="2800" b="1" spc="-25" dirty="0">
                <a:solidFill>
                  <a:srgbClr val="2B2C2D"/>
                </a:solidFill>
                <a:latin typeface="Arial"/>
                <a:cs typeface="Arial"/>
              </a:rPr>
              <a:t> </a:t>
            </a:r>
            <a:r>
              <a:rPr sz="2800" dirty="0">
                <a:solidFill>
                  <a:srgbClr val="2B2C2D"/>
                </a:solidFill>
                <a:latin typeface="Arial MT"/>
                <a:cs typeface="Arial MT"/>
              </a:rPr>
              <a:t>to</a:t>
            </a:r>
            <a:r>
              <a:rPr sz="2800" spc="-50" dirty="0">
                <a:solidFill>
                  <a:srgbClr val="2B2C2D"/>
                </a:solidFill>
                <a:latin typeface="Arial MT"/>
                <a:cs typeface="Arial MT"/>
              </a:rPr>
              <a:t> </a:t>
            </a:r>
            <a:r>
              <a:rPr sz="2800" dirty="0">
                <a:solidFill>
                  <a:srgbClr val="2B2C2D"/>
                </a:solidFill>
                <a:latin typeface="Arial MT"/>
                <a:cs typeface="Arial MT"/>
              </a:rPr>
              <a:t>be</a:t>
            </a:r>
            <a:r>
              <a:rPr sz="2800" spc="-45" dirty="0">
                <a:solidFill>
                  <a:srgbClr val="2B2C2D"/>
                </a:solidFill>
                <a:latin typeface="Arial MT"/>
                <a:cs typeface="Arial MT"/>
              </a:rPr>
              <a:t> </a:t>
            </a:r>
            <a:r>
              <a:rPr sz="2800" spc="-10" dirty="0">
                <a:solidFill>
                  <a:srgbClr val="2B2C2D"/>
                </a:solidFill>
                <a:latin typeface="Arial MT"/>
                <a:cs typeface="Arial MT"/>
              </a:rPr>
              <a:t>automated </a:t>
            </a:r>
            <a:r>
              <a:rPr sz="2800" dirty="0">
                <a:solidFill>
                  <a:srgbClr val="2B2C2D"/>
                </a:solidFill>
                <a:latin typeface="Arial MT"/>
                <a:cs typeface="Arial MT"/>
              </a:rPr>
              <a:t>under</a:t>
            </a:r>
            <a:r>
              <a:rPr sz="2800" spc="-45" dirty="0">
                <a:solidFill>
                  <a:srgbClr val="2B2C2D"/>
                </a:solidFill>
                <a:latin typeface="Arial MT"/>
                <a:cs typeface="Arial MT"/>
              </a:rPr>
              <a:t> </a:t>
            </a:r>
            <a:r>
              <a:rPr sz="2800" dirty="0">
                <a:solidFill>
                  <a:srgbClr val="2B2C2D"/>
                </a:solidFill>
                <a:latin typeface="Arial MT"/>
                <a:cs typeface="Arial MT"/>
              </a:rPr>
              <a:t>their</a:t>
            </a:r>
            <a:r>
              <a:rPr sz="2800" spc="-60" dirty="0">
                <a:solidFill>
                  <a:srgbClr val="2B2C2D"/>
                </a:solidFill>
                <a:latin typeface="Arial MT"/>
                <a:cs typeface="Arial MT"/>
              </a:rPr>
              <a:t> </a:t>
            </a:r>
            <a:r>
              <a:rPr sz="2800" spc="-10" dirty="0">
                <a:solidFill>
                  <a:srgbClr val="2B2C2D"/>
                </a:solidFill>
                <a:latin typeface="Arial MT"/>
                <a:cs typeface="Arial MT"/>
              </a:rPr>
              <a:t>agreement</a:t>
            </a:r>
            <a:endParaRPr sz="2800">
              <a:latin typeface="Arial MT"/>
              <a:cs typeface="Arial MT"/>
            </a:endParaRPr>
          </a:p>
          <a:p>
            <a:pPr marL="928369" marR="1454150" indent="-457200">
              <a:lnSpc>
                <a:spcPct val="100000"/>
              </a:lnSpc>
              <a:spcBef>
                <a:spcPts val="1005"/>
              </a:spcBef>
              <a:buClr>
                <a:srgbClr val="6D2C91"/>
              </a:buClr>
              <a:buFont typeface="Wingdings"/>
              <a:buChar char=""/>
              <a:tabLst>
                <a:tab pos="928369" algn="l"/>
              </a:tabLst>
            </a:pPr>
            <a:r>
              <a:rPr sz="2800" dirty="0">
                <a:solidFill>
                  <a:srgbClr val="2B2C2D"/>
                </a:solidFill>
                <a:latin typeface="Arial MT"/>
                <a:cs typeface="Arial MT"/>
              </a:rPr>
              <a:t>All</a:t>
            </a:r>
            <a:r>
              <a:rPr sz="2800" spc="-55" dirty="0">
                <a:solidFill>
                  <a:srgbClr val="2B2C2D"/>
                </a:solidFill>
                <a:latin typeface="Arial MT"/>
                <a:cs typeface="Arial MT"/>
              </a:rPr>
              <a:t> </a:t>
            </a:r>
            <a:r>
              <a:rPr sz="2800" b="1" dirty="0">
                <a:solidFill>
                  <a:srgbClr val="2B2C2D"/>
                </a:solidFill>
                <a:latin typeface="Arial"/>
                <a:cs typeface="Arial"/>
              </a:rPr>
              <a:t>permutations</a:t>
            </a:r>
            <a:r>
              <a:rPr sz="2800" b="1" spc="-20" dirty="0">
                <a:solidFill>
                  <a:srgbClr val="2B2C2D"/>
                </a:solidFill>
                <a:latin typeface="Arial"/>
                <a:cs typeface="Arial"/>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dirty="0">
                <a:solidFill>
                  <a:srgbClr val="2B2C2D"/>
                </a:solidFill>
                <a:latin typeface="Arial MT"/>
                <a:cs typeface="Arial MT"/>
              </a:rPr>
              <a:t>each</a:t>
            </a:r>
            <a:r>
              <a:rPr sz="2800" spc="-5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spc="-10" dirty="0">
                <a:solidFill>
                  <a:srgbClr val="2B2C2D"/>
                </a:solidFill>
                <a:latin typeface="Arial MT"/>
                <a:cs typeface="Arial MT"/>
              </a:rPr>
              <a:t>those conditions</a:t>
            </a:r>
            <a:endParaRPr sz="2800">
              <a:latin typeface="Arial MT"/>
              <a:cs typeface="Arial MT"/>
            </a:endParaRPr>
          </a:p>
          <a:p>
            <a:pPr marL="928369" marR="803275" indent="-457200">
              <a:lnSpc>
                <a:spcPct val="100000"/>
              </a:lnSpc>
              <a:spcBef>
                <a:spcPts val="994"/>
              </a:spcBef>
              <a:buClr>
                <a:srgbClr val="6D2C91"/>
              </a:buClr>
              <a:buFont typeface="Wingdings"/>
              <a:buChar char=""/>
              <a:tabLst>
                <a:tab pos="928369" algn="l"/>
              </a:tabLst>
            </a:pPr>
            <a:r>
              <a:rPr sz="2800" dirty="0">
                <a:solidFill>
                  <a:srgbClr val="2B2C2D"/>
                </a:solidFill>
                <a:latin typeface="Arial MT"/>
                <a:cs typeface="Arial MT"/>
              </a:rPr>
              <a:t>The</a:t>
            </a:r>
            <a:r>
              <a:rPr sz="2800" spc="-70" dirty="0">
                <a:solidFill>
                  <a:srgbClr val="2B2C2D"/>
                </a:solidFill>
                <a:latin typeface="Arial MT"/>
                <a:cs typeface="Arial MT"/>
              </a:rPr>
              <a:t> </a:t>
            </a:r>
            <a:r>
              <a:rPr sz="2800" b="1" dirty="0">
                <a:solidFill>
                  <a:srgbClr val="2B2C2D"/>
                </a:solidFill>
                <a:latin typeface="Arial"/>
                <a:cs typeface="Arial"/>
              </a:rPr>
              <a:t>intended</a:t>
            </a:r>
            <a:r>
              <a:rPr sz="2800" b="1" spc="-65" dirty="0">
                <a:solidFill>
                  <a:srgbClr val="2B2C2D"/>
                </a:solidFill>
                <a:latin typeface="Arial"/>
                <a:cs typeface="Arial"/>
              </a:rPr>
              <a:t> </a:t>
            </a:r>
            <a:r>
              <a:rPr sz="2800" b="1" dirty="0">
                <a:solidFill>
                  <a:srgbClr val="2B2C2D"/>
                </a:solidFill>
                <a:latin typeface="Arial"/>
                <a:cs typeface="Arial"/>
              </a:rPr>
              <a:t>result</a:t>
            </a:r>
            <a:r>
              <a:rPr sz="2800" b="1" spc="-80" dirty="0">
                <a:solidFill>
                  <a:srgbClr val="2B2C2D"/>
                </a:solidFill>
                <a:latin typeface="Arial"/>
                <a:cs typeface="Arial"/>
              </a:rPr>
              <a:t> </a:t>
            </a:r>
            <a:r>
              <a:rPr sz="2800" b="1" dirty="0">
                <a:solidFill>
                  <a:srgbClr val="2B2C2D"/>
                </a:solidFill>
                <a:latin typeface="Arial"/>
                <a:cs typeface="Arial"/>
              </a:rPr>
              <a:t>or</a:t>
            </a:r>
            <a:r>
              <a:rPr sz="2800" b="1" spc="-75" dirty="0">
                <a:solidFill>
                  <a:srgbClr val="2B2C2D"/>
                </a:solidFill>
                <a:latin typeface="Arial"/>
                <a:cs typeface="Arial"/>
              </a:rPr>
              <a:t> </a:t>
            </a:r>
            <a:r>
              <a:rPr sz="2800" b="1" dirty="0">
                <a:solidFill>
                  <a:srgbClr val="2B2C2D"/>
                </a:solidFill>
                <a:latin typeface="Arial"/>
                <a:cs typeface="Arial"/>
              </a:rPr>
              <a:t>instruction</a:t>
            </a:r>
            <a:r>
              <a:rPr sz="2800" b="1" spc="-70" dirty="0">
                <a:solidFill>
                  <a:srgbClr val="2B2C2D"/>
                </a:solidFill>
                <a:latin typeface="Arial"/>
                <a:cs typeface="Arial"/>
              </a:rPr>
              <a:t> </a:t>
            </a:r>
            <a:r>
              <a:rPr sz="2800" spc="-25" dirty="0">
                <a:solidFill>
                  <a:srgbClr val="2B2C2D"/>
                </a:solidFill>
                <a:latin typeface="Arial MT"/>
                <a:cs typeface="Arial MT"/>
              </a:rPr>
              <a:t>in </a:t>
            </a:r>
            <a:r>
              <a:rPr sz="2800" dirty="0">
                <a:solidFill>
                  <a:srgbClr val="2B2C2D"/>
                </a:solidFill>
                <a:latin typeface="Arial MT"/>
                <a:cs typeface="Arial MT"/>
              </a:rPr>
              <a:t>each</a:t>
            </a:r>
            <a:r>
              <a:rPr sz="2800" spc="-50" dirty="0">
                <a:solidFill>
                  <a:srgbClr val="2B2C2D"/>
                </a:solidFill>
                <a:latin typeface="Arial MT"/>
                <a:cs typeface="Arial MT"/>
              </a:rPr>
              <a:t> </a:t>
            </a:r>
            <a:r>
              <a:rPr sz="2800" spc="-20" dirty="0">
                <a:solidFill>
                  <a:srgbClr val="2B2C2D"/>
                </a:solidFill>
                <a:latin typeface="Arial MT"/>
                <a:cs typeface="Arial MT"/>
              </a:rPr>
              <a:t>case.</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773034" cy="481647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2:</a:t>
            </a:r>
            <a:r>
              <a:rPr sz="2800" b="1" spc="-65" dirty="0">
                <a:solidFill>
                  <a:srgbClr val="00339F"/>
                </a:solidFill>
                <a:latin typeface="Arial"/>
                <a:cs typeface="Arial"/>
              </a:rPr>
              <a:t> </a:t>
            </a:r>
            <a:r>
              <a:rPr sz="2800" b="1" spc="-10" dirty="0">
                <a:solidFill>
                  <a:srgbClr val="00339F"/>
                </a:solidFill>
                <a:latin typeface="Arial"/>
                <a:cs typeface="Arial"/>
              </a:rPr>
              <a:t>Conditions</a:t>
            </a:r>
            <a:endParaRPr sz="2800">
              <a:latin typeface="Arial"/>
              <a:cs typeface="Arial"/>
            </a:endParaRPr>
          </a:p>
          <a:p>
            <a:pPr>
              <a:lnSpc>
                <a:spcPct val="100000"/>
              </a:lnSpc>
              <a:spcBef>
                <a:spcPts val="270"/>
              </a:spcBef>
            </a:pPr>
            <a:endParaRPr sz="2800">
              <a:latin typeface="Arial"/>
              <a:cs typeface="Arial"/>
            </a:endParaRPr>
          </a:p>
          <a:p>
            <a:pPr marL="471170" marR="860425">
              <a:lnSpc>
                <a:spcPct val="100000"/>
              </a:lnSpc>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set</a:t>
            </a:r>
            <a:r>
              <a:rPr sz="2800" spc="-60" dirty="0">
                <a:solidFill>
                  <a:srgbClr val="2B2C2D"/>
                </a:solidFill>
                <a:latin typeface="Arial MT"/>
                <a:cs typeface="Arial MT"/>
              </a:rPr>
              <a:t> </a:t>
            </a:r>
            <a:r>
              <a:rPr sz="2800" dirty="0">
                <a:solidFill>
                  <a:srgbClr val="2B2C2D"/>
                </a:solidFill>
                <a:latin typeface="Arial MT"/>
                <a:cs typeface="Arial MT"/>
              </a:rPr>
              <a:t>conditions</a:t>
            </a:r>
            <a:r>
              <a:rPr sz="2800" spc="-55" dirty="0">
                <a:solidFill>
                  <a:srgbClr val="2B2C2D"/>
                </a:solidFill>
                <a:latin typeface="Arial MT"/>
                <a:cs typeface="Arial MT"/>
              </a:rPr>
              <a:t> </a:t>
            </a:r>
            <a:r>
              <a:rPr sz="2800" dirty="0">
                <a:solidFill>
                  <a:srgbClr val="2B2C2D"/>
                </a:solidFill>
                <a:latin typeface="Arial MT"/>
                <a:cs typeface="Arial MT"/>
              </a:rPr>
              <a:t>can</a:t>
            </a:r>
            <a:r>
              <a:rPr sz="2800" spc="-45" dirty="0">
                <a:solidFill>
                  <a:srgbClr val="2B2C2D"/>
                </a:solidFill>
                <a:latin typeface="Arial MT"/>
                <a:cs typeface="Arial MT"/>
              </a:rPr>
              <a:t> </a:t>
            </a:r>
            <a:r>
              <a:rPr sz="2800" dirty="0">
                <a:solidFill>
                  <a:srgbClr val="2B2C2D"/>
                </a:solidFill>
                <a:latin typeface="Arial MT"/>
                <a:cs typeface="Arial MT"/>
              </a:rPr>
              <a:t>be</a:t>
            </a:r>
            <a:r>
              <a:rPr sz="2800" spc="-55" dirty="0">
                <a:solidFill>
                  <a:srgbClr val="2B2C2D"/>
                </a:solidFill>
                <a:latin typeface="Arial MT"/>
                <a:cs typeface="Arial MT"/>
              </a:rPr>
              <a:t> </a:t>
            </a:r>
            <a:r>
              <a:rPr sz="2800" b="1" dirty="0">
                <a:solidFill>
                  <a:srgbClr val="2B2C2D"/>
                </a:solidFill>
                <a:latin typeface="Arial"/>
                <a:cs typeface="Arial"/>
              </a:rPr>
              <a:t>internal</a:t>
            </a:r>
            <a:r>
              <a:rPr sz="2800" b="1" spc="-50" dirty="0">
                <a:solidFill>
                  <a:srgbClr val="2B2C2D"/>
                </a:solidFill>
                <a:latin typeface="Arial"/>
                <a:cs typeface="Arial"/>
              </a:rPr>
              <a:t> </a:t>
            </a:r>
            <a:r>
              <a:rPr sz="2800" dirty="0">
                <a:solidFill>
                  <a:srgbClr val="2B2C2D"/>
                </a:solidFill>
                <a:latin typeface="Arial MT"/>
                <a:cs typeface="Arial MT"/>
              </a:rPr>
              <a:t>to</a:t>
            </a:r>
            <a:r>
              <a:rPr sz="2800" spc="-50" dirty="0">
                <a:solidFill>
                  <a:srgbClr val="2B2C2D"/>
                </a:solidFill>
                <a:latin typeface="Arial MT"/>
                <a:cs typeface="Arial MT"/>
              </a:rPr>
              <a:t> </a:t>
            </a:r>
            <a:r>
              <a:rPr sz="2800" spc="-25" dirty="0">
                <a:solidFill>
                  <a:srgbClr val="2B2C2D"/>
                </a:solidFill>
                <a:latin typeface="Arial MT"/>
                <a:cs typeface="Arial MT"/>
              </a:rPr>
              <a:t>the </a:t>
            </a:r>
            <a:r>
              <a:rPr sz="2800" spc="-10" dirty="0">
                <a:solidFill>
                  <a:srgbClr val="2B2C2D"/>
                </a:solidFill>
                <a:latin typeface="Arial MT"/>
                <a:cs typeface="Arial MT"/>
              </a:rPr>
              <a:t>contract:</a:t>
            </a:r>
            <a:endParaRPr sz="2800">
              <a:latin typeface="Arial MT"/>
              <a:cs typeface="Arial MT"/>
            </a:endParaRPr>
          </a:p>
          <a:p>
            <a:pPr marL="928369" marR="149606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The</a:t>
            </a:r>
            <a:r>
              <a:rPr sz="2800" spc="-75" dirty="0">
                <a:solidFill>
                  <a:srgbClr val="2B2C2D"/>
                </a:solidFill>
                <a:latin typeface="Arial MT"/>
                <a:cs typeface="Arial MT"/>
              </a:rPr>
              <a:t> </a:t>
            </a:r>
            <a:r>
              <a:rPr sz="2800" b="1" dirty="0">
                <a:solidFill>
                  <a:srgbClr val="2B2C2D"/>
                </a:solidFill>
                <a:latin typeface="Arial"/>
                <a:cs typeface="Arial"/>
              </a:rPr>
              <a:t>manufacture</a:t>
            </a:r>
            <a:r>
              <a:rPr sz="2800" b="1" spc="-65" dirty="0">
                <a:solidFill>
                  <a:srgbClr val="2B2C2D"/>
                </a:solidFill>
                <a:latin typeface="Arial"/>
                <a:cs typeface="Arial"/>
              </a:rPr>
              <a:t> </a:t>
            </a:r>
            <a:r>
              <a:rPr sz="2800" b="1" dirty="0">
                <a:solidFill>
                  <a:srgbClr val="2B2C2D"/>
                </a:solidFill>
                <a:latin typeface="Arial"/>
                <a:cs typeface="Arial"/>
              </a:rPr>
              <a:t>or</a:t>
            </a:r>
            <a:r>
              <a:rPr sz="2800" b="1" spc="-85" dirty="0">
                <a:solidFill>
                  <a:srgbClr val="2B2C2D"/>
                </a:solidFill>
                <a:latin typeface="Arial"/>
                <a:cs typeface="Arial"/>
              </a:rPr>
              <a:t> </a:t>
            </a:r>
            <a:r>
              <a:rPr sz="2800" b="1" dirty="0">
                <a:solidFill>
                  <a:srgbClr val="2B2C2D"/>
                </a:solidFill>
                <a:latin typeface="Arial"/>
                <a:cs typeface="Arial"/>
              </a:rPr>
              <a:t>shipping</a:t>
            </a:r>
            <a:r>
              <a:rPr sz="2800" b="1" spc="-60" dirty="0">
                <a:solidFill>
                  <a:srgbClr val="2B2C2D"/>
                </a:solidFill>
                <a:latin typeface="Arial"/>
                <a:cs typeface="Arial"/>
              </a:rPr>
              <a:t> </a:t>
            </a:r>
            <a:r>
              <a:rPr sz="2800" b="1" spc="-25" dirty="0">
                <a:solidFill>
                  <a:srgbClr val="2B2C2D"/>
                </a:solidFill>
                <a:latin typeface="Arial"/>
                <a:cs typeface="Arial"/>
              </a:rPr>
              <a:t>or </a:t>
            </a:r>
            <a:r>
              <a:rPr sz="2800" b="1" dirty="0">
                <a:solidFill>
                  <a:srgbClr val="2B2C2D"/>
                </a:solidFill>
                <a:latin typeface="Arial"/>
                <a:cs typeface="Arial"/>
              </a:rPr>
              <a:t>delivery</a:t>
            </a:r>
            <a:r>
              <a:rPr sz="2800" b="1" spc="-35" dirty="0">
                <a:solidFill>
                  <a:srgbClr val="2B2C2D"/>
                </a:solidFill>
                <a:latin typeface="Arial"/>
                <a:cs typeface="Arial"/>
              </a:rPr>
              <a:t> </a:t>
            </a:r>
            <a:r>
              <a:rPr sz="2800" dirty="0">
                <a:solidFill>
                  <a:srgbClr val="2B2C2D"/>
                </a:solidFill>
                <a:latin typeface="Arial MT"/>
                <a:cs typeface="Arial MT"/>
              </a:rPr>
              <a:t>of</a:t>
            </a:r>
            <a:r>
              <a:rPr sz="2800" spc="-40" dirty="0">
                <a:solidFill>
                  <a:srgbClr val="2B2C2D"/>
                </a:solidFill>
                <a:latin typeface="Arial MT"/>
                <a:cs typeface="Arial MT"/>
              </a:rPr>
              <a:t> </a:t>
            </a:r>
            <a:r>
              <a:rPr sz="2800" dirty="0">
                <a:solidFill>
                  <a:srgbClr val="2B2C2D"/>
                </a:solidFill>
                <a:latin typeface="Arial MT"/>
                <a:cs typeface="Arial MT"/>
              </a:rPr>
              <a:t>a</a:t>
            </a:r>
            <a:r>
              <a:rPr sz="2800" spc="-35" dirty="0">
                <a:solidFill>
                  <a:srgbClr val="2B2C2D"/>
                </a:solidFill>
                <a:latin typeface="Arial MT"/>
                <a:cs typeface="Arial MT"/>
              </a:rPr>
              <a:t> </a:t>
            </a:r>
            <a:r>
              <a:rPr sz="2800" spc="-10" dirty="0">
                <a:solidFill>
                  <a:srgbClr val="2B2C2D"/>
                </a:solidFill>
                <a:latin typeface="Arial MT"/>
                <a:cs typeface="Arial MT"/>
              </a:rPr>
              <a:t>product</a:t>
            </a:r>
            <a:endParaRPr sz="2800">
              <a:latin typeface="Arial MT"/>
              <a:cs typeface="Arial MT"/>
            </a:endParaRPr>
          </a:p>
          <a:p>
            <a:pPr marL="928369" indent="-457200">
              <a:lnSpc>
                <a:spcPct val="100000"/>
              </a:lnSpc>
              <a:spcBef>
                <a:spcPts val="1005"/>
              </a:spcBef>
              <a:buClr>
                <a:srgbClr val="6D2C91"/>
              </a:buClr>
              <a:buFont typeface="Wingdings"/>
              <a:buChar char=""/>
              <a:tabLst>
                <a:tab pos="928369" algn="l"/>
              </a:tabLst>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schedule</a:t>
            </a:r>
            <a:r>
              <a:rPr sz="2800" spc="-5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b="1" dirty="0">
                <a:solidFill>
                  <a:srgbClr val="2B2C2D"/>
                </a:solidFill>
                <a:latin typeface="Arial"/>
                <a:cs typeface="Arial"/>
              </a:rPr>
              <a:t>due</a:t>
            </a:r>
            <a:r>
              <a:rPr sz="2800" b="1" spc="-20" dirty="0">
                <a:solidFill>
                  <a:srgbClr val="2B2C2D"/>
                </a:solidFill>
                <a:latin typeface="Arial"/>
                <a:cs typeface="Arial"/>
              </a:rPr>
              <a:t> </a:t>
            </a:r>
            <a:r>
              <a:rPr sz="2800" b="1" dirty="0">
                <a:solidFill>
                  <a:srgbClr val="2B2C2D"/>
                </a:solidFill>
                <a:latin typeface="Arial"/>
                <a:cs typeface="Arial"/>
              </a:rPr>
              <a:t>dates</a:t>
            </a:r>
            <a:r>
              <a:rPr sz="2800" b="1" spc="-30" dirty="0">
                <a:solidFill>
                  <a:srgbClr val="2B2C2D"/>
                </a:solidFill>
                <a:latin typeface="Arial"/>
                <a:cs typeface="Arial"/>
              </a:rPr>
              <a:t> </a:t>
            </a:r>
            <a:r>
              <a:rPr sz="2800" dirty="0">
                <a:solidFill>
                  <a:srgbClr val="2B2C2D"/>
                </a:solidFill>
                <a:latin typeface="Arial MT"/>
                <a:cs typeface="Arial MT"/>
              </a:rPr>
              <a:t>for</a:t>
            </a:r>
            <a:r>
              <a:rPr sz="2800" spc="-50" dirty="0">
                <a:solidFill>
                  <a:srgbClr val="2B2C2D"/>
                </a:solidFill>
                <a:latin typeface="Arial MT"/>
                <a:cs typeface="Arial MT"/>
              </a:rPr>
              <a:t> </a:t>
            </a:r>
            <a:r>
              <a:rPr sz="2800" spc="-10" dirty="0">
                <a:solidFill>
                  <a:srgbClr val="2B2C2D"/>
                </a:solidFill>
                <a:latin typeface="Arial MT"/>
                <a:cs typeface="Arial MT"/>
              </a:rPr>
              <a:t>payments</a:t>
            </a:r>
            <a:endParaRPr sz="2800">
              <a:latin typeface="Arial MT"/>
              <a:cs typeface="Arial MT"/>
            </a:endParaRPr>
          </a:p>
          <a:p>
            <a:pPr marL="928369" marR="1610995" indent="-457200">
              <a:lnSpc>
                <a:spcPct val="100000"/>
              </a:lnSpc>
              <a:spcBef>
                <a:spcPts val="994"/>
              </a:spcBef>
              <a:buClr>
                <a:srgbClr val="6D2C91"/>
              </a:buClr>
              <a:buFont typeface="Wingdings"/>
              <a:buChar char=""/>
              <a:tabLst>
                <a:tab pos="928369" algn="l"/>
              </a:tabLst>
            </a:pPr>
            <a:r>
              <a:rPr sz="2800" b="1" dirty="0">
                <a:solidFill>
                  <a:srgbClr val="2B2C2D"/>
                </a:solidFill>
                <a:latin typeface="Arial"/>
                <a:cs typeface="Arial"/>
              </a:rPr>
              <a:t>Expiration</a:t>
            </a:r>
            <a:r>
              <a:rPr sz="2800" b="1" spc="-60" dirty="0">
                <a:solidFill>
                  <a:srgbClr val="2B2C2D"/>
                </a:solidFill>
                <a:latin typeface="Arial"/>
                <a:cs typeface="Arial"/>
              </a:rPr>
              <a:t> </a:t>
            </a:r>
            <a:r>
              <a:rPr sz="2800" dirty="0">
                <a:solidFill>
                  <a:srgbClr val="2B2C2D"/>
                </a:solidFill>
                <a:latin typeface="Arial MT"/>
                <a:cs typeface="Arial MT"/>
              </a:rPr>
              <a:t>of</a:t>
            </a:r>
            <a:r>
              <a:rPr sz="2800" spc="-65" dirty="0">
                <a:solidFill>
                  <a:srgbClr val="2B2C2D"/>
                </a:solidFill>
                <a:latin typeface="Arial MT"/>
                <a:cs typeface="Arial MT"/>
              </a:rPr>
              <a:t> </a:t>
            </a:r>
            <a:r>
              <a:rPr sz="2800" dirty="0">
                <a:solidFill>
                  <a:srgbClr val="2B2C2D"/>
                </a:solidFill>
                <a:latin typeface="Arial MT"/>
                <a:cs typeface="Arial MT"/>
              </a:rPr>
              <a:t>inspection</a:t>
            </a:r>
            <a:r>
              <a:rPr sz="2800" spc="-80" dirty="0">
                <a:solidFill>
                  <a:srgbClr val="2B2C2D"/>
                </a:solidFill>
                <a:latin typeface="Arial MT"/>
                <a:cs typeface="Arial MT"/>
              </a:rPr>
              <a:t> </a:t>
            </a:r>
            <a:r>
              <a:rPr sz="2800" dirty="0">
                <a:solidFill>
                  <a:srgbClr val="2B2C2D"/>
                </a:solidFill>
                <a:latin typeface="Arial MT"/>
                <a:cs typeface="Arial MT"/>
              </a:rPr>
              <a:t>rights</a:t>
            </a:r>
            <a:r>
              <a:rPr sz="2800" spc="-70" dirty="0">
                <a:solidFill>
                  <a:srgbClr val="2B2C2D"/>
                </a:solidFill>
                <a:latin typeface="Arial MT"/>
                <a:cs typeface="Arial MT"/>
              </a:rPr>
              <a:t> </a:t>
            </a:r>
            <a:r>
              <a:rPr sz="2800" spc="-25" dirty="0">
                <a:solidFill>
                  <a:srgbClr val="2B2C2D"/>
                </a:solidFill>
                <a:latin typeface="Arial MT"/>
                <a:cs typeface="Arial MT"/>
              </a:rPr>
              <a:t>or </a:t>
            </a:r>
            <a:r>
              <a:rPr sz="2800" spc="-10" dirty="0">
                <a:solidFill>
                  <a:srgbClr val="2B2C2D"/>
                </a:solidFill>
                <a:latin typeface="Arial MT"/>
                <a:cs typeface="Arial MT"/>
              </a:rPr>
              <a:t>warranties</a:t>
            </a:r>
            <a:endParaRPr sz="2800">
              <a:latin typeface="Arial MT"/>
              <a:cs typeface="Arial MT"/>
            </a:endParaRPr>
          </a:p>
          <a:p>
            <a:pPr marL="928369"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form</a:t>
            </a:r>
            <a:r>
              <a:rPr sz="2800" spc="-40" dirty="0">
                <a:solidFill>
                  <a:srgbClr val="2B2C2D"/>
                </a:solidFill>
                <a:latin typeface="Arial MT"/>
                <a:cs typeface="Arial MT"/>
              </a:rPr>
              <a:t> </a:t>
            </a:r>
            <a:r>
              <a:rPr sz="2800" dirty="0">
                <a:solidFill>
                  <a:srgbClr val="2B2C2D"/>
                </a:solidFill>
                <a:latin typeface="Arial MT"/>
                <a:cs typeface="Arial MT"/>
              </a:rPr>
              <a:t>of</a:t>
            </a:r>
            <a:r>
              <a:rPr sz="2800" spc="-35" dirty="0">
                <a:solidFill>
                  <a:srgbClr val="2B2C2D"/>
                </a:solidFill>
                <a:latin typeface="Arial MT"/>
                <a:cs typeface="Arial MT"/>
              </a:rPr>
              <a:t> </a:t>
            </a:r>
            <a:r>
              <a:rPr sz="2800" b="1" dirty="0">
                <a:solidFill>
                  <a:srgbClr val="2B2C2D"/>
                </a:solidFill>
                <a:latin typeface="Arial"/>
                <a:cs typeface="Arial"/>
              </a:rPr>
              <a:t>deliverable</a:t>
            </a:r>
            <a:r>
              <a:rPr sz="2800" b="1" spc="-35" dirty="0">
                <a:solidFill>
                  <a:srgbClr val="2B2C2D"/>
                </a:solidFill>
                <a:latin typeface="Arial"/>
                <a:cs typeface="Arial"/>
              </a:rPr>
              <a:t> </a:t>
            </a:r>
            <a:r>
              <a:rPr sz="2800" dirty="0">
                <a:solidFill>
                  <a:srgbClr val="2B2C2D"/>
                </a:solidFill>
                <a:latin typeface="Arial MT"/>
                <a:cs typeface="Arial MT"/>
              </a:rPr>
              <a:t>or</a:t>
            </a:r>
            <a:r>
              <a:rPr sz="2800" spc="-35" dirty="0">
                <a:solidFill>
                  <a:srgbClr val="2B2C2D"/>
                </a:solidFill>
                <a:latin typeface="Arial MT"/>
                <a:cs typeface="Arial MT"/>
              </a:rPr>
              <a:t> </a:t>
            </a:r>
            <a:r>
              <a:rPr sz="2800" dirty="0">
                <a:solidFill>
                  <a:srgbClr val="2B2C2D"/>
                </a:solidFill>
                <a:latin typeface="Arial MT"/>
                <a:cs typeface="Arial MT"/>
              </a:rPr>
              <a:t>notice</a:t>
            </a:r>
            <a:r>
              <a:rPr sz="2800" spc="-40" dirty="0">
                <a:solidFill>
                  <a:srgbClr val="2B2C2D"/>
                </a:solidFill>
                <a:latin typeface="Arial MT"/>
                <a:cs typeface="Arial MT"/>
              </a:rPr>
              <a:t> </a:t>
            </a:r>
            <a:r>
              <a:rPr sz="2800" dirty="0">
                <a:solidFill>
                  <a:srgbClr val="2B2C2D"/>
                </a:solidFill>
                <a:latin typeface="Arial MT"/>
                <a:cs typeface="Arial MT"/>
              </a:rPr>
              <a:t>by</a:t>
            </a:r>
            <a:r>
              <a:rPr sz="2800" spc="-30" dirty="0">
                <a:solidFill>
                  <a:srgbClr val="2B2C2D"/>
                </a:solidFill>
                <a:latin typeface="Arial MT"/>
                <a:cs typeface="Arial MT"/>
              </a:rPr>
              <a:t> </a:t>
            </a:r>
            <a:r>
              <a:rPr sz="2800" dirty="0">
                <a:solidFill>
                  <a:srgbClr val="2B2C2D"/>
                </a:solidFill>
                <a:latin typeface="Arial MT"/>
                <a:cs typeface="Arial MT"/>
              </a:rPr>
              <a:t>a</a:t>
            </a:r>
            <a:r>
              <a:rPr sz="2800" spc="-30" dirty="0">
                <a:solidFill>
                  <a:srgbClr val="2B2C2D"/>
                </a:solidFill>
                <a:latin typeface="Arial MT"/>
                <a:cs typeface="Arial MT"/>
              </a:rPr>
              <a:t> </a:t>
            </a:r>
            <a:r>
              <a:rPr sz="2800" spc="-10" dirty="0">
                <a:solidFill>
                  <a:srgbClr val="2B2C2D"/>
                </a:solidFill>
                <a:latin typeface="Arial MT"/>
                <a:cs typeface="Arial MT"/>
              </a:rPr>
              <a:t>party.</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773034" cy="494474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2:</a:t>
            </a:r>
            <a:r>
              <a:rPr sz="2800" b="1" spc="-65" dirty="0">
                <a:solidFill>
                  <a:srgbClr val="00339F"/>
                </a:solidFill>
                <a:latin typeface="Arial"/>
                <a:cs typeface="Arial"/>
              </a:rPr>
              <a:t> </a:t>
            </a:r>
            <a:r>
              <a:rPr sz="2800" b="1" spc="-10" dirty="0">
                <a:solidFill>
                  <a:srgbClr val="00339F"/>
                </a:solidFill>
                <a:latin typeface="Arial"/>
                <a:cs typeface="Arial"/>
              </a:rPr>
              <a:t>Conditions</a:t>
            </a:r>
            <a:endParaRPr sz="2800">
              <a:latin typeface="Arial"/>
              <a:cs typeface="Arial"/>
            </a:endParaRPr>
          </a:p>
          <a:p>
            <a:pPr>
              <a:lnSpc>
                <a:spcPct val="100000"/>
              </a:lnSpc>
              <a:spcBef>
                <a:spcPts val="270"/>
              </a:spcBef>
            </a:pPr>
            <a:endParaRPr sz="2800">
              <a:latin typeface="Arial"/>
              <a:cs typeface="Arial"/>
            </a:endParaRPr>
          </a:p>
          <a:p>
            <a:pPr marL="471170" marR="779780">
              <a:lnSpc>
                <a:spcPct val="100000"/>
              </a:lnSpc>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set</a:t>
            </a:r>
            <a:r>
              <a:rPr sz="2800" spc="-60" dirty="0">
                <a:solidFill>
                  <a:srgbClr val="2B2C2D"/>
                </a:solidFill>
                <a:latin typeface="Arial MT"/>
                <a:cs typeface="Arial MT"/>
              </a:rPr>
              <a:t> </a:t>
            </a:r>
            <a:r>
              <a:rPr sz="2800" dirty="0">
                <a:solidFill>
                  <a:srgbClr val="2B2C2D"/>
                </a:solidFill>
                <a:latin typeface="Arial MT"/>
                <a:cs typeface="Arial MT"/>
              </a:rPr>
              <a:t>conditions</a:t>
            </a:r>
            <a:r>
              <a:rPr sz="2800" spc="-55" dirty="0">
                <a:solidFill>
                  <a:srgbClr val="2B2C2D"/>
                </a:solidFill>
                <a:latin typeface="Arial MT"/>
                <a:cs typeface="Arial MT"/>
              </a:rPr>
              <a:t> </a:t>
            </a:r>
            <a:r>
              <a:rPr sz="2800" dirty="0">
                <a:solidFill>
                  <a:srgbClr val="2B2C2D"/>
                </a:solidFill>
                <a:latin typeface="Arial MT"/>
                <a:cs typeface="Arial MT"/>
              </a:rPr>
              <a:t>can</a:t>
            </a:r>
            <a:r>
              <a:rPr sz="2800" spc="-50" dirty="0">
                <a:solidFill>
                  <a:srgbClr val="2B2C2D"/>
                </a:solidFill>
                <a:latin typeface="Arial MT"/>
                <a:cs typeface="Arial MT"/>
              </a:rPr>
              <a:t> </a:t>
            </a:r>
            <a:r>
              <a:rPr sz="2800" dirty="0">
                <a:solidFill>
                  <a:srgbClr val="2B2C2D"/>
                </a:solidFill>
                <a:latin typeface="Arial MT"/>
                <a:cs typeface="Arial MT"/>
              </a:rPr>
              <a:t>be</a:t>
            </a:r>
            <a:r>
              <a:rPr sz="2800" spc="-55" dirty="0">
                <a:solidFill>
                  <a:srgbClr val="2B2C2D"/>
                </a:solidFill>
                <a:latin typeface="Arial MT"/>
                <a:cs typeface="Arial MT"/>
              </a:rPr>
              <a:t> </a:t>
            </a:r>
            <a:r>
              <a:rPr sz="2800" b="1" dirty="0">
                <a:solidFill>
                  <a:srgbClr val="2B2C2D"/>
                </a:solidFill>
                <a:latin typeface="Arial"/>
                <a:cs typeface="Arial"/>
              </a:rPr>
              <a:t>external</a:t>
            </a:r>
            <a:r>
              <a:rPr sz="2800" b="1" spc="-40" dirty="0">
                <a:solidFill>
                  <a:srgbClr val="2B2C2D"/>
                </a:solidFill>
                <a:latin typeface="Arial"/>
                <a:cs typeface="Arial"/>
              </a:rPr>
              <a:t> </a:t>
            </a:r>
            <a:r>
              <a:rPr sz="2800" dirty="0">
                <a:solidFill>
                  <a:srgbClr val="2B2C2D"/>
                </a:solidFill>
                <a:latin typeface="Arial MT"/>
                <a:cs typeface="Arial MT"/>
              </a:rPr>
              <a:t>to</a:t>
            </a:r>
            <a:r>
              <a:rPr sz="2800" spc="-50" dirty="0">
                <a:solidFill>
                  <a:srgbClr val="2B2C2D"/>
                </a:solidFill>
                <a:latin typeface="Arial MT"/>
                <a:cs typeface="Arial MT"/>
              </a:rPr>
              <a:t> </a:t>
            </a:r>
            <a:r>
              <a:rPr sz="2800" spc="-25" dirty="0">
                <a:solidFill>
                  <a:srgbClr val="2B2C2D"/>
                </a:solidFill>
                <a:latin typeface="Arial MT"/>
                <a:cs typeface="Arial MT"/>
              </a:rPr>
              <a:t>the </a:t>
            </a:r>
            <a:r>
              <a:rPr sz="2800" spc="-10" dirty="0">
                <a:solidFill>
                  <a:srgbClr val="2B2C2D"/>
                </a:solidFill>
                <a:latin typeface="Arial MT"/>
                <a:cs typeface="Arial MT"/>
              </a:rPr>
              <a:t>contract:</a:t>
            </a:r>
            <a:endParaRPr sz="2800">
              <a:latin typeface="Arial MT"/>
              <a:cs typeface="Arial MT"/>
            </a:endParaRPr>
          </a:p>
          <a:p>
            <a:pPr marL="928369"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Acts</a:t>
            </a:r>
            <a:r>
              <a:rPr sz="2800" spc="-55" dirty="0">
                <a:solidFill>
                  <a:srgbClr val="2B2C2D"/>
                </a:solidFill>
                <a:latin typeface="Arial MT"/>
                <a:cs typeface="Arial MT"/>
              </a:rPr>
              <a:t> </a:t>
            </a:r>
            <a:r>
              <a:rPr sz="2800" dirty="0">
                <a:solidFill>
                  <a:srgbClr val="2B2C2D"/>
                </a:solidFill>
                <a:latin typeface="Arial MT"/>
                <a:cs typeface="Arial MT"/>
              </a:rPr>
              <a:t>or</a:t>
            </a:r>
            <a:r>
              <a:rPr sz="2800" spc="-45" dirty="0">
                <a:solidFill>
                  <a:srgbClr val="2B2C2D"/>
                </a:solidFill>
                <a:latin typeface="Arial MT"/>
                <a:cs typeface="Arial MT"/>
              </a:rPr>
              <a:t> </a:t>
            </a:r>
            <a:r>
              <a:rPr sz="2800" dirty="0">
                <a:solidFill>
                  <a:srgbClr val="2B2C2D"/>
                </a:solidFill>
                <a:latin typeface="Arial MT"/>
                <a:cs typeface="Arial MT"/>
              </a:rPr>
              <a:t>omissions</a:t>
            </a:r>
            <a:r>
              <a:rPr sz="2800" spc="-4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b="1" dirty="0">
                <a:solidFill>
                  <a:srgbClr val="2B2C2D"/>
                </a:solidFill>
                <a:latin typeface="Arial"/>
                <a:cs typeface="Arial"/>
              </a:rPr>
              <a:t>third</a:t>
            </a:r>
            <a:r>
              <a:rPr sz="2800" b="1" spc="-35" dirty="0">
                <a:solidFill>
                  <a:srgbClr val="2B2C2D"/>
                </a:solidFill>
                <a:latin typeface="Arial"/>
                <a:cs typeface="Arial"/>
              </a:rPr>
              <a:t> </a:t>
            </a:r>
            <a:r>
              <a:rPr sz="2800" b="1" spc="-10" dirty="0">
                <a:solidFill>
                  <a:srgbClr val="2B2C2D"/>
                </a:solidFill>
                <a:latin typeface="Arial"/>
                <a:cs typeface="Arial"/>
              </a:rPr>
              <a:t>parties</a:t>
            </a:r>
            <a:endParaRPr sz="2800">
              <a:latin typeface="Arial"/>
              <a:cs typeface="Arial"/>
            </a:endParaRPr>
          </a:p>
          <a:p>
            <a:pPr marL="928369" marR="302260" indent="-457200">
              <a:lnSpc>
                <a:spcPct val="100000"/>
              </a:lnSpc>
              <a:spcBef>
                <a:spcPts val="1005"/>
              </a:spcBef>
              <a:buClr>
                <a:srgbClr val="6D2C91"/>
              </a:buClr>
              <a:buFont typeface="Wingdings"/>
              <a:buChar char=""/>
              <a:tabLst>
                <a:tab pos="928369" algn="l"/>
              </a:tabLst>
            </a:pPr>
            <a:r>
              <a:rPr sz="2800" dirty="0">
                <a:solidFill>
                  <a:srgbClr val="2B2C2D"/>
                </a:solidFill>
                <a:latin typeface="Arial MT"/>
                <a:cs typeface="Arial MT"/>
              </a:rPr>
              <a:t>Accidents</a:t>
            </a:r>
            <a:r>
              <a:rPr sz="2800" spc="-75"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weather</a:t>
            </a:r>
            <a:r>
              <a:rPr sz="2800" spc="-50"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climate</a:t>
            </a:r>
            <a:r>
              <a:rPr sz="2800" spc="-50" dirty="0">
                <a:solidFill>
                  <a:srgbClr val="2B2C2D"/>
                </a:solidFill>
                <a:latin typeface="Arial MT"/>
                <a:cs typeface="Arial MT"/>
              </a:rPr>
              <a:t> </a:t>
            </a:r>
            <a:r>
              <a:rPr sz="2800" dirty="0">
                <a:solidFill>
                  <a:srgbClr val="2B2C2D"/>
                </a:solidFill>
                <a:latin typeface="Arial MT"/>
                <a:cs typeface="Arial MT"/>
              </a:rPr>
              <a:t>events</a:t>
            </a:r>
            <a:r>
              <a:rPr sz="2800" spc="-70" dirty="0">
                <a:solidFill>
                  <a:srgbClr val="2B2C2D"/>
                </a:solidFill>
                <a:latin typeface="Arial MT"/>
                <a:cs typeface="Arial MT"/>
              </a:rPr>
              <a:t> </a:t>
            </a:r>
            <a:r>
              <a:rPr sz="2800" spc="-25" dirty="0">
                <a:solidFill>
                  <a:srgbClr val="2B2C2D"/>
                </a:solidFill>
                <a:latin typeface="Arial MT"/>
                <a:cs typeface="Arial MT"/>
              </a:rPr>
              <a:t>or </a:t>
            </a:r>
            <a:r>
              <a:rPr sz="2800" dirty="0">
                <a:solidFill>
                  <a:srgbClr val="2B2C2D"/>
                </a:solidFill>
                <a:latin typeface="Arial MT"/>
                <a:cs typeface="Arial MT"/>
              </a:rPr>
              <a:t>other</a:t>
            </a:r>
            <a:r>
              <a:rPr sz="2800" spc="-45" dirty="0">
                <a:solidFill>
                  <a:srgbClr val="2B2C2D"/>
                </a:solidFill>
                <a:latin typeface="Arial MT"/>
                <a:cs typeface="Arial MT"/>
              </a:rPr>
              <a:t> </a:t>
            </a:r>
            <a:r>
              <a:rPr sz="2800" b="1" dirty="0">
                <a:solidFill>
                  <a:srgbClr val="2B2C2D"/>
                </a:solidFill>
                <a:latin typeface="Arial"/>
                <a:cs typeface="Arial"/>
              </a:rPr>
              <a:t>acts</a:t>
            </a:r>
            <a:r>
              <a:rPr sz="2800" b="1" spc="-40" dirty="0">
                <a:solidFill>
                  <a:srgbClr val="2B2C2D"/>
                </a:solidFill>
                <a:latin typeface="Arial"/>
                <a:cs typeface="Arial"/>
              </a:rPr>
              <a:t> </a:t>
            </a:r>
            <a:r>
              <a:rPr sz="2800" b="1" dirty="0">
                <a:solidFill>
                  <a:srgbClr val="2B2C2D"/>
                </a:solidFill>
                <a:latin typeface="Arial"/>
                <a:cs typeface="Arial"/>
              </a:rPr>
              <a:t>of</a:t>
            </a:r>
            <a:r>
              <a:rPr sz="2800" b="1" spc="-30" dirty="0">
                <a:solidFill>
                  <a:srgbClr val="2B2C2D"/>
                </a:solidFill>
                <a:latin typeface="Arial"/>
                <a:cs typeface="Arial"/>
              </a:rPr>
              <a:t> </a:t>
            </a:r>
            <a:r>
              <a:rPr sz="2800" b="1" spc="-25" dirty="0">
                <a:solidFill>
                  <a:srgbClr val="2B2C2D"/>
                </a:solidFill>
                <a:latin typeface="Arial"/>
                <a:cs typeface="Arial"/>
              </a:rPr>
              <a:t>God</a:t>
            </a:r>
            <a:endParaRPr sz="2800">
              <a:latin typeface="Arial"/>
              <a:cs typeface="Arial"/>
            </a:endParaRPr>
          </a:p>
          <a:p>
            <a:pPr marL="928369" indent="-457200">
              <a:lnSpc>
                <a:spcPct val="100000"/>
              </a:lnSpc>
              <a:spcBef>
                <a:spcPts val="994"/>
              </a:spcBef>
              <a:buClr>
                <a:srgbClr val="6D2C91"/>
              </a:buClr>
              <a:buFont typeface="Wingdings"/>
              <a:buChar char=""/>
              <a:tabLst>
                <a:tab pos="928369" algn="l"/>
              </a:tabLst>
            </a:pPr>
            <a:r>
              <a:rPr sz="2800" dirty="0">
                <a:solidFill>
                  <a:srgbClr val="2B2C2D"/>
                </a:solidFill>
                <a:latin typeface="Arial MT"/>
                <a:cs typeface="Arial MT"/>
              </a:rPr>
              <a:t>Other</a:t>
            </a:r>
            <a:r>
              <a:rPr sz="2800" spc="-45" dirty="0">
                <a:solidFill>
                  <a:srgbClr val="2B2C2D"/>
                </a:solidFill>
                <a:latin typeface="Arial MT"/>
                <a:cs typeface="Arial MT"/>
              </a:rPr>
              <a:t> </a:t>
            </a:r>
            <a:r>
              <a:rPr sz="2800" dirty="0">
                <a:solidFill>
                  <a:srgbClr val="2B2C2D"/>
                </a:solidFill>
                <a:latin typeface="Arial MT"/>
                <a:cs typeface="Arial MT"/>
              </a:rPr>
              <a:t>events</a:t>
            </a:r>
            <a:r>
              <a:rPr sz="2800" spc="-6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b="1" dirty="0">
                <a:solidFill>
                  <a:srgbClr val="2B2C2D"/>
                </a:solidFill>
                <a:latin typeface="Arial"/>
                <a:cs typeface="Arial"/>
              </a:rPr>
              <a:t>force</a:t>
            </a:r>
            <a:r>
              <a:rPr sz="2800" b="1" spc="-35" dirty="0">
                <a:solidFill>
                  <a:srgbClr val="2B2C2D"/>
                </a:solidFill>
                <a:latin typeface="Arial"/>
                <a:cs typeface="Arial"/>
              </a:rPr>
              <a:t> </a:t>
            </a:r>
            <a:r>
              <a:rPr sz="2800" b="1" spc="-10" dirty="0">
                <a:solidFill>
                  <a:srgbClr val="2B2C2D"/>
                </a:solidFill>
                <a:latin typeface="Arial"/>
                <a:cs typeface="Arial"/>
              </a:rPr>
              <a:t>majeure</a:t>
            </a:r>
            <a:endParaRPr sz="2800">
              <a:latin typeface="Arial"/>
              <a:cs typeface="Arial"/>
            </a:endParaRPr>
          </a:p>
          <a:p>
            <a:pPr marL="928369"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Financial</a:t>
            </a:r>
            <a:r>
              <a:rPr sz="2800" spc="-60" dirty="0">
                <a:solidFill>
                  <a:srgbClr val="2B2C2D"/>
                </a:solidFill>
                <a:latin typeface="Arial MT"/>
                <a:cs typeface="Arial MT"/>
              </a:rPr>
              <a:t> </a:t>
            </a:r>
            <a:r>
              <a:rPr sz="2800" dirty="0">
                <a:solidFill>
                  <a:srgbClr val="2B2C2D"/>
                </a:solidFill>
                <a:latin typeface="Arial MT"/>
                <a:cs typeface="Arial MT"/>
              </a:rPr>
              <a:t>or</a:t>
            </a:r>
            <a:r>
              <a:rPr sz="2800" spc="-65" dirty="0">
                <a:solidFill>
                  <a:srgbClr val="2B2C2D"/>
                </a:solidFill>
                <a:latin typeface="Arial MT"/>
                <a:cs typeface="Arial MT"/>
              </a:rPr>
              <a:t> </a:t>
            </a:r>
            <a:r>
              <a:rPr sz="2800" dirty="0">
                <a:solidFill>
                  <a:srgbClr val="2B2C2D"/>
                </a:solidFill>
                <a:latin typeface="Arial MT"/>
                <a:cs typeface="Arial MT"/>
              </a:rPr>
              <a:t>product</a:t>
            </a:r>
            <a:r>
              <a:rPr sz="2800" spc="-65" dirty="0">
                <a:solidFill>
                  <a:srgbClr val="2B2C2D"/>
                </a:solidFill>
                <a:latin typeface="Arial MT"/>
                <a:cs typeface="Arial MT"/>
              </a:rPr>
              <a:t> </a:t>
            </a:r>
            <a:r>
              <a:rPr sz="2800" b="1" dirty="0">
                <a:solidFill>
                  <a:srgbClr val="2B2C2D"/>
                </a:solidFill>
                <a:latin typeface="Arial"/>
                <a:cs typeface="Arial"/>
              </a:rPr>
              <a:t>market</a:t>
            </a:r>
            <a:r>
              <a:rPr sz="2800" b="1" spc="-70" dirty="0">
                <a:solidFill>
                  <a:srgbClr val="2B2C2D"/>
                </a:solidFill>
                <a:latin typeface="Arial"/>
                <a:cs typeface="Arial"/>
              </a:rPr>
              <a:t> </a:t>
            </a:r>
            <a:r>
              <a:rPr sz="2800" b="1" spc="-10" dirty="0">
                <a:solidFill>
                  <a:srgbClr val="2B2C2D"/>
                </a:solidFill>
                <a:latin typeface="Arial"/>
                <a:cs typeface="Arial"/>
              </a:rPr>
              <a:t>triggers</a:t>
            </a:r>
            <a:endParaRPr sz="2800">
              <a:latin typeface="Arial"/>
              <a:cs typeface="Arial"/>
            </a:endParaRPr>
          </a:p>
          <a:p>
            <a:pPr marL="928369" indent="-457200">
              <a:lnSpc>
                <a:spcPct val="100000"/>
              </a:lnSpc>
              <a:spcBef>
                <a:spcPts val="1005"/>
              </a:spcBef>
              <a:buClr>
                <a:srgbClr val="6D2C91"/>
              </a:buClr>
              <a:buFont typeface="Wingdings"/>
              <a:buChar char=""/>
              <a:tabLst>
                <a:tab pos="928369" algn="l"/>
              </a:tabLst>
            </a:pPr>
            <a:r>
              <a:rPr sz="2800" b="1" dirty="0">
                <a:solidFill>
                  <a:srgbClr val="2B2C2D"/>
                </a:solidFill>
                <a:latin typeface="Arial"/>
                <a:cs typeface="Arial"/>
              </a:rPr>
              <a:t>Changes</a:t>
            </a:r>
            <a:r>
              <a:rPr sz="2800" b="1" spc="-30" dirty="0">
                <a:solidFill>
                  <a:srgbClr val="2B2C2D"/>
                </a:solidFill>
                <a:latin typeface="Arial"/>
                <a:cs typeface="Arial"/>
              </a:rPr>
              <a:t> </a:t>
            </a:r>
            <a:r>
              <a:rPr sz="2800" dirty="0">
                <a:solidFill>
                  <a:srgbClr val="2B2C2D"/>
                </a:solidFill>
                <a:latin typeface="Arial MT"/>
                <a:cs typeface="Arial MT"/>
              </a:rPr>
              <a:t>in</a:t>
            </a:r>
            <a:r>
              <a:rPr sz="2800" spc="-60" dirty="0">
                <a:solidFill>
                  <a:srgbClr val="2B2C2D"/>
                </a:solidFill>
                <a:latin typeface="Arial MT"/>
                <a:cs typeface="Arial MT"/>
              </a:rPr>
              <a:t> </a:t>
            </a:r>
            <a:r>
              <a:rPr sz="2800" dirty="0">
                <a:solidFill>
                  <a:srgbClr val="2B2C2D"/>
                </a:solidFill>
                <a:latin typeface="Arial MT"/>
                <a:cs typeface="Arial MT"/>
              </a:rPr>
              <a:t>legal</a:t>
            </a:r>
            <a:r>
              <a:rPr sz="2800" spc="-65"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financial</a:t>
            </a:r>
            <a:r>
              <a:rPr sz="2800" spc="-65" dirty="0">
                <a:solidFill>
                  <a:srgbClr val="2B2C2D"/>
                </a:solidFill>
                <a:latin typeface="Arial MT"/>
                <a:cs typeface="Arial MT"/>
              </a:rPr>
              <a:t> </a:t>
            </a:r>
            <a:r>
              <a:rPr sz="2800" spc="-10" dirty="0">
                <a:solidFill>
                  <a:srgbClr val="2B2C2D"/>
                </a:solidFill>
                <a:latin typeface="Arial MT"/>
                <a:cs typeface="Arial MT"/>
              </a:rPr>
              <a:t>status</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636509" cy="486219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3:</a:t>
            </a:r>
            <a:r>
              <a:rPr sz="2800" b="1" spc="-65" dirty="0">
                <a:solidFill>
                  <a:srgbClr val="00339F"/>
                </a:solidFill>
                <a:latin typeface="Arial"/>
                <a:cs typeface="Arial"/>
              </a:rPr>
              <a:t> </a:t>
            </a:r>
            <a:r>
              <a:rPr sz="2800" b="1" spc="-10" dirty="0">
                <a:solidFill>
                  <a:srgbClr val="00339F"/>
                </a:solidFill>
                <a:latin typeface="Arial"/>
                <a:cs typeface="Arial"/>
              </a:rPr>
              <a:t>Coding</a:t>
            </a:r>
            <a:endParaRPr sz="2800">
              <a:latin typeface="Arial"/>
              <a:cs typeface="Arial"/>
            </a:endParaRPr>
          </a:p>
          <a:p>
            <a:pPr>
              <a:lnSpc>
                <a:spcPct val="100000"/>
              </a:lnSpc>
              <a:spcBef>
                <a:spcPts val="270"/>
              </a:spcBef>
            </a:pPr>
            <a:endParaRPr sz="2800">
              <a:latin typeface="Arial"/>
              <a:cs typeface="Arial"/>
            </a:endParaRPr>
          </a:p>
          <a:p>
            <a:pPr marL="928369" marR="5080" indent="-457200">
              <a:lnSpc>
                <a:spcPct val="100000"/>
              </a:lnSpc>
              <a:buClr>
                <a:srgbClr val="6D2C91"/>
              </a:buClr>
              <a:buFont typeface="Wingdings"/>
              <a:buChar char=""/>
              <a:tabLst>
                <a:tab pos="928369" algn="l"/>
              </a:tabLst>
            </a:pPr>
            <a:r>
              <a:rPr sz="2800" dirty="0">
                <a:solidFill>
                  <a:srgbClr val="2B2C2D"/>
                </a:solidFill>
                <a:latin typeface="Arial MT"/>
                <a:cs typeface="Arial MT"/>
              </a:rPr>
              <a:t>The</a:t>
            </a:r>
            <a:r>
              <a:rPr sz="2800" spc="-35" dirty="0">
                <a:solidFill>
                  <a:srgbClr val="2B2C2D"/>
                </a:solidFill>
                <a:latin typeface="Arial MT"/>
                <a:cs typeface="Arial MT"/>
              </a:rPr>
              <a:t> </a:t>
            </a:r>
            <a:r>
              <a:rPr sz="2800" dirty="0">
                <a:solidFill>
                  <a:srgbClr val="2B2C2D"/>
                </a:solidFill>
                <a:latin typeface="Arial MT"/>
                <a:cs typeface="Arial MT"/>
              </a:rPr>
              <a:t>smart</a:t>
            </a:r>
            <a:r>
              <a:rPr sz="2800" spc="-40" dirty="0">
                <a:solidFill>
                  <a:srgbClr val="2B2C2D"/>
                </a:solidFill>
                <a:latin typeface="Arial MT"/>
                <a:cs typeface="Arial MT"/>
              </a:rPr>
              <a:t> </a:t>
            </a:r>
            <a:r>
              <a:rPr sz="2800" dirty="0">
                <a:solidFill>
                  <a:srgbClr val="2B2C2D"/>
                </a:solidFill>
                <a:latin typeface="Arial MT"/>
                <a:cs typeface="Arial MT"/>
              </a:rPr>
              <a:t>part</a:t>
            </a:r>
            <a:r>
              <a:rPr sz="2800" spc="-50" dirty="0">
                <a:solidFill>
                  <a:srgbClr val="2B2C2D"/>
                </a:solidFill>
                <a:latin typeface="Arial MT"/>
                <a:cs typeface="Arial MT"/>
              </a:rPr>
              <a:t> </a:t>
            </a:r>
            <a:r>
              <a:rPr sz="2800" dirty="0">
                <a:solidFill>
                  <a:srgbClr val="2B2C2D"/>
                </a:solidFill>
                <a:latin typeface="Arial MT"/>
                <a:cs typeface="Arial MT"/>
              </a:rPr>
              <a:t>of</a:t>
            </a:r>
            <a:r>
              <a:rPr sz="2800" spc="-40" dirty="0">
                <a:solidFill>
                  <a:srgbClr val="2B2C2D"/>
                </a:solidFill>
                <a:latin typeface="Arial MT"/>
                <a:cs typeface="Arial MT"/>
              </a:rPr>
              <a:t> </a:t>
            </a:r>
            <a:r>
              <a:rPr sz="2800" dirty="0">
                <a:solidFill>
                  <a:srgbClr val="2B2C2D"/>
                </a:solidFill>
                <a:latin typeface="Arial MT"/>
                <a:cs typeface="Arial MT"/>
              </a:rPr>
              <a:t>a</a:t>
            </a:r>
            <a:r>
              <a:rPr sz="2800" spc="-40" dirty="0">
                <a:solidFill>
                  <a:srgbClr val="2B2C2D"/>
                </a:solidFill>
                <a:latin typeface="Arial MT"/>
                <a:cs typeface="Arial MT"/>
              </a:rPr>
              <a:t> </a:t>
            </a:r>
            <a:r>
              <a:rPr sz="2800" dirty="0">
                <a:solidFill>
                  <a:srgbClr val="2B2C2D"/>
                </a:solidFill>
                <a:latin typeface="Arial MT"/>
                <a:cs typeface="Arial MT"/>
              </a:rPr>
              <a:t>contract</a:t>
            </a:r>
            <a:r>
              <a:rPr sz="2800" spc="-65" dirty="0">
                <a:solidFill>
                  <a:srgbClr val="2B2C2D"/>
                </a:solidFill>
                <a:latin typeface="Arial MT"/>
                <a:cs typeface="Arial MT"/>
              </a:rPr>
              <a:t> </a:t>
            </a:r>
            <a:r>
              <a:rPr sz="2800" dirty="0">
                <a:solidFill>
                  <a:srgbClr val="2B2C2D"/>
                </a:solidFill>
                <a:latin typeface="Arial MT"/>
                <a:cs typeface="Arial MT"/>
              </a:rPr>
              <a:t>requires</a:t>
            </a:r>
            <a:r>
              <a:rPr sz="2800" spc="-25" dirty="0">
                <a:solidFill>
                  <a:srgbClr val="2B2C2D"/>
                </a:solidFill>
                <a:latin typeface="Arial MT"/>
                <a:cs typeface="Arial MT"/>
              </a:rPr>
              <a:t> the </a:t>
            </a:r>
            <a:r>
              <a:rPr sz="2800" dirty="0">
                <a:solidFill>
                  <a:srgbClr val="2B2C2D"/>
                </a:solidFill>
                <a:latin typeface="Arial MT"/>
                <a:cs typeface="Arial MT"/>
              </a:rPr>
              <a:t>writing</a:t>
            </a:r>
            <a:r>
              <a:rPr sz="2800" spc="-50" dirty="0">
                <a:solidFill>
                  <a:srgbClr val="2B2C2D"/>
                </a:solidFill>
                <a:latin typeface="Arial MT"/>
                <a:cs typeface="Arial MT"/>
              </a:rPr>
              <a:t> </a:t>
            </a:r>
            <a:r>
              <a:rPr sz="2800" dirty="0">
                <a:solidFill>
                  <a:srgbClr val="2B2C2D"/>
                </a:solidFill>
                <a:latin typeface="Arial MT"/>
                <a:cs typeface="Arial MT"/>
              </a:rPr>
              <a:t>of</a:t>
            </a:r>
            <a:r>
              <a:rPr sz="2800" spc="-65" dirty="0">
                <a:solidFill>
                  <a:srgbClr val="2B2C2D"/>
                </a:solidFill>
                <a:latin typeface="Arial MT"/>
                <a:cs typeface="Arial MT"/>
              </a:rPr>
              <a:t> </a:t>
            </a:r>
            <a:r>
              <a:rPr sz="2800" dirty="0">
                <a:solidFill>
                  <a:srgbClr val="2B2C2D"/>
                </a:solidFill>
                <a:latin typeface="Arial MT"/>
                <a:cs typeface="Arial MT"/>
              </a:rPr>
              <a:t>a</a:t>
            </a:r>
            <a:r>
              <a:rPr sz="2800" spc="-65" dirty="0">
                <a:solidFill>
                  <a:srgbClr val="2B2C2D"/>
                </a:solidFill>
                <a:latin typeface="Arial MT"/>
                <a:cs typeface="Arial MT"/>
              </a:rPr>
              <a:t> </a:t>
            </a:r>
            <a:r>
              <a:rPr sz="2800" b="1" dirty="0">
                <a:solidFill>
                  <a:srgbClr val="2B2C2D"/>
                </a:solidFill>
                <a:latin typeface="Arial"/>
                <a:cs typeface="Arial"/>
              </a:rPr>
              <a:t>computer</a:t>
            </a:r>
            <a:r>
              <a:rPr sz="2800" b="1" spc="-30" dirty="0">
                <a:solidFill>
                  <a:srgbClr val="2B2C2D"/>
                </a:solidFill>
                <a:latin typeface="Arial"/>
                <a:cs typeface="Arial"/>
              </a:rPr>
              <a:t> </a:t>
            </a:r>
            <a:r>
              <a:rPr sz="2800" b="1" dirty="0">
                <a:solidFill>
                  <a:srgbClr val="2B2C2D"/>
                </a:solidFill>
                <a:latin typeface="Arial"/>
                <a:cs typeface="Arial"/>
              </a:rPr>
              <a:t>program</a:t>
            </a:r>
            <a:r>
              <a:rPr sz="2800" b="1" spc="-55" dirty="0">
                <a:solidFill>
                  <a:srgbClr val="2B2C2D"/>
                </a:solidFill>
                <a:latin typeface="Arial"/>
                <a:cs typeface="Arial"/>
              </a:rPr>
              <a:t> </a:t>
            </a:r>
            <a:r>
              <a:rPr sz="2800" b="1" dirty="0">
                <a:solidFill>
                  <a:srgbClr val="2B2C2D"/>
                </a:solidFill>
                <a:latin typeface="Arial"/>
                <a:cs typeface="Arial"/>
              </a:rPr>
              <a:t>or</a:t>
            </a:r>
            <a:r>
              <a:rPr sz="2800" b="1" spc="-60" dirty="0">
                <a:solidFill>
                  <a:srgbClr val="2B2C2D"/>
                </a:solidFill>
                <a:latin typeface="Arial"/>
                <a:cs typeface="Arial"/>
              </a:rPr>
              <a:t> </a:t>
            </a:r>
            <a:r>
              <a:rPr sz="2800" b="1" spc="-20" dirty="0">
                <a:solidFill>
                  <a:srgbClr val="2B2C2D"/>
                </a:solidFill>
                <a:latin typeface="Arial"/>
                <a:cs typeface="Arial"/>
              </a:rPr>
              <a:t>code </a:t>
            </a:r>
            <a:r>
              <a:rPr sz="2800" dirty="0">
                <a:solidFill>
                  <a:srgbClr val="2B2C2D"/>
                </a:solidFill>
                <a:latin typeface="Arial MT"/>
                <a:cs typeface="Arial MT"/>
              </a:rPr>
              <a:t>which</a:t>
            </a:r>
            <a:r>
              <a:rPr sz="2800" spc="-50" dirty="0">
                <a:solidFill>
                  <a:srgbClr val="2B2C2D"/>
                </a:solidFill>
                <a:latin typeface="Arial MT"/>
                <a:cs typeface="Arial MT"/>
              </a:rPr>
              <a:t> </a:t>
            </a:r>
            <a:r>
              <a:rPr sz="2800" dirty="0">
                <a:solidFill>
                  <a:srgbClr val="2B2C2D"/>
                </a:solidFill>
                <a:latin typeface="Arial MT"/>
                <a:cs typeface="Arial MT"/>
              </a:rPr>
              <a:t>incorporates</a:t>
            </a:r>
            <a:r>
              <a:rPr sz="2800" spc="-35" dirty="0">
                <a:solidFill>
                  <a:srgbClr val="2B2C2D"/>
                </a:solidFill>
                <a:latin typeface="Arial MT"/>
                <a:cs typeface="Arial MT"/>
              </a:rPr>
              <a:t> </a:t>
            </a:r>
            <a:r>
              <a:rPr sz="2800" dirty="0">
                <a:solidFill>
                  <a:srgbClr val="2B2C2D"/>
                </a:solidFill>
                <a:latin typeface="Arial MT"/>
                <a:cs typeface="Arial MT"/>
              </a:rPr>
              <a:t>all</a:t>
            </a:r>
            <a:r>
              <a:rPr sz="2800" spc="-50" dirty="0">
                <a:solidFill>
                  <a:srgbClr val="2B2C2D"/>
                </a:solidFill>
                <a:latin typeface="Arial MT"/>
                <a:cs typeface="Arial MT"/>
              </a:rPr>
              <a:t> </a:t>
            </a:r>
            <a:r>
              <a:rPr sz="2800" dirty="0">
                <a:solidFill>
                  <a:srgbClr val="2B2C2D"/>
                </a:solidFill>
                <a:latin typeface="Arial MT"/>
                <a:cs typeface="Arial MT"/>
              </a:rPr>
              <a:t>of</a:t>
            </a:r>
            <a:r>
              <a:rPr sz="2800" spc="-50"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set</a:t>
            </a:r>
            <a:r>
              <a:rPr sz="2800" spc="-50" dirty="0">
                <a:solidFill>
                  <a:srgbClr val="2B2C2D"/>
                </a:solidFill>
                <a:latin typeface="Arial MT"/>
                <a:cs typeface="Arial MT"/>
              </a:rPr>
              <a:t> </a:t>
            </a:r>
            <a:r>
              <a:rPr sz="2800" spc="-10" dirty="0">
                <a:solidFill>
                  <a:srgbClr val="2B2C2D"/>
                </a:solidFill>
                <a:latin typeface="Arial MT"/>
                <a:cs typeface="Arial MT"/>
              </a:rPr>
              <a:t>conditions </a:t>
            </a:r>
            <a:r>
              <a:rPr sz="2800" dirty="0">
                <a:solidFill>
                  <a:srgbClr val="2B2C2D"/>
                </a:solidFill>
                <a:latin typeface="Arial MT"/>
                <a:cs typeface="Arial MT"/>
              </a:rPr>
              <a:t>and</a:t>
            </a:r>
            <a:r>
              <a:rPr sz="2800" spc="-45" dirty="0">
                <a:solidFill>
                  <a:srgbClr val="2B2C2D"/>
                </a:solidFill>
                <a:latin typeface="Arial MT"/>
                <a:cs typeface="Arial MT"/>
              </a:rPr>
              <a:t> </a:t>
            </a:r>
            <a:r>
              <a:rPr sz="2800" dirty="0">
                <a:solidFill>
                  <a:srgbClr val="2B2C2D"/>
                </a:solidFill>
                <a:latin typeface="Arial MT"/>
                <a:cs typeface="Arial MT"/>
              </a:rPr>
              <a:t>results,</a:t>
            </a:r>
            <a:r>
              <a:rPr sz="2800" spc="-45" dirty="0">
                <a:solidFill>
                  <a:srgbClr val="2B2C2D"/>
                </a:solidFill>
                <a:latin typeface="Arial MT"/>
                <a:cs typeface="Arial MT"/>
              </a:rPr>
              <a:t> </a:t>
            </a:r>
            <a:r>
              <a:rPr sz="2800" dirty="0">
                <a:solidFill>
                  <a:srgbClr val="2B2C2D"/>
                </a:solidFill>
                <a:latin typeface="Arial MT"/>
                <a:cs typeface="Arial MT"/>
              </a:rPr>
              <a:t>so</a:t>
            </a:r>
            <a:r>
              <a:rPr sz="2800" spc="-45" dirty="0">
                <a:solidFill>
                  <a:srgbClr val="2B2C2D"/>
                </a:solidFill>
                <a:latin typeface="Arial MT"/>
                <a:cs typeface="Arial MT"/>
              </a:rPr>
              <a:t> </a:t>
            </a:r>
            <a:r>
              <a:rPr sz="2800" dirty="0">
                <a:solidFill>
                  <a:srgbClr val="2B2C2D"/>
                </a:solidFill>
                <a:latin typeface="Arial MT"/>
                <a:cs typeface="Arial MT"/>
              </a:rPr>
              <a:t>that</a:t>
            </a:r>
            <a:r>
              <a:rPr sz="2800" spc="-40" dirty="0">
                <a:solidFill>
                  <a:srgbClr val="2B2C2D"/>
                </a:solidFill>
                <a:latin typeface="Arial MT"/>
                <a:cs typeface="Arial MT"/>
              </a:rPr>
              <a:t> </a:t>
            </a:r>
            <a:r>
              <a:rPr sz="2800" dirty="0">
                <a:solidFill>
                  <a:srgbClr val="2B2C2D"/>
                </a:solidFill>
                <a:latin typeface="Arial MT"/>
                <a:cs typeface="Arial MT"/>
              </a:rPr>
              <a:t>the</a:t>
            </a:r>
            <a:r>
              <a:rPr sz="2800" spc="-45" dirty="0">
                <a:solidFill>
                  <a:srgbClr val="2B2C2D"/>
                </a:solidFill>
                <a:latin typeface="Arial MT"/>
                <a:cs typeface="Arial MT"/>
              </a:rPr>
              <a:t> </a:t>
            </a:r>
            <a:r>
              <a:rPr sz="2800" dirty="0">
                <a:solidFill>
                  <a:srgbClr val="2B2C2D"/>
                </a:solidFill>
                <a:latin typeface="Arial MT"/>
                <a:cs typeface="Arial MT"/>
              </a:rPr>
              <a:t>contract</a:t>
            </a:r>
            <a:r>
              <a:rPr sz="2800" spc="-50" dirty="0">
                <a:solidFill>
                  <a:srgbClr val="2B2C2D"/>
                </a:solidFill>
                <a:latin typeface="Arial MT"/>
                <a:cs typeface="Arial MT"/>
              </a:rPr>
              <a:t> </a:t>
            </a:r>
            <a:r>
              <a:rPr sz="2800" spc="-20" dirty="0">
                <a:solidFill>
                  <a:srgbClr val="2B2C2D"/>
                </a:solidFill>
                <a:latin typeface="Arial MT"/>
                <a:cs typeface="Arial MT"/>
              </a:rPr>
              <a:t>will </a:t>
            </a:r>
            <a:r>
              <a:rPr sz="2800" dirty="0">
                <a:solidFill>
                  <a:srgbClr val="2B2C2D"/>
                </a:solidFill>
                <a:latin typeface="Arial MT"/>
                <a:cs typeface="Arial MT"/>
              </a:rPr>
              <a:t>automatically</a:t>
            </a:r>
            <a:r>
              <a:rPr sz="2800" spc="-90" dirty="0">
                <a:solidFill>
                  <a:srgbClr val="2B2C2D"/>
                </a:solidFill>
                <a:latin typeface="Arial MT"/>
                <a:cs typeface="Arial MT"/>
              </a:rPr>
              <a:t> </a:t>
            </a:r>
            <a:r>
              <a:rPr sz="2800" dirty="0">
                <a:solidFill>
                  <a:srgbClr val="2B2C2D"/>
                </a:solidFill>
                <a:latin typeface="Arial MT"/>
                <a:cs typeface="Arial MT"/>
              </a:rPr>
              <a:t>be</a:t>
            </a:r>
            <a:r>
              <a:rPr sz="2800" spc="-85" dirty="0">
                <a:solidFill>
                  <a:srgbClr val="2B2C2D"/>
                </a:solidFill>
                <a:latin typeface="Arial MT"/>
                <a:cs typeface="Arial MT"/>
              </a:rPr>
              <a:t> </a:t>
            </a:r>
            <a:r>
              <a:rPr sz="2800" dirty="0">
                <a:solidFill>
                  <a:srgbClr val="2B2C2D"/>
                </a:solidFill>
                <a:latin typeface="Arial MT"/>
                <a:cs typeface="Arial MT"/>
              </a:rPr>
              <a:t>performed</a:t>
            </a:r>
            <a:r>
              <a:rPr sz="2800" spc="-75" dirty="0">
                <a:solidFill>
                  <a:srgbClr val="2B2C2D"/>
                </a:solidFill>
                <a:latin typeface="Arial MT"/>
                <a:cs typeface="Arial MT"/>
              </a:rPr>
              <a:t> </a:t>
            </a:r>
            <a:r>
              <a:rPr sz="2800" dirty="0">
                <a:solidFill>
                  <a:srgbClr val="2B2C2D"/>
                </a:solidFill>
                <a:latin typeface="Arial MT"/>
                <a:cs typeface="Arial MT"/>
              </a:rPr>
              <a:t>when</a:t>
            </a:r>
            <a:r>
              <a:rPr sz="2800" spc="-80" dirty="0">
                <a:solidFill>
                  <a:srgbClr val="2B2C2D"/>
                </a:solidFill>
                <a:latin typeface="Arial MT"/>
                <a:cs typeface="Arial MT"/>
              </a:rPr>
              <a:t> </a:t>
            </a:r>
            <a:r>
              <a:rPr sz="2800" spc="-10" dirty="0">
                <a:solidFill>
                  <a:srgbClr val="2B2C2D"/>
                </a:solidFill>
                <a:latin typeface="Arial MT"/>
                <a:cs typeface="Arial MT"/>
              </a:rPr>
              <a:t>those </a:t>
            </a:r>
            <a:r>
              <a:rPr sz="2800" dirty="0">
                <a:solidFill>
                  <a:srgbClr val="2B2C2D"/>
                </a:solidFill>
                <a:latin typeface="Arial MT"/>
                <a:cs typeface="Arial MT"/>
              </a:rPr>
              <a:t>conditions</a:t>
            </a:r>
            <a:r>
              <a:rPr sz="2800" spc="-65" dirty="0">
                <a:solidFill>
                  <a:srgbClr val="2B2C2D"/>
                </a:solidFill>
                <a:latin typeface="Arial MT"/>
                <a:cs typeface="Arial MT"/>
              </a:rPr>
              <a:t> </a:t>
            </a:r>
            <a:r>
              <a:rPr sz="2800" dirty="0">
                <a:solidFill>
                  <a:srgbClr val="2B2C2D"/>
                </a:solidFill>
                <a:latin typeface="Arial MT"/>
                <a:cs typeface="Arial MT"/>
              </a:rPr>
              <a:t>are</a:t>
            </a:r>
            <a:r>
              <a:rPr sz="2800" spc="-65" dirty="0">
                <a:solidFill>
                  <a:srgbClr val="2B2C2D"/>
                </a:solidFill>
                <a:latin typeface="Arial MT"/>
                <a:cs typeface="Arial MT"/>
              </a:rPr>
              <a:t> </a:t>
            </a:r>
            <a:r>
              <a:rPr sz="2800" spc="-10" dirty="0">
                <a:solidFill>
                  <a:srgbClr val="2B2C2D"/>
                </a:solidFill>
                <a:latin typeface="Arial MT"/>
                <a:cs typeface="Arial MT"/>
              </a:rPr>
              <a:t>triggered.</a:t>
            </a:r>
            <a:endParaRPr sz="2800">
              <a:latin typeface="Arial MT"/>
              <a:cs typeface="Arial MT"/>
            </a:endParaRPr>
          </a:p>
          <a:p>
            <a:pPr marL="928369" marR="699135"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In</a:t>
            </a:r>
            <a:r>
              <a:rPr sz="2800" spc="-60" dirty="0">
                <a:solidFill>
                  <a:srgbClr val="2B2C2D"/>
                </a:solidFill>
                <a:latin typeface="Arial MT"/>
                <a:cs typeface="Arial MT"/>
              </a:rPr>
              <a:t> </a:t>
            </a:r>
            <a:r>
              <a:rPr sz="2800" dirty="0">
                <a:solidFill>
                  <a:srgbClr val="2B2C2D"/>
                </a:solidFill>
                <a:latin typeface="Arial MT"/>
                <a:cs typeface="Arial MT"/>
              </a:rPr>
              <a:t>Ethereum</a:t>
            </a:r>
            <a:r>
              <a:rPr sz="2800" spc="-35" dirty="0">
                <a:solidFill>
                  <a:srgbClr val="2B2C2D"/>
                </a:solidFill>
                <a:latin typeface="Arial MT"/>
                <a:cs typeface="Arial MT"/>
              </a:rPr>
              <a:t> </a:t>
            </a:r>
            <a:r>
              <a:rPr sz="2800" dirty="0">
                <a:solidFill>
                  <a:srgbClr val="2B2C2D"/>
                </a:solidFill>
                <a:latin typeface="Arial MT"/>
                <a:cs typeface="Arial MT"/>
              </a:rPr>
              <a:t>the</a:t>
            </a:r>
            <a:r>
              <a:rPr sz="2800" spc="-60" dirty="0">
                <a:solidFill>
                  <a:srgbClr val="2B2C2D"/>
                </a:solidFill>
                <a:latin typeface="Arial MT"/>
                <a:cs typeface="Arial MT"/>
              </a:rPr>
              <a:t> </a:t>
            </a:r>
            <a:r>
              <a:rPr sz="2800" dirty="0">
                <a:solidFill>
                  <a:srgbClr val="2B2C2D"/>
                </a:solidFill>
                <a:latin typeface="Arial MT"/>
                <a:cs typeface="Arial MT"/>
              </a:rPr>
              <a:t>main</a:t>
            </a:r>
            <a:r>
              <a:rPr sz="2800" spc="-40" dirty="0">
                <a:solidFill>
                  <a:srgbClr val="2B2C2D"/>
                </a:solidFill>
                <a:latin typeface="Arial MT"/>
                <a:cs typeface="Arial MT"/>
              </a:rPr>
              <a:t> </a:t>
            </a:r>
            <a:r>
              <a:rPr sz="2800" spc="-10" dirty="0">
                <a:solidFill>
                  <a:srgbClr val="2B2C2D"/>
                </a:solidFill>
                <a:latin typeface="Arial MT"/>
                <a:cs typeface="Arial MT"/>
              </a:rPr>
              <a:t>programming </a:t>
            </a:r>
            <a:r>
              <a:rPr sz="2800" dirty="0">
                <a:solidFill>
                  <a:srgbClr val="2B2C2D"/>
                </a:solidFill>
                <a:latin typeface="Arial MT"/>
                <a:cs typeface="Arial MT"/>
              </a:rPr>
              <a:t>language</a:t>
            </a:r>
            <a:r>
              <a:rPr sz="2800" spc="-60" dirty="0">
                <a:solidFill>
                  <a:srgbClr val="2B2C2D"/>
                </a:solidFill>
                <a:latin typeface="Arial MT"/>
                <a:cs typeface="Arial MT"/>
              </a:rPr>
              <a:t> </a:t>
            </a:r>
            <a:r>
              <a:rPr sz="2800" dirty="0">
                <a:solidFill>
                  <a:srgbClr val="2B2C2D"/>
                </a:solidFill>
                <a:latin typeface="Arial MT"/>
                <a:cs typeface="Arial MT"/>
              </a:rPr>
              <a:t>for</a:t>
            </a:r>
            <a:r>
              <a:rPr sz="2800" spc="-70" dirty="0">
                <a:solidFill>
                  <a:srgbClr val="2B2C2D"/>
                </a:solidFill>
                <a:latin typeface="Arial MT"/>
                <a:cs typeface="Arial MT"/>
              </a:rPr>
              <a:t> </a:t>
            </a:r>
            <a:r>
              <a:rPr sz="2800" dirty="0">
                <a:solidFill>
                  <a:srgbClr val="2B2C2D"/>
                </a:solidFill>
                <a:latin typeface="Arial MT"/>
                <a:cs typeface="Arial MT"/>
              </a:rPr>
              <a:t>writing</a:t>
            </a:r>
            <a:r>
              <a:rPr sz="2800" spc="-60" dirty="0">
                <a:solidFill>
                  <a:srgbClr val="2B2C2D"/>
                </a:solidFill>
                <a:latin typeface="Arial MT"/>
                <a:cs typeface="Arial MT"/>
              </a:rPr>
              <a:t> </a:t>
            </a:r>
            <a:r>
              <a:rPr sz="2800" dirty="0">
                <a:solidFill>
                  <a:srgbClr val="2B2C2D"/>
                </a:solidFill>
                <a:latin typeface="Arial MT"/>
                <a:cs typeface="Arial MT"/>
              </a:rPr>
              <a:t>smart</a:t>
            </a:r>
            <a:r>
              <a:rPr sz="2800" spc="-65" dirty="0">
                <a:solidFill>
                  <a:srgbClr val="2B2C2D"/>
                </a:solidFill>
                <a:latin typeface="Arial MT"/>
                <a:cs typeface="Arial MT"/>
              </a:rPr>
              <a:t> </a:t>
            </a:r>
            <a:r>
              <a:rPr sz="2800" dirty="0">
                <a:solidFill>
                  <a:srgbClr val="2B2C2D"/>
                </a:solidFill>
                <a:latin typeface="Arial MT"/>
                <a:cs typeface="Arial MT"/>
              </a:rPr>
              <a:t>contracts</a:t>
            </a:r>
            <a:r>
              <a:rPr sz="2800" spc="-80" dirty="0">
                <a:solidFill>
                  <a:srgbClr val="2B2C2D"/>
                </a:solidFill>
                <a:latin typeface="Arial MT"/>
                <a:cs typeface="Arial MT"/>
              </a:rPr>
              <a:t> </a:t>
            </a:r>
            <a:r>
              <a:rPr sz="2800" spc="-25" dirty="0">
                <a:solidFill>
                  <a:srgbClr val="2B2C2D"/>
                </a:solidFill>
                <a:latin typeface="Arial MT"/>
                <a:cs typeface="Arial MT"/>
              </a:rPr>
              <a:t>is </a:t>
            </a:r>
            <a:r>
              <a:rPr sz="2800" b="1" spc="-10" dirty="0">
                <a:solidFill>
                  <a:srgbClr val="2B2C2D"/>
                </a:solidFill>
                <a:latin typeface="Arial"/>
                <a:cs typeface="Arial"/>
              </a:rPr>
              <a:t>Solidity</a:t>
            </a:r>
            <a:r>
              <a:rPr sz="2800" spc="-10" dirty="0">
                <a:solidFill>
                  <a:srgbClr val="2B2C2D"/>
                </a:solidFill>
                <a:latin typeface="Arial MT"/>
                <a:cs typeface="Arial MT"/>
              </a:rPr>
              <a:t>.</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609840" cy="272859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3:</a:t>
            </a:r>
            <a:r>
              <a:rPr sz="2800" b="1" spc="-65" dirty="0">
                <a:solidFill>
                  <a:srgbClr val="00339F"/>
                </a:solidFill>
                <a:latin typeface="Arial"/>
                <a:cs typeface="Arial"/>
              </a:rPr>
              <a:t> </a:t>
            </a:r>
            <a:r>
              <a:rPr sz="2800" b="1" spc="-10" dirty="0">
                <a:solidFill>
                  <a:srgbClr val="00339F"/>
                </a:solidFill>
                <a:latin typeface="Arial"/>
                <a:cs typeface="Arial"/>
              </a:rPr>
              <a:t>Coding</a:t>
            </a:r>
            <a:endParaRPr sz="2800">
              <a:latin typeface="Arial"/>
              <a:cs typeface="Arial"/>
            </a:endParaRPr>
          </a:p>
          <a:p>
            <a:pPr>
              <a:lnSpc>
                <a:spcPct val="100000"/>
              </a:lnSpc>
              <a:spcBef>
                <a:spcPts val="270"/>
              </a:spcBef>
            </a:pPr>
            <a:endParaRPr sz="2800">
              <a:latin typeface="Arial"/>
              <a:cs typeface="Arial"/>
            </a:endParaRPr>
          </a:p>
          <a:p>
            <a:pPr marL="471170">
              <a:lnSpc>
                <a:spcPct val="100000"/>
              </a:lnSpc>
            </a:pPr>
            <a:r>
              <a:rPr sz="2800" b="1" dirty="0">
                <a:solidFill>
                  <a:srgbClr val="2B2C2D"/>
                </a:solidFill>
                <a:latin typeface="Arial"/>
                <a:cs typeface="Arial"/>
              </a:rPr>
              <a:t>Key</a:t>
            </a:r>
            <a:r>
              <a:rPr sz="2800" b="1" spc="-50" dirty="0">
                <a:solidFill>
                  <a:srgbClr val="2B2C2D"/>
                </a:solidFill>
                <a:latin typeface="Arial"/>
                <a:cs typeface="Arial"/>
              </a:rPr>
              <a:t> </a:t>
            </a:r>
            <a:r>
              <a:rPr sz="2800" b="1" spc="-10" dirty="0">
                <a:solidFill>
                  <a:srgbClr val="2B2C2D"/>
                </a:solidFill>
                <a:latin typeface="Arial"/>
                <a:cs typeface="Arial"/>
              </a:rPr>
              <a:t>Point:</a:t>
            </a:r>
            <a:endParaRPr sz="2800">
              <a:latin typeface="Arial"/>
              <a:cs typeface="Arial"/>
            </a:endParaRPr>
          </a:p>
          <a:p>
            <a:pPr marL="928369" marR="508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smart</a:t>
            </a:r>
            <a:r>
              <a:rPr sz="2800" spc="-65" dirty="0">
                <a:solidFill>
                  <a:srgbClr val="2B2C2D"/>
                </a:solidFill>
                <a:latin typeface="Arial MT"/>
                <a:cs typeface="Arial MT"/>
              </a:rPr>
              <a:t> </a:t>
            </a:r>
            <a:r>
              <a:rPr sz="2800" dirty="0">
                <a:solidFill>
                  <a:srgbClr val="2B2C2D"/>
                </a:solidFill>
                <a:latin typeface="Arial MT"/>
                <a:cs typeface="Arial MT"/>
              </a:rPr>
              <a:t>contract</a:t>
            </a:r>
            <a:r>
              <a:rPr sz="2800" spc="-60" dirty="0">
                <a:solidFill>
                  <a:srgbClr val="2B2C2D"/>
                </a:solidFill>
                <a:latin typeface="Arial MT"/>
                <a:cs typeface="Arial MT"/>
              </a:rPr>
              <a:t> </a:t>
            </a:r>
            <a:r>
              <a:rPr sz="2800" dirty="0">
                <a:solidFill>
                  <a:srgbClr val="2B2C2D"/>
                </a:solidFill>
                <a:latin typeface="Arial MT"/>
                <a:cs typeface="Arial MT"/>
              </a:rPr>
              <a:t>therefore</a:t>
            </a:r>
            <a:r>
              <a:rPr sz="2800" spc="-50" dirty="0">
                <a:solidFill>
                  <a:srgbClr val="2B2C2D"/>
                </a:solidFill>
                <a:latin typeface="Arial MT"/>
                <a:cs typeface="Arial MT"/>
              </a:rPr>
              <a:t> </a:t>
            </a:r>
            <a:r>
              <a:rPr sz="2800" dirty="0">
                <a:solidFill>
                  <a:srgbClr val="2B2C2D"/>
                </a:solidFill>
                <a:latin typeface="Arial MT"/>
                <a:cs typeface="Arial MT"/>
              </a:rPr>
              <a:t>always</a:t>
            </a:r>
            <a:r>
              <a:rPr sz="2800" spc="-55" dirty="0">
                <a:solidFill>
                  <a:srgbClr val="2B2C2D"/>
                </a:solidFill>
                <a:latin typeface="Arial MT"/>
                <a:cs typeface="Arial MT"/>
              </a:rPr>
              <a:t> </a:t>
            </a:r>
            <a:r>
              <a:rPr sz="2800" dirty="0">
                <a:solidFill>
                  <a:srgbClr val="2B2C2D"/>
                </a:solidFill>
                <a:latin typeface="Arial MT"/>
                <a:cs typeface="Arial MT"/>
              </a:rPr>
              <a:t>has</a:t>
            </a:r>
            <a:r>
              <a:rPr sz="2800" spc="-60" dirty="0">
                <a:solidFill>
                  <a:srgbClr val="2B2C2D"/>
                </a:solidFill>
                <a:latin typeface="Arial MT"/>
                <a:cs typeface="Arial MT"/>
              </a:rPr>
              <a:t> </a:t>
            </a:r>
            <a:r>
              <a:rPr sz="2800" b="1" spc="-25" dirty="0">
                <a:solidFill>
                  <a:srgbClr val="2B2C2D"/>
                </a:solidFill>
                <a:latin typeface="Arial"/>
                <a:cs typeface="Arial"/>
              </a:rPr>
              <a:t>two </a:t>
            </a:r>
            <a:r>
              <a:rPr sz="2800" b="1" dirty="0">
                <a:solidFill>
                  <a:srgbClr val="2B2C2D"/>
                </a:solidFill>
                <a:latin typeface="Arial"/>
                <a:cs typeface="Arial"/>
              </a:rPr>
              <a:t>versions:</a:t>
            </a:r>
            <a:r>
              <a:rPr sz="2800" b="1" spc="655" dirty="0">
                <a:solidFill>
                  <a:srgbClr val="2B2C2D"/>
                </a:solidFill>
                <a:latin typeface="Arial"/>
                <a:cs typeface="Arial"/>
              </a:rPr>
              <a:t> </a:t>
            </a:r>
            <a:r>
              <a:rPr sz="2800" dirty="0">
                <a:solidFill>
                  <a:srgbClr val="2B2C2D"/>
                </a:solidFill>
                <a:latin typeface="Arial MT"/>
                <a:cs typeface="Arial MT"/>
              </a:rPr>
              <a:t>the</a:t>
            </a:r>
            <a:r>
              <a:rPr sz="2800" spc="-75" dirty="0">
                <a:solidFill>
                  <a:srgbClr val="2B2C2D"/>
                </a:solidFill>
                <a:latin typeface="Arial MT"/>
                <a:cs typeface="Arial MT"/>
              </a:rPr>
              <a:t> </a:t>
            </a:r>
            <a:r>
              <a:rPr sz="2800" dirty="0">
                <a:solidFill>
                  <a:srgbClr val="2B2C2D"/>
                </a:solidFill>
                <a:latin typeface="Arial MT"/>
                <a:cs typeface="Arial MT"/>
              </a:rPr>
              <a:t>human</a:t>
            </a:r>
            <a:r>
              <a:rPr sz="2800" spc="-40" dirty="0">
                <a:solidFill>
                  <a:srgbClr val="2B2C2D"/>
                </a:solidFill>
                <a:latin typeface="Arial MT"/>
                <a:cs typeface="Arial MT"/>
              </a:rPr>
              <a:t> </a:t>
            </a:r>
            <a:r>
              <a:rPr sz="2800" dirty="0">
                <a:solidFill>
                  <a:srgbClr val="2B2C2D"/>
                </a:solidFill>
                <a:latin typeface="Arial MT"/>
                <a:cs typeface="Arial MT"/>
              </a:rPr>
              <a:t>language</a:t>
            </a:r>
            <a:r>
              <a:rPr sz="2800" spc="-50" dirty="0">
                <a:solidFill>
                  <a:srgbClr val="2B2C2D"/>
                </a:solidFill>
                <a:latin typeface="Arial MT"/>
                <a:cs typeface="Arial MT"/>
              </a:rPr>
              <a:t> </a:t>
            </a:r>
            <a:r>
              <a:rPr sz="2800" spc="-10" dirty="0">
                <a:solidFill>
                  <a:srgbClr val="2B2C2D"/>
                </a:solidFill>
                <a:latin typeface="Arial MT"/>
                <a:cs typeface="Arial MT"/>
              </a:rPr>
              <a:t>version </a:t>
            </a:r>
            <a:r>
              <a:rPr sz="2800" dirty="0">
                <a:solidFill>
                  <a:srgbClr val="2B2C2D"/>
                </a:solidFill>
                <a:latin typeface="Arial MT"/>
                <a:cs typeface="Arial MT"/>
              </a:rPr>
              <a:t>and</a:t>
            </a:r>
            <a:r>
              <a:rPr sz="2800" spc="-55"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machine</a:t>
            </a:r>
            <a:r>
              <a:rPr sz="2800" spc="-35" dirty="0">
                <a:solidFill>
                  <a:srgbClr val="2B2C2D"/>
                </a:solidFill>
                <a:latin typeface="Arial MT"/>
                <a:cs typeface="Arial MT"/>
              </a:rPr>
              <a:t> </a:t>
            </a:r>
            <a:r>
              <a:rPr sz="2800" dirty="0">
                <a:solidFill>
                  <a:srgbClr val="2B2C2D"/>
                </a:solidFill>
                <a:latin typeface="Arial MT"/>
                <a:cs typeface="Arial MT"/>
              </a:rPr>
              <a:t>code</a:t>
            </a:r>
            <a:r>
              <a:rPr sz="2800" spc="-55" dirty="0">
                <a:solidFill>
                  <a:srgbClr val="2B2C2D"/>
                </a:solidFill>
                <a:latin typeface="Arial MT"/>
                <a:cs typeface="Arial MT"/>
              </a:rPr>
              <a:t> </a:t>
            </a:r>
            <a:r>
              <a:rPr sz="2800" spc="-10" dirty="0">
                <a:solidFill>
                  <a:srgbClr val="2B2C2D"/>
                </a:solidFill>
                <a:latin typeface="Arial MT"/>
                <a:cs typeface="Arial MT"/>
              </a:rPr>
              <a:t>version.</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50" dirty="0"/>
              <a:t> </a:t>
            </a:r>
            <a:r>
              <a:rPr dirty="0"/>
              <a:t>a</a:t>
            </a:r>
            <a:r>
              <a:rPr spc="-60" dirty="0"/>
              <a:t> </a:t>
            </a:r>
            <a:r>
              <a:rPr dirty="0"/>
              <a:t>Smart</a:t>
            </a:r>
            <a:r>
              <a:rPr spc="-65" dirty="0"/>
              <a:t> </a:t>
            </a:r>
            <a:r>
              <a:rPr dirty="0"/>
              <a:t>Contract:</a:t>
            </a:r>
            <a:r>
              <a:rPr spc="-35" dirty="0"/>
              <a:t> </a:t>
            </a:r>
            <a:r>
              <a:rPr dirty="0"/>
              <a:t>Step</a:t>
            </a:r>
            <a:r>
              <a:rPr spc="-55" dirty="0"/>
              <a:t> </a:t>
            </a:r>
            <a:r>
              <a:rPr dirty="0"/>
              <a:t>3:</a:t>
            </a:r>
            <a:r>
              <a:rPr spc="-65" dirty="0"/>
              <a:t> </a:t>
            </a:r>
            <a:r>
              <a:rPr spc="-10" dirty="0"/>
              <a:t>Coding</a:t>
            </a:r>
          </a:p>
        </p:txBody>
      </p:sp>
      <p:grpSp>
        <p:nvGrpSpPr>
          <p:cNvPr id="3" name="object 3"/>
          <p:cNvGrpSpPr/>
          <p:nvPr/>
        </p:nvGrpSpPr>
        <p:grpSpPr>
          <a:xfrm>
            <a:off x="844296" y="1329055"/>
            <a:ext cx="3528060" cy="4773295"/>
            <a:chOff x="844296" y="1329055"/>
            <a:chExt cx="3528060" cy="4773295"/>
          </a:xfrm>
        </p:grpSpPr>
        <p:pic>
          <p:nvPicPr>
            <p:cNvPr id="4" name="object 4"/>
            <p:cNvPicPr/>
            <p:nvPr/>
          </p:nvPicPr>
          <p:blipFill>
            <a:blip r:embed="rId2" cstate="print"/>
            <a:stretch>
              <a:fillRect/>
            </a:stretch>
          </p:blipFill>
          <p:spPr>
            <a:xfrm>
              <a:off x="860205" y="1346386"/>
              <a:ext cx="3500361" cy="4743517"/>
            </a:xfrm>
            <a:prstGeom prst="rect">
              <a:avLst/>
            </a:prstGeom>
          </p:spPr>
        </p:pic>
        <p:sp>
          <p:nvSpPr>
            <p:cNvPr id="5" name="object 5"/>
            <p:cNvSpPr/>
            <p:nvPr/>
          </p:nvSpPr>
          <p:spPr>
            <a:xfrm>
              <a:off x="844296" y="1329055"/>
              <a:ext cx="3528060" cy="4773295"/>
            </a:xfrm>
            <a:custGeom>
              <a:avLst/>
              <a:gdLst/>
              <a:ahLst/>
              <a:cxnLst/>
              <a:rect l="l" t="t" r="r" b="b"/>
              <a:pathLst>
                <a:path w="3528060" h="4773295">
                  <a:moveTo>
                    <a:pt x="3521964" y="0"/>
                  </a:moveTo>
                  <a:lnTo>
                    <a:pt x="6095" y="0"/>
                  </a:lnTo>
                  <a:lnTo>
                    <a:pt x="0" y="7493"/>
                  </a:lnTo>
                  <a:lnTo>
                    <a:pt x="0" y="4765421"/>
                  </a:lnTo>
                  <a:lnTo>
                    <a:pt x="6095" y="4773168"/>
                  </a:lnTo>
                  <a:lnTo>
                    <a:pt x="3521964" y="4773168"/>
                  </a:lnTo>
                  <a:lnTo>
                    <a:pt x="3528059" y="4765421"/>
                  </a:lnTo>
                  <a:lnTo>
                    <a:pt x="3528059" y="4757928"/>
                  </a:lnTo>
                  <a:lnTo>
                    <a:pt x="27431" y="4757928"/>
                  </a:lnTo>
                  <a:lnTo>
                    <a:pt x="13588" y="4744085"/>
                  </a:lnTo>
                  <a:lnTo>
                    <a:pt x="27431" y="4744085"/>
                  </a:lnTo>
                  <a:lnTo>
                    <a:pt x="27431" y="28956"/>
                  </a:lnTo>
                  <a:lnTo>
                    <a:pt x="13588" y="28956"/>
                  </a:lnTo>
                  <a:lnTo>
                    <a:pt x="27431" y="15112"/>
                  </a:lnTo>
                  <a:lnTo>
                    <a:pt x="3528059" y="15112"/>
                  </a:lnTo>
                  <a:lnTo>
                    <a:pt x="3528059" y="7493"/>
                  </a:lnTo>
                  <a:lnTo>
                    <a:pt x="3521964" y="0"/>
                  </a:lnTo>
                  <a:close/>
                </a:path>
                <a:path w="3528060" h="4773295">
                  <a:moveTo>
                    <a:pt x="27431" y="4744085"/>
                  </a:moveTo>
                  <a:lnTo>
                    <a:pt x="13588" y="4744085"/>
                  </a:lnTo>
                  <a:lnTo>
                    <a:pt x="27431" y="4757928"/>
                  </a:lnTo>
                  <a:lnTo>
                    <a:pt x="27431" y="4744085"/>
                  </a:lnTo>
                  <a:close/>
                </a:path>
                <a:path w="3528060" h="4773295">
                  <a:moveTo>
                    <a:pt x="3499104" y="4744085"/>
                  </a:moveTo>
                  <a:lnTo>
                    <a:pt x="27431" y="4744085"/>
                  </a:lnTo>
                  <a:lnTo>
                    <a:pt x="27431" y="4757928"/>
                  </a:lnTo>
                  <a:lnTo>
                    <a:pt x="3499104" y="4757928"/>
                  </a:lnTo>
                  <a:lnTo>
                    <a:pt x="3499104" y="4744085"/>
                  </a:lnTo>
                  <a:close/>
                </a:path>
                <a:path w="3528060" h="4773295">
                  <a:moveTo>
                    <a:pt x="3499104" y="15112"/>
                  </a:moveTo>
                  <a:lnTo>
                    <a:pt x="3499104" y="4757928"/>
                  </a:lnTo>
                  <a:lnTo>
                    <a:pt x="3514216" y="4744085"/>
                  </a:lnTo>
                  <a:lnTo>
                    <a:pt x="3528059" y="4744085"/>
                  </a:lnTo>
                  <a:lnTo>
                    <a:pt x="3528059" y="28956"/>
                  </a:lnTo>
                  <a:lnTo>
                    <a:pt x="3514216" y="28956"/>
                  </a:lnTo>
                  <a:lnTo>
                    <a:pt x="3499104" y="15112"/>
                  </a:lnTo>
                  <a:close/>
                </a:path>
                <a:path w="3528060" h="4773295">
                  <a:moveTo>
                    <a:pt x="3528059" y="4744085"/>
                  </a:moveTo>
                  <a:lnTo>
                    <a:pt x="3514216" y="4744085"/>
                  </a:lnTo>
                  <a:lnTo>
                    <a:pt x="3499104" y="4757928"/>
                  </a:lnTo>
                  <a:lnTo>
                    <a:pt x="3528059" y="4757928"/>
                  </a:lnTo>
                  <a:lnTo>
                    <a:pt x="3528059" y="4744085"/>
                  </a:lnTo>
                  <a:close/>
                </a:path>
                <a:path w="3528060" h="4773295">
                  <a:moveTo>
                    <a:pt x="27431" y="15112"/>
                  </a:moveTo>
                  <a:lnTo>
                    <a:pt x="13588" y="28956"/>
                  </a:lnTo>
                  <a:lnTo>
                    <a:pt x="27431" y="28956"/>
                  </a:lnTo>
                  <a:lnTo>
                    <a:pt x="27431" y="15112"/>
                  </a:lnTo>
                  <a:close/>
                </a:path>
                <a:path w="3528060" h="4773295">
                  <a:moveTo>
                    <a:pt x="3499104" y="15112"/>
                  </a:moveTo>
                  <a:lnTo>
                    <a:pt x="27431" y="15112"/>
                  </a:lnTo>
                  <a:lnTo>
                    <a:pt x="27431" y="28956"/>
                  </a:lnTo>
                  <a:lnTo>
                    <a:pt x="3499104" y="28956"/>
                  </a:lnTo>
                  <a:lnTo>
                    <a:pt x="3499104" y="15112"/>
                  </a:lnTo>
                  <a:close/>
                </a:path>
                <a:path w="3528060" h="4773295">
                  <a:moveTo>
                    <a:pt x="3528059" y="15112"/>
                  </a:moveTo>
                  <a:lnTo>
                    <a:pt x="3499104" y="15112"/>
                  </a:lnTo>
                  <a:lnTo>
                    <a:pt x="3514216" y="28956"/>
                  </a:lnTo>
                  <a:lnTo>
                    <a:pt x="3528059" y="28956"/>
                  </a:lnTo>
                  <a:lnTo>
                    <a:pt x="3528059" y="15112"/>
                  </a:lnTo>
                  <a:close/>
                </a:path>
              </a:pathLst>
            </a:custGeom>
            <a:solidFill>
              <a:srgbClr val="00339F"/>
            </a:solidFill>
          </p:spPr>
          <p:txBody>
            <a:bodyPr wrap="square" lIns="0" tIns="0" rIns="0" bIns="0" rtlCol="0"/>
            <a:lstStyle/>
            <a:p>
              <a:endParaRPr/>
            </a:p>
          </p:txBody>
        </p:sp>
      </p:grpSp>
      <p:sp>
        <p:nvSpPr>
          <p:cNvPr id="6" name="object 6"/>
          <p:cNvSpPr txBox="1">
            <a:spLocks noGrp="1"/>
          </p:cNvSpPr>
          <p:nvPr>
            <p:ph sz="half" idx="2"/>
          </p:nvPr>
        </p:nvSpPr>
        <p:spPr>
          <a:prstGeom prst="rect">
            <a:avLst/>
          </a:prstGeom>
        </p:spPr>
        <p:txBody>
          <a:bodyPr vert="horz" wrap="square" lIns="0" tIns="139065" rIns="0" bIns="0" rtlCol="0">
            <a:spAutoFit/>
          </a:bodyPr>
          <a:lstStyle/>
          <a:p>
            <a:pPr marL="12700">
              <a:lnSpc>
                <a:spcPct val="100000"/>
              </a:lnSpc>
              <a:spcBef>
                <a:spcPts val="1095"/>
              </a:spcBef>
            </a:pPr>
            <a:r>
              <a:rPr dirty="0"/>
              <a:t>Written</a:t>
            </a:r>
            <a:r>
              <a:rPr spc="-85" dirty="0"/>
              <a:t> </a:t>
            </a:r>
            <a:r>
              <a:rPr spc="-10" dirty="0"/>
              <a:t>Contract:</a:t>
            </a:r>
          </a:p>
          <a:p>
            <a:pPr marL="469265" indent="-456565">
              <a:lnSpc>
                <a:spcPct val="100000"/>
              </a:lnSpc>
              <a:spcBef>
                <a:spcPts val="994"/>
              </a:spcBef>
              <a:buClr>
                <a:srgbClr val="6D2C91"/>
              </a:buClr>
              <a:buFont typeface="Wingdings"/>
              <a:buChar char=""/>
              <a:tabLst>
                <a:tab pos="469265" algn="l"/>
              </a:tabLst>
            </a:pPr>
            <a:r>
              <a:rPr b="0" dirty="0">
                <a:latin typeface="Arial MT"/>
                <a:cs typeface="Arial MT"/>
              </a:rPr>
              <a:t>Human</a:t>
            </a:r>
            <a:r>
              <a:rPr b="0" spc="-70" dirty="0">
                <a:latin typeface="Arial MT"/>
                <a:cs typeface="Arial MT"/>
              </a:rPr>
              <a:t> </a:t>
            </a:r>
            <a:r>
              <a:rPr b="0" spc="-10" dirty="0">
                <a:latin typeface="Arial MT"/>
                <a:cs typeface="Arial MT"/>
              </a:rPr>
              <a:t>language</a:t>
            </a:r>
          </a:p>
          <a:p>
            <a:pPr marL="469265" marR="941069" indent="-457200">
              <a:lnSpc>
                <a:spcPct val="100000"/>
              </a:lnSpc>
              <a:spcBef>
                <a:spcPts val="994"/>
              </a:spcBef>
              <a:buClr>
                <a:srgbClr val="6D2C91"/>
              </a:buClr>
              <a:buFont typeface="Wingdings"/>
              <a:buChar char=""/>
              <a:tabLst>
                <a:tab pos="469265" algn="l"/>
              </a:tabLst>
            </a:pPr>
            <a:r>
              <a:rPr b="0" dirty="0">
                <a:latin typeface="Arial MT"/>
                <a:cs typeface="Arial MT"/>
              </a:rPr>
              <a:t>All</a:t>
            </a:r>
            <a:r>
              <a:rPr b="0" spc="-45" dirty="0">
                <a:latin typeface="Arial MT"/>
                <a:cs typeface="Arial MT"/>
              </a:rPr>
              <a:t> </a:t>
            </a:r>
            <a:r>
              <a:rPr b="0" dirty="0">
                <a:latin typeface="Arial MT"/>
                <a:cs typeface="Arial MT"/>
              </a:rPr>
              <a:t>parts</a:t>
            </a:r>
            <a:r>
              <a:rPr b="0" spc="-30" dirty="0">
                <a:latin typeface="Arial MT"/>
                <a:cs typeface="Arial MT"/>
              </a:rPr>
              <a:t> </a:t>
            </a:r>
            <a:r>
              <a:rPr b="0" spc="-25" dirty="0">
                <a:latin typeface="Arial MT"/>
                <a:cs typeface="Arial MT"/>
              </a:rPr>
              <a:t>of </a:t>
            </a:r>
            <a:r>
              <a:rPr b="0" spc="-10" dirty="0">
                <a:latin typeface="Arial MT"/>
                <a:cs typeface="Arial MT"/>
              </a:rPr>
              <a:t>agreement</a:t>
            </a:r>
          </a:p>
          <a:p>
            <a:pPr marL="469265" marR="8890" indent="-457200">
              <a:lnSpc>
                <a:spcPct val="100000"/>
              </a:lnSpc>
              <a:spcBef>
                <a:spcPts val="1010"/>
              </a:spcBef>
              <a:buClr>
                <a:srgbClr val="6D2C91"/>
              </a:buClr>
              <a:buFont typeface="Wingdings"/>
              <a:buChar char=""/>
              <a:tabLst>
                <a:tab pos="469265" algn="l"/>
              </a:tabLst>
            </a:pPr>
            <a:r>
              <a:rPr b="0" dirty="0">
                <a:latin typeface="Arial MT"/>
                <a:cs typeface="Arial MT"/>
              </a:rPr>
              <a:t>Freely</a:t>
            </a:r>
            <a:r>
              <a:rPr b="0" spc="-70" dirty="0">
                <a:latin typeface="Arial MT"/>
                <a:cs typeface="Arial MT"/>
              </a:rPr>
              <a:t> </a:t>
            </a:r>
            <a:r>
              <a:rPr b="0" spc="-10" dirty="0">
                <a:latin typeface="Arial MT"/>
                <a:cs typeface="Arial MT"/>
              </a:rPr>
              <a:t>modifiable </a:t>
            </a:r>
            <a:r>
              <a:rPr b="0" dirty="0">
                <a:latin typeface="Arial MT"/>
                <a:cs typeface="Arial MT"/>
              </a:rPr>
              <a:t>in</a:t>
            </a:r>
            <a:r>
              <a:rPr b="0" spc="-40" dirty="0">
                <a:latin typeface="Arial MT"/>
                <a:cs typeface="Arial MT"/>
              </a:rPr>
              <a:t> </a:t>
            </a:r>
            <a:r>
              <a:rPr b="0" dirty="0">
                <a:latin typeface="Arial MT"/>
                <a:cs typeface="Arial MT"/>
              </a:rPr>
              <a:t>writing</a:t>
            </a:r>
            <a:r>
              <a:rPr b="0" spc="-35" dirty="0">
                <a:latin typeface="Arial MT"/>
                <a:cs typeface="Arial MT"/>
              </a:rPr>
              <a:t> </a:t>
            </a:r>
            <a:r>
              <a:rPr b="0" dirty="0">
                <a:latin typeface="Arial MT"/>
                <a:cs typeface="Arial MT"/>
              </a:rPr>
              <a:t>by</a:t>
            </a:r>
            <a:r>
              <a:rPr b="0" spc="-45" dirty="0">
                <a:latin typeface="Arial MT"/>
                <a:cs typeface="Arial MT"/>
              </a:rPr>
              <a:t> </a:t>
            </a:r>
            <a:r>
              <a:rPr b="0" spc="-25" dirty="0">
                <a:latin typeface="Arial MT"/>
                <a:cs typeface="Arial MT"/>
              </a:rPr>
              <a:t>the </a:t>
            </a:r>
            <a:r>
              <a:rPr b="0" spc="-10" dirty="0">
                <a:latin typeface="Arial MT"/>
                <a:cs typeface="Arial MT"/>
              </a:rPr>
              <a:t>parties.</a:t>
            </a:r>
          </a:p>
          <a:p>
            <a:pPr marL="469265" marR="594995" indent="-457200">
              <a:lnSpc>
                <a:spcPct val="100000"/>
              </a:lnSpc>
              <a:spcBef>
                <a:spcPts val="994"/>
              </a:spcBef>
              <a:buClr>
                <a:srgbClr val="6D2C91"/>
              </a:buClr>
              <a:buFont typeface="Wingdings"/>
              <a:buChar char=""/>
              <a:tabLst>
                <a:tab pos="469265" algn="l"/>
              </a:tabLst>
            </a:pPr>
            <a:r>
              <a:rPr b="0" dirty="0">
                <a:latin typeface="Arial MT"/>
                <a:cs typeface="Arial MT"/>
              </a:rPr>
              <a:t>Subject</a:t>
            </a:r>
            <a:r>
              <a:rPr b="0" spc="-75" dirty="0">
                <a:latin typeface="Arial MT"/>
                <a:cs typeface="Arial MT"/>
              </a:rPr>
              <a:t> </a:t>
            </a:r>
            <a:r>
              <a:rPr b="0" spc="-25" dirty="0">
                <a:latin typeface="Arial MT"/>
                <a:cs typeface="Arial MT"/>
              </a:rPr>
              <a:t>to </a:t>
            </a:r>
            <a:r>
              <a:rPr b="0" spc="-10" dirty="0">
                <a:latin typeface="Arial MT"/>
                <a:cs typeface="Arial MT"/>
              </a:rPr>
              <a:t>interpretation</a:t>
            </a:r>
          </a:p>
        </p:txBody>
      </p:sp>
      <p:grpSp>
        <p:nvGrpSpPr>
          <p:cNvPr id="7" name="object 7"/>
          <p:cNvGrpSpPr/>
          <p:nvPr/>
        </p:nvGrpSpPr>
        <p:grpSpPr>
          <a:xfrm>
            <a:off x="4529328" y="1329055"/>
            <a:ext cx="3601085" cy="4773295"/>
            <a:chOff x="4529328" y="1329055"/>
            <a:chExt cx="3601085" cy="4773295"/>
          </a:xfrm>
        </p:grpSpPr>
        <p:pic>
          <p:nvPicPr>
            <p:cNvPr id="8" name="object 8"/>
            <p:cNvPicPr/>
            <p:nvPr/>
          </p:nvPicPr>
          <p:blipFill>
            <a:blip r:embed="rId3" cstate="print"/>
            <a:stretch>
              <a:fillRect/>
            </a:stretch>
          </p:blipFill>
          <p:spPr>
            <a:xfrm>
              <a:off x="4546775" y="1346386"/>
              <a:ext cx="3571535" cy="4743517"/>
            </a:xfrm>
            <a:prstGeom prst="rect">
              <a:avLst/>
            </a:prstGeom>
          </p:spPr>
        </p:pic>
        <p:sp>
          <p:nvSpPr>
            <p:cNvPr id="9" name="object 9"/>
            <p:cNvSpPr/>
            <p:nvPr/>
          </p:nvSpPr>
          <p:spPr>
            <a:xfrm>
              <a:off x="4529328" y="1329055"/>
              <a:ext cx="3601085" cy="4773295"/>
            </a:xfrm>
            <a:custGeom>
              <a:avLst/>
              <a:gdLst/>
              <a:ahLst/>
              <a:cxnLst/>
              <a:rect l="l" t="t" r="r" b="b"/>
              <a:pathLst>
                <a:path w="3601084" h="4773295">
                  <a:moveTo>
                    <a:pt x="3594989" y="0"/>
                  </a:moveTo>
                  <a:lnTo>
                    <a:pt x="7493" y="0"/>
                  </a:lnTo>
                  <a:lnTo>
                    <a:pt x="0" y="7493"/>
                  </a:lnTo>
                  <a:lnTo>
                    <a:pt x="0" y="4765421"/>
                  </a:lnTo>
                  <a:lnTo>
                    <a:pt x="7493" y="4773168"/>
                  </a:lnTo>
                  <a:lnTo>
                    <a:pt x="3594989" y="4773168"/>
                  </a:lnTo>
                  <a:lnTo>
                    <a:pt x="3601085" y="4765421"/>
                  </a:lnTo>
                  <a:lnTo>
                    <a:pt x="3601085" y="4757928"/>
                  </a:lnTo>
                  <a:lnTo>
                    <a:pt x="28956" y="4757928"/>
                  </a:lnTo>
                  <a:lnTo>
                    <a:pt x="15112" y="4744085"/>
                  </a:lnTo>
                  <a:lnTo>
                    <a:pt x="28956" y="4744085"/>
                  </a:lnTo>
                  <a:lnTo>
                    <a:pt x="28956" y="28956"/>
                  </a:lnTo>
                  <a:lnTo>
                    <a:pt x="15112" y="28956"/>
                  </a:lnTo>
                  <a:lnTo>
                    <a:pt x="28956" y="15112"/>
                  </a:lnTo>
                  <a:lnTo>
                    <a:pt x="3601085" y="15112"/>
                  </a:lnTo>
                  <a:lnTo>
                    <a:pt x="3601085" y="7493"/>
                  </a:lnTo>
                  <a:lnTo>
                    <a:pt x="3594989" y="0"/>
                  </a:lnTo>
                  <a:close/>
                </a:path>
                <a:path w="3601084" h="4773295">
                  <a:moveTo>
                    <a:pt x="28956" y="4744085"/>
                  </a:moveTo>
                  <a:lnTo>
                    <a:pt x="15112" y="4744085"/>
                  </a:lnTo>
                  <a:lnTo>
                    <a:pt x="28956" y="4757928"/>
                  </a:lnTo>
                  <a:lnTo>
                    <a:pt x="28956" y="4744085"/>
                  </a:lnTo>
                  <a:close/>
                </a:path>
                <a:path w="3601084" h="4773295">
                  <a:moveTo>
                    <a:pt x="3572255" y="4744085"/>
                  </a:moveTo>
                  <a:lnTo>
                    <a:pt x="28956" y="4744085"/>
                  </a:lnTo>
                  <a:lnTo>
                    <a:pt x="28956" y="4757928"/>
                  </a:lnTo>
                  <a:lnTo>
                    <a:pt x="3572255" y="4757928"/>
                  </a:lnTo>
                  <a:lnTo>
                    <a:pt x="3572255" y="4744085"/>
                  </a:lnTo>
                  <a:close/>
                </a:path>
                <a:path w="3601084" h="4773295">
                  <a:moveTo>
                    <a:pt x="3572255" y="15112"/>
                  </a:moveTo>
                  <a:lnTo>
                    <a:pt x="3572255" y="4757928"/>
                  </a:lnTo>
                  <a:lnTo>
                    <a:pt x="3585972" y="4744085"/>
                  </a:lnTo>
                  <a:lnTo>
                    <a:pt x="3601085" y="4744085"/>
                  </a:lnTo>
                  <a:lnTo>
                    <a:pt x="3601085" y="28956"/>
                  </a:lnTo>
                  <a:lnTo>
                    <a:pt x="3585972" y="28956"/>
                  </a:lnTo>
                  <a:lnTo>
                    <a:pt x="3572255" y="15112"/>
                  </a:lnTo>
                  <a:close/>
                </a:path>
                <a:path w="3601084" h="4773295">
                  <a:moveTo>
                    <a:pt x="3601085" y="4744085"/>
                  </a:moveTo>
                  <a:lnTo>
                    <a:pt x="3585972" y="4744085"/>
                  </a:lnTo>
                  <a:lnTo>
                    <a:pt x="3572255" y="4757928"/>
                  </a:lnTo>
                  <a:lnTo>
                    <a:pt x="3601085" y="4757928"/>
                  </a:lnTo>
                  <a:lnTo>
                    <a:pt x="3601085" y="4744085"/>
                  </a:lnTo>
                  <a:close/>
                </a:path>
                <a:path w="3601084" h="4773295">
                  <a:moveTo>
                    <a:pt x="28956" y="15112"/>
                  </a:moveTo>
                  <a:lnTo>
                    <a:pt x="15112" y="28956"/>
                  </a:lnTo>
                  <a:lnTo>
                    <a:pt x="28956" y="28956"/>
                  </a:lnTo>
                  <a:lnTo>
                    <a:pt x="28956" y="15112"/>
                  </a:lnTo>
                  <a:close/>
                </a:path>
                <a:path w="3601084" h="4773295">
                  <a:moveTo>
                    <a:pt x="3572255" y="15112"/>
                  </a:moveTo>
                  <a:lnTo>
                    <a:pt x="28956" y="15112"/>
                  </a:lnTo>
                  <a:lnTo>
                    <a:pt x="28956" y="28956"/>
                  </a:lnTo>
                  <a:lnTo>
                    <a:pt x="3572255" y="28956"/>
                  </a:lnTo>
                  <a:lnTo>
                    <a:pt x="3572255" y="15112"/>
                  </a:lnTo>
                  <a:close/>
                </a:path>
                <a:path w="3601084" h="4773295">
                  <a:moveTo>
                    <a:pt x="3601085" y="15112"/>
                  </a:moveTo>
                  <a:lnTo>
                    <a:pt x="3572255" y="15112"/>
                  </a:lnTo>
                  <a:lnTo>
                    <a:pt x="3585972" y="28956"/>
                  </a:lnTo>
                  <a:lnTo>
                    <a:pt x="3601085" y="28956"/>
                  </a:lnTo>
                  <a:lnTo>
                    <a:pt x="3601085" y="15112"/>
                  </a:lnTo>
                  <a:close/>
                </a:path>
              </a:pathLst>
            </a:custGeom>
            <a:solidFill>
              <a:srgbClr val="3C689D"/>
            </a:solidFill>
          </p:spPr>
          <p:txBody>
            <a:bodyPr wrap="square" lIns="0" tIns="0" rIns="0" bIns="0" rtlCol="0"/>
            <a:lstStyle/>
            <a:p>
              <a:endParaRPr/>
            </a:p>
          </p:txBody>
        </p:sp>
      </p:grpSp>
      <p:sp>
        <p:nvSpPr>
          <p:cNvPr id="10" name="object 10"/>
          <p:cNvSpPr txBox="1">
            <a:spLocks noGrp="1"/>
          </p:cNvSpPr>
          <p:nvPr>
            <p:ph sz="half" idx="3"/>
          </p:nvPr>
        </p:nvSpPr>
        <p:spPr>
          <a:prstGeom prst="rect">
            <a:avLst/>
          </a:prstGeom>
        </p:spPr>
        <p:txBody>
          <a:bodyPr vert="horz" wrap="square" lIns="0" tIns="139065" rIns="0" bIns="0" rtlCol="0">
            <a:spAutoFit/>
          </a:bodyPr>
          <a:lstStyle/>
          <a:p>
            <a:pPr marL="12700">
              <a:lnSpc>
                <a:spcPct val="100000"/>
              </a:lnSpc>
              <a:spcBef>
                <a:spcPts val="1095"/>
              </a:spcBef>
            </a:pPr>
            <a:r>
              <a:rPr dirty="0"/>
              <a:t>Smart</a:t>
            </a:r>
            <a:r>
              <a:rPr spc="-75" dirty="0"/>
              <a:t> </a:t>
            </a:r>
            <a:r>
              <a:rPr spc="-10" dirty="0"/>
              <a:t>Version:</a:t>
            </a:r>
          </a:p>
          <a:p>
            <a:pPr marL="469900" marR="203200" indent="-457200">
              <a:lnSpc>
                <a:spcPct val="100000"/>
              </a:lnSpc>
              <a:spcBef>
                <a:spcPts val="994"/>
              </a:spcBef>
              <a:buClr>
                <a:srgbClr val="6D2C91"/>
              </a:buClr>
              <a:buFont typeface="Wingdings"/>
              <a:buChar char=""/>
              <a:tabLst>
                <a:tab pos="469900" algn="l"/>
              </a:tabLst>
            </a:pPr>
            <a:r>
              <a:rPr b="0" dirty="0">
                <a:latin typeface="Arial MT"/>
                <a:cs typeface="Arial MT"/>
              </a:rPr>
              <a:t>Machine</a:t>
            </a:r>
            <a:r>
              <a:rPr b="0" spc="-70" dirty="0">
                <a:latin typeface="Arial MT"/>
                <a:cs typeface="Arial MT"/>
              </a:rPr>
              <a:t> </a:t>
            </a:r>
            <a:r>
              <a:rPr b="0" spc="-10" dirty="0">
                <a:latin typeface="Arial MT"/>
                <a:cs typeface="Arial MT"/>
              </a:rPr>
              <a:t>computer </a:t>
            </a:r>
            <a:r>
              <a:rPr b="0" spc="-20" dirty="0">
                <a:latin typeface="Arial MT"/>
                <a:cs typeface="Arial MT"/>
              </a:rPr>
              <a:t>code</a:t>
            </a:r>
          </a:p>
          <a:p>
            <a:pPr marL="469900" marR="5080" indent="-457200">
              <a:lnSpc>
                <a:spcPct val="100000"/>
              </a:lnSpc>
              <a:spcBef>
                <a:spcPts val="994"/>
              </a:spcBef>
              <a:buClr>
                <a:srgbClr val="6D2C91"/>
              </a:buClr>
              <a:buFont typeface="Wingdings"/>
              <a:buChar char=""/>
              <a:tabLst>
                <a:tab pos="469900" algn="l"/>
              </a:tabLst>
            </a:pPr>
            <a:r>
              <a:rPr b="0" dirty="0">
                <a:latin typeface="Arial MT"/>
                <a:cs typeface="Arial MT"/>
              </a:rPr>
              <a:t>Only</a:t>
            </a:r>
            <a:r>
              <a:rPr b="0" spc="-65" dirty="0">
                <a:latin typeface="Arial MT"/>
                <a:cs typeface="Arial MT"/>
              </a:rPr>
              <a:t> </a:t>
            </a:r>
            <a:r>
              <a:rPr b="0" dirty="0">
                <a:latin typeface="Arial MT"/>
                <a:cs typeface="Arial MT"/>
              </a:rPr>
              <a:t>transactions</a:t>
            </a:r>
            <a:r>
              <a:rPr b="0" spc="-80" dirty="0">
                <a:latin typeface="Arial MT"/>
                <a:cs typeface="Arial MT"/>
              </a:rPr>
              <a:t> </a:t>
            </a:r>
            <a:r>
              <a:rPr b="0" spc="-25" dirty="0">
                <a:latin typeface="Arial MT"/>
                <a:cs typeface="Arial MT"/>
              </a:rPr>
              <a:t>to </a:t>
            </a:r>
            <a:r>
              <a:rPr b="0" dirty="0">
                <a:latin typeface="Arial MT"/>
                <a:cs typeface="Arial MT"/>
              </a:rPr>
              <a:t>be</a:t>
            </a:r>
            <a:r>
              <a:rPr b="0" spc="-25" dirty="0">
                <a:latin typeface="Arial MT"/>
                <a:cs typeface="Arial MT"/>
              </a:rPr>
              <a:t> </a:t>
            </a:r>
            <a:r>
              <a:rPr b="0" spc="-10" dirty="0">
                <a:latin typeface="Arial MT"/>
                <a:cs typeface="Arial MT"/>
              </a:rPr>
              <a:t>automated</a:t>
            </a:r>
          </a:p>
          <a:p>
            <a:pPr marL="469900" marR="130175" indent="-457200">
              <a:lnSpc>
                <a:spcPct val="100000"/>
              </a:lnSpc>
              <a:spcBef>
                <a:spcPts val="1010"/>
              </a:spcBef>
              <a:buClr>
                <a:srgbClr val="6D2C91"/>
              </a:buClr>
              <a:buFont typeface="Wingdings"/>
              <a:buChar char=""/>
              <a:tabLst>
                <a:tab pos="469900" algn="l"/>
              </a:tabLst>
            </a:pPr>
            <a:r>
              <a:rPr b="0" dirty="0">
                <a:latin typeface="Arial MT"/>
                <a:cs typeface="Arial MT"/>
              </a:rPr>
              <a:t>Embedded</a:t>
            </a:r>
            <a:r>
              <a:rPr b="0" spc="-125" dirty="0">
                <a:latin typeface="Arial MT"/>
                <a:cs typeface="Arial MT"/>
              </a:rPr>
              <a:t> </a:t>
            </a:r>
            <a:r>
              <a:rPr b="0" spc="-20" dirty="0">
                <a:latin typeface="Arial MT"/>
                <a:cs typeface="Arial MT"/>
              </a:rPr>
              <a:t>into </a:t>
            </a:r>
            <a:r>
              <a:rPr b="0" dirty="0">
                <a:latin typeface="Arial MT"/>
                <a:cs typeface="Arial MT"/>
              </a:rPr>
              <a:t>blockchain</a:t>
            </a:r>
            <a:r>
              <a:rPr b="0" spc="-60" dirty="0">
                <a:latin typeface="Arial MT"/>
                <a:cs typeface="Arial MT"/>
              </a:rPr>
              <a:t> </a:t>
            </a:r>
            <a:r>
              <a:rPr b="0" dirty="0">
                <a:latin typeface="Arial MT"/>
                <a:cs typeface="Arial MT"/>
              </a:rPr>
              <a:t>or</a:t>
            </a:r>
            <a:r>
              <a:rPr b="0" spc="-15" dirty="0">
                <a:latin typeface="Arial MT"/>
                <a:cs typeface="Arial MT"/>
              </a:rPr>
              <a:t> </a:t>
            </a:r>
            <a:r>
              <a:rPr b="0" spc="-20" dirty="0">
                <a:latin typeface="Arial MT"/>
                <a:cs typeface="Arial MT"/>
              </a:rPr>
              <a:t>other </a:t>
            </a:r>
            <a:r>
              <a:rPr b="0" spc="-10" dirty="0">
                <a:latin typeface="Arial MT"/>
                <a:cs typeface="Arial MT"/>
              </a:rPr>
              <a:t>ledger</a:t>
            </a:r>
          </a:p>
          <a:p>
            <a:pPr marL="469265" indent="-456565">
              <a:lnSpc>
                <a:spcPct val="100000"/>
              </a:lnSpc>
              <a:spcBef>
                <a:spcPts val="994"/>
              </a:spcBef>
              <a:buClr>
                <a:srgbClr val="6D2C91"/>
              </a:buClr>
              <a:buFont typeface="Wingdings"/>
              <a:buChar char=""/>
              <a:tabLst>
                <a:tab pos="469265" algn="l"/>
              </a:tabLst>
            </a:pPr>
            <a:r>
              <a:rPr b="0" dirty="0">
                <a:latin typeface="Arial MT"/>
                <a:cs typeface="Arial MT"/>
              </a:rPr>
              <a:t>Cannot</a:t>
            </a:r>
            <a:r>
              <a:rPr b="0" spc="-65" dirty="0">
                <a:latin typeface="Arial MT"/>
                <a:cs typeface="Arial MT"/>
              </a:rPr>
              <a:t> </a:t>
            </a:r>
            <a:r>
              <a:rPr b="0" dirty="0">
                <a:latin typeface="Arial MT"/>
                <a:cs typeface="Arial MT"/>
              </a:rPr>
              <a:t>be</a:t>
            </a:r>
            <a:r>
              <a:rPr b="0" spc="-30" dirty="0">
                <a:latin typeface="Arial MT"/>
                <a:cs typeface="Arial MT"/>
              </a:rPr>
              <a:t> </a:t>
            </a:r>
            <a:r>
              <a:rPr b="0" spc="-10" dirty="0">
                <a:latin typeface="Arial MT"/>
                <a:cs typeface="Arial MT"/>
              </a:rPr>
              <a:t>changed</a:t>
            </a:r>
          </a:p>
          <a:p>
            <a:pPr marL="469900">
              <a:lnSpc>
                <a:spcPct val="100000"/>
              </a:lnSpc>
            </a:pPr>
            <a:r>
              <a:rPr b="0" dirty="0">
                <a:latin typeface="Arial MT"/>
                <a:cs typeface="Arial MT"/>
              </a:rPr>
              <a:t>-</a:t>
            </a:r>
            <a:r>
              <a:rPr b="0" spc="-30" dirty="0">
                <a:latin typeface="Arial MT"/>
                <a:cs typeface="Arial MT"/>
              </a:rPr>
              <a:t>  </a:t>
            </a:r>
            <a:r>
              <a:rPr b="0" dirty="0">
                <a:latin typeface="Arial MT"/>
                <a:cs typeface="Arial MT"/>
              </a:rPr>
              <a:t>only</a:t>
            </a:r>
            <a:r>
              <a:rPr b="0" spc="-30" dirty="0">
                <a:latin typeface="Arial MT"/>
                <a:cs typeface="Arial MT"/>
              </a:rPr>
              <a:t> </a:t>
            </a:r>
            <a:r>
              <a:rPr b="0" dirty="0">
                <a:latin typeface="Arial MT"/>
                <a:cs typeface="Arial MT"/>
              </a:rPr>
              <a:t>added</a:t>
            </a:r>
            <a:r>
              <a:rPr b="0" spc="-25" dirty="0">
                <a:latin typeface="Arial MT"/>
                <a:cs typeface="Arial MT"/>
              </a:rPr>
              <a:t> to.</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63</a:t>
            </a:fld>
            <a:endParaRPr spc="-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816215" cy="499046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4:</a:t>
            </a:r>
            <a:r>
              <a:rPr sz="2800" b="1" spc="-65" dirty="0">
                <a:solidFill>
                  <a:srgbClr val="00339F"/>
                </a:solidFill>
                <a:latin typeface="Arial"/>
                <a:cs typeface="Arial"/>
              </a:rPr>
              <a:t> </a:t>
            </a:r>
            <a:r>
              <a:rPr sz="2800" b="1" spc="-10" dirty="0">
                <a:solidFill>
                  <a:srgbClr val="00339F"/>
                </a:solidFill>
                <a:latin typeface="Arial"/>
                <a:cs typeface="Arial"/>
              </a:rPr>
              <a:t>Blockchain</a:t>
            </a:r>
            <a:endParaRPr sz="2800">
              <a:latin typeface="Arial"/>
              <a:cs typeface="Arial"/>
            </a:endParaRPr>
          </a:p>
          <a:p>
            <a:pPr>
              <a:lnSpc>
                <a:spcPct val="100000"/>
              </a:lnSpc>
              <a:spcBef>
                <a:spcPts val="270"/>
              </a:spcBef>
            </a:pPr>
            <a:endParaRPr sz="2800">
              <a:latin typeface="Arial"/>
              <a:cs typeface="Arial"/>
            </a:endParaRPr>
          </a:p>
          <a:p>
            <a:pPr marL="928369" marR="659765" indent="-457200">
              <a:lnSpc>
                <a:spcPct val="100000"/>
              </a:lnSpc>
              <a:buClr>
                <a:srgbClr val="6D2C91"/>
              </a:buClr>
              <a:buFont typeface="Wingdings"/>
              <a:buChar char=""/>
              <a:tabLst>
                <a:tab pos="928369" algn="l"/>
              </a:tabLst>
            </a:pPr>
            <a:r>
              <a:rPr sz="2800" dirty="0">
                <a:solidFill>
                  <a:srgbClr val="2B2C2D"/>
                </a:solidFill>
                <a:latin typeface="Arial MT"/>
                <a:cs typeface="Arial MT"/>
              </a:rPr>
              <a:t>The</a:t>
            </a:r>
            <a:r>
              <a:rPr sz="2800" spc="-35" dirty="0">
                <a:solidFill>
                  <a:srgbClr val="2B2C2D"/>
                </a:solidFill>
                <a:latin typeface="Arial MT"/>
                <a:cs typeface="Arial MT"/>
              </a:rPr>
              <a:t> </a:t>
            </a:r>
            <a:r>
              <a:rPr sz="2800" dirty="0">
                <a:solidFill>
                  <a:srgbClr val="2B2C2D"/>
                </a:solidFill>
                <a:latin typeface="Arial MT"/>
                <a:cs typeface="Arial MT"/>
              </a:rPr>
              <a:t>smart</a:t>
            </a:r>
            <a:r>
              <a:rPr sz="2800" spc="-45" dirty="0">
                <a:solidFill>
                  <a:srgbClr val="2B2C2D"/>
                </a:solidFill>
                <a:latin typeface="Arial MT"/>
                <a:cs typeface="Arial MT"/>
              </a:rPr>
              <a:t> </a:t>
            </a:r>
            <a:r>
              <a:rPr sz="2800" dirty="0">
                <a:solidFill>
                  <a:srgbClr val="2B2C2D"/>
                </a:solidFill>
                <a:latin typeface="Arial MT"/>
                <a:cs typeface="Arial MT"/>
              </a:rPr>
              <a:t>contract</a:t>
            </a:r>
            <a:r>
              <a:rPr sz="2800" spc="-55" dirty="0">
                <a:solidFill>
                  <a:srgbClr val="2B2C2D"/>
                </a:solidFill>
                <a:latin typeface="Arial MT"/>
                <a:cs typeface="Arial MT"/>
              </a:rPr>
              <a:t> </a:t>
            </a:r>
            <a:r>
              <a:rPr sz="2800" dirty="0">
                <a:solidFill>
                  <a:srgbClr val="2B2C2D"/>
                </a:solidFill>
                <a:latin typeface="Arial MT"/>
                <a:cs typeface="Arial MT"/>
              </a:rPr>
              <a:t>code</a:t>
            </a:r>
            <a:r>
              <a:rPr sz="2800" spc="-55" dirty="0">
                <a:solidFill>
                  <a:srgbClr val="2B2C2D"/>
                </a:solidFill>
                <a:latin typeface="Arial MT"/>
                <a:cs typeface="Arial MT"/>
              </a:rPr>
              <a:t> </a:t>
            </a:r>
            <a:r>
              <a:rPr sz="2800" dirty="0">
                <a:solidFill>
                  <a:srgbClr val="2B2C2D"/>
                </a:solidFill>
                <a:latin typeface="Arial MT"/>
                <a:cs typeface="Arial MT"/>
              </a:rPr>
              <a:t>is</a:t>
            </a:r>
            <a:r>
              <a:rPr sz="2800" spc="-45" dirty="0">
                <a:solidFill>
                  <a:srgbClr val="2B2C2D"/>
                </a:solidFill>
                <a:latin typeface="Arial MT"/>
                <a:cs typeface="Arial MT"/>
              </a:rPr>
              <a:t> </a:t>
            </a:r>
            <a:r>
              <a:rPr sz="2800" b="1" spc="-10" dirty="0">
                <a:solidFill>
                  <a:srgbClr val="2B2C2D"/>
                </a:solidFill>
                <a:latin typeface="Arial"/>
                <a:cs typeface="Arial"/>
              </a:rPr>
              <a:t>published </a:t>
            </a:r>
            <a:r>
              <a:rPr sz="2800" dirty="0">
                <a:solidFill>
                  <a:srgbClr val="2B2C2D"/>
                </a:solidFill>
                <a:latin typeface="Arial MT"/>
                <a:cs typeface="Arial MT"/>
              </a:rPr>
              <a:t>to</a:t>
            </a:r>
            <a:r>
              <a:rPr sz="2800" spc="-60" dirty="0">
                <a:solidFill>
                  <a:srgbClr val="2B2C2D"/>
                </a:solidFill>
                <a:latin typeface="Arial MT"/>
                <a:cs typeface="Arial MT"/>
              </a:rPr>
              <a:t> </a:t>
            </a:r>
            <a:r>
              <a:rPr sz="2800" dirty="0">
                <a:solidFill>
                  <a:srgbClr val="2B2C2D"/>
                </a:solidFill>
                <a:latin typeface="Arial MT"/>
                <a:cs typeface="Arial MT"/>
              </a:rPr>
              <a:t>the</a:t>
            </a:r>
            <a:r>
              <a:rPr sz="2800" spc="-45" dirty="0">
                <a:solidFill>
                  <a:srgbClr val="2B2C2D"/>
                </a:solidFill>
                <a:latin typeface="Arial MT"/>
                <a:cs typeface="Arial MT"/>
              </a:rPr>
              <a:t> </a:t>
            </a:r>
            <a:r>
              <a:rPr sz="2800" dirty="0">
                <a:solidFill>
                  <a:srgbClr val="2B2C2D"/>
                </a:solidFill>
                <a:latin typeface="Arial MT"/>
                <a:cs typeface="Arial MT"/>
              </a:rPr>
              <a:t>blockchain</a:t>
            </a:r>
            <a:r>
              <a:rPr sz="2800" spc="-50" dirty="0">
                <a:solidFill>
                  <a:srgbClr val="2B2C2D"/>
                </a:solidFill>
                <a:latin typeface="Arial MT"/>
                <a:cs typeface="Arial MT"/>
              </a:rPr>
              <a:t> </a:t>
            </a:r>
            <a:r>
              <a:rPr sz="2800" dirty="0">
                <a:solidFill>
                  <a:srgbClr val="2B2C2D"/>
                </a:solidFill>
                <a:latin typeface="Arial MT"/>
                <a:cs typeface="Arial MT"/>
              </a:rPr>
              <a:t>or</a:t>
            </a:r>
            <a:r>
              <a:rPr sz="2800" spc="-50" dirty="0">
                <a:solidFill>
                  <a:srgbClr val="2B2C2D"/>
                </a:solidFill>
                <a:latin typeface="Arial MT"/>
                <a:cs typeface="Arial MT"/>
              </a:rPr>
              <a:t> </a:t>
            </a:r>
            <a:r>
              <a:rPr sz="2800" dirty="0">
                <a:solidFill>
                  <a:srgbClr val="2B2C2D"/>
                </a:solidFill>
                <a:latin typeface="Arial MT"/>
                <a:cs typeface="Arial MT"/>
              </a:rPr>
              <a:t>other</a:t>
            </a:r>
            <a:r>
              <a:rPr sz="2800" spc="-50" dirty="0">
                <a:solidFill>
                  <a:srgbClr val="2B2C2D"/>
                </a:solidFill>
                <a:latin typeface="Arial MT"/>
                <a:cs typeface="Arial MT"/>
              </a:rPr>
              <a:t> </a:t>
            </a:r>
            <a:r>
              <a:rPr sz="2800" spc="-10" dirty="0">
                <a:solidFill>
                  <a:srgbClr val="2B2C2D"/>
                </a:solidFill>
                <a:latin typeface="Arial MT"/>
                <a:cs typeface="Arial MT"/>
              </a:rPr>
              <a:t>decentralized </a:t>
            </a:r>
            <a:r>
              <a:rPr sz="2800" dirty="0">
                <a:solidFill>
                  <a:srgbClr val="2B2C2D"/>
                </a:solidFill>
                <a:latin typeface="Arial MT"/>
                <a:cs typeface="Arial MT"/>
              </a:rPr>
              <a:t>ledger</a:t>
            </a:r>
            <a:r>
              <a:rPr sz="2800" spc="-55" dirty="0">
                <a:solidFill>
                  <a:srgbClr val="2B2C2D"/>
                </a:solidFill>
                <a:latin typeface="Arial MT"/>
                <a:cs typeface="Arial MT"/>
              </a:rPr>
              <a:t> </a:t>
            </a:r>
            <a:r>
              <a:rPr sz="2800" dirty="0">
                <a:solidFill>
                  <a:srgbClr val="2B2C2D"/>
                </a:solidFill>
                <a:latin typeface="Arial MT"/>
                <a:cs typeface="Arial MT"/>
              </a:rPr>
              <a:t>network</a:t>
            </a:r>
            <a:r>
              <a:rPr sz="2800" spc="-50" dirty="0">
                <a:solidFill>
                  <a:srgbClr val="2B2C2D"/>
                </a:solidFill>
                <a:latin typeface="Arial MT"/>
                <a:cs typeface="Arial MT"/>
              </a:rPr>
              <a:t> </a:t>
            </a:r>
            <a:r>
              <a:rPr sz="2800" dirty="0">
                <a:solidFill>
                  <a:srgbClr val="2B2C2D"/>
                </a:solidFill>
                <a:latin typeface="Arial MT"/>
                <a:cs typeface="Arial MT"/>
              </a:rPr>
              <a:t>by</a:t>
            </a:r>
            <a:r>
              <a:rPr sz="2800" spc="-55"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spc="-10" dirty="0">
                <a:solidFill>
                  <a:srgbClr val="2B2C2D"/>
                </a:solidFill>
                <a:latin typeface="Arial MT"/>
                <a:cs typeface="Arial MT"/>
              </a:rPr>
              <a:t>parties.</a:t>
            </a:r>
            <a:endParaRPr sz="2800">
              <a:latin typeface="Arial MT"/>
              <a:cs typeface="Arial MT"/>
            </a:endParaRPr>
          </a:p>
          <a:p>
            <a:pPr marL="928369" marR="625475"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smart</a:t>
            </a:r>
            <a:r>
              <a:rPr sz="2800" spc="-45" dirty="0">
                <a:solidFill>
                  <a:srgbClr val="2B2C2D"/>
                </a:solidFill>
                <a:latin typeface="Arial MT"/>
                <a:cs typeface="Arial MT"/>
              </a:rPr>
              <a:t> </a:t>
            </a:r>
            <a:r>
              <a:rPr sz="2800" dirty="0">
                <a:solidFill>
                  <a:srgbClr val="2B2C2D"/>
                </a:solidFill>
                <a:latin typeface="Arial MT"/>
                <a:cs typeface="Arial MT"/>
              </a:rPr>
              <a:t>contract</a:t>
            </a:r>
            <a:r>
              <a:rPr sz="2800" spc="-60" dirty="0">
                <a:solidFill>
                  <a:srgbClr val="2B2C2D"/>
                </a:solidFill>
                <a:latin typeface="Arial MT"/>
                <a:cs typeface="Arial MT"/>
              </a:rPr>
              <a:t> </a:t>
            </a:r>
            <a:r>
              <a:rPr sz="2800" dirty="0">
                <a:solidFill>
                  <a:srgbClr val="2B2C2D"/>
                </a:solidFill>
                <a:latin typeface="Arial MT"/>
                <a:cs typeface="Arial MT"/>
              </a:rPr>
              <a:t>code</a:t>
            </a:r>
            <a:r>
              <a:rPr sz="2800" spc="-60" dirty="0">
                <a:solidFill>
                  <a:srgbClr val="2B2C2D"/>
                </a:solidFill>
                <a:latin typeface="Arial MT"/>
                <a:cs typeface="Arial MT"/>
              </a:rPr>
              <a:t> </a:t>
            </a:r>
            <a:r>
              <a:rPr sz="2800" dirty="0">
                <a:solidFill>
                  <a:srgbClr val="2B2C2D"/>
                </a:solidFill>
                <a:latin typeface="Arial MT"/>
                <a:cs typeface="Arial MT"/>
              </a:rPr>
              <a:t>is</a:t>
            </a:r>
            <a:r>
              <a:rPr sz="2800" spc="-50" dirty="0">
                <a:solidFill>
                  <a:srgbClr val="2B2C2D"/>
                </a:solidFill>
                <a:latin typeface="Arial MT"/>
                <a:cs typeface="Arial MT"/>
              </a:rPr>
              <a:t> </a:t>
            </a:r>
            <a:r>
              <a:rPr sz="2800" b="1" dirty="0">
                <a:solidFill>
                  <a:srgbClr val="2B2C2D"/>
                </a:solidFill>
                <a:latin typeface="Arial"/>
                <a:cs typeface="Arial"/>
              </a:rPr>
              <a:t>verified</a:t>
            </a:r>
            <a:r>
              <a:rPr sz="2800" b="1" spc="-60" dirty="0">
                <a:solidFill>
                  <a:srgbClr val="2B2C2D"/>
                </a:solidFill>
                <a:latin typeface="Arial"/>
                <a:cs typeface="Arial"/>
              </a:rPr>
              <a:t> </a:t>
            </a:r>
            <a:r>
              <a:rPr sz="2800" spc="-25" dirty="0">
                <a:solidFill>
                  <a:srgbClr val="2B2C2D"/>
                </a:solidFill>
                <a:latin typeface="Arial MT"/>
                <a:cs typeface="Arial MT"/>
              </a:rPr>
              <a:t>and </a:t>
            </a:r>
            <a:r>
              <a:rPr sz="2800" dirty="0">
                <a:solidFill>
                  <a:srgbClr val="2B2C2D"/>
                </a:solidFill>
                <a:latin typeface="Arial MT"/>
                <a:cs typeface="Arial MT"/>
              </a:rPr>
              <a:t>then</a:t>
            </a:r>
            <a:r>
              <a:rPr sz="2800" spc="-50" dirty="0">
                <a:solidFill>
                  <a:srgbClr val="2B2C2D"/>
                </a:solidFill>
                <a:latin typeface="Arial MT"/>
                <a:cs typeface="Arial MT"/>
              </a:rPr>
              <a:t> </a:t>
            </a:r>
            <a:r>
              <a:rPr sz="2800" dirty="0">
                <a:solidFill>
                  <a:srgbClr val="2B2C2D"/>
                </a:solidFill>
                <a:latin typeface="Arial MT"/>
                <a:cs typeface="Arial MT"/>
              </a:rPr>
              <a:t>"written"</a:t>
            </a:r>
            <a:r>
              <a:rPr sz="2800" spc="-30" dirty="0">
                <a:solidFill>
                  <a:srgbClr val="2B2C2D"/>
                </a:solidFill>
                <a:latin typeface="Arial MT"/>
                <a:cs typeface="Arial MT"/>
              </a:rPr>
              <a:t> </a:t>
            </a:r>
            <a:r>
              <a:rPr sz="2800" dirty="0">
                <a:solidFill>
                  <a:srgbClr val="2B2C2D"/>
                </a:solidFill>
                <a:latin typeface="Arial MT"/>
                <a:cs typeface="Arial MT"/>
              </a:rPr>
              <a:t>into</a:t>
            </a:r>
            <a:r>
              <a:rPr sz="2800" spc="-55" dirty="0">
                <a:solidFill>
                  <a:srgbClr val="2B2C2D"/>
                </a:solidFill>
                <a:latin typeface="Arial MT"/>
                <a:cs typeface="Arial MT"/>
              </a:rPr>
              <a:t> </a:t>
            </a:r>
            <a:r>
              <a:rPr sz="2800" dirty="0">
                <a:solidFill>
                  <a:srgbClr val="2B2C2D"/>
                </a:solidFill>
                <a:latin typeface="Arial MT"/>
                <a:cs typeface="Arial MT"/>
              </a:rPr>
              <a:t>a</a:t>
            </a:r>
            <a:r>
              <a:rPr sz="2800" spc="-45" dirty="0">
                <a:solidFill>
                  <a:srgbClr val="2B2C2D"/>
                </a:solidFill>
                <a:latin typeface="Arial MT"/>
                <a:cs typeface="Arial MT"/>
              </a:rPr>
              <a:t> </a:t>
            </a:r>
            <a:r>
              <a:rPr sz="2800" dirty="0">
                <a:solidFill>
                  <a:srgbClr val="2B2C2D"/>
                </a:solidFill>
                <a:latin typeface="Arial MT"/>
                <a:cs typeface="Arial MT"/>
              </a:rPr>
              <a:t>block</a:t>
            </a:r>
            <a:r>
              <a:rPr sz="2800" spc="-50" dirty="0">
                <a:solidFill>
                  <a:srgbClr val="2B2C2D"/>
                </a:solidFill>
                <a:latin typeface="Arial MT"/>
                <a:cs typeface="Arial MT"/>
              </a:rPr>
              <a:t> </a:t>
            </a:r>
            <a:r>
              <a:rPr sz="2800" dirty="0">
                <a:solidFill>
                  <a:srgbClr val="2B2C2D"/>
                </a:solidFill>
                <a:latin typeface="Arial MT"/>
                <a:cs typeface="Arial MT"/>
              </a:rPr>
              <a:t>in</a:t>
            </a:r>
            <a:r>
              <a:rPr sz="2800" spc="-40" dirty="0">
                <a:solidFill>
                  <a:srgbClr val="2B2C2D"/>
                </a:solidFill>
                <a:latin typeface="Arial MT"/>
                <a:cs typeface="Arial MT"/>
              </a:rPr>
              <a:t> </a:t>
            </a:r>
            <a:r>
              <a:rPr sz="2800" spc="-25" dirty="0">
                <a:solidFill>
                  <a:srgbClr val="2B2C2D"/>
                </a:solidFill>
                <a:latin typeface="Arial MT"/>
                <a:cs typeface="Arial MT"/>
              </a:rPr>
              <a:t>the </a:t>
            </a:r>
            <a:r>
              <a:rPr sz="2800" dirty="0">
                <a:solidFill>
                  <a:srgbClr val="2B2C2D"/>
                </a:solidFill>
                <a:latin typeface="Arial MT"/>
                <a:cs typeface="Arial MT"/>
              </a:rPr>
              <a:t>blockchain</a:t>
            </a:r>
            <a:r>
              <a:rPr sz="2800" spc="-65" dirty="0">
                <a:solidFill>
                  <a:srgbClr val="2B2C2D"/>
                </a:solidFill>
                <a:latin typeface="Arial MT"/>
                <a:cs typeface="Arial MT"/>
              </a:rPr>
              <a:t>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other</a:t>
            </a:r>
            <a:r>
              <a:rPr sz="2800" spc="-60" dirty="0">
                <a:solidFill>
                  <a:srgbClr val="2B2C2D"/>
                </a:solidFill>
                <a:latin typeface="Arial MT"/>
                <a:cs typeface="Arial MT"/>
              </a:rPr>
              <a:t> </a:t>
            </a:r>
            <a:r>
              <a:rPr sz="2800" spc="-10" dirty="0">
                <a:solidFill>
                  <a:srgbClr val="2B2C2D"/>
                </a:solidFill>
                <a:latin typeface="Arial MT"/>
                <a:cs typeface="Arial MT"/>
              </a:rPr>
              <a:t>ledger.</a:t>
            </a:r>
            <a:endParaRPr sz="2800">
              <a:latin typeface="Arial MT"/>
              <a:cs typeface="Arial MT"/>
            </a:endParaRPr>
          </a:p>
          <a:p>
            <a:pPr marL="928369" marR="960119" indent="-457200">
              <a:lnSpc>
                <a:spcPct val="100000"/>
              </a:lnSpc>
              <a:spcBef>
                <a:spcPts val="1005"/>
              </a:spcBef>
              <a:buClr>
                <a:srgbClr val="6D2C91"/>
              </a:buClr>
              <a:buFont typeface="Wingdings"/>
              <a:buChar char=""/>
              <a:tabLst>
                <a:tab pos="928369" algn="l"/>
              </a:tabLst>
            </a:pP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parties</a:t>
            </a:r>
            <a:r>
              <a:rPr sz="2800" spc="-65" dirty="0">
                <a:solidFill>
                  <a:srgbClr val="2B2C2D"/>
                </a:solidFill>
                <a:latin typeface="Arial MT"/>
                <a:cs typeface="Arial MT"/>
              </a:rPr>
              <a:t> </a:t>
            </a:r>
            <a:r>
              <a:rPr sz="2800" dirty="0">
                <a:solidFill>
                  <a:srgbClr val="2B2C2D"/>
                </a:solidFill>
                <a:latin typeface="Arial MT"/>
                <a:cs typeface="Arial MT"/>
              </a:rPr>
              <a:t>are</a:t>
            </a:r>
            <a:r>
              <a:rPr sz="2800" spc="-45" dirty="0">
                <a:solidFill>
                  <a:srgbClr val="2B2C2D"/>
                </a:solidFill>
                <a:latin typeface="Arial MT"/>
                <a:cs typeface="Arial MT"/>
              </a:rPr>
              <a:t> </a:t>
            </a:r>
            <a:r>
              <a:rPr sz="2800" dirty="0">
                <a:solidFill>
                  <a:srgbClr val="2B2C2D"/>
                </a:solidFill>
                <a:latin typeface="Arial MT"/>
                <a:cs typeface="Arial MT"/>
              </a:rPr>
              <a:t>issued</a:t>
            </a:r>
            <a:r>
              <a:rPr sz="2800" spc="-70" dirty="0">
                <a:solidFill>
                  <a:srgbClr val="2B2C2D"/>
                </a:solidFill>
                <a:latin typeface="Arial MT"/>
                <a:cs typeface="Arial MT"/>
              </a:rPr>
              <a:t> </a:t>
            </a:r>
            <a:r>
              <a:rPr sz="2800" b="1" dirty="0">
                <a:solidFill>
                  <a:srgbClr val="2B2C2D"/>
                </a:solidFill>
                <a:latin typeface="Arial"/>
                <a:cs typeface="Arial"/>
              </a:rPr>
              <a:t>public</a:t>
            </a:r>
            <a:r>
              <a:rPr sz="2800" b="1" spc="-45" dirty="0">
                <a:solidFill>
                  <a:srgbClr val="2B2C2D"/>
                </a:solidFill>
                <a:latin typeface="Arial"/>
                <a:cs typeface="Arial"/>
              </a:rPr>
              <a:t> </a:t>
            </a:r>
            <a:r>
              <a:rPr sz="2800" b="1" spc="-25" dirty="0">
                <a:solidFill>
                  <a:srgbClr val="2B2C2D"/>
                </a:solidFill>
                <a:latin typeface="Arial"/>
                <a:cs typeface="Arial"/>
              </a:rPr>
              <a:t>and </a:t>
            </a:r>
            <a:r>
              <a:rPr sz="2800" b="1" dirty="0">
                <a:solidFill>
                  <a:srgbClr val="2B2C2D"/>
                </a:solidFill>
                <a:latin typeface="Arial"/>
                <a:cs typeface="Arial"/>
              </a:rPr>
              <a:t>private</a:t>
            </a:r>
            <a:r>
              <a:rPr sz="2800" b="1" spc="-55" dirty="0">
                <a:solidFill>
                  <a:srgbClr val="2B2C2D"/>
                </a:solidFill>
                <a:latin typeface="Arial"/>
                <a:cs typeface="Arial"/>
              </a:rPr>
              <a:t> </a:t>
            </a:r>
            <a:r>
              <a:rPr sz="2800" b="1" dirty="0">
                <a:solidFill>
                  <a:srgbClr val="2B2C2D"/>
                </a:solidFill>
                <a:latin typeface="Arial"/>
                <a:cs typeface="Arial"/>
              </a:rPr>
              <a:t>keys</a:t>
            </a:r>
            <a:r>
              <a:rPr sz="2800" b="1" spc="-15" dirty="0">
                <a:solidFill>
                  <a:srgbClr val="2B2C2D"/>
                </a:solidFill>
                <a:latin typeface="Arial"/>
                <a:cs typeface="Arial"/>
              </a:rPr>
              <a:t> </a:t>
            </a:r>
            <a:r>
              <a:rPr sz="2800" dirty="0">
                <a:solidFill>
                  <a:srgbClr val="2B2C2D"/>
                </a:solidFill>
                <a:latin typeface="Arial MT"/>
                <a:cs typeface="Arial MT"/>
              </a:rPr>
              <a:t>so</a:t>
            </a:r>
            <a:r>
              <a:rPr sz="2800" spc="-60" dirty="0">
                <a:solidFill>
                  <a:srgbClr val="2B2C2D"/>
                </a:solidFill>
                <a:latin typeface="Arial MT"/>
                <a:cs typeface="Arial MT"/>
              </a:rPr>
              <a:t> </a:t>
            </a:r>
            <a:r>
              <a:rPr sz="2800" dirty="0">
                <a:solidFill>
                  <a:srgbClr val="2B2C2D"/>
                </a:solidFill>
                <a:latin typeface="Arial MT"/>
                <a:cs typeface="Arial MT"/>
              </a:rPr>
              <a:t>they</a:t>
            </a:r>
            <a:r>
              <a:rPr sz="2800" spc="-65" dirty="0">
                <a:solidFill>
                  <a:srgbClr val="2B2C2D"/>
                </a:solidFill>
                <a:latin typeface="Arial MT"/>
                <a:cs typeface="Arial MT"/>
              </a:rPr>
              <a:t> </a:t>
            </a:r>
            <a:r>
              <a:rPr sz="2800" dirty="0">
                <a:solidFill>
                  <a:srgbClr val="2B2C2D"/>
                </a:solidFill>
                <a:latin typeface="Arial MT"/>
                <a:cs typeface="Arial MT"/>
              </a:rPr>
              <a:t>can</a:t>
            </a:r>
            <a:r>
              <a:rPr sz="2800" spc="-55" dirty="0">
                <a:solidFill>
                  <a:srgbClr val="2B2C2D"/>
                </a:solidFill>
                <a:latin typeface="Arial MT"/>
                <a:cs typeface="Arial MT"/>
              </a:rPr>
              <a:t> </a:t>
            </a:r>
            <a:r>
              <a:rPr sz="2800" dirty="0">
                <a:solidFill>
                  <a:srgbClr val="2B2C2D"/>
                </a:solidFill>
                <a:latin typeface="Arial MT"/>
                <a:cs typeface="Arial MT"/>
              </a:rPr>
              <a:t>conduct</a:t>
            </a:r>
            <a:r>
              <a:rPr sz="2800" spc="-65" dirty="0">
                <a:solidFill>
                  <a:srgbClr val="2B2C2D"/>
                </a:solidFill>
                <a:latin typeface="Arial MT"/>
                <a:cs typeface="Arial MT"/>
              </a:rPr>
              <a:t> </a:t>
            </a:r>
            <a:r>
              <a:rPr sz="2800" spc="-25" dirty="0">
                <a:solidFill>
                  <a:srgbClr val="2B2C2D"/>
                </a:solidFill>
                <a:latin typeface="Arial MT"/>
                <a:cs typeface="Arial MT"/>
              </a:rPr>
              <a:t>the </a:t>
            </a:r>
            <a:r>
              <a:rPr sz="2800" dirty="0">
                <a:solidFill>
                  <a:srgbClr val="2B2C2D"/>
                </a:solidFill>
                <a:latin typeface="Arial MT"/>
                <a:cs typeface="Arial MT"/>
              </a:rPr>
              <a:t>transaction</a:t>
            </a:r>
            <a:r>
              <a:rPr sz="2800" spc="-65" dirty="0">
                <a:solidFill>
                  <a:srgbClr val="2B2C2D"/>
                </a:solidFill>
                <a:latin typeface="Arial MT"/>
                <a:cs typeface="Arial MT"/>
              </a:rPr>
              <a:t> </a:t>
            </a:r>
            <a:r>
              <a:rPr sz="2800" dirty="0">
                <a:solidFill>
                  <a:srgbClr val="2B2C2D"/>
                </a:solidFill>
                <a:latin typeface="Arial MT"/>
                <a:cs typeface="Arial MT"/>
              </a:rPr>
              <a:t>on</a:t>
            </a:r>
            <a:r>
              <a:rPr sz="2800" spc="-50"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spc="-10" dirty="0">
                <a:solidFill>
                  <a:srgbClr val="2B2C2D"/>
                </a:solidFill>
                <a:latin typeface="Arial MT"/>
                <a:cs typeface="Arial MT"/>
              </a:rPr>
              <a:t>blockchain.</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675245" cy="5116830"/>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5:</a:t>
            </a:r>
            <a:r>
              <a:rPr sz="2800" b="1" spc="-65" dirty="0">
                <a:solidFill>
                  <a:srgbClr val="00339F"/>
                </a:solidFill>
                <a:latin typeface="Arial"/>
                <a:cs typeface="Arial"/>
              </a:rPr>
              <a:t> </a:t>
            </a:r>
            <a:r>
              <a:rPr sz="2800" b="1" spc="-10" dirty="0">
                <a:solidFill>
                  <a:srgbClr val="00339F"/>
                </a:solidFill>
                <a:latin typeface="Arial"/>
                <a:cs typeface="Arial"/>
              </a:rPr>
              <a:t>Execute</a:t>
            </a:r>
            <a:endParaRPr sz="2800">
              <a:latin typeface="Arial"/>
              <a:cs typeface="Arial"/>
            </a:endParaRPr>
          </a:p>
          <a:p>
            <a:pPr>
              <a:lnSpc>
                <a:spcPct val="100000"/>
              </a:lnSpc>
              <a:spcBef>
                <a:spcPts val="270"/>
              </a:spcBef>
            </a:pPr>
            <a:endParaRPr sz="2800">
              <a:latin typeface="Arial"/>
              <a:cs typeface="Arial"/>
            </a:endParaRPr>
          </a:p>
          <a:p>
            <a:pPr marL="927735" indent="-456565" algn="just">
              <a:lnSpc>
                <a:spcPct val="100000"/>
              </a:lnSpc>
              <a:buClr>
                <a:srgbClr val="6D2C91"/>
              </a:buClr>
              <a:buFont typeface="Wingdings"/>
              <a:buChar char=""/>
              <a:tabLst>
                <a:tab pos="927735" algn="l"/>
              </a:tabLst>
            </a:pPr>
            <a:r>
              <a:rPr sz="2800" b="1" dirty="0">
                <a:solidFill>
                  <a:srgbClr val="2B2C2D"/>
                </a:solidFill>
                <a:latin typeface="Arial"/>
                <a:cs typeface="Arial"/>
              </a:rPr>
              <a:t>Execution</a:t>
            </a:r>
            <a:r>
              <a:rPr sz="2800" b="1" spc="-45" dirty="0">
                <a:solidFill>
                  <a:srgbClr val="2B2C2D"/>
                </a:solidFill>
                <a:latin typeface="Arial"/>
                <a:cs typeface="Arial"/>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the</a:t>
            </a:r>
            <a:r>
              <a:rPr sz="2800" spc="-70" dirty="0">
                <a:solidFill>
                  <a:srgbClr val="2B2C2D"/>
                </a:solidFill>
                <a:latin typeface="Arial MT"/>
                <a:cs typeface="Arial MT"/>
              </a:rPr>
              <a:t> </a:t>
            </a:r>
            <a:r>
              <a:rPr sz="2800" dirty="0">
                <a:solidFill>
                  <a:srgbClr val="2B2C2D"/>
                </a:solidFill>
                <a:latin typeface="Arial MT"/>
                <a:cs typeface="Arial MT"/>
              </a:rPr>
              <a:t>transaction</a:t>
            </a:r>
            <a:r>
              <a:rPr sz="2800" spc="-55" dirty="0">
                <a:solidFill>
                  <a:srgbClr val="2B2C2D"/>
                </a:solidFill>
                <a:latin typeface="Arial MT"/>
                <a:cs typeface="Arial MT"/>
              </a:rPr>
              <a:t> </a:t>
            </a:r>
            <a:r>
              <a:rPr sz="2800" dirty="0">
                <a:solidFill>
                  <a:srgbClr val="2B2C2D"/>
                </a:solidFill>
                <a:latin typeface="Arial MT"/>
                <a:cs typeface="Arial MT"/>
              </a:rPr>
              <a:t>is</a:t>
            </a:r>
            <a:r>
              <a:rPr sz="2800" spc="-65" dirty="0">
                <a:solidFill>
                  <a:srgbClr val="2B2C2D"/>
                </a:solidFill>
                <a:latin typeface="Arial MT"/>
                <a:cs typeface="Arial MT"/>
              </a:rPr>
              <a:t> </a:t>
            </a:r>
            <a:r>
              <a:rPr sz="2800" spc="-10" dirty="0">
                <a:solidFill>
                  <a:srgbClr val="2B2C2D"/>
                </a:solidFill>
                <a:latin typeface="Arial MT"/>
                <a:cs typeface="Arial MT"/>
              </a:rPr>
              <a:t>triggered:</a:t>
            </a:r>
            <a:endParaRPr sz="2800">
              <a:latin typeface="Arial MT"/>
              <a:cs typeface="Arial MT"/>
            </a:endParaRPr>
          </a:p>
          <a:p>
            <a:pPr marL="1108075" marR="379095" lvl="1" indent="-455930" algn="just">
              <a:lnSpc>
                <a:spcPct val="100000"/>
              </a:lnSpc>
              <a:spcBef>
                <a:spcPts val="1000"/>
              </a:spcBef>
              <a:buClr>
                <a:srgbClr val="6D2C91"/>
              </a:buClr>
              <a:buFont typeface="Courier New"/>
              <a:buChar char="o"/>
              <a:tabLst>
                <a:tab pos="1109345" algn="l"/>
              </a:tabLst>
            </a:pPr>
            <a:r>
              <a:rPr sz="2800" dirty="0">
                <a:solidFill>
                  <a:srgbClr val="2B2C2D"/>
                </a:solidFill>
                <a:latin typeface="Arial MT"/>
                <a:cs typeface="Arial MT"/>
              </a:rPr>
              <a:t>by</a:t>
            </a:r>
            <a:r>
              <a:rPr sz="2800" spc="-45" dirty="0">
                <a:solidFill>
                  <a:srgbClr val="2B2C2D"/>
                </a:solidFill>
                <a:latin typeface="Arial MT"/>
                <a:cs typeface="Arial MT"/>
              </a:rPr>
              <a:t> </a:t>
            </a:r>
            <a:r>
              <a:rPr sz="2800" dirty="0">
                <a:solidFill>
                  <a:srgbClr val="2B2C2D"/>
                </a:solidFill>
                <a:latin typeface="Arial MT"/>
                <a:cs typeface="Arial MT"/>
              </a:rPr>
              <a:t>a</a:t>
            </a:r>
            <a:r>
              <a:rPr sz="2800" spc="-35" dirty="0">
                <a:solidFill>
                  <a:srgbClr val="2B2C2D"/>
                </a:solidFill>
                <a:latin typeface="Arial MT"/>
                <a:cs typeface="Arial MT"/>
              </a:rPr>
              <a:t> </a:t>
            </a:r>
            <a:r>
              <a:rPr sz="2800" dirty="0">
                <a:solidFill>
                  <a:srgbClr val="2B2C2D"/>
                </a:solidFill>
                <a:latin typeface="Arial MT"/>
                <a:cs typeface="Arial MT"/>
              </a:rPr>
              <a:t>message</a:t>
            </a:r>
            <a:r>
              <a:rPr sz="2800" spc="-20" dirty="0">
                <a:solidFill>
                  <a:srgbClr val="2B2C2D"/>
                </a:solidFill>
                <a:latin typeface="Arial MT"/>
                <a:cs typeface="Arial MT"/>
              </a:rPr>
              <a:t> </a:t>
            </a:r>
            <a:r>
              <a:rPr sz="2800" dirty="0">
                <a:solidFill>
                  <a:srgbClr val="2B2C2D"/>
                </a:solidFill>
                <a:latin typeface="Arial MT"/>
                <a:cs typeface="Arial MT"/>
              </a:rPr>
              <a:t>sent</a:t>
            </a:r>
            <a:r>
              <a:rPr sz="2800" spc="-50" dirty="0">
                <a:solidFill>
                  <a:srgbClr val="2B2C2D"/>
                </a:solidFill>
                <a:latin typeface="Arial MT"/>
                <a:cs typeface="Arial MT"/>
              </a:rPr>
              <a:t> </a:t>
            </a:r>
            <a:r>
              <a:rPr sz="2800" dirty="0">
                <a:solidFill>
                  <a:srgbClr val="2B2C2D"/>
                </a:solidFill>
                <a:latin typeface="Arial MT"/>
                <a:cs typeface="Arial MT"/>
              </a:rPr>
              <a:t>by</a:t>
            </a:r>
            <a:r>
              <a:rPr sz="2800" spc="-30" dirty="0">
                <a:solidFill>
                  <a:srgbClr val="2B2C2D"/>
                </a:solidFill>
                <a:latin typeface="Arial MT"/>
                <a:cs typeface="Arial MT"/>
              </a:rPr>
              <a:t> </a:t>
            </a:r>
            <a:r>
              <a:rPr sz="2800" dirty="0">
                <a:solidFill>
                  <a:srgbClr val="2B2C2D"/>
                </a:solidFill>
                <a:latin typeface="Arial MT"/>
                <a:cs typeface="Arial MT"/>
              </a:rPr>
              <a:t>a</a:t>
            </a:r>
            <a:r>
              <a:rPr sz="2800" spc="-45" dirty="0">
                <a:solidFill>
                  <a:srgbClr val="2B2C2D"/>
                </a:solidFill>
                <a:latin typeface="Arial MT"/>
                <a:cs typeface="Arial MT"/>
              </a:rPr>
              <a:t> </a:t>
            </a:r>
            <a:r>
              <a:rPr sz="2800" dirty="0">
                <a:solidFill>
                  <a:srgbClr val="2B2C2D"/>
                </a:solidFill>
                <a:latin typeface="Arial MT"/>
                <a:cs typeface="Arial MT"/>
              </a:rPr>
              <a:t>party</a:t>
            </a:r>
            <a:r>
              <a:rPr sz="2800" spc="-35" dirty="0">
                <a:solidFill>
                  <a:srgbClr val="2B2C2D"/>
                </a:solidFill>
                <a:latin typeface="Arial MT"/>
                <a:cs typeface="Arial MT"/>
              </a:rPr>
              <a:t> </a:t>
            </a:r>
            <a:r>
              <a:rPr sz="2800" spc="-10" dirty="0">
                <a:solidFill>
                  <a:srgbClr val="2B2C2D"/>
                </a:solidFill>
                <a:latin typeface="Arial MT"/>
                <a:cs typeface="Arial MT"/>
              </a:rPr>
              <a:t>validated 	</a:t>
            </a:r>
            <a:r>
              <a:rPr sz="2800" dirty="0">
                <a:solidFill>
                  <a:srgbClr val="2B2C2D"/>
                </a:solidFill>
                <a:latin typeface="Arial MT"/>
                <a:cs typeface="Arial MT"/>
              </a:rPr>
              <a:t>by</a:t>
            </a:r>
            <a:r>
              <a:rPr sz="2800" spc="-50" dirty="0">
                <a:solidFill>
                  <a:srgbClr val="2B2C2D"/>
                </a:solidFill>
                <a:latin typeface="Arial MT"/>
                <a:cs typeface="Arial MT"/>
              </a:rPr>
              <a:t> </a:t>
            </a:r>
            <a:r>
              <a:rPr sz="2800" dirty="0">
                <a:solidFill>
                  <a:srgbClr val="2B2C2D"/>
                </a:solidFill>
                <a:latin typeface="Arial MT"/>
                <a:cs typeface="Arial MT"/>
              </a:rPr>
              <a:t>its</a:t>
            </a:r>
            <a:r>
              <a:rPr sz="2800" spc="-60" dirty="0">
                <a:solidFill>
                  <a:srgbClr val="2B2C2D"/>
                </a:solidFill>
                <a:latin typeface="Arial MT"/>
                <a:cs typeface="Arial MT"/>
              </a:rPr>
              <a:t> </a:t>
            </a:r>
            <a:r>
              <a:rPr sz="2800" b="1" dirty="0">
                <a:solidFill>
                  <a:srgbClr val="2B2C2D"/>
                </a:solidFill>
                <a:latin typeface="Arial"/>
                <a:cs typeface="Arial"/>
              </a:rPr>
              <a:t>private</a:t>
            </a:r>
            <a:r>
              <a:rPr sz="2800" b="1" spc="-25" dirty="0">
                <a:solidFill>
                  <a:srgbClr val="2B2C2D"/>
                </a:solidFill>
                <a:latin typeface="Arial"/>
                <a:cs typeface="Arial"/>
              </a:rPr>
              <a:t> </a:t>
            </a:r>
            <a:r>
              <a:rPr sz="2800" b="1" dirty="0">
                <a:solidFill>
                  <a:srgbClr val="2B2C2D"/>
                </a:solidFill>
                <a:latin typeface="Arial"/>
                <a:cs typeface="Arial"/>
              </a:rPr>
              <a:t>key</a:t>
            </a:r>
            <a:r>
              <a:rPr sz="2800" b="1" spc="-40" dirty="0">
                <a:solidFill>
                  <a:srgbClr val="2B2C2D"/>
                </a:solidFill>
                <a:latin typeface="Arial"/>
                <a:cs typeface="Arial"/>
              </a:rPr>
              <a:t> </a:t>
            </a:r>
            <a:r>
              <a:rPr sz="2800" spc="-25" dirty="0">
                <a:solidFill>
                  <a:srgbClr val="2B2C2D"/>
                </a:solidFill>
                <a:latin typeface="Arial MT"/>
                <a:cs typeface="Arial MT"/>
              </a:rPr>
              <a:t>or</a:t>
            </a:r>
            <a:endParaRPr sz="2800">
              <a:latin typeface="Arial MT"/>
              <a:cs typeface="Arial MT"/>
            </a:endParaRPr>
          </a:p>
          <a:p>
            <a:pPr marL="1108075" marR="5080" lvl="1" indent="-455930" algn="just">
              <a:lnSpc>
                <a:spcPct val="100000"/>
              </a:lnSpc>
              <a:spcBef>
                <a:spcPts val="1005"/>
              </a:spcBef>
              <a:buClr>
                <a:srgbClr val="6D2C91"/>
              </a:buClr>
              <a:buFont typeface="Courier New"/>
              <a:buChar char="o"/>
              <a:tabLst>
                <a:tab pos="1109345" algn="l"/>
              </a:tabLst>
            </a:pPr>
            <a:r>
              <a:rPr sz="2800" dirty="0">
                <a:solidFill>
                  <a:srgbClr val="2B2C2D"/>
                </a:solidFill>
                <a:latin typeface="Arial MT"/>
                <a:cs typeface="Arial MT"/>
              </a:rPr>
              <a:t>by</a:t>
            </a:r>
            <a:r>
              <a:rPr sz="2800" spc="-75" dirty="0">
                <a:solidFill>
                  <a:srgbClr val="2B2C2D"/>
                </a:solidFill>
                <a:latin typeface="Arial MT"/>
                <a:cs typeface="Arial MT"/>
              </a:rPr>
              <a:t> </a:t>
            </a:r>
            <a:r>
              <a:rPr sz="2800" dirty="0">
                <a:solidFill>
                  <a:srgbClr val="2B2C2D"/>
                </a:solidFill>
                <a:latin typeface="Arial MT"/>
                <a:cs typeface="Arial MT"/>
              </a:rPr>
              <a:t>the</a:t>
            </a:r>
            <a:r>
              <a:rPr sz="2800" spc="-65" dirty="0">
                <a:solidFill>
                  <a:srgbClr val="2B2C2D"/>
                </a:solidFill>
                <a:latin typeface="Arial MT"/>
                <a:cs typeface="Arial MT"/>
              </a:rPr>
              <a:t> </a:t>
            </a:r>
            <a:r>
              <a:rPr sz="2800" b="1" dirty="0">
                <a:solidFill>
                  <a:srgbClr val="2B2C2D"/>
                </a:solidFill>
                <a:latin typeface="Arial"/>
                <a:cs typeface="Arial"/>
              </a:rPr>
              <a:t>objective</a:t>
            </a:r>
            <a:r>
              <a:rPr sz="2800" b="1" spc="-50" dirty="0">
                <a:solidFill>
                  <a:srgbClr val="2B2C2D"/>
                </a:solidFill>
                <a:latin typeface="Arial"/>
                <a:cs typeface="Arial"/>
              </a:rPr>
              <a:t> </a:t>
            </a:r>
            <a:r>
              <a:rPr sz="2800" b="1" dirty="0">
                <a:solidFill>
                  <a:srgbClr val="2B2C2D"/>
                </a:solidFill>
                <a:latin typeface="Arial"/>
                <a:cs typeface="Arial"/>
              </a:rPr>
              <a:t>satisfaction</a:t>
            </a:r>
            <a:r>
              <a:rPr sz="2800" b="1" spc="-55" dirty="0">
                <a:solidFill>
                  <a:srgbClr val="2B2C2D"/>
                </a:solidFill>
                <a:latin typeface="Arial"/>
                <a:cs typeface="Arial"/>
              </a:rPr>
              <a:t> </a:t>
            </a:r>
            <a:r>
              <a:rPr sz="2800" dirty="0">
                <a:solidFill>
                  <a:srgbClr val="2B2C2D"/>
                </a:solidFill>
                <a:latin typeface="Arial MT"/>
                <a:cs typeface="Arial MT"/>
              </a:rPr>
              <a:t>of</a:t>
            </a:r>
            <a:r>
              <a:rPr sz="2800" spc="-70" dirty="0">
                <a:solidFill>
                  <a:srgbClr val="2B2C2D"/>
                </a:solidFill>
                <a:latin typeface="Arial MT"/>
                <a:cs typeface="Arial MT"/>
              </a:rPr>
              <a:t> </a:t>
            </a:r>
            <a:r>
              <a:rPr sz="2800" spc="-10" dirty="0">
                <a:solidFill>
                  <a:srgbClr val="2B2C2D"/>
                </a:solidFill>
                <a:latin typeface="Arial MT"/>
                <a:cs typeface="Arial MT"/>
              </a:rPr>
              <a:t>external 	</a:t>
            </a:r>
            <a:r>
              <a:rPr sz="2800" dirty="0">
                <a:solidFill>
                  <a:srgbClr val="2B2C2D"/>
                </a:solidFill>
                <a:latin typeface="Arial MT"/>
                <a:cs typeface="Arial MT"/>
              </a:rPr>
              <a:t>or</a:t>
            </a:r>
            <a:r>
              <a:rPr sz="2800" spc="-65" dirty="0">
                <a:solidFill>
                  <a:srgbClr val="2B2C2D"/>
                </a:solidFill>
                <a:latin typeface="Arial MT"/>
                <a:cs typeface="Arial MT"/>
              </a:rPr>
              <a:t> </a:t>
            </a:r>
            <a:r>
              <a:rPr sz="2800" dirty="0">
                <a:solidFill>
                  <a:srgbClr val="2B2C2D"/>
                </a:solidFill>
                <a:latin typeface="Arial MT"/>
                <a:cs typeface="Arial MT"/>
              </a:rPr>
              <a:t>other</a:t>
            </a:r>
            <a:r>
              <a:rPr sz="2800" spc="-60" dirty="0">
                <a:solidFill>
                  <a:srgbClr val="2B2C2D"/>
                </a:solidFill>
                <a:latin typeface="Arial MT"/>
                <a:cs typeface="Arial MT"/>
              </a:rPr>
              <a:t> </a:t>
            </a:r>
            <a:r>
              <a:rPr sz="2800" b="1" dirty="0">
                <a:solidFill>
                  <a:srgbClr val="2B2C2D"/>
                </a:solidFill>
                <a:latin typeface="Arial"/>
                <a:cs typeface="Arial"/>
              </a:rPr>
              <a:t>events</a:t>
            </a:r>
            <a:r>
              <a:rPr sz="2800" b="1" spc="-55" dirty="0">
                <a:solidFill>
                  <a:srgbClr val="2B2C2D"/>
                </a:solidFill>
                <a:latin typeface="Arial"/>
                <a:cs typeface="Arial"/>
              </a:rPr>
              <a:t> </a:t>
            </a:r>
            <a:r>
              <a:rPr sz="2800" b="1" dirty="0">
                <a:solidFill>
                  <a:srgbClr val="2B2C2D"/>
                </a:solidFill>
                <a:latin typeface="Arial"/>
                <a:cs typeface="Arial"/>
              </a:rPr>
              <a:t>or</a:t>
            </a:r>
            <a:r>
              <a:rPr sz="2800" b="1" spc="-65" dirty="0">
                <a:solidFill>
                  <a:srgbClr val="2B2C2D"/>
                </a:solidFill>
                <a:latin typeface="Arial"/>
                <a:cs typeface="Arial"/>
              </a:rPr>
              <a:t> </a:t>
            </a:r>
            <a:r>
              <a:rPr sz="2800" b="1" dirty="0">
                <a:solidFill>
                  <a:srgbClr val="2B2C2D"/>
                </a:solidFill>
                <a:latin typeface="Arial"/>
                <a:cs typeface="Arial"/>
              </a:rPr>
              <a:t>conditions</a:t>
            </a:r>
            <a:r>
              <a:rPr sz="2800" b="1" spc="-35" dirty="0">
                <a:solidFill>
                  <a:srgbClr val="2B2C2D"/>
                </a:solidFill>
                <a:latin typeface="Arial"/>
                <a:cs typeface="Arial"/>
              </a:rPr>
              <a:t> </a:t>
            </a:r>
            <a:r>
              <a:rPr sz="2800" dirty="0">
                <a:solidFill>
                  <a:srgbClr val="2B2C2D"/>
                </a:solidFill>
                <a:latin typeface="Arial MT"/>
                <a:cs typeface="Arial MT"/>
              </a:rPr>
              <a:t>coded</a:t>
            </a:r>
            <a:r>
              <a:rPr sz="2800" spc="-60" dirty="0">
                <a:solidFill>
                  <a:srgbClr val="2B2C2D"/>
                </a:solidFill>
                <a:latin typeface="Arial MT"/>
                <a:cs typeface="Arial MT"/>
              </a:rPr>
              <a:t> </a:t>
            </a:r>
            <a:r>
              <a:rPr sz="2800" spc="-20" dirty="0">
                <a:solidFill>
                  <a:srgbClr val="2B2C2D"/>
                </a:solidFill>
                <a:latin typeface="Arial MT"/>
                <a:cs typeface="Arial MT"/>
              </a:rPr>
              <a:t>into 	</a:t>
            </a:r>
            <a:r>
              <a:rPr sz="2800" dirty="0">
                <a:solidFill>
                  <a:srgbClr val="2B2C2D"/>
                </a:solidFill>
                <a:latin typeface="Arial MT"/>
                <a:cs typeface="Arial MT"/>
              </a:rPr>
              <a:t>the</a:t>
            </a:r>
            <a:r>
              <a:rPr sz="2800" spc="-35" dirty="0">
                <a:solidFill>
                  <a:srgbClr val="2B2C2D"/>
                </a:solidFill>
                <a:latin typeface="Arial MT"/>
                <a:cs typeface="Arial MT"/>
              </a:rPr>
              <a:t> </a:t>
            </a:r>
            <a:r>
              <a:rPr sz="2800" spc="-10" dirty="0">
                <a:solidFill>
                  <a:srgbClr val="2B2C2D"/>
                </a:solidFill>
                <a:latin typeface="Arial MT"/>
                <a:cs typeface="Arial MT"/>
              </a:rPr>
              <a:t>program.</a:t>
            </a:r>
            <a:endParaRPr sz="2800">
              <a:latin typeface="Arial MT"/>
              <a:cs typeface="Arial MT"/>
            </a:endParaRPr>
          </a:p>
          <a:p>
            <a:pPr marL="928369" marR="185420"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transaction</a:t>
            </a:r>
            <a:r>
              <a:rPr sz="2800" spc="-60" dirty="0">
                <a:solidFill>
                  <a:srgbClr val="2B2C2D"/>
                </a:solidFill>
                <a:latin typeface="Arial MT"/>
                <a:cs typeface="Arial MT"/>
              </a:rPr>
              <a:t> </a:t>
            </a:r>
            <a:r>
              <a:rPr sz="2800" dirty="0">
                <a:solidFill>
                  <a:srgbClr val="2B2C2D"/>
                </a:solidFill>
                <a:latin typeface="Arial MT"/>
                <a:cs typeface="Arial MT"/>
              </a:rPr>
              <a:t>[such</a:t>
            </a:r>
            <a:r>
              <a:rPr sz="2800" spc="-55" dirty="0">
                <a:solidFill>
                  <a:srgbClr val="2B2C2D"/>
                </a:solidFill>
                <a:latin typeface="Arial MT"/>
                <a:cs typeface="Arial MT"/>
              </a:rPr>
              <a:t> </a:t>
            </a:r>
            <a:r>
              <a:rPr sz="2800" dirty="0">
                <a:solidFill>
                  <a:srgbClr val="2B2C2D"/>
                </a:solidFill>
                <a:latin typeface="Arial MT"/>
                <a:cs typeface="Arial MT"/>
              </a:rPr>
              <a:t>as</a:t>
            </a:r>
            <a:r>
              <a:rPr sz="2800" spc="-55" dirty="0">
                <a:solidFill>
                  <a:srgbClr val="2B2C2D"/>
                </a:solidFill>
                <a:latin typeface="Arial MT"/>
                <a:cs typeface="Arial MT"/>
              </a:rPr>
              <a:t> </a:t>
            </a:r>
            <a:r>
              <a:rPr sz="2800" dirty="0">
                <a:solidFill>
                  <a:srgbClr val="2B2C2D"/>
                </a:solidFill>
                <a:latin typeface="Arial MT"/>
                <a:cs typeface="Arial MT"/>
              </a:rPr>
              <a:t>transfer</a:t>
            </a:r>
            <a:r>
              <a:rPr sz="2800" spc="-55"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spc="-10" dirty="0">
                <a:solidFill>
                  <a:srgbClr val="2B2C2D"/>
                </a:solidFill>
                <a:latin typeface="Arial MT"/>
                <a:cs typeface="Arial MT"/>
              </a:rPr>
              <a:t>funds </a:t>
            </a:r>
            <a:r>
              <a:rPr sz="2800" dirty="0">
                <a:solidFill>
                  <a:srgbClr val="2B2C2D"/>
                </a:solidFill>
                <a:latin typeface="Arial MT"/>
                <a:cs typeface="Arial MT"/>
              </a:rPr>
              <a:t>or</a:t>
            </a:r>
            <a:r>
              <a:rPr sz="2800" spc="-60" dirty="0">
                <a:solidFill>
                  <a:srgbClr val="2B2C2D"/>
                </a:solidFill>
                <a:latin typeface="Arial MT"/>
                <a:cs typeface="Arial MT"/>
              </a:rPr>
              <a:t> </a:t>
            </a:r>
            <a:r>
              <a:rPr sz="2800" dirty="0">
                <a:solidFill>
                  <a:srgbClr val="2B2C2D"/>
                </a:solidFill>
                <a:latin typeface="Arial MT"/>
                <a:cs typeface="Arial MT"/>
              </a:rPr>
              <a:t>title]</a:t>
            </a:r>
            <a:r>
              <a:rPr sz="2800" spc="-65" dirty="0">
                <a:solidFill>
                  <a:srgbClr val="2B2C2D"/>
                </a:solidFill>
                <a:latin typeface="Arial MT"/>
                <a:cs typeface="Arial MT"/>
              </a:rPr>
              <a:t> </a:t>
            </a:r>
            <a:r>
              <a:rPr sz="2800" dirty="0">
                <a:solidFill>
                  <a:srgbClr val="2B2C2D"/>
                </a:solidFill>
                <a:latin typeface="Arial MT"/>
                <a:cs typeface="Arial MT"/>
              </a:rPr>
              <a:t>is</a:t>
            </a:r>
            <a:r>
              <a:rPr sz="2800" spc="-70" dirty="0">
                <a:solidFill>
                  <a:srgbClr val="2B2C2D"/>
                </a:solidFill>
                <a:latin typeface="Arial MT"/>
                <a:cs typeface="Arial MT"/>
              </a:rPr>
              <a:t> </a:t>
            </a:r>
            <a:r>
              <a:rPr sz="2800" b="1" dirty="0">
                <a:solidFill>
                  <a:srgbClr val="2B2C2D"/>
                </a:solidFill>
                <a:latin typeface="Arial"/>
                <a:cs typeface="Arial"/>
              </a:rPr>
              <a:t>automatically</a:t>
            </a:r>
            <a:r>
              <a:rPr sz="2800" b="1" spc="-45" dirty="0">
                <a:solidFill>
                  <a:srgbClr val="2B2C2D"/>
                </a:solidFill>
                <a:latin typeface="Arial"/>
                <a:cs typeface="Arial"/>
              </a:rPr>
              <a:t> </a:t>
            </a:r>
            <a:r>
              <a:rPr sz="2800" b="1" spc="-10" dirty="0">
                <a:solidFill>
                  <a:srgbClr val="2B2C2D"/>
                </a:solidFill>
                <a:latin typeface="Arial"/>
                <a:cs typeface="Arial"/>
              </a:rPr>
              <a:t>performed </a:t>
            </a:r>
            <a:r>
              <a:rPr sz="2800" dirty="0">
                <a:solidFill>
                  <a:srgbClr val="2B2C2D"/>
                </a:solidFill>
                <a:latin typeface="Arial MT"/>
                <a:cs typeface="Arial MT"/>
              </a:rPr>
              <a:t>pursuant</a:t>
            </a:r>
            <a:r>
              <a:rPr sz="2800" spc="-55" dirty="0">
                <a:solidFill>
                  <a:srgbClr val="2B2C2D"/>
                </a:solidFill>
                <a:latin typeface="Arial MT"/>
                <a:cs typeface="Arial MT"/>
              </a:rPr>
              <a:t> </a:t>
            </a:r>
            <a:r>
              <a:rPr sz="2800" dirty="0">
                <a:solidFill>
                  <a:srgbClr val="2B2C2D"/>
                </a:solidFill>
                <a:latin typeface="Arial MT"/>
                <a:cs typeface="Arial MT"/>
              </a:rPr>
              <a:t>to</a:t>
            </a:r>
            <a:r>
              <a:rPr sz="2800" spc="-55" dirty="0">
                <a:solidFill>
                  <a:srgbClr val="2B2C2D"/>
                </a:solidFill>
                <a:latin typeface="Arial MT"/>
                <a:cs typeface="Arial MT"/>
              </a:rPr>
              <a:t> </a:t>
            </a:r>
            <a:r>
              <a:rPr sz="2800" dirty="0">
                <a:solidFill>
                  <a:srgbClr val="2B2C2D"/>
                </a:solidFill>
                <a:latin typeface="Arial MT"/>
                <a:cs typeface="Arial MT"/>
              </a:rPr>
              <a:t>the</a:t>
            </a:r>
            <a:r>
              <a:rPr sz="2800" spc="-45" dirty="0">
                <a:solidFill>
                  <a:srgbClr val="2B2C2D"/>
                </a:solidFill>
                <a:latin typeface="Arial MT"/>
                <a:cs typeface="Arial MT"/>
              </a:rPr>
              <a:t> </a:t>
            </a:r>
            <a:r>
              <a:rPr sz="2800" dirty="0">
                <a:solidFill>
                  <a:srgbClr val="2B2C2D"/>
                </a:solidFill>
                <a:latin typeface="Arial MT"/>
                <a:cs typeface="Arial MT"/>
              </a:rPr>
              <a:t>smart</a:t>
            </a:r>
            <a:r>
              <a:rPr sz="2800" spc="-50" dirty="0">
                <a:solidFill>
                  <a:srgbClr val="2B2C2D"/>
                </a:solidFill>
                <a:latin typeface="Arial MT"/>
                <a:cs typeface="Arial MT"/>
              </a:rPr>
              <a:t> </a:t>
            </a:r>
            <a:r>
              <a:rPr sz="2800" dirty="0">
                <a:solidFill>
                  <a:srgbClr val="2B2C2D"/>
                </a:solidFill>
                <a:latin typeface="Arial MT"/>
                <a:cs typeface="Arial MT"/>
              </a:rPr>
              <a:t>contract</a:t>
            </a:r>
            <a:r>
              <a:rPr sz="2800" spc="-55" dirty="0">
                <a:solidFill>
                  <a:srgbClr val="2B2C2D"/>
                </a:solidFill>
                <a:latin typeface="Arial MT"/>
                <a:cs typeface="Arial MT"/>
              </a:rPr>
              <a:t> </a:t>
            </a:r>
            <a:r>
              <a:rPr sz="2800" spc="-10" dirty="0">
                <a:solidFill>
                  <a:srgbClr val="2B2C2D"/>
                </a:solidFill>
                <a:latin typeface="Arial MT"/>
                <a:cs typeface="Arial MT"/>
              </a:rPr>
              <a:t>code.</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65</a:t>
            </a:fld>
            <a:endParaRPr spc="-2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631" y="343915"/>
            <a:ext cx="7675880" cy="5288915"/>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00339F"/>
                </a:solidFill>
                <a:latin typeface="Arial"/>
                <a:cs typeface="Arial"/>
              </a:rPr>
              <a:t>Building</a:t>
            </a:r>
            <a:r>
              <a:rPr sz="2800" b="1" spc="-50" dirty="0">
                <a:solidFill>
                  <a:srgbClr val="00339F"/>
                </a:solidFill>
                <a:latin typeface="Arial"/>
                <a:cs typeface="Arial"/>
              </a:rPr>
              <a:t> </a:t>
            </a:r>
            <a:r>
              <a:rPr sz="2800" b="1" dirty="0">
                <a:solidFill>
                  <a:srgbClr val="00339F"/>
                </a:solidFill>
                <a:latin typeface="Arial"/>
                <a:cs typeface="Arial"/>
              </a:rPr>
              <a:t>a</a:t>
            </a:r>
            <a:r>
              <a:rPr sz="2800" b="1" spc="-60" dirty="0">
                <a:solidFill>
                  <a:srgbClr val="00339F"/>
                </a:solidFill>
                <a:latin typeface="Arial"/>
                <a:cs typeface="Arial"/>
              </a:rPr>
              <a:t> </a:t>
            </a:r>
            <a:r>
              <a:rPr sz="2800" b="1" dirty="0">
                <a:solidFill>
                  <a:srgbClr val="00339F"/>
                </a:solidFill>
                <a:latin typeface="Arial"/>
                <a:cs typeface="Arial"/>
              </a:rPr>
              <a:t>Smart</a:t>
            </a:r>
            <a:r>
              <a:rPr sz="2800" b="1" spc="-65" dirty="0">
                <a:solidFill>
                  <a:srgbClr val="00339F"/>
                </a:solidFill>
                <a:latin typeface="Arial"/>
                <a:cs typeface="Arial"/>
              </a:rPr>
              <a:t> </a:t>
            </a:r>
            <a:r>
              <a:rPr sz="2800" b="1" dirty="0">
                <a:solidFill>
                  <a:srgbClr val="00339F"/>
                </a:solidFill>
                <a:latin typeface="Arial"/>
                <a:cs typeface="Arial"/>
              </a:rPr>
              <a:t>Contract:</a:t>
            </a:r>
            <a:r>
              <a:rPr sz="2800" b="1" spc="-35" dirty="0">
                <a:solidFill>
                  <a:srgbClr val="00339F"/>
                </a:solidFill>
                <a:latin typeface="Arial"/>
                <a:cs typeface="Arial"/>
              </a:rPr>
              <a:t> </a:t>
            </a:r>
            <a:r>
              <a:rPr sz="2800" b="1" dirty="0">
                <a:solidFill>
                  <a:srgbClr val="00339F"/>
                </a:solidFill>
                <a:latin typeface="Arial"/>
                <a:cs typeface="Arial"/>
              </a:rPr>
              <a:t>Step</a:t>
            </a:r>
            <a:r>
              <a:rPr sz="2800" b="1" spc="-55" dirty="0">
                <a:solidFill>
                  <a:srgbClr val="00339F"/>
                </a:solidFill>
                <a:latin typeface="Arial"/>
                <a:cs typeface="Arial"/>
              </a:rPr>
              <a:t> </a:t>
            </a:r>
            <a:r>
              <a:rPr sz="2800" b="1" dirty="0">
                <a:solidFill>
                  <a:srgbClr val="00339F"/>
                </a:solidFill>
                <a:latin typeface="Arial"/>
                <a:cs typeface="Arial"/>
              </a:rPr>
              <a:t>6:</a:t>
            </a:r>
            <a:r>
              <a:rPr sz="2800" b="1" spc="-65" dirty="0">
                <a:solidFill>
                  <a:srgbClr val="00339F"/>
                </a:solidFill>
                <a:latin typeface="Arial"/>
                <a:cs typeface="Arial"/>
              </a:rPr>
              <a:t> </a:t>
            </a:r>
            <a:r>
              <a:rPr sz="2800" b="1" spc="-10" dirty="0">
                <a:solidFill>
                  <a:srgbClr val="00339F"/>
                </a:solidFill>
                <a:latin typeface="Arial"/>
                <a:cs typeface="Arial"/>
              </a:rPr>
              <a:t>Recording</a:t>
            </a:r>
            <a:endParaRPr sz="2800">
              <a:latin typeface="Arial"/>
              <a:cs typeface="Arial"/>
            </a:endParaRPr>
          </a:p>
          <a:p>
            <a:pPr>
              <a:lnSpc>
                <a:spcPct val="100000"/>
              </a:lnSpc>
              <a:spcBef>
                <a:spcPts val="270"/>
              </a:spcBef>
            </a:pPr>
            <a:endParaRPr sz="2800">
              <a:latin typeface="Arial"/>
              <a:cs typeface="Arial"/>
            </a:endParaRPr>
          </a:p>
          <a:p>
            <a:pPr marL="928369" marR="718185" indent="-457200">
              <a:lnSpc>
                <a:spcPct val="100000"/>
              </a:lnSpc>
              <a:buClr>
                <a:srgbClr val="6D2C91"/>
              </a:buClr>
              <a:buFont typeface="Wingdings"/>
              <a:buChar char=""/>
              <a:tabLst>
                <a:tab pos="928369" algn="l"/>
              </a:tabLst>
            </a:pPr>
            <a:r>
              <a:rPr sz="2800" dirty="0">
                <a:solidFill>
                  <a:srgbClr val="2B2C2D"/>
                </a:solidFill>
                <a:latin typeface="Arial MT"/>
                <a:cs typeface="Arial MT"/>
              </a:rPr>
              <a:t>The</a:t>
            </a:r>
            <a:r>
              <a:rPr sz="2800" spc="-95" dirty="0">
                <a:solidFill>
                  <a:srgbClr val="2B2C2D"/>
                </a:solidFill>
                <a:latin typeface="Arial MT"/>
                <a:cs typeface="Arial MT"/>
              </a:rPr>
              <a:t> </a:t>
            </a:r>
            <a:r>
              <a:rPr sz="2800" b="1" dirty="0">
                <a:solidFill>
                  <a:srgbClr val="2B2C2D"/>
                </a:solidFill>
                <a:latin typeface="Arial"/>
                <a:cs typeface="Arial"/>
              </a:rPr>
              <a:t>completed</a:t>
            </a:r>
            <a:r>
              <a:rPr sz="2800" b="1" spc="-90" dirty="0">
                <a:solidFill>
                  <a:srgbClr val="2B2C2D"/>
                </a:solidFill>
                <a:latin typeface="Arial"/>
                <a:cs typeface="Arial"/>
              </a:rPr>
              <a:t> </a:t>
            </a:r>
            <a:r>
              <a:rPr sz="2800" b="1" dirty="0">
                <a:solidFill>
                  <a:srgbClr val="2B2C2D"/>
                </a:solidFill>
                <a:latin typeface="Arial"/>
                <a:cs typeface="Arial"/>
              </a:rPr>
              <a:t>transaction</a:t>
            </a:r>
            <a:r>
              <a:rPr sz="2800" b="1" spc="-90" dirty="0">
                <a:solidFill>
                  <a:srgbClr val="2B2C2D"/>
                </a:solidFill>
                <a:latin typeface="Arial"/>
                <a:cs typeface="Arial"/>
              </a:rPr>
              <a:t> </a:t>
            </a:r>
            <a:r>
              <a:rPr sz="2800" spc="-20" dirty="0">
                <a:solidFill>
                  <a:srgbClr val="2B2C2D"/>
                </a:solidFill>
                <a:latin typeface="Arial MT"/>
                <a:cs typeface="Arial MT"/>
              </a:rPr>
              <a:t>[for </a:t>
            </a:r>
            <a:r>
              <a:rPr sz="2800" dirty="0">
                <a:solidFill>
                  <a:srgbClr val="2B2C2D"/>
                </a:solidFill>
                <a:latin typeface="Arial MT"/>
                <a:cs typeface="Arial MT"/>
              </a:rPr>
              <a:t>example:</a:t>
            </a:r>
            <a:r>
              <a:rPr sz="2800" spc="-50" dirty="0">
                <a:solidFill>
                  <a:srgbClr val="2B2C2D"/>
                </a:solidFill>
                <a:latin typeface="Arial MT"/>
                <a:cs typeface="Arial MT"/>
              </a:rPr>
              <a:t> </a:t>
            </a:r>
            <a:r>
              <a:rPr sz="2800" dirty="0">
                <a:solidFill>
                  <a:srgbClr val="2B2C2D"/>
                </a:solidFill>
                <a:latin typeface="Arial MT"/>
                <a:cs typeface="Arial MT"/>
              </a:rPr>
              <a:t>sale</a:t>
            </a:r>
            <a:r>
              <a:rPr sz="2800" spc="-70" dirty="0">
                <a:solidFill>
                  <a:srgbClr val="2B2C2D"/>
                </a:solidFill>
                <a:latin typeface="Arial MT"/>
                <a:cs typeface="Arial MT"/>
              </a:rPr>
              <a:t> </a:t>
            </a:r>
            <a:r>
              <a:rPr sz="2800" dirty="0">
                <a:solidFill>
                  <a:srgbClr val="2B2C2D"/>
                </a:solidFill>
                <a:latin typeface="Arial MT"/>
                <a:cs typeface="Arial MT"/>
              </a:rPr>
              <a:t>of</a:t>
            </a:r>
            <a:r>
              <a:rPr sz="2800" spc="-60" dirty="0">
                <a:solidFill>
                  <a:srgbClr val="2B2C2D"/>
                </a:solidFill>
                <a:latin typeface="Arial MT"/>
                <a:cs typeface="Arial MT"/>
              </a:rPr>
              <a:t> </a:t>
            </a:r>
            <a:r>
              <a:rPr sz="2800" dirty="0">
                <a:solidFill>
                  <a:srgbClr val="2B2C2D"/>
                </a:solidFill>
                <a:latin typeface="Arial MT"/>
                <a:cs typeface="Arial MT"/>
              </a:rPr>
              <a:t>property;</a:t>
            </a:r>
            <a:r>
              <a:rPr sz="2800" spc="-75" dirty="0">
                <a:solidFill>
                  <a:srgbClr val="2B2C2D"/>
                </a:solidFill>
                <a:latin typeface="Arial MT"/>
                <a:cs typeface="Arial MT"/>
              </a:rPr>
              <a:t> </a:t>
            </a:r>
            <a:r>
              <a:rPr sz="2800" dirty="0">
                <a:solidFill>
                  <a:srgbClr val="2B2C2D"/>
                </a:solidFill>
                <a:latin typeface="Arial MT"/>
                <a:cs typeface="Arial MT"/>
              </a:rPr>
              <a:t>payment</a:t>
            </a:r>
            <a:r>
              <a:rPr sz="2800" spc="-55" dirty="0">
                <a:solidFill>
                  <a:srgbClr val="2B2C2D"/>
                </a:solidFill>
                <a:latin typeface="Arial MT"/>
                <a:cs typeface="Arial MT"/>
              </a:rPr>
              <a:t> </a:t>
            </a:r>
            <a:r>
              <a:rPr sz="2800" spc="-25" dirty="0">
                <a:solidFill>
                  <a:srgbClr val="2B2C2D"/>
                </a:solidFill>
                <a:latin typeface="Arial MT"/>
                <a:cs typeface="Arial MT"/>
              </a:rPr>
              <a:t>of </a:t>
            </a:r>
            <a:r>
              <a:rPr sz="2800" dirty="0">
                <a:solidFill>
                  <a:srgbClr val="2B2C2D"/>
                </a:solidFill>
                <a:latin typeface="Arial MT"/>
                <a:cs typeface="Arial MT"/>
              </a:rPr>
              <a:t>royalties;</a:t>
            </a:r>
            <a:r>
              <a:rPr sz="2800" spc="-80" dirty="0">
                <a:solidFill>
                  <a:srgbClr val="2B2C2D"/>
                </a:solidFill>
                <a:latin typeface="Arial MT"/>
                <a:cs typeface="Arial MT"/>
              </a:rPr>
              <a:t> </a:t>
            </a:r>
            <a:r>
              <a:rPr sz="2800" dirty="0">
                <a:solidFill>
                  <a:srgbClr val="2B2C2D"/>
                </a:solidFill>
                <a:latin typeface="Arial MT"/>
                <a:cs typeface="Arial MT"/>
              </a:rPr>
              <a:t>delivery</a:t>
            </a:r>
            <a:r>
              <a:rPr sz="2800" spc="-70" dirty="0">
                <a:solidFill>
                  <a:srgbClr val="2B2C2D"/>
                </a:solidFill>
                <a:latin typeface="Arial MT"/>
                <a:cs typeface="Arial MT"/>
              </a:rPr>
              <a:t> </a:t>
            </a:r>
            <a:r>
              <a:rPr sz="2800" dirty="0">
                <a:solidFill>
                  <a:srgbClr val="2B2C2D"/>
                </a:solidFill>
                <a:latin typeface="Arial MT"/>
                <a:cs typeface="Arial MT"/>
              </a:rPr>
              <a:t>of</a:t>
            </a:r>
            <a:r>
              <a:rPr sz="2800" spc="-75" dirty="0">
                <a:solidFill>
                  <a:srgbClr val="2B2C2D"/>
                </a:solidFill>
                <a:latin typeface="Arial MT"/>
                <a:cs typeface="Arial MT"/>
              </a:rPr>
              <a:t> </a:t>
            </a:r>
            <a:r>
              <a:rPr sz="2800" dirty="0">
                <a:solidFill>
                  <a:srgbClr val="2B2C2D"/>
                </a:solidFill>
                <a:latin typeface="Arial MT"/>
                <a:cs typeface="Arial MT"/>
              </a:rPr>
              <a:t>shipment]</a:t>
            </a:r>
            <a:r>
              <a:rPr sz="2800" spc="-70" dirty="0">
                <a:solidFill>
                  <a:srgbClr val="2B2C2D"/>
                </a:solidFill>
                <a:latin typeface="Arial MT"/>
                <a:cs typeface="Arial MT"/>
              </a:rPr>
              <a:t> </a:t>
            </a:r>
            <a:r>
              <a:rPr sz="2800" spc="-25" dirty="0">
                <a:solidFill>
                  <a:srgbClr val="2B2C2D"/>
                </a:solidFill>
                <a:latin typeface="Arial MT"/>
                <a:cs typeface="Arial MT"/>
              </a:rPr>
              <a:t>is </a:t>
            </a:r>
            <a:r>
              <a:rPr sz="2800" dirty="0">
                <a:solidFill>
                  <a:srgbClr val="2B2C2D"/>
                </a:solidFill>
                <a:latin typeface="Arial MT"/>
                <a:cs typeface="Arial MT"/>
              </a:rPr>
              <a:t>verified</a:t>
            </a:r>
            <a:r>
              <a:rPr sz="2800" spc="-50" dirty="0">
                <a:solidFill>
                  <a:srgbClr val="2B2C2D"/>
                </a:solidFill>
                <a:latin typeface="Arial MT"/>
                <a:cs typeface="Arial MT"/>
              </a:rPr>
              <a:t> </a:t>
            </a:r>
            <a:r>
              <a:rPr sz="2800" dirty="0">
                <a:solidFill>
                  <a:srgbClr val="2B2C2D"/>
                </a:solidFill>
                <a:latin typeface="Arial MT"/>
                <a:cs typeface="Arial MT"/>
              </a:rPr>
              <a:t>and</a:t>
            </a:r>
            <a:r>
              <a:rPr sz="2800" spc="-40" dirty="0">
                <a:solidFill>
                  <a:srgbClr val="2B2C2D"/>
                </a:solidFill>
                <a:latin typeface="Arial MT"/>
                <a:cs typeface="Arial MT"/>
              </a:rPr>
              <a:t> </a:t>
            </a:r>
            <a:r>
              <a:rPr sz="2800" dirty="0">
                <a:solidFill>
                  <a:srgbClr val="2B2C2D"/>
                </a:solidFill>
                <a:latin typeface="Arial MT"/>
                <a:cs typeface="Arial MT"/>
              </a:rPr>
              <a:t>written</a:t>
            </a:r>
            <a:r>
              <a:rPr sz="2800" spc="-45" dirty="0">
                <a:solidFill>
                  <a:srgbClr val="2B2C2D"/>
                </a:solidFill>
                <a:latin typeface="Arial MT"/>
                <a:cs typeface="Arial MT"/>
              </a:rPr>
              <a:t> </a:t>
            </a:r>
            <a:r>
              <a:rPr sz="2800" dirty="0">
                <a:solidFill>
                  <a:srgbClr val="2B2C2D"/>
                </a:solidFill>
                <a:latin typeface="Arial MT"/>
                <a:cs typeface="Arial MT"/>
              </a:rPr>
              <a:t>into</a:t>
            </a:r>
            <a:r>
              <a:rPr sz="2800" spc="-50" dirty="0">
                <a:solidFill>
                  <a:srgbClr val="2B2C2D"/>
                </a:solidFill>
                <a:latin typeface="Arial MT"/>
                <a:cs typeface="Arial MT"/>
              </a:rPr>
              <a:t> </a:t>
            </a:r>
            <a:r>
              <a:rPr sz="2800" dirty="0">
                <a:solidFill>
                  <a:srgbClr val="2B2C2D"/>
                </a:solidFill>
                <a:latin typeface="Arial MT"/>
                <a:cs typeface="Arial MT"/>
              </a:rPr>
              <a:t>a</a:t>
            </a:r>
            <a:r>
              <a:rPr sz="2800" spc="-40" dirty="0">
                <a:solidFill>
                  <a:srgbClr val="2B2C2D"/>
                </a:solidFill>
                <a:latin typeface="Arial MT"/>
                <a:cs typeface="Arial MT"/>
              </a:rPr>
              <a:t> </a:t>
            </a:r>
            <a:r>
              <a:rPr sz="2800" dirty="0">
                <a:solidFill>
                  <a:srgbClr val="2B2C2D"/>
                </a:solidFill>
                <a:latin typeface="Arial MT"/>
                <a:cs typeface="Arial MT"/>
              </a:rPr>
              <a:t>new</a:t>
            </a:r>
            <a:r>
              <a:rPr sz="2800" spc="-50" dirty="0">
                <a:solidFill>
                  <a:srgbClr val="2B2C2D"/>
                </a:solidFill>
                <a:latin typeface="Arial MT"/>
                <a:cs typeface="Arial MT"/>
              </a:rPr>
              <a:t> </a:t>
            </a:r>
            <a:r>
              <a:rPr sz="2800" dirty="0">
                <a:solidFill>
                  <a:srgbClr val="2B2C2D"/>
                </a:solidFill>
                <a:latin typeface="Arial MT"/>
                <a:cs typeface="Arial MT"/>
              </a:rPr>
              <a:t>block</a:t>
            </a:r>
            <a:r>
              <a:rPr sz="2800" spc="-40" dirty="0">
                <a:solidFill>
                  <a:srgbClr val="2B2C2D"/>
                </a:solidFill>
                <a:latin typeface="Arial MT"/>
                <a:cs typeface="Arial MT"/>
              </a:rPr>
              <a:t> </a:t>
            </a:r>
            <a:r>
              <a:rPr sz="2800" spc="-25" dirty="0">
                <a:solidFill>
                  <a:srgbClr val="2B2C2D"/>
                </a:solidFill>
                <a:latin typeface="Arial MT"/>
                <a:cs typeface="Arial MT"/>
              </a:rPr>
              <a:t>in </a:t>
            </a:r>
            <a:r>
              <a:rPr sz="2800" dirty="0">
                <a:solidFill>
                  <a:srgbClr val="2B2C2D"/>
                </a:solidFill>
                <a:latin typeface="Arial MT"/>
                <a:cs typeface="Arial MT"/>
              </a:rPr>
              <a:t>the</a:t>
            </a:r>
            <a:r>
              <a:rPr sz="2800" spc="-35" dirty="0">
                <a:solidFill>
                  <a:srgbClr val="2B2C2D"/>
                </a:solidFill>
                <a:latin typeface="Arial MT"/>
                <a:cs typeface="Arial MT"/>
              </a:rPr>
              <a:t> </a:t>
            </a:r>
            <a:r>
              <a:rPr sz="2800" spc="-10" dirty="0">
                <a:solidFill>
                  <a:srgbClr val="2B2C2D"/>
                </a:solidFill>
                <a:latin typeface="Arial MT"/>
                <a:cs typeface="Arial MT"/>
              </a:rPr>
              <a:t>chain.</a:t>
            </a:r>
            <a:endParaRPr sz="2800">
              <a:latin typeface="Arial MT"/>
              <a:cs typeface="Arial MT"/>
            </a:endParaRPr>
          </a:p>
          <a:p>
            <a:pPr marL="928369" marR="603885" indent="-457200">
              <a:lnSpc>
                <a:spcPct val="100000"/>
              </a:lnSpc>
              <a:spcBef>
                <a:spcPts val="1000"/>
              </a:spcBef>
              <a:buClr>
                <a:srgbClr val="6D2C91"/>
              </a:buClr>
              <a:buFont typeface="Wingdings"/>
              <a:buChar char=""/>
              <a:tabLst>
                <a:tab pos="928369" algn="l"/>
              </a:tabLst>
            </a:pPr>
            <a:r>
              <a:rPr sz="2800" dirty="0">
                <a:solidFill>
                  <a:srgbClr val="2B2C2D"/>
                </a:solidFill>
                <a:latin typeface="Arial MT"/>
                <a:cs typeface="Arial MT"/>
              </a:rPr>
              <a:t>All</a:t>
            </a:r>
            <a:r>
              <a:rPr sz="2800" spc="-50" dirty="0">
                <a:solidFill>
                  <a:srgbClr val="2B2C2D"/>
                </a:solidFill>
                <a:latin typeface="Arial MT"/>
                <a:cs typeface="Arial MT"/>
              </a:rPr>
              <a:t> </a:t>
            </a:r>
            <a:r>
              <a:rPr sz="2800" dirty="0">
                <a:solidFill>
                  <a:srgbClr val="2B2C2D"/>
                </a:solidFill>
                <a:latin typeface="Arial MT"/>
                <a:cs typeface="Arial MT"/>
              </a:rPr>
              <a:t>of</a:t>
            </a:r>
            <a:r>
              <a:rPr sz="2800" spc="-65" dirty="0">
                <a:solidFill>
                  <a:srgbClr val="2B2C2D"/>
                </a:solidFill>
                <a:latin typeface="Arial MT"/>
                <a:cs typeface="Arial MT"/>
              </a:rPr>
              <a:t> </a:t>
            </a:r>
            <a:r>
              <a:rPr sz="2800" dirty="0">
                <a:solidFill>
                  <a:srgbClr val="2B2C2D"/>
                </a:solidFill>
                <a:latin typeface="Arial MT"/>
                <a:cs typeface="Arial MT"/>
              </a:rPr>
              <a:t>the</a:t>
            </a:r>
            <a:r>
              <a:rPr sz="2800" spc="-50" dirty="0">
                <a:solidFill>
                  <a:srgbClr val="2B2C2D"/>
                </a:solidFill>
                <a:latin typeface="Arial MT"/>
                <a:cs typeface="Arial MT"/>
              </a:rPr>
              <a:t> </a:t>
            </a:r>
            <a:r>
              <a:rPr sz="2800" dirty="0">
                <a:solidFill>
                  <a:srgbClr val="2B2C2D"/>
                </a:solidFill>
                <a:latin typeface="Arial MT"/>
                <a:cs typeface="Arial MT"/>
              </a:rPr>
              <a:t>computers</a:t>
            </a:r>
            <a:r>
              <a:rPr sz="2800" spc="-50" dirty="0">
                <a:solidFill>
                  <a:srgbClr val="2B2C2D"/>
                </a:solidFill>
                <a:latin typeface="Arial MT"/>
                <a:cs typeface="Arial MT"/>
              </a:rPr>
              <a:t> </a:t>
            </a:r>
            <a:r>
              <a:rPr sz="2800" dirty="0">
                <a:solidFill>
                  <a:srgbClr val="2B2C2D"/>
                </a:solidFill>
                <a:latin typeface="Arial MT"/>
                <a:cs typeface="Arial MT"/>
              </a:rPr>
              <a:t>[nodes]</a:t>
            </a:r>
            <a:r>
              <a:rPr sz="2800" spc="-60" dirty="0">
                <a:solidFill>
                  <a:srgbClr val="2B2C2D"/>
                </a:solidFill>
                <a:latin typeface="Arial MT"/>
                <a:cs typeface="Arial MT"/>
              </a:rPr>
              <a:t> </a:t>
            </a:r>
            <a:r>
              <a:rPr sz="2800" dirty="0">
                <a:solidFill>
                  <a:srgbClr val="2B2C2D"/>
                </a:solidFill>
                <a:latin typeface="Arial MT"/>
                <a:cs typeface="Arial MT"/>
              </a:rPr>
              <a:t>which</a:t>
            </a:r>
            <a:r>
              <a:rPr sz="2800" spc="-40" dirty="0">
                <a:solidFill>
                  <a:srgbClr val="2B2C2D"/>
                </a:solidFill>
                <a:latin typeface="Arial MT"/>
                <a:cs typeface="Arial MT"/>
              </a:rPr>
              <a:t> </a:t>
            </a:r>
            <a:r>
              <a:rPr sz="2800" spc="-25" dirty="0">
                <a:solidFill>
                  <a:srgbClr val="2B2C2D"/>
                </a:solidFill>
                <a:latin typeface="Arial MT"/>
                <a:cs typeface="Arial MT"/>
              </a:rPr>
              <a:t>are </a:t>
            </a:r>
            <a:r>
              <a:rPr sz="2800" dirty="0">
                <a:solidFill>
                  <a:srgbClr val="2B2C2D"/>
                </a:solidFill>
                <a:latin typeface="Arial MT"/>
                <a:cs typeface="Arial MT"/>
              </a:rPr>
              <a:t>part</a:t>
            </a:r>
            <a:r>
              <a:rPr sz="2800" spc="-50" dirty="0">
                <a:solidFill>
                  <a:srgbClr val="2B2C2D"/>
                </a:solidFill>
                <a:latin typeface="Arial MT"/>
                <a:cs typeface="Arial MT"/>
              </a:rPr>
              <a:t> </a:t>
            </a:r>
            <a:r>
              <a:rPr sz="2800" dirty="0">
                <a:solidFill>
                  <a:srgbClr val="2B2C2D"/>
                </a:solidFill>
                <a:latin typeface="Arial MT"/>
                <a:cs typeface="Arial MT"/>
              </a:rPr>
              <a:t>of</a:t>
            </a:r>
            <a:r>
              <a:rPr sz="2800" spc="-50" dirty="0">
                <a:solidFill>
                  <a:srgbClr val="2B2C2D"/>
                </a:solidFill>
                <a:latin typeface="Arial MT"/>
                <a:cs typeface="Arial MT"/>
              </a:rPr>
              <a:t> </a:t>
            </a:r>
            <a:r>
              <a:rPr sz="2800" dirty="0">
                <a:solidFill>
                  <a:srgbClr val="2B2C2D"/>
                </a:solidFill>
                <a:latin typeface="Arial MT"/>
                <a:cs typeface="Arial MT"/>
              </a:rPr>
              <a:t>the</a:t>
            </a:r>
            <a:r>
              <a:rPr sz="2800" spc="-40" dirty="0">
                <a:solidFill>
                  <a:srgbClr val="2B2C2D"/>
                </a:solidFill>
                <a:latin typeface="Arial MT"/>
                <a:cs typeface="Arial MT"/>
              </a:rPr>
              <a:t> </a:t>
            </a:r>
            <a:r>
              <a:rPr sz="2800" dirty="0">
                <a:solidFill>
                  <a:srgbClr val="2B2C2D"/>
                </a:solidFill>
                <a:latin typeface="Arial MT"/>
                <a:cs typeface="Arial MT"/>
              </a:rPr>
              <a:t>relevant</a:t>
            </a:r>
            <a:r>
              <a:rPr sz="2800" spc="-45" dirty="0">
                <a:solidFill>
                  <a:srgbClr val="2B2C2D"/>
                </a:solidFill>
                <a:latin typeface="Arial MT"/>
                <a:cs typeface="Arial MT"/>
              </a:rPr>
              <a:t> </a:t>
            </a:r>
            <a:r>
              <a:rPr sz="2800" dirty="0">
                <a:solidFill>
                  <a:srgbClr val="2B2C2D"/>
                </a:solidFill>
                <a:latin typeface="Arial MT"/>
                <a:cs typeface="Arial MT"/>
              </a:rPr>
              <a:t>network</a:t>
            </a:r>
            <a:r>
              <a:rPr sz="2800" spc="-40" dirty="0">
                <a:solidFill>
                  <a:srgbClr val="2B2C2D"/>
                </a:solidFill>
                <a:latin typeface="Arial MT"/>
                <a:cs typeface="Arial MT"/>
              </a:rPr>
              <a:t> </a:t>
            </a:r>
            <a:r>
              <a:rPr sz="2800" dirty="0">
                <a:solidFill>
                  <a:srgbClr val="2B2C2D"/>
                </a:solidFill>
                <a:latin typeface="Arial MT"/>
                <a:cs typeface="Arial MT"/>
              </a:rPr>
              <a:t>are</a:t>
            </a:r>
            <a:r>
              <a:rPr sz="2800" spc="-40" dirty="0">
                <a:solidFill>
                  <a:srgbClr val="2B2C2D"/>
                </a:solidFill>
                <a:latin typeface="Arial MT"/>
                <a:cs typeface="Arial MT"/>
              </a:rPr>
              <a:t> </a:t>
            </a:r>
            <a:r>
              <a:rPr sz="2800" spc="-20" dirty="0">
                <a:solidFill>
                  <a:srgbClr val="2B2C2D"/>
                </a:solidFill>
                <a:latin typeface="Arial MT"/>
                <a:cs typeface="Arial MT"/>
              </a:rPr>
              <a:t>then </a:t>
            </a:r>
            <a:r>
              <a:rPr sz="2800" dirty="0">
                <a:solidFill>
                  <a:srgbClr val="2B2C2D"/>
                </a:solidFill>
                <a:latin typeface="Arial MT"/>
                <a:cs typeface="Arial MT"/>
              </a:rPr>
              <a:t>distributed</a:t>
            </a:r>
            <a:r>
              <a:rPr sz="2800" spc="-90" dirty="0">
                <a:solidFill>
                  <a:srgbClr val="2B2C2D"/>
                </a:solidFill>
                <a:latin typeface="Arial MT"/>
                <a:cs typeface="Arial MT"/>
              </a:rPr>
              <a:t> </a:t>
            </a:r>
            <a:r>
              <a:rPr sz="2800" b="1" dirty="0">
                <a:solidFill>
                  <a:srgbClr val="2B2C2D"/>
                </a:solidFill>
                <a:latin typeface="Arial"/>
                <a:cs typeface="Arial"/>
              </a:rPr>
              <a:t>updated</a:t>
            </a:r>
            <a:r>
              <a:rPr sz="2800" b="1" spc="-60" dirty="0">
                <a:solidFill>
                  <a:srgbClr val="2B2C2D"/>
                </a:solidFill>
                <a:latin typeface="Arial"/>
                <a:cs typeface="Arial"/>
              </a:rPr>
              <a:t> </a:t>
            </a:r>
            <a:r>
              <a:rPr sz="2800" b="1" dirty="0">
                <a:solidFill>
                  <a:srgbClr val="2B2C2D"/>
                </a:solidFill>
                <a:latin typeface="Arial"/>
                <a:cs typeface="Arial"/>
              </a:rPr>
              <a:t>copies</a:t>
            </a:r>
            <a:r>
              <a:rPr sz="2800" b="1" spc="-75" dirty="0">
                <a:solidFill>
                  <a:srgbClr val="2B2C2D"/>
                </a:solidFill>
                <a:latin typeface="Arial"/>
                <a:cs typeface="Arial"/>
              </a:rPr>
              <a:t> </a:t>
            </a:r>
            <a:r>
              <a:rPr sz="2800" b="1" dirty="0">
                <a:solidFill>
                  <a:srgbClr val="2B2C2D"/>
                </a:solidFill>
                <a:latin typeface="Arial"/>
                <a:cs typeface="Arial"/>
              </a:rPr>
              <a:t>of</a:t>
            </a:r>
            <a:r>
              <a:rPr sz="2800" b="1" spc="-85" dirty="0">
                <a:solidFill>
                  <a:srgbClr val="2B2C2D"/>
                </a:solidFill>
                <a:latin typeface="Arial"/>
                <a:cs typeface="Arial"/>
              </a:rPr>
              <a:t> </a:t>
            </a:r>
            <a:r>
              <a:rPr sz="2800" b="1" spc="-25" dirty="0">
                <a:solidFill>
                  <a:srgbClr val="2B2C2D"/>
                </a:solidFill>
                <a:latin typeface="Arial"/>
                <a:cs typeface="Arial"/>
              </a:rPr>
              <a:t>the </a:t>
            </a:r>
            <a:r>
              <a:rPr sz="2800" b="1" dirty="0">
                <a:solidFill>
                  <a:srgbClr val="2B2C2D"/>
                </a:solidFill>
                <a:latin typeface="Arial"/>
                <a:cs typeface="Arial"/>
              </a:rPr>
              <a:t>ledger</a:t>
            </a:r>
            <a:r>
              <a:rPr sz="2800" b="1" spc="-45" dirty="0">
                <a:solidFill>
                  <a:srgbClr val="2B2C2D"/>
                </a:solidFill>
                <a:latin typeface="Arial"/>
                <a:cs typeface="Arial"/>
              </a:rPr>
              <a:t> </a:t>
            </a:r>
            <a:r>
              <a:rPr sz="2800" dirty="0">
                <a:solidFill>
                  <a:srgbClr val="2B2C2D"/>
                </a:solidFill>
                <a:latin typeface="Arial MT"/>
                <a:cs typeface="Arial MT"/>
              </a:rPr>
              <a:t>which</a:t>
            </a:r>
            <a:r>
              <a:rPr sz="2800" spc="-55" dirty="0">
                <a:solidFill>
                  <a:srgbClr val="2B2C2D"/>
                </a:solidFill>
                <a:latin typeface="Arial MT"/>
                <a:cs typeface="Arial MT"/>
              </a:rPr>
              <a:t> </a:t>
            </a:r>
            <a:r>
              <a:rPr sz="2800" dirty="0">
                <a:solidFill>
                  <a:srgbClr val="2B2C2D"/>
                </a:solidFill>
                <a:latin typeface="Arial MT"/>
                <a:cs typeface="Arial MT"/>
              </a:rPr>
              <a:t>show</a:t>
            </a:r>
            <a:r>
              <a:rPr sz="2800" spc="-50" dirty="0">
                <a:solidFill>
                  <a:srgbClr val="2B2C2D"/>
                </a:solidFill>
                <a:latin typeface="Arial MT"/>
                <a:cs typeface="Arial MT"/>
              </a:rPr>
              <a:t> </a:t>
            </a:r>
            <a:r>
              <a:rPr sz="2800" dirty="0">
                <a:solidFill>
                  <a:srgbClr val="2B2C2D"/>
                </a:solidFill>
                <a:latin typeface="Arial MT"/>
                <a:cs typeface="Arial MT"/>
              </a:rPr>
              <a:t>that</a:t>
            </a:r>
            <a:r>
              <a:rPr sz="2800" spc="-65" dirty="0">
                <a:solidFill>
                  <a:srgbClr val="2B2C2D"/>
                </a:solidFill>
                <a:latin typeface="Arial MT"/>
                <a:cs typeface="Arial MT"/>
              </a:rPr>
              <a:t> </a:t>
            </a:r>
            <a:r>
              <a:rPr sz="2800" dirty="0">
                <a:solidFill>
                  <a:srgbClr val="2B2C2D"/>
                </a:solidFill>
                <a:latin typeface="Arial MT"/>
                <a:cs typeface="Arial MT"/>
              </a:rPr>
              <a:t>the</a:t>
            </a:r>
            <a:r>
              <a:rPr sz="2800" spc="-60" dirty="0">
                <a:solidFill>
                  <a:srgbClr val="2B2C2D"/>
                </a:solidFill>
                <a:latin typeface="Arial MT"/>
                <a:cs typeface="Arial MT"/>
              </a:rPr>
              <a:t> </a:t>
            </a:r>
            <a:r>
              <a:rPr sz="2800" spc="-10" dirty="0">
                <a:solidFill>
                  <a:srgbClr val="2B2C2D"/>
                </a:solidFill>
                <a:latin typeface="Arial MT"/>
                <a:cs typeface="Arial MT"/>
              </a:rPr>
              <a:t>transaction </a:t>
            </a:r>
            <a:r>
              <a:rPr sz="2800" dirty="0">
                <a:solidFill>
                  <a:srgbClr val="2B2C2D"/>
                </a:solidFill>
                <a:latin typeface="Arial MT"/>
                <a:cs typeface="Arial MT"/>
              </a:rPr>
              <a:t>is</a:t>
            </a:r>
            <a:r>
              <a:rPr sz="2800" spc="-25" dirty="0">
                <a:solidFill>
                  <a:srgbClr val="2B2C2D"/>
                </a:solidFill>
                <a:latin typeface="Arial MT"/>
                <a:cs typeface="Arial MT"/>
              </a:rPr>
              <a:t> </a:t>
            </a:r>
            <a:r>
              <a:rPr sz="2800" spc="-10" dirty="0">
                <a:solidFill>
                  <a:srgbClr val="2B2C2D"/>
                </a:solidFill>
                <a:latin typeface="Arial MT"/>
                <a:cs typeface="Arial MT"/>
              </a:rPr>
              <a:t>completed.</a:t>
            </a:r>
            <a:endParaRPr sz="2800">
              <a:latin typeface="Arial MT"/>
              <a:cs typeface="Arial MT"/>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66</a:t>
            </a:fld>
            <a:endParaRPr spc="-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50" dirty="0"/>
              <a:t> </a:t>
            </a:r>
            <a:r>
              <a:rPr dirty="0"/>
              <a:t>a</a:t>
            </a:r>
            <a:r>
              <a:rPr spc="-60" dirty="0"/>
              <a:t> </a:t>
            </a:r>
            <a:r>
              <a:rPr dirty="0"/>
              <a:t>Smart</a:t>
            </a:r>
            <a:r>
              <a:rPr spc="-70" dirty="0"/>
              <a:t> </a:t>
            </a:r>
            <a:r>
              <a:rPr spc="-10" dirty="0"/>
              <a:t>Contract</a:t>
            </a:r>
          </a:p>
        </p:txBody>
      </p:sp>
      <p:pic>
        <p:nvPicPr>
          <p:cNvPr id="3" name="object 3"/>
          <p:cNvPicPr/>
          <p:nvPr/>
        </p:nvPicPr>
        <p:blipFill>
          <a:blip r:embed="rId2" cstate="print"/>
          <a:stretch>
            <a:fillRect/>
          </a:stretch>
        </p:blipFill>
        <p:spPr>
          <a:xfrm>
            <a:off x="1778495" y="1109472"/>
            <a:ext cx="5849086" cy="4660404"/>
          </a:xfrm>
          <a:prstGeom prst="rect">
            <a:avLst/>
          </a:prstGeom>
        </p:spPr>
      </p:pic>
      <p:pic>
        <p:nvPicPr>
          <p:cNvPr id="4" name="object 4"/>
          <p:cNvPicPr/>
          <p:nvPr/>
        </p:nvPicPr>
        <p:blipFill>
          <a:blip r:embed="rId3" cstate="print"/>
          <a:stretch>
            <a:fillRect/>
          </a:stretch>
        </p:blipFill>
        <p:spPr>
          <a:xfrm>
            <a:off x="6780250" y="6028652"/>
            <a:ext cx="1003300" cy="11443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67</a:t>
            </a:fld>
            <a:endParaRPr spc="-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50" dirty="0"/>
              <a:t> </a:t>
            </a:r>
            <a:r>
              <a:rPr dirty="0"/>
              <a:t>a</a:t>
            </a:r>
            <a:r>
              <a:rPr spc="-60" dirty="0"/>
              <a:t> </a:t>
            </a:r>
            <a:r>
              <a:rPr dirty="0"/>
              <a:t>Smart</a:t>
            </a:r>
            <a:r>
              <a:rPr spc="-70" dirty="0"/>
              <a:t> </a:t>
            </a:r>
            <a:r>
              <a:rPr spc="-10" dirty="0"/>
              <a:t>Contract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68</a:t>
            </a:fld>
            <a:endParaRPr spc="-25" dirty="0"/>
          </a:p>
        </p:txBody>
      </p:sp>
      <p:sp>
        <p:nvSpPr>
          <p:cNvPr id="3" name="object 3"/>
          <p:cNvSpPr txBox="1"/>
          <p:nvPr/>
        </p:nvSpPr>
        <p:spPr>
          <a:xfrm>
            <a:off x="884808" y="1235455"/>
            <a:ext cx="6639559" cy="3439160"/>
          </a:xfrm>
          <a:prstGeom prst="rect">
            <a:avLst/>
          </a:prstGeom>
        </p:spPr>
        <p:txBody>
          <a:bodyPr vert="horz" wrap="square" lIns="0" tIns="12065" rIns="0" bIns="0" rtlCol="0">
            <a:spAutoFit/>
          </a:bodyPr>
          <a:lstStyle/>
          <a:p>
            <a:pPr marL="354965" marR="5080" indent="-342900">
              <a:lnSpc>
                <a:spcPct val="100000"/>
              </a:lnSpc>
              <a:spcBef>
                <a:spcPts val="95"/>
              </a:spcBef>
              <a:buClr>
                <a:srgbClr val="6D2C91"/>
              </a:buClr>
              <a:buFont typeface="Wingdings"/>
              <a:buChar char=""/>
              <a:tabLst>
                <a:tab pos="354965" algn="l"/>
              </a:tabLst>
            </a:pPr>
            <a:r>
              <a:rPr sz="2800" dirty="0">
                <a:solidFill>
                  <a:srgbClr val="2B2C2D"/>
                </a:solidFill>
                <a:latin typeface="Arial MT"/>
                <a:cs typeface="Arial MT"/>
              </a:rPr>
              <a:t>A</a:t>
            </a:r>
            <a:r>
              <a:rPr sz="2800" spc="-195" dirty="0">
                <a:solidFill>
                  <a:srgbClr val="2B2C2D"/>
                </a:solidFill>
                <a:latin typeface="Arial MT"/>
                <a:cs typeface="Arial MT"/>
              </a:rPr>
              <a:t> </a:t>
            </a:r>
            <a:r>
              <a:rPr sz="2800" dirty="0">
                <a:solidFill>
                  <a:srgbClr val="2B2C2D"/>
                </a:solidFill>
                <a:latin typeface="Arial MT"/>
                <a:cs typeface="Arial MT"/>
              </a:rPr>
              <a:t>smart</a:t>
            </a:r>
            <a:r>
              <a:rPr sz="2800" spc="-65" dirty="0">
                <a:solidFill>
                  <a:srgbClr val="2B2C2D"/>
                </a:solidFill>
                <a:latin typeface="Arial MT"/>
                <a:cs typeface="Arial MT"/>
              </a:rPr>
              <a:t> </a:t>
            </a:r>
            <a:r>
              <a:rPr sz="2800" dirty="0">
                <a:solidFill>
                  <a:srgbClr val="2B2C2D"/>
                </a:solidFill>
                <a:latin typeface="Arial MT"/>
                <a:cs typeface="Arial MT"/>
              </a:rPr>
              <a:t>contract</a:t>
            </a:r>
            <a:r>
              <a:rPr sz="2800" spc="-60" dirty="0">
                <a:solidFill>
                  <a:srgbClr val="2B2C2D"/>
                </a:solidFill>
                <a:latin typeface="Arial MT"/>
                <a:cs typeface="Arial MT"/>
              </a:rPr>
              <a:t> </a:t>
            </a:r>
            <a:r>
              <a:rPr sz="2800" dirty="0">
                <a:solidFill>
                  <a:srgbClr val="2B2C2D"/>
                </a:solidFill>
                <a:latin typeface="Arial MT"/>
                <a:cs typeface="Arial MT"/>
              </a:rPr>
              <a:t>generally</a:t>
            </a:r>
            <a:r>
              <a:rPr sz="2800" spc="-50" dirty="0">
                <a:solidFill>
                  <a:srgbClr val="2B2C2D"/>
                </a:solidFill>
                <a:latin typeface="Arial MT"/>
                <a:cs typeface="Arial MT"/>
              </a:rPr>
              <a:t> </a:t>
            </a:r>
            <a:r>
              <a:rPr sz="2800" dirty="0">
                <a:solidFill>
                  <a:srgbClr val="2B2C2D"/>
                </a:solidFill>
                <a:latin typeface="Arial MT"/>
                <a:cs typeface="Arial MT"/>
              </a:rPr>
              <a:t>will</a:t>
            </a:r>
            <a:r>
              <a:rPr sz="2800" spc="-50" dirty="0">
                <a:solidFill>
                  <a:srgbClr val="2B2C2D"/>
                </a:solidFill>
                <a:latin typeface="Arial MT"/>
                <a:cs typeface="Arial MT"/>
              </a:rPr>
              <a:t> </a:t>
            </a:r>
            <a:r>
              <a:rPr sz="2800" b="1" dirty="0">
                <a:solidFill>
                  <a:srgbClr val="2B2C2D"/>
                </a:solidFill>
                <a:latin typeface="Arial"/>
                <a:cs typeface="Arial"/>
              </a:rPr>
              <a:t>not</a:t>
            </a:r>
            <a:r>
              <a:rPr sz="2800" b="1" spc="-40" dirty="0">
                <a:solidFill>
                  <a:srgbClr val="2B2C2D"/>
                </a:solidFill>
                <a:latin typeface="Arial"/>
                <a:cs typeface="Arial"/>
              </a:rPr>
              <a:t> </a:t>
            </a:r>
            <a:r>
              <a:rPr sz="2800" b="1" spc="-25" dirty="0">
                <a:solidFill>
                  <a:srgbClr val="2B2C2D"/>
                </a:solidFill>
                <a:latin typeface="Arial"/>
                <a:cs typeface="Arial"/>
              </a:rPr>
              <a:t>be </a:t>
            </a:r>
            <a:r>
              <a:rPr sz="2800" b="1" dirty="0">
                <a:solidFill>
                  <a:srgbClr val="2B2C2D"/>
                </a:solidFill>
                <a:latin typeface="Arial"/>
                <a:cs typeface="Arial"/>
              </a:rPr>
              <a:t>the</a:t>
            </a:r>
            <a:r>
              <a:rPr sz="2800" b="1" spc="-50" dirty="0">
                <a:solidFill>
                  <a:srgbClr val="2B2C2D"/>
                </a:solidFill>
                <a:latin typeface="Arial"/>
                <a:cs typeface="Arial"/>
              </a:rPr>
              <a:t> </a:t>
            </a:r>
            <a:r>
              <a:rPr sz="2800" b="1" dirty="0">
                <a:solidFill>
                  <a:srgbClr val="2B2C2D"/>
                </a:solidFill>
                <a:latin typeface="Arial"/>
                <a:cs typeface="Arial"/>
              </a:rPr>
              <a:t>whole</a:t>
            </a:r>
            <a:r>
              <a:rPr sz="2800" b="1" spc="-50" dirty="0">
                <a:solidFill>
                  <a:srgbClr val="2B2C2D"/>
                </a:solidFill>
                <a:latin typeface="Arial"/>
                <a:cs typeface="Arial"/>
              </a:rPr>
              <a:t> </a:t>
            </a:r>
            <a:r>
              <a:rPr sz="2800" b="1" dirty="0">
                <a:solidFill>
                  <a:srgbClr val="2B2C2D"/>
                </a:solidFill>
                <a:latin typeface="Arial"/>
                <a:cs typeface="Arial"/>
              </a:rPr>
              <a:t>agreement</a:t>
            </a:r>
            <a:r>
              <a:rPr sz="2800" b="1" spc="-40" dirty="0">
                <a:solidFill>
                  <a:srgbClr val="2B2C2D"/>
                </a:solidFill>
                <a:latin typeface="Arial"/>
                <a:cs typeface="Arial"/>
              </a:rPr>
              <a:t> </a:t>
            </a:r>
            <a:r>
              <a:rPr sz="2800" dirty="0">
                <a:solidFill>
                  <a:srgbClr val="2B2C2D"/>
                </a:solidFill>
                <a:latin typeface="Arial MT"/>
                <a:cs typeface="Arial MT"/>
              </a:rPr>
              <a:t>but</a:t>
            </a:r>
            <a:r>
              <a:rPr sz="2800" spc="-65" dirty="0">
                <a:solidFill>
                  <a:srgbClr val="2B2C2D"/>
                </a:solidFill>
                <a:latin typeface="Arial MT"/>
                <a:cs typeface="Arial MT"/>
              </a:rPr>
              <a:t> </a:t>
            </a:r>
            <a:r>
              <a:rPr sz="2800" dirty="0">
                <a:solidFill>
                  <a:srgbClr val="2B2C2D"/>
                </a:solidFill>
                <a:latin typeface="Arial MT"/>
                <a:cs typeface="Arial MT"/>
              </a:rPr>
              <a:t>only</a:t>
            </a:r>
            <a:r>
              <a:rPr sz="2800" spc="-60" dirty="0">
                <a:solidFill>
                  <a:srgbClr val="2B2C2D"/>
                </a:solidFill>
                <a:latin typeface="Arial MT"/>
                <a:cs typeface="Arial MT"/>
              </a:rPr>
              <a:t> </a:t>
            </a:r>
            <a:r>
              <a:rPr sz="2800" spc="-10" dirty="0">
                <a:solidFill>
                  <a:srgbClr val="2B2C2D"/>
                </a:solidFill>
                <a:latin typeface="Arial MT"/>
                <a:cs typeface="Arial MT"/>
              </a:rPr>
              <a:t>those </a:t>
            </a:r>
            <a:r>
              <a:rPr sz="2800" dirty="0">
                <a:solidFill>
                  <a:srgbClr val="2B2C2D"/>
                </a:solidFill>
                <a:latin typeface="Arial MT"/>
                <a:cs typeface="Arial MT"/>
              </a:rPr>
              <a:t>portions</a:t>
            </a:r>
            <a:r>
              <a:rPr sz="2800" spc="-40" dirty="0">
                <a:solidFill>
                  <a:srgbClr val="2B2C2D"/>
                </a:solidFill>
                <a:latin typeface="Arial MT"/>
                <a:cs typeface="Arial MT"/>
              </a:rPr>
              <a:t> </a:t>
            </a:r>
            <a:r>
              <a:rPr sz="2800" dirty="0">
                <a:solidFill>
                  <a:srgbClr val="2B2C2D"/>
                </a:solidFill>
                <a:latin typeface="Arial MT"/>
                <a:cs typeface="Arial MT"/>
              </a:rPr>
              <a:t>of</a:t>
            </a:r>
            <a:r>
              <a:rPr sz="2800" spc="-55" dirty="0">
                <a:solidFill>
                  <a:srgbClr val="2B2C2D"/>
                </a:solidFill>
                <a:latin typeface="Arial MT"/>
                <a:cs typeface="Arial MT"/>
              </a:rPr>
              <a:t> </a:t>
            </a:r>
            <a:r>
              <a:rPr sz="2800" dirty="0">
                <a:solidFill>
                  <a:srgbClr val="2B2C2D"/>
                </a:solidFill>
                <a:latin typeface="Arial MT"/>
                <a:cs typeface="Arial MT"/>
              </a:rPr>
              <a:t>the</a:t>
            </a:r>
            <a:r>
              <a:rPr sz="2800" spc="-45" dirty="0">
                <a:solidFill>
                  <a:srgbClr val="2B2C2D"/>
                </a:solidFill>
                <a:latin typeface="Arial MT"/>
                <a:cs typeface="Arial MT"/>
              </a:rPr>
              <a:t> </a:t>
            </a:r>
            <a:r>
              <a:rPr sz="2800" dirty="0">
                <a:solidFill>
                  <a:srgbClr val="2B2C2D"/>
                </a:solidFill>
                <a:latin typeface="Arial MT"/>
                <a:cs typeface="Arial MT"/>
              </a:rPr>
              <a:t>contract</a:t>
            </a:r>
            <a:r>
              <a:rPr sz="2800" spc="-50" dirty="0">
                <a:solidFill>
                  <a:srgbClr val="2B2C2D"/>
                </a:solidFill>
                <a:latin typeface="Arial MT"/>
                <a:cs typeface="Arial MT"/>
              </a:rPr>
              <a:t> </a:t>
            </a:r>
            <a:r>
              <a:rPr sz="2800" dirty="0">
                <a:solidFill>
                  <a:srgbClr val="2B2C2D"/>
                </a:solidFill>
                <a:latin typeface="Arial MT"/>
                <a:cs typeface="Arial MT"/>
              </a:rPr>
              <a:t>that</a:t>
            </a:r>
            <a:r>
              <a:rPr sz="2800" spc="-50" dirty="0">
                <a:solidFill>
                  <a:srgbClr val="2B2C2D"/>
                </a:solidFill>
                <a:latin typeface="Arial MT"/>
                <a:cs typeface="Arial MT"/>
              </a:rPr>
              <a:t> </a:t>
            </a:r>
            <a:r>
              <a:rPr sz="2800" dirty="0">
                <a:solidFill>
                  <a:srgbClr val="2B2C2D"/>
                </a:solidFill>
                <a:latin typeface="Arial MT"/>
                <a:cs typeface="Arial MT"/>
              </a:rPr>
              <a:t>are</a:t>
            </a:r>
            <a:r>
              <a:rPr sz="2800" spc="-45" dirty="0">
                <a:solidFill>
                  <a:srgbClr val="2B2C2D"/>
                </a:solidFill>
                <a:latin typeface="Arial MT"/>
                <a:cs typeface="Arial MT"/>
              </a:rPr>
              <a:t> </a:t>
            </a:r>
            <a:r>
              <a:rPr sz="2800" spc="-10" dirty="0">
                <a:solidFill>
                  <a:srgbClr val="2B2C2D"/>
                </a:solidFill>
                <a:latin typeface="Arial MT"/>
                <a:cs typeface="Arial MT"/>
              </a:rPr>
              <a:t>highly </a:t>
            </a:r>
            <a:r>
              <a:rPr sz="2800" b="1" spc="-20" dirty="0">
                <a:solidFill>
                  <a:srgbClr val="2B2C2D"/>
                </a:solidFill>
                <a:latin typeface="Arial"/>
                <a:cs typeface="Arial"/>
              </a:rPr>
              <a:t>process-</a:t>
            </a:r>
            <a:r>
              <a:rPr sz="2800" b="1" dirty="0">
                <a:solidFill>
                  <a:srgbClr val="2B2C2D"/>
                </a:solidFill>
                <a:latin typeface="Arial"/>
                <a:cs typeface="Arial"/>
              </a:rPr>
              <a:t>based,</a:t>
            </a:r>
            <a:r>
              <a:rPr sz="2800" b="1" spc="-20" dirty="0">
                <a:solidFill>
                  <a:srgbClr val="2B2C2D"/>
                </a:solidFill>
                <a:latin typeface="Arial"/>
                <a:cs typeface="Arial"/>
              </a:rPr>
              <a:t> </a:t>
            </a:r>
            <a:r>
              <a:rPr sz="2800" dirty="0">
                <a:solidFill>
                  <a:srgbClr val="2B2C2D"/>
                </a:solidFill>
                <a:latin typeface="Arial MT"/>
                <a:cs typeface="Arial MT"/>
              </a:rPr>
              <a:t>can</a:t>
            </a:r>
            <a:r>
              <a:rPr sz="2800" spc="-50" dirty="0">
                <a:solidFill>
                  <a:srgbClr val="2B2C2D"/>
                </a:solidFill>
                <a:latin typeface="Arial MT"/>
                <a:cs typeface="Arial MT"/>
              </a:rPr>
              <a:t> </a:t>
            </a:r>
            <a:r>
              <a:rPr sz="2800" dirty="0">
                <a:solidFill>
                  <a:srgbClr val="2B2C2D"/>
                </a:solidFill>
                <a:latin typeface="Arial MT"/>
                <a:cs typeface="Arial MT"/>
              </a:rPr>
              <a:t>be</a:t>
            </a:r>
            <a:r>
              <a:rPr sz="2800" spc="-45" dirty="0">
                <a:solidFill>
                  <a:srgbClr val="2B2C2D"/>
                </a:solidFill>
                <a:latin typeface="Arial MT"/>
                <a:cs typeface="Arial MT"/>
              </a:rPr>
              <a:t> </a:t>
            </a:r>
            <a:r>
              <a:rPr sz="2800" dirty="0">
                <a:solidFill>
                  <a:srgbClr val="2B2C2D"/>
                </a:solidFill>
                <a:latin typeface="Arial MT"/>
                <a:cs typeface="Arial MT"/>
              </a:rPr>
              <a:t>represented</a:t>
            </a:r>
            <a:r>
              <a:rPr sz="2800" spc="-55" dirty="0">
                <a:solidFill>
                  <a:srgbClr val="2B2C2D"/>
                </a:solidFill>
                <a:latin typeface="Arial MT"/>
                <a:cs typeface="Arial MT"/>
              </a:rPr>
              <a:t> </a:t>
            </a:r>
            <a:r>
              <a:rPr sz="2800" spc="-25" dirty="0">
                <a:solidFill>
                  <a:srgbClr val="2B2C2D"/>
                </a:solidFill>
                <a:latin typeface="Arial MT"/>
                <a:cs typeface="Arial MT"/>
              </a:rPr>
              <a:t>in </a:t>
            </a:r>
            <a:r>
              <a:rPr sz="2800" dirty="0">
                <a:solidFill>
                  <a:srgbClr val="2B2C2D"/>
                </a:solidFill>
                <a:latin typeface="Arial MT"/>
                <a:cs typeface="Arial MT"/>
              </a:rPr>
              <a:t>executable</a:t>
            </a:r>
            <a:r>
              <a:rPr sz="2800" spc="-90" dirty="0">
                <a:solidFill>
                  <a:srgbClr val="2B2C2D"/>
                </a:solidFill>
                <a:latin typeface="Arial MT"/>
                <a:cs typeface="Arial MT"/>
              </a:rPr>
              <a:t> </a:t>
            </a:r>
            <a:r>
              <a:rPr sz="2800" b="1" dirty="0">
                <a:solidFill>
                  <a:srgbClr val="2B2C2D"/>
                </a:solidFill>
                <a:latin typeface="Arial"/>
                <a:cs typeface="Arial"/>
              </a:rPr>
              <a:t>computer</a:t>
            </a:r>
            <a:r>
              <a:rPr sz="2800" b="1" spc="-65" dirty="0">
                <a:solidFill>
                  <a:srgbClr val="2B2C2D"/>
                </a:solidFill>
                <a:latin typeface="Arial"/>
                <a:cs typeface="Arial"/>
              </a:rPr>
              <a:t> </a:t>
            </a:r>
            <a:r>
              <a:rPr sz="2800" b="1" dirty="0">
                <a:solidFill>
                  <a:srgbClr val="2B2C2D"/>
                </a:solidFill>
                <a:latin typeface="Arial"/>
                <a:cs typeface="Arial"/>
              </a:rPr>
              <a:t>code</a:t>
            </a:r>
            <a:r>
              <a:rPr sz="2800" dirty="0">
                <a:solidFill>
                  <a:srgbClr val="2B2C2D"/>
                </a:solidFill>
                <a:latin typeface="Arial MT"/>
                <a:cs typeface="Arial MT"/>
              </a:rPr>
              <a:t>,</a:t>
            </a:r>
            <a:r>
              <a:rPr sz="2800" spc="-75" dirty="0">
                <a:solidFill>
                  <a:srgbClr val="2B2C2D"/>
                </a:solidFill>
                <a:latin typeface="Arial MT"/>
                <a:cs typeface="Arial MT"/>
              </a:rPr>
              <a:t> </a:t>
            </a:r>
            <a:r>
              <a:rPr sz="2800" dirty="0">
                <a:solidFill>
                  <a:srgbClr val="2B2C2D"/>
                </a:solidFill>
                <a:latin typeface="Arial MT"/>
                <a:cs typeface="Arial MT"/>
              </a:rPr>
              <a:t>and</a:t>
            </a:r>
            <a:r>
              <a:rPr sz="2800" spc="-80" dirty="0">
                <a:solidFill>
                  <a:srgbClr val="2B2C2D"/>
                </a:solidFill>
                <a:latin typeface="Arial MT"/>
                <a:cs typeface="Arial MT"/>
              </a:rPr>
              <a:t> </a:t>
            </a:r>
            <a:r>
              <a:rPr sz="2800" spc="-25" dirty="0">
                <a:solidFill>
                  <a:srgbClr val="2B2C2D"/>
                </a:solidFill>
                <a:latin typeface="Arial MT"/>
                <a:cs typeface="Arial MT"/>
              </a:rPr>
              <a:t>can</a:t>
            </a:r>
            <a:r>
              <a:rPr sz="2800" spc="700" dirty="0">
                <a:solidFill>
                  <a:srgbClr val="2B2C2D"/>
                </a:solidFill>
                <a:latin typeface="Arial MT"/>
                <a:cs typeface="Arial MT"/>
              </a:rPr>
              <a:t> </a:t>
            </a:r>
            <a:r>
              <a:rPr sz="2800" dirty="0">
                <a:solidFill>
                  <a:srgbClr val="2B2C2D"/>
                </a:solidFill>
                <a:latin typeface="Arial MT"/>
                <a:cs typeface="Arial MT"/>
              </a:rPr>
              <a:t>be</a:t>
            </a:r>
            <a:r>
              <a:rPr sz="2800" spc="-55" dirty="0">
                <a:solidFill>
                  <a:srgbClr val="2B2C2D"/>
                </a:solidFill>
                <a:latin typeface="Arial MT"/>
                <a:cs typeface="Arial MT"/>
              </a:rPr>
              <a:t> </a:t>
            </a:r>
            <a:r>
              <a:rPr sz="2800" b="1" dirty="0">
                <a:solidFill>
                  <a:srgbClr val="2B2C2D"/>
                </a:solidFill>
                <a:latin typeface="Arial"/>
                <a:cs typeface="Arial"/>
              </a:rPr>
              <a:t>usefully</a:t>
            </a:r>
            <a:r>
              <a:rPr sz="2800" b="1" spc="-45" dirty="0">
                <a:solidFill>
                  <a:srgbClr val="2B2C2D"/>
                </a:solidFill>
                <a:latin typeface="Arial"/>
                <a:cs typeface="Arial"/>
              </a:rPr>
              <a:t> </a:t>
            </a:r>
            <a:r>
              <a:rPr sz="2800" b="1" dirty="0">
                <a:solidFill>
                  <a:srgbClr val="2B2C2D"/>
                </a:solidFill>
                <a:latin typeface="Arial"/>
                <a:cs typeface="Arial"/>
              </a:rPr>
              <a:t>automated</a:t>
            </a:r>
            <a:r>
              <a:rPr sz="2800" b="1" spc="-30" dirty="0">
                <a:solidFill>
                  <a:srgbClr val="2B2C2D"/>
                </a:solidFill>
                <a:latin typeface="Arial"/>
                <a:cs typeface="Arial"/>
              </a:rPr>
              <a:t> </a:t>
            </a:r>
            <a:r>
              <a:rPr sz="2800" dirty="0">
                <a:solidFill>
                  <a:srgbClr val="2B2C2D"/>
                </a:solidFill>
                <a:latin typeface="Arial MT"/>
                <a:cs typeface="Arial MT"/>
              </a:rPr>
              <a:t>in</a:t>
            </a:r>
            <a:r>
              <a:rPr sz="2800" spc="-55" dirty="0">
                <a:solidFill>
                  <a:srgbClr val="2B2C2D"/>
                </a:solidFill>
                <a:latin typeface="Arial MT"/>
                <a:cs typeface="Arial MT"/>
              </a:rPr>
              <a:t> </a:t>
            </a:r>
            <a:r>
              <a:rPr sz="2800" dirty="0">
                <a:solidFill>
                  <a:srgbClr val="2B2C2D"/>
                </a:solidFill>
                <a:latin typeface="Arial MT"/>
                <a:cs typeface="Arial MT"/>
              </a:rPr>
              <a:t>a</a:t>
            </a:r>
            <a:r>
              <a:rPr sz="2800" spc="-65" dirty="0">
                <a:solidFill>
                  <a:srgbClr val="2B2C2D"/>
                </a:solidFill>
                <a:latin typeface="Arial MT"/>
                <a:cs typeface="Arial MT"/>
              </a:rPr>
              <a:t> </a:t>
            </a:r>
            <a:r>
              <a:rPr sz="2800" spc="-10" dirty="0">
                <a:solidFill>
                  <a:srgbClr val="2B2C2D"/>
                </a:solidFill>
                <a:latin typeface="Arial MT"/>
                <a:cs typeface="Arial MT"/>
              </a:rPr>
              <a:t>manner </a:t>
            </a:r>
            <a:r>
              <a:rPr sz="2800" dirty="0">
                <a:solidFill>
                  <a:srgbClr val="2B2C2D"/>
                </a:solidFill>
                <a:latin typeface="Arial MT"/>
                <a:cs typeface="Arial MT"/>
              </a:rPr>
              <a:t>that</a:t>
            </a:r>
            <a:r>
              <a:rPr sz="2800" spc="-60" dirty="0">
                <a:solidFill>
                  <a:srgbClr val="2B2C2D"/>
                </a:solidFill>
                <a:latin typeface="Arial MT"/>
                <a:cs typeface="Arial MT"/>
              </a:rPr>
              <a:t> </a:t>
            </a:r>
            <a:r>
              <a:rPr sz="2800" dirty="0">
                <a:solidFill>
                  <a:srgbClr val="2B2C2D"/>
                </a:solidFill>
                <a:latin typeface="Arial MT"/>
                <a:cs typeface="Arial MT"/>
              </a:rPr>
              <a:t>is</a:t>
            </a:r>
            <a:r>
              <a:rPr sz="2800" spc="-55" dirty="0">
                <a:solidFill>
                  <a:srgbClr val="2B2C2D"/>
                </a:solidFill>
                <a:latin typeface="Arial MT"/>
                <a:cs typeface="Arial MT"/>
              </a:rPr>
              <a:t> </a:t>
            </a:r>
            <a:r>
              <a:rPr sz="2800" dirty="0">
                <a:solidFill>
                  <a:srgbClr val="2B2C2D"/>
                </a:solidFill>
                <a:latin typeface="Arial MT"/>
                <a:cs typeface="Arial MT"/>
              </a:rPr>
              <a:t>more</a:t>
            </a:r>
            <a:r>
              <a:rPr sz="2800" spc="-35" dirty="0">
                <a:solidFill>
                  <a:srgbClr val="2B2C2D"/>
                </a:solidFill>
                <a:latin typeface="Arial MT"/>
                <a:cs typeface="Arial MT"/>
              </a:rPr>
              <a:t> </a:t>
            </a:r>
            <a:r>
              <a:rPr sz="2800" dirty="0">
                <a:solidFill>
                  <a:srgbClr val="2B2C2D"/>
                </a:solidFill>
                <a:latin typeface="Arial MT"/>
                <a:cs typeface="Arial MT"/>
              </a:rPr>
              <a:t>efficient</a:t>
            </a:r>
            <a:r>
              <a:rPr sz="2800" spc="-55" dirty="0">
                <a:solidFill>
                  <a:srgbClr val="2B2C2D"/>
                </a:solidFill>
                <a:latin typeface="Arial MT"/>
                <a:cs typeface="Arial MT"/>
              </a:rPr>
              <a:t> </a:t>
            </a:r>
            <a:r>
              <a:rPr sz="2800" dirty="0">
                <a:solidFill>
                  <a:srgbClr val="2B2C2D"/>
                </a:solidFill>
                <a:latin typeface="Arial MT"/>
                <a:cs typeface="Arial MT"/>
              </a:rPr>
              <a:t>and</a:t>
            </a:r>
            <a:r>
              <a:rPr sz="2800" spc="-50" dirty="0">
                <a:solidFill>
                  <a:srgbClr val="2B2C2D"/>
                </a:solidFill>
                <a:latin typeface="Arial MT"/>
                <a:cs typeface="Arial MT"/>
              </a:rPr>
              <a:t> </a:t>
            </a:r>
            <a:r>
              <a:rPr sz="2800" dirty="0">
                <a:solidFill>
                  <a:srgbClr val="2B2C2D"/>
                </a:solidFill>
                <a:latin typeface="Arial MT"/>
                <a:cs typeface="Arial MT"/>
              </a:rPr>
              <a:t>easier</a:t>
            </a:r>
            <a:r>
              <a:rPr sz="2800" spc="-45" dirty="0">
                <a:solidFill>
                  <a:srgbClr val="2B2C2D"/>
                </a:solidFill>
                <a:latin typeface="Arial MT"/>
                <a:cs typeface="Arial MT"/>
              </a:rPr>
              <a:t> </a:t>
            </a:r>
            <a:r>
              <a:rPr sz="2800" dirty="0">
                <a:solidFill>
                  <a:srgbClr val="2B2C2D"/>
                </a:solidFill>
                <a:latin typeface="Arial MT"/>
                <a:cs typeface="Arial MT"/>
              </a:rPr>
              <a:t>to</a:t>
            </a:r>
            <a:r>
              <a:rPr sz="2800" spc="-45" dirty="0">
                <a:solidFill>
                  <a:srgbClr val="2B2C2D"/>
                </a:solidFill>
                <a:latin typeface="Arial MT"/>
                <a:cs typeface="Arial MT"/>
              </a:rPr>
              <a:t> </a:t>
            </a:r>
            <a:r>
              <a:rPr sz="2800" spc="-10" dirty="0">
                <a:solidFill>
                  <a:srgbClr val="2B2C2D"/>
                </a:solidFill>
                <a:latin typeface="Arial MT"/>
                <a:cs typeface="Arial MT"/>
              </a:rPr>
              <a:t>scale </a:t>
            </a:r>
            <a:r>
              <a:rPr sz="2800" dirty="0">
                <a:solidFill>
                  <a:srgbClr val="2B2C2D"/>
                </a:solidFill>
                <a:latin typeface="Arial MT"/>
                <a:cs typeface="Arial MT"/>
              </a:rPr>
              <a:t>than</a:t>
            </a:r>
            <a:r>
              <a:rPr sz="2800" spc="-65" dirty="0">
                <a:solidFill>
                  <a:srgbClr val="2B2C2D"/>
                </a:solidFill>
                <a:latin typeface="Arial MT"/>
                <a:cs typeface="Arial MT"/>
              </a:rPr>
              <a:t> </a:t>
            </a:r>
            <a:r>
              <a:rPr sz="2800" dirty="0">
                <a:solidFill>
                  <a:srgbClr val="2B2C2D"/>
                </a:solidFill>
                <a:latin typeface="Arial MT"/>
                <a:cs typeface="Arial MT"/>
              </a:rPr>
              <a:t>human</a:t>
            </a:r>
            <a:r>
              <a:rPr sz="2800" spc="-45" dirty="0">
                <a:solidFill>
                  <a:srgbClr val="2B2C2D"/>
                </a:solidFill>
                <a:latin typeface="Arial MT"/>
                <a:cs typeface="Arial MT"/>
              </a:rPr>
              <a:t> </a:t>
            </a:r>
            <a:r>
              <a:rPr sz="2800" spc="-10" dirty="0">
                <a:solidFill>
                  <a:srgbClr val="2B2C2D"/>
                </a:solidFill>
                <a:latin typeface="Arial MT"/>
                <a:cs typeface="Arial MT"/>
              </a:rPr>
              <a:t>processing.</a:t>
            </a:r>
            <a:endParaRPr sz="2800">
              <a:latin typeface="Arial MT"/>
              <a:cs typeface="Arial M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5240">
              <a:lnSpc>
                <a:spcPct val="100000"/>
              </a:lnSpc>
              <a:spcBef>
                <a:spcPts val="95"/>
              </a:spcBef>
            </a:pPr>
            <a:r>
              <a:rPr dirty="0"/>
              <a:t>Building</a:t>
            </a:r>
            <a:r>
              <a:rPr spc="-50" dirty="0"/>
              <a:t> </a:t>
            </a:r>
            <a:r>
              <a:rPr dirty="0"/>
              <a:t>a</a:t>
            </a:r>
            <a:r>
              <a:rPr spc="-60" dirty="0"/>
              <a:t> </a:t>
            </a:r>
            <a:r>
              <a:rPr dirty="0"/>
              <a:t>Smart</a:t>
            </a:r>
            <a:r>
              <a:rPr spc="-70" dirty="0"/>
              <a:t> </a:t>
            </a:r>
            <a:r>
              <a:rPr spc="-10" dirty="0"/>
              <a:t>Contract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fld id="{81D60167-4931-47E6-BA6A-407CBD079E47}" type="slidenum">
              <a:rPr spc="-25" dirty="0"/>
              <a:t>69</a:t>
            </a:fld>
            <a:endParaRPr spc="-25" dirty="0"/>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422909" marR="5080" indent="-342900">
              <a:lnSpc>
                <a:spcPct val="100000"/>
              </a:lnSpc>
              <a:spcBef>
                <a:spcPts val="95"/>
              </a:spcBef>
              <a:buClr>
                <a:srgbClr val="6D2C91"/>
              </a:buClr>
              <a:buFont typeface="Wingdings"/>
              <a:buChar char=""/>
              <a:tabLst>
                <a:tab pos="423545" algn="l"/>
              </a:tabLst>
            </a:pPr>
            <a:r>
              <a:rPr dirty="0"/>
              <a:t>In</a:t>
            </a:r>
            <a:r>
              <a:rPr spc="-55" dirty="0"/>
              <a:t> </a:t>
            </a:r>
            <a:r>
              <a:rPr dirty="0"/>
              <a:t>its</a:t>
            </a:r>
            <a:r>
              <a:rPr spc="-60" dirty="0"/>
              <a:t> </a:t>
            </a:r>
            <a:r>
              <a:rPr dirty="0"/>
              <a:t>current</a:t>
            </a:r>
            <a:r>
              <a:rPr spc="-40" dirty="0"/>
              <a:t> </a:t>
            </a:r>
            <a:r>
              <a:rPr dirty="0"/>
              <a:t>stage,</a:t>
            </a:r>
            <a:r>
              <a:rPr spc="-65" dirty="0"/>
              <a:t> </a:t>
            </a:r>
            <a:r>
              <a:rPr b="1" dirty="0">
                <a:latin typeface="Arial"/>
                <a:cs typeface="Arial"/>
              </a:rPr>
              <a:t>better</a:t>
            </a:r>
            <a:r>
              <a:rPr b="1" spc="-35" dirty="0">
                <a:latin typeface="Arial"/>
                <a:cs typeface="Arial"/>
              </a:rPr>
              <a:t> </a:t>
            </a:r>
            <a:r>
              <a:rPr b="1" dirty="0">
                <a:latin typeface="Arial"/>
                <a:cs typeface="Arial"/>
              </a:rPr>
              <a:t>suited</a:t>
            </a:r>
            <a:r>
              <a:rPr b="1" spc="-35" dirty="0">
                <a:latin typeface="Arial"/>
                <a:cs typeface="Arial"/>
              </a:rPr>
              <a:t> </a:t>
            </a:r>
            <a:r>
              <a:rPr b="1" spc="-25" dirty="0">
                <a:latin typeface="Arial"/>
                <a:cs typeface="Arial"/>
              </a:rPr>
              <a:t>to </a:t>
            </a:r>
            <a:r>
              <a:rPr b="1" dirty="0">
                <a:latin typeface="Arial"/>
                <a:cs typeface="Arial"/>
              </a:rPr>
              <a:t>industrial</a:t>
            </a:r>
            <a:r>
              <a:rPr b="1" spc="-55" dirty="0">
                <a:latin typeface="Arial"/>
                <a:cs typeface="Arial"/>
              </a:rPr>
              <a:t> </a:t>
            </a:r>
            <a:r>
              <a:rPr b="1" dirty="0">
                <a:latin typeface="Arial"/>
                <a:cs typeface="Arial"/>
              </a:rPr>
              <a:t>scale</a:t>
            </a:r>
            <a:r>
              <a:rPr b="1" spc="-70" dirty="0">
                <a:latin typeface="Arial"/>
                <a:cs typeface="Arial"/>
              </a:rPr>
              <a:t> </a:t>
            </a:r>
            <a:r>
              <a:rPr dirty="0"/>
              <a:t>or</a:t>
            </a:r>
            <a:r>
              <a:rPr spc="-65" dirty="0"/>
              <a:t> </a:t>
            </a:r>
            <a:r>
              <a:rPr b="1" dirty="0">
                <a:latin typeface="Arial"/>
                <a:cs typeface="Arial"/>
              </a:rPr>
              <a:t>repetitive</a:t>
            </a:r>
            <a:r>
              <a:rPr b="1" spc="-70" dirty="0">
                <a:latin typeface="Arial"/>
                <a:cs typeface="Arial"/>
              </a:rPr>
              <a:t> </a:t>
            </a:r>
            <a:r>
              <a:rPr dirty="0"/>
              <a:t>forms</a:t>
            </a:r>
            <a:r>
              <a:rPr spc="-75" dirty="0"/>
              <a:t> </a:t>
            </a:r>
            <a:r>
              <a:rPr spc="-25" dirty="0"/>
              <a:t>and </a:t>
            </a:r>
            <a:r>
              <a:rPr dirty="0"/>
              <a:t>transactions</a:t>
            </a:r>
            <a:r>
              <a:rPr spc="-75" dirty="0"/>
              <a:t> </a:t>
            </a:r>
            <a:r>
              <a:rPr dirty="0"/>
              <a:t>rather</a:t>
            </a:r>
            <a:r>
              <a:rPr spc="-65" dirty="0"/>
              <a:t> </a:t>
            </a:r>
            <a:r>
              <a:rPr dirty="0"/>
              <a:t>than</a:t>
            </a:r>
            <a:r>
              <a:rPr spc="-65" dirty="0"/>
              <a:t> </a:t>
            </a:r>
            <a:r>
              <a:rPr dirty="0"/>
              <a:t>"one</a:t>
            </a:r>
            <a:r>
              <a:rPr spc="-65" dirty="0"/>
              <a:t> </a:t>
            </a:r>
            <a:r>
              <a:rPr spc="-20" dirty="0"/>
              <a:t>off" </a:t>
            </a:r>
            <a:r>
              <a:rPr spc="-10" dirty="0"/>
              <a:t>agreements.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85689" y="645297"/>
            <a:ext cx="8138160" cy="566928"/>
          </a:xfrm>
          <a:prstGeom prst="rect">
            <a:avLst/>
          </a:prstGeom>
          <a:noFill/>
          <a:ln/>
        </p:spPr>
        <p:txBody>
          <a:bodyPr wrap="square" lIns="0" tIns="0" rIns="0" bIns="0" rtlCol="0" anchor="ctr"/>
          <a:lstStyle/>
          <a:p>
            <a:r>
              <a:rPr lang="en-US" sz="2600" b="1" dirty="0">
                <a:solidFill>
                  <a:srgbClr val="111111"/>
                </a:solidFill>
                <a:latin typeface="Cambria" pitchFamily="34" charset="0"/>
                <a:ea typeface="Cambria" pitchFamily="34" charset="-122"/>
                <a:cs typeface="Cambria" pitchFamily="34" charset="-120"/>
              </a:rPr>
              <a:t>Anatomy of a Smart Contract</a:t>
            </a:r>
            <a:endParaRPr lang="en-US" sz="2600" dirty="0"/>
          </a:p>
        </p:txBody>
      </p:sp>
      <p:sp>
        <p:nvSpPr>
          <p:cNvPr id="4" name="Shape 2"/>
          <p:cNvSpPr/>
          <p:nvPr/>
        </p:nvSpPr>
        <p:spPr>
          <a:xfrm>
            <a:off x="502920" y="2183130"/>
            <a:ext cx="4709160" cy="3310128"/>
          </a:xfrm>
          <a:prstGeom prst="roundRect">
            <a:avLst>
              <a:gd name="adj" fmla="val 1381"/>
            </a:avLst>
          </a:prstGeom>
          <a:solidFill>
            <a:srgbClr val="F2F2F2"/>
          </a:solidFill>
          <a:ln w="12700">
            <a:solidFill>
              <a:srgbClr val="BFBFBF"/>
            </a:solidFill>
            <a:prstDash val="solid"/>
          </a:ln>
        </p:spPr>
        <p:txBody>
          <a:bodyPr/>
          <a:lstStyle/>
          <a:p>
            <a:endParaRPr lang="en-US"/>
          </a:p>
        </p:txBody>
      </p:sp>
      <p:sp>
        <p:nvSpPr>
          <p:cNvPr id="5" name="Text 3"/>
          <p:cNvSpPr/>
          <p:nvPr/>
        </p:nvSpPr>
        <p:spPr>
          <a:xfrm>
            <a:off x="667512" y="2283714"/>
            <a:ext cx="4434840" cy="3108960"/>
          </a:xfrm>
          <a:prstGeom prst="rect">
            <a:avLst/>
          </a:prstGeom>
          <a:noFill/>
          <a:ln/>
        </p:spPr>
        <p:txBody>
          <a:bodyPr wrap="square" lIns="0" tIns="0" rIns="0" bIns="0" rtlCol="0" anchor="t"/>
          <a:lstStyle/>
          <a:p>
            <a:r>
              <a:rPr lang="en-US" sz="950" dirty="0">
                <a:solidFill>
                  <a:srgbClr val="111111"/>
                </a:solidFill>
                <a:latin typeface="Courier New" pitchFamily="34" charset="0"/>
                <a:ea typeface="Courier New" pitchFamily="34" charset="-122"/>
                <a:cs typeface="Courier New" pitchFamily="34" charset="-120"/>
              </a:rPr>
              <a:t>// SPDX-License-Identifier: MIT</a:t>
            </a:r>
            <a:endParaRPr lang="en-US" sz="950" dirty="0"/>
          </a:p>
          <a:p>
            <a:r>
              <a:rPr lang="en-US" sz="950" dirty="0">
                <a:solidFill>
                  <a:srgbClr val="111111"/>
                </a:solidFill>
                <a:latin typeface="Courier New" pitchFamily="34" charset="0"/>
                <a:ea typeface="Courier New" pitchFamily="34" charset="-122"/>
                <a:cs typeface="Courier New" pitchFamily="34" charset="-120"/>
              </a:rPr>
              <a:t>pragma solidity ^0.8.0;</a:t>
            </a:r>
            <a:endParaRPr lang="en-US" sz="950" dirty="0"/>
          </a:p>
          <a:p>
            <a:endParaRPr lang="en-US" sz="950" dirty="0"/>
          </a:p>
          <a:p>
            <a:r>
              <a:rPr lang="en-US" sz="950" dirty="0">
                <a:solidFill>
                  <a:srgbClr val="111111"/>
                </a:solidFill>
                <a:latin typeface="Courier New" pitchFamily="34" charset="0"/>
                <a:ea typeface="Courier New" pitchFamily="34" charset="-122"/>
                <a:cs typeface="Courier New" pitchFamily="34" charset="-120"/>
              </a:rPr>
              <a:t>contract SimpleStorage {</a:t>
            </a:r>
            <a:endParaRPr lang="en-US" sz="950" dirty="0"/>
          </a:p>
          <a:p>
            <a:r>
              <a:rPr lang="en-US" sz="950" dirty="0">
                <a:solidFill>
                  <a:srgbClr val="111111"/>
                </a:solidFill>
                <a:latin typeface="Courier New" pitchFamily="34" charset="0"/>
                <a:ea typeface="Courier New" pitchFamily="34" charset="-122"/>
                <a:cs typeface="Courier New" pitchFamily="34" charset="-120"/>
              </a:rPr>
              <a:t>    address public owner;</a:t>
            </a:r>
            <a:endParaRPr lang="en-US" sz="950" dirty="0"/>
          </a:p>
          <a:p>
            <a:r>
              <a:rPr lang="en-US" sz="950" dirty="0">
                <a:solidFill>
                  <a:srgbClr val="111111"/>
                </a:solidFill>
                <a:latin typeface="Courier New" pitchFamily="34" charset="0"/>
                <a:ea typeface="Courier New" pitchFamily="34" charset="-122"/>
                <a:cs typeface="Courier New" pitchFamily="34" charset="-120"/>
              </a:rPr>
              <a:t>    uint256 private value;</a:t>
            </a:r>
            <a:endParaRPr lang="en-US" sz="950" dirty="0"/>
          </a:p>
          <a:p>
            <a:r>
              <a:rPr lang="en-US" sz="950" dirty="0">
                <a:solidFill>
                  <a:srgbClr val="111111"/>
                </a:solidFill>
                <a:latin typeface="Courier New" pitchFamily="34" charset="0"/>
                <a:ea typeface="Courier New" pitchFamily="34" charset="-122"/>
                <a:cs typeface="Courier New" pitchFamily="34" charset="-120"/>
              </a:rPr>
              <a:t>    event Updated(uint256 v);</a:t>
            </a:r>
            <a:endParaRPr lang="en-US" sz="950" dirty="0"/>
          </a:p>
          <a:p>
            <a:endParaRPr lang="en-US" sz="950" dirty="0"/>
          </a:p>
          <a:p>
            <a:r>
              <a:rPr lang="en-US" sz="950" dirty="0">
                <a:solidFill>
                  <a:srgbClr val="111111"/>
                </a:solidFill>
                <a:latin typeface="Courier New" pitchFamily="34" charset="0"/>
                <a:ea typeface="Courier New" pitchFamily="34" charset="-122"/>
                <a:cs typeface="Courier New" pitchFamily="34" charset="-120"/>
              </a:rPr>
              <a:t>    constructor() { owner = msg.sender; }</a:t>
            </a:r>
            <a:endParaRPr lang="en-US" sz="950" dirty="0"/>
          </a:p>
          <a:p>
            <a:endParaRPr lang="en-US" sz="950" dirty="0"/>
          </a:p>
          <a:p>
            <a:r>
              <a:rPr lang="en-US" sz="950" dirty="0">
                <a:solidFill>
                  <a:srgbClr val="111111"/>
                </a:solidFill>
                <a:latin typeface="Courier New" pitchFamily="34" charset="0"/>
                <a:ea typeface="Courier New" pitchFamily="34" charset="-122"/>
                <a:cs typeface="Courier New" pitchFamily="34" charset="-120"/>
              </a:rPr>
              <a:t>    modifier onlyOwner() {</a:t>
            </a:r>
            <a:endParaRPr lang="en-US" sz="950" dirty="0"/>
          </a:p>
          <a:p>
            <a:r>
              <a:rPr lang="en-US" sz="950" dirty="0">
                <a:solidFill>
                  <a:srgbClr val="111111"/>
                </a:solidFill>
                <a:latin typeface="Courier New" pitchFamily="34" charset="0"/>
                <a:ea typeface="Courier New" pitchFamily="34" charset="-122"/>
                <a:cs typeface="Courier New" pitchFamily="34" charset="-120"/>
              </a:rPr>
              <a:t>        require(msg.sender == owner);</a:t>
            </a:r>
            <a:endParaRPr lang="en-US" sz="950" dirty="0"/>
          </a:p>
          <a:p>
            <a:r>
              <a:rPr lang="en-US" sz="950" dirty="0">
                <a:solidFill>
                  <a:srgbClr val="111111"/>
                </a:solidFill>
                <a:latin typeface="Courier New" pitchFamily="34" charset="0"/>
                <a:ea typeface="Courier New" pitchFamily="34" charset="-122"/>
                <a:cs typeface="Courier New" pitchFamily="34" charset="-120"/>
              </a:rPr>
              <a:t>        _;</a:t>
            </a:r>
            <a:endParaRPr lang="en-US" sz="950" dirty="0"/>
          </a:p>
          <a:p>
            <a:r>
              <a:rPr lang="en-US" sz="950" dirty="0">
                <a:solidFill>
                  <a:srgbClr val="111111"/>
                </a:solidFill>
                <a:latin typeface="Courier New" pitchFamily="34" charset="0"/>
                <a:ea typeface="Courier New" pitchFamily="34" charset="-122"/>
                <a:cs typeface="Courier New" pitchFamily="34" charset="-120"/>
              </a:rPr>
              <a:t>    }</a:t>
            </a:r>
            <a:endParaRPr lang="en-US" sz="950" dirty="0"/>
          </a:p>
          <a:p>
            <a:r>
              <a:rPr lang="en-US" sz="950" dirty="0">
                <a:solidFill>
                  <a:srgbClr val="111111"/>
                </a:solidFill>
                <a:latin typeface="Courier New" pitchFamily="34" charset="0"/>
                <a:ea typeface="Courier New" pitchFamily="34" charset="-122"/>
                <a:cs typeface="Courier New" pitchFamily="34" charset="-120"/>
              </a:rPr>
              <a:t>    function set(uint256 v) public onlyOwner {</a:t>
            </a:r>
            <a:endParaRPr lang="en-US" sz="950" dirty="0"/>
          </a:p>
          <a:p>
            <a:r>
              <a:rPr lang="en-US" sz="950" dirty="0">
                <a:solidFill>
                  <a:srgbClr val="111111"/>
                </a:solidFill>
                <a:latin typeface="Courier New" pitchFamily="34" charset="0"/>
                <a:ea typeface="Courier New" pitchFamily="34" charset="-122"/>
                <a:cs typeface="Courier New" pitchFamily="34" charset="-120"/>
              </a:rPr>
              <a:t>        value = v; emit Updated(v);</a:t>
            </a:r>
            <a:endParaRPr lang="en-US" sz="950" dirty="0"/>
          </a:p>
          <a:p>
            <a:r>
              <a:rPr lang="en-US" sz="950" dirty="0">
                <a:solidFill>
                  <a:srgbClr val="111111"/>
                </a:solidFill>
                <a:latin typeface="Courier New" pitchFamily="34" charset="0"/>
                <a:ea typeface="Courier New" pitchFamily="34" charset="-122"/>
                <a:cs typeface="Courier New" pitchFamily="34" charset="-120"/>
              </a:rPr>
              <a:t>    }</a:t>
            </a:r>
            <a:endParaRPr lang="en-US" sz="950" dirty="0"/>
          </a:p>
          <a:p>
            <a:r>
              <a:rPr lang="en-US" sz="950" dirty="0">
                <a:solidFill>
                  <a:srgbClr val="111111"/>
                </a:solidFill>
                <a:latin typeface="Courier New" pitchFamily="34" charset="0"/>
                <a:ea typeface="Courier New" pitchFamily="34" charset="-122"/>
                <a:cs typeface="Courier New" pitchFamily="34" charset="-120"/>
              </a:rPr>
              <a:t>    function get() public view</a:t>
            </a:r>
            <a:endParaRPr lang="en-US" sz="950" dirty="0"/>
          </a:p>
          <a:p>
            <a:r>
              <a:rPr lang="en-US" sz="950" dirty="0">
                <a:solidFill>
                  <a:srgbClr val="111111"/>
                </a:solidFill>
                <a:latin typeface="Courier New" pitchFamily="34" charset="0"/>
                <a:ea typeface="Courier New" pitchFamily="34" charset="-122"/>
                <a:cs typeface="Courier New" pitchFamily="34" charset="-120"/>
              </a:rPr>
              <a:t>        returns (uint256) { return value; }</a:t>
            </a:r>
            <a:endParaRPr lang="en-US" sz="950" dirty="0"/>
          </a:p>
          <a:p>
            <a:r>
              <a:rPr lang="en-US" sz="950" dirty="0">
                <a:solidFill>
                  <a:srgbClr val="111111"/>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440680" y="2183130"/>
            <a:ext cx="3200400" cy="3291840"/>
          </a:xfrm>
          <a:prstGeom prst="rect">
            <a:avLst/>
          </a:prstGeom>
          <a:noFill/>
          <a:ln/>
        </p:spPr>
        <p:txBody>
          <a:bodyPr wrap="square" lIns="0" tIns="0" rIns="0" bIns="0" rtlCol="0" anchor="t"/>
          <a:lstStyle/>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License &amp; pragma — </a:t>
            </a:r>
            <a:r>
              <a:rPr lang="en-US" sz="1150" dirty="0">
                <a:solidFill>
                  <a:srgbClr val="2B2B2B"/>
                </a:solidFill>
                <a:latin typeface="Calibri" pitchFamily="34" charset="0"/>
                <a:ea typeface="Calibri" pitchFamily="34" charset="-122"/>
                <a:cs typeface="Calibri" pitchFamily="34" charset="-120"/>
              </a:rPr>
              <a:t>SPDX tag and the compiler-version constraint.</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State variables — </a:t>
            </a:r>
            <a:r>
              <a:rPr lang="en-US" sz="1150" dirty="0">
                <a:solidFill>
                  <a:srgbClr val="2B2B2B"/>
                </a:solidFill>
                <a:latin typeface="Calibri" pitchFamily="34" charset="0"/>
                <a:ea typeface="Calibri" pitchFamily="34" charset="-122"/>
                <a:cs typeface="Calibri" pitchFamily="34" charset="-120"/>
              </a:rPr>
              <a:t>persistent on-chain storage — the costliest resource.</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Visibility — </a:t>
            </a:r>
            <a:r>
              <a:rPr lang="en-US" sz="1150" dirty="0">
                <a:solidFill>
                  <a:srgbClr val="2B2B2B"/>
                </a:solidFill>
                <a:latin typeface="Calibri" pitchFamily="34" charset="0"/>
                <a:ea typeface="Calibri" pitchFamily="34" charset="-122"/>
                <a:cs typeface="Calibri" pitchFamily="34" charset="-120"/>
              </a:rPr>
              <a:t>public / external / internal / private control access.</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Functions — </a:t>
            </a:r>
            <a:r>
              <a:rPr lang="en-US" sz="1150" dirty="0">
                <a:solidFill>
                  <a:srgbClr val="2B2B2B"/>
                </a:solidFill>
                <a:latin typeface="Calibri" pitchFamily="34" charset="0"/>
                <a:ea typeface="Calibri" pitchFamily="34" charset="-122"/>
                <a:cs typeface="Calibri" pitchFamily="34" charset="-120"/>
              </a:rPr>
              <a:t>view/pure (no change) vs state-changing (need a tx + gas).</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Modifiers — </a:t>
            </a:r>
            <a:r>
              <a:rPr lang="en-US" sz="1150" dirty="0">
                <a:solidFill>
                  <a:srgbClr val="2B2B2B"/>
                </a:solidFill>
                <a:latin typeface="Calibri" pitchFamily="34" charset="0"/>
                <a:ea typeface="Calibri" pitchFamily="34" charset="-122"/>
                <a:cs typeface="Calibri" pitchFamily="34" charset="-120"/>
              </a:rPr>
              <a:t>reusable guard clauses, e.g. onlyOwner for access control.</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Events — </a:t>
            </a:r>
            <a:r>
              <a:rPr lang="en-US" sz="1150" dirty="0">
                <a:solidFill>
                  <a:srgbClr val="2B2B2B"/>
                </a:solidFill>
                <a:latin typeface="Calibri" pitchFamily="34" charset="0"/>
                <a:ea typeface="Calibri" pitchFamily="34" charset="-122"/>
                <a:cs typeface="Calibri" pitchFamily="34" charset="-120"/>
              </a:rPr>
              <a:t>indexed logs that off-chain apps subscribe to.</a:t>
            </a:r>
            <a:endParaRPr lang="en-US" sz="1150" dirty="0"/>
          </a:p>
          <a:p>
            <a:pPr marL="203200" indent="-203200">
              <a:spcAft>
                <a:spcPts val="700"/>
              </a:spcAft>
              <a:buSzPct val="100000"/>
              <a:buChar char="•"/>
            </a:pPr>
            <a:r>
              <a:rPr lang="en-US" sz="1150" b="1" dirty="0">
                <a:solidFill>
                  <a:srgbClr val="111111"/>
                </a:solidFill>
                <a:latin typeface="Calibri" pitchFamily="34" charset="0"/>
                <a:ea typeface="Calibri" pitchFamily="34" charset="-122"/>
                <a:cs typeface="Calibri" pitchFamily="34" charset="-120"/>
              </a:rPr>
              <a:t>Constructor — </a:t>
            </a:r>
            <a:r>
              <a:rPr lang="en-US" sz="1150" dirty="0">
                <a:solidFill>
                  <a:srgbClr val="2B2B2B"/>
                </a:solidFill>
                <a:latin typeface="Calibri" pitchFamily="34" charset="0"/>
                <a:ea typeface="Calibri" pitchFamily="34" charset="-122"/>
                <a:cs typeface="Calibri" pitchFamily="34" charset="-120"/>
              </a:rPr>
              <a:t>runs once at deployment to initialise state.</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DF1A01-5118-9652-08D3-66F2F0B06A9F}"/>
              </a:ext>
            </a:extLst>
          </p:cNvPr>
          <p:cNvSpPr>
            <a:spLocks noGrp="1"/>
          </p:cNvSpPr>
          <p:nvPr>
            <p:ph type="body" idx="1"/>
          </p:nvPr>
        </p:nvSpPr>
        <p:spPr/>
        <p:txBody>
          <a:bodyPr>
            <a:normAutofit lnSpcReduction="10000"/>
          </a:bodyPr>
          <a:lstStyle/>
          <a:p>
            <a:r>
              <a:rPr lang="en-US" dirty="0"/>
              <a:t>Assessing Smart Contract Security</a:t>
            </a:r>
          </a:p>
        </p:txBody>
      </p:sp>
      <p:sp>
        <p:nvSpPr>
          <p:cNvPr id="4" name="TextBox 3">
            <a:extLst>
              <a:ext uri="{FF2B5EF4-FFF2-40B4-BE49-F238E27FC236}">
                <a16:creationId xmlns:a16="http://schemas.microsoft.com/office/drawing/2014/main" id="{9D8EF588-95C9-710D-7E5E-12D77BC2E398}"/>
              </a:ext>
            </a:extLst>
          </p:cNvPr>
          <p:cNvSpPr txBox="1"/>
          <p:nvPr/>
        </p:nvSpPr>
        <p:spPr>
          <a:xfrm>
            <a:off x="556055" y="1295401"/>
            <a:ext cx="7797114" cy="4401205"/>
          </a:xfrm>
          <a:prstGeom prst="rect">
            <a:avLst/>
          </a:prstGeom>
          <a:noFill/>
        </p:spPr>
        <p:txBody>
          <a:bodyPr wrap="square">
            <a:spAutoFit/>
          </a:bodyPr>
          <a:lstStyle/>
          <a:p>
            <a:pPr marL="285750" indent="-285750" algn="just">
              <a:buFont typeface="Arial" panose="020B0604020202020204" pitchFamily="34" charset="0"/>
              <a:buChar char="•"/>
            </a:pPr>
            <a:r>
              <a:rPr lang="en-US" sz="2800" dirty="0"/>
              <a:t>Smart contracts are immutable after deployment </a:t>
            </a:r>
          </a:p>
          <a:p>
            <a:pPr marL="285750" indent="-285750" algn="just">
              <a:buFont typeface="Arial" panose="020B0604020202020204" pitchFamily="34" charset="0"/>
              <a:buChar char="•"/>
            </a:pPr>
            <a:r>
              <a:rPr lang="en-US" sz="2800" dirty="0"/>
              <a:t>Security flaws can lead to permanent financial/data loss</a:t>
            </a:r>
          </a:p>
          <a:p>
            <a:pPr marL="285750" indent="-285750" algn="just">
              <a:buFont typeface="Arial" panose="020B0604020202020204" pitchFamily="34" charset="0"/>
              <a:buChar char="•"/>
            </a:pPr>
            <a:r>
              <a:rPr lang="en-US" sz="2800" dirty="0"/>
              <a:t> Security assessment ensures correctness and trustworthiness</a:t>
            </a:r>
          </a:p>
          <a:p>
            <a:pPr marL="285750" indent="-285750" algn="just">
              <a:buFont typeface="Arial" panose="020B0604020202020204" pitchFamily="34" charset="0"/>
              <a:buChar char="•"/>
            </a:pPr>
            <a:r>
              <a:rPr lang="en-US" sz="2800" dirty="0"/>
              <a:t> Focus areas include logic, vulnerabilities, and external interactions</a:t>
            </a:r>
          </a:p>
          <a:p>
            <a:pPr marL="285750" indent="-285750" algn="just">
              <a:buFont typeface="Arial" panose="020B0604020202020204" pitchFamily="34" charset="0"/>
              <a:buChar char="•"/>
            </a:pPr>
            <a:r>
              <a:rPr lang="en-US" sz="2800" dirty="0"/>
              <a:t> Uses multiple methods: code review, testing, and auditing</a:t>
            </a:r>
          </a:p>
        </p:txBody>
      </p:sp>
    </p:spTree>
    <p:extLst>
      <p:ext uri="{BB962C8B-B14F-4D97-AF65-F5344CB8AC3E}">
        <p14:creationId xmlns:p14="http://schemas.microsoft.com/office/powerpoint/2010/main" val="3136137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0349C11-3CC4-25A4-07E4-8D1DE4DD0D75}"/>
              </a:ext>
            </a:extLst>
          </p:cNvPr>
          <p:cNvSpPr>
            <a:spLocks noGrp="1"/>
          </p:cNvSpPr>
          <p:nvPr>
            <p:ph type="body" idx="1"/>
          </p:nvPr>
        </p:nvSpPr>
        <p:spPr>
          <a:xfrm>
            <a:off x="304800" y="152400"/>
            <a:ext cx="7162800" cy="1143000"/>
          </a:xfrm>
        </p:spPr>
        <p:txBody>
          <a:bodyPr>
            <a:normAutofit/>
          </a:bodyPr>
          <a:lstStyle/>
          <a:p>
            <a:r>
              <a:rPr lang="en-US" dirty="0"/>
              <a:t>Key Security Evaluation Areas</a:t>
            </a:r>
          </a:p>
        </p:txBody>
      </p:sp>
      <p:sp>
        <p:nvSpPr>
          <p:cNvPr id="5" name="Slide Number Placeholder 4">
            <a:extLst>
              <a:ext uri="{FF2B5EF4-FFF2-40B4-BE49-F238E27FC236}">
                <a16:creationId xmlns:a16="http://schemas.microsoft.com/office/drawing/2014/main" id="{61763967-8B1E-911B-63FB-15A390A67AB3}"/>
              </a:ext>
            </a:extLst>
          </p:cNvPr>
          <p:cNvSpPr>
            <a:spLocks noGrp="1"/>
          </p:cNvSpPr>
          <p:nvPr>
            <p:ph type="sldNum" idx="12"/>
          </p:nvPr>
        </p:nvSpPr>
        <p:spPr/>
        <p:txBody>
          <a:bodyPr/>
          <a:lstStyle/>
          <a:p>
            <a:fld id="{00000000-1234-1234-1234-123412341234}" type="slidenum">
              <a:rPr lang="en-US" smtClean="0"/>
              <a:pPr/>
              <a:t>72</a:t>
            </a:fld>
            <a:endParaRPr lang="en-US" dirty="0"/>
          </a:p>
        </p:txBody>
      </p:sp>
      <p:sp>
        <p:nvSpPr>
          <p:cNvPr id="8" name="TextBox 7">
            <a:extLst>
              <a:ext uri="{FF2B5EF4-FFF2-40B4-BE49-F238E27FC236}">
                <a16:creationId xmlns:a16="http://schemas.microsoft.com/office/drawing/2014/main" id="{B705751B-3FC5-7D41-1DE4-DC22E4E37AD3}"/>
              </a:ext>
            </a:extLst>
          </p:cNvPr>
          <p:cNvSpPr txBox="1"/>
          <p:nvPr/>
        </p:nvSpPr>
        <p:spPr>
          <a:xfrm>
            <a:off x="1044145" y="1625272"/>
            <a:ext cx="8001001" cy="4401205"/>
          </a:xfrm>
          <a:prstGeom prst="rect">
            <a:avLst/>
          </a:prstGeom>
          <a:noFill/>
        </p:spPr>
        <p:txBody>
          <a:bodyPr wrap="square">
            <a:spAutoFit/>
          </a:bodyPr>
          <a:lstStyle/>
          <a:p>
            <a:pPr marL="285750" indent="-285750" algn="just">
              <a:buFont typeface="Arial" panose="020B0604020202020204" pitchFamily="34" charset="0"/>
              <a:buChar char="•"/>
            </a:pPr>
            <a:r>
              <a:rPr lang="en-US" sz="2800" b="1" dirty="0"/>
              <a:t>Logic correctness</a:t>
            </a:r>
            <a:r>
              <a:rPr lang="en-US" sz="2800" dirty="0"/>
              <a:t>: Ensure business rules are implemented properly </a:t>
            </a:r>
          </a:p>
          <a:p>
            <a:pPr marL="285750" indent="-285750" algn="just">
              <a:buFont typeface="Arial" panose="020B0604020202020204" pitchFamily="34" charset="0"/>
              <a:buChar char="•"/>
            </a:pPr>
            <a:r>
              <a:rPr lang="en-US" sz="2800" b="1" dirty="0"/>
              <a:t>State safety</a:t>
            </a:r>
            <a:r>
              <a:rPr lang="en-US" sz="2800" dirty="0"/>
              <a:t>: Validate all possible state transitions </a:t>
            </a:r>
          </a:p>
          <a:p>
            <a:pPr marL="285750" indent="-285750" algn="just">
              <a:buFont typeface="Arial" panose="020B0604020202020204" pitchFamily="34" charset="0"/>
              <a:buChar char="•"/>
            </a:pPr>
            <a:r>
              <a:rPr lang="en-US" sz="2800" b="1" dirty="0"/>
              <a:t>Access control</a:t>
            </a:r>
            <a:r>
              <a:rPr lang="en-US" sz="2800" dirty="0"/>
              <a:t>: Restrict sensitive functions using roles/permissions </a:t>
            </a:r>
          </a:p>
          <a:p>
            <a:pPr marL="285750" indent="-285750" algn="just">
              <a:buFont typeface="Arial" panose="020B0604020202020204" pitchFamily="34" charset="0"/>
              <a:buChar char="•"/>
            </a:pPr>
            <a:r>
              <a:rPr lang="en-US" sz="2800" b="1" dirty="0"/>
              <a:t>External interactions</a:t>
            </a:r>
            <a:r>
              <a:rPr lang="en-US" sz="2800" dirty="0"/>
              <a:t>: Secure calls to other contracts/oracles </a:t>
            </a:r>
          </a:p>
          <a:p>
            <a:pPr marL="285750" indent="-285750" algn="just">
              <a:buFont typeface="Arial" panose="020B0604020202020204" pitchFamily="34" charset="0"/>
              <a:buChar char="•"/>
            </a:pPr>
            <a:r>
              <a:rPr lang="en-US" sz="2800" b="1" dirty="0"/>
              <a:t>Gas safety</a:t>
            </a:r>
            <a:r>
              <a:rPr lang="en-US" sz="2800" dirty="0"/>
              <a:t>: Avoid loops or operations causing execution failure</a:t>
            </a:r>
          </a:p>
        </p:txBody>
      </p:sp>
    </p:spTree>
    <p:extLst>
      <p:ext uri="{BB962C8B-B14F-4D97-AF65-F5344CB8AC3E}">
        <p14:creationId xmlns:p14="http://schemas.microsoft.com/office/powerpoint/2010/main" val="1059416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54639" y="507150"/>
            <a:ext cx="8138160" cy="566928"/>
          </a:xfrm>
          <a:prstGeom prst="rect">
            <a:avLst/>
          </a:prstGeom>
          <a:noFill/>
          <a:ln/>
        </p:spPr>
        <p:txBody>
          <a:bodyPr wrap="square" lIns="0" tIns="0" rIns="0" bIns="0" rtlCol="0" anchor="ctr"/>
          <a:lstStyle/>
          <a:p>
            <a:r>
              <a:rPr lang="en-US" sz="2600" b="1" dirty="0">
                <a:solidFill>
                  <a:srgbClr val="111111"/>
                </a:solidFill>
                <a:latin typeface="Cambria" pitchFamily="34" charset="0"/>
                <a:ea typeface="Cambria" pitchFamily="34" charset="-122"/>
                <a:cs typeface="Cambria" pitchFamily="34" charset="-120"/>
              </a:rPr>
              <a:t>How to Assess Smart-Contract Security</a:t>
            </a:r>
            <a:endParaRPr lang="en-US" sz="2600" dirty="0"/>
          </a:p>
        </p:txBody>
      </p:sp>
      <p:graphicFrame>
        <p:nvGraphicFramePr>
          <p:cNvPr id="4" name="Table 3">
            <a:extLst>
              <a:ext uri="{FF2B5EF4-FFF2-40B4-BE49-F238E27FC236}">
                <a16:creationId xmlns:a16="http://schemas.microsoft.com/office/drawing/2014/main" id="{30D42FF4-3269-21D2-4FED-7541F5D31354}"/>
              </a:ext>
            </a:extLst>
          </p:cNvPr>
          <p:cNvGraphicFramePr>
            <a:graphicFrameLocks noGrp="1"/>
          </p:cNvGraphicFramePr>
          <p:nvPr>
            <p:extLst>
              <p:ext uri="{D42A27DB-BD31-4B8C-83A1-F6EECF244321}">
                <p14:modId xmlns:p14="http://schemas.microsoft.com/office/powerpoint/2010/main" val="2283145095"/>
              </p:ext>
            </p:extLst>
          </p:nvPr>
        </p:nvGraphicFramePr>
        <p:xfrm>
          <a:off x="548638" y="1606378"/>
          <a:ext cx="8138160" cy="4930396"/>
        </p:xfrm>
        <a:graphic>
          <a:graphicData uri="http://schemas.openxmlformats.org/drawingml/2006/table">
            <a:tbl>
              <a:tblPr firstRow="1" firstCol="1">
                <a:tableStyleId>{2A488322-F2BA-4B5B-9748-0D474271808F}</a:tableStyleId>
              </a:tblPr>
              <a:tblGrid>
                <a:gridCol w="2712720">
                  <a:extLst>
                    <a:ext uri="{9D8B030D-6E8A-4147-A177-3AD203B41FA5}">
                      <a16:colId xmlns:a16="http://schemas.microsoft.com/office/drawing/2014/main" val="947618528"/>
                    </a:ext>
                  </a:extLst>
                </a:gridCol>
                <a:gridCol w="2712720">
                  <a:extLst>
                    <a:ext uri="{9D8B030D-6E8A-4147-A177-3AD203B41FA5}">
                      <a16:colId xmlns:a16="http://schemas.microsoft.com/office/drawing/2014/main" val="173741889"/>
                    </a:ext>
                  </a:extLst>
                </a:gridCol>
                <a:gridCol w="2712720">
                  <a:extLst>
                    <a:ext uri="{9D8B030D-6E8A-4147-A177-3AD203B41FA5}">
                      <a16:colId xmlns:a16="http://schemas.microsoft.com/office/drawing/2014/main" val="1596826982"/>
                    </a:ext>
                  </a:extLst>
                </a:gridCol>
              </a:tblGrid>
              <a:tr h="344783">
                <a:tc>
                  <a:txBody>
                    <a:bodyPr/>
                    <a:lstStyle/>
                    <a:p>
                      <a:pPr>
                        <a:buNone/>
                      </a:pPr>
                      <a:r>
                        <a:rPr lang="en-US"/>
                        <a:t>Technique</a:t>
                      </a:r>
                    </a:p>
                  </a:txBody>
                  <a:tcPr anchor="ctr"/>
                </a:tc>
                <a:tc>
                  <a:txBody>
                    <a:bodyPr/>
                    <a:lstStyle/>
                    <a:p>
                      <a:pPr>
                        <a:buNone/>
                      </a:pPr>
                      <a:r>
                        <a:rPr lang="en-US" dirty="0"/>
                        <a:t>Purpose</a:t>
                      </a:r>
                    </a:p>
                  </a:txBody>
                  <a:tcPr anchor="ctr"/>
                </a:tc>
                <a:tc>
                  <a:txBody>
                    <a:bodyPr/>
                    <a:lstStyle/>
                    <a:p>
                      <a:pPr>
                        <a:buNone/>
                      </a:pPr>
                      <a:r>
                        <a:rPr lang="en-US"/>
                        <a:t>Tools</a:t>
                      </a:r>
                    </a:p>
                  </a:txBody>
                  <a:tcPr anchor="ctr"/>
                </a:tc>
                <a:extLst>
                  <a:ext uri="{0D108BD9-81ED-4DB2-BD59-A6C34878D82A}">
                    <a16:rowId xmlns:a16="http://schemas.microsoft.com/office/drawing/2014/main" val="3367075313"/>
                  </a:ext>
                </a:extLst>
              </a:tr>
              <a:tr h="586131">
                <a:tc>
                  <a:txBody>
                    <a:bodyPr/>
                    <a:lstStyle/>
                    <a:p>
                      <a:pPr>
                        <a:buNone/>
                      </a:pPr>
                      <a:r>
                        <a:rPr lang="en-US" dirty="0"/>
                        <a:t>Manual code audit</a:t>
                      </a:r>
                    </a:p>
                  </a:txBody>
                  <a:tcPr anchor="ctr"/>
                </a:tc>
                <a:tc>
                  <a:txBody>
                    <a:bodyPr/>
                    <a:lstStyle/>
                    <a:p>
                      <a:pPr>
                        <a:buNone/>
                      </a:pPr>
                      <a:r>
                        <a:rPr lang="en-US"/>
                        <a:t>Expert review of logic, intent, and business rules</a:t>
                      </a:r>
                    </a:p>
                  </a:txBody>
                  <a:tcPr anchor="ctr"/>
                </a:tc>
                <a:tc>
                  <a:txBody>
                    <a:bodyPr/>
                    <a:lstStyle/>
                    <a:p>
                      <a:pPr>
                        <a:buNone/>
                      </a:pPr>
                      <a:r>
                        <a:rPr lang="en-US"/>
                        <a:t>Auditors, SWC / SCSVS checklists</a:t>
                      </a:r>
                    </a:p>
                  </a:txBody>
                  <a:tcPr anchor="ctr"/>
                </a:tc>
                <a:extLst>
                  <a:ext uri="{0D108BD9-81ED-4DB2-BD59-A6C34878D82A}">
                    <a16:rowId xmlns:a16="http://schemas.microsoft.com/office/drawing/2014/main" val="2884751163"/>
                  </a:ext>
                </a:extLst>
              </a:tr>
              <a:tr h="586131">
                <a:tc>
                  <a:txBody>
                    <a:bodyPr/>
                    <a:lstStyle/>
                    <a:p>
                      <a:pPr>
                        <a:buNone/>
                      </a:pPr>
                      <a:r>
                        <a:rPr lang="en-US"/>
                        <a:t>Static analysis</a:t>
                      </a:r>
                    </a:p>
                  </a:txBody>
                  <a:tcPr anchor="ctr"/>
                </a:tc>
                <a:tc>
                  <a:txBody>
                    <a:bodyPr/>
                    <a:lstStyle/>
                    <a:p>
                      <a:pPr>
                        <a:buNone/>
                      </a:pPr>
                      <a:r>
                        <a:rPr lang="en-US"/>
                        <a:t>Automated detection of known bug patterns</a:t>
                      </a:r>
                    </a:p>
                  </a:txBody>
                  <a:tcPr anchor="ctr"/>
                </a:tc>
                <a:tc>
                  <a:txBody>
                    <a:bodyPr/>
                    <a:lstStyle/>
                    <a:p>
                      <a:pPr>
                        <a:buNone/>
                      </a:pPr>
                      <a:r>
                        <a:rPr lang="en-US"/>
                        <a:t>Slither, Mythril</a:t>
                      </a:r>
                    </a:p>
                  </a:txBody>
                  <a:tcPr anchor="ctr"/>
                </a:tc>
                <a:extLst>
                  <a:ext uri="{0D108BD9-81ED-4DB2-BD59-A6C34878D82A}">
                    <a16:rowId xmlns:a16="http://schemas.microsoft.com/office/drawing/2014/main" val="4062137703"/>
                  </a:ext>
                </a:extLst>
              </a:tr>
              <a:tr h="586131">
                <a:tc>
                  <a:txBody>
                    <a:bodyPr/>
                    <a:lstStyle/>
                    <a:p>
                      <a:pPr>
                        <a:buNone/>
                      </a:pPr>
                      <a:r>
                        <a:rPr lang="en-US" dirty="0"/>
                        <a:t>Fuzzing / property testing</a:t>
                      </a:r>
                    </a:p>
                  </a:txBody>
                  <a:tcPr anchor="ctr"/>
                </a:tc>
                <a:tc>
                  <a:txBody>
                    <a:bodyPr/>
                    <a:lstStyle/>
                    <a:p>
                      <a:pPr>
                        <a:buNone/>
                      </a:pPr>
                      <a:r>
                        <a:rPr lang="en-US"/>
                        <a:t>Stress testing with random inputs to verify invariants</a:t>
                      </a:r>
                    </a:p>
                  </a:txBody>
                  <a:tcPr anchor="ctr"/>
                </a:tc>
                <a:tc>
                  <a:txBody>
                    <a:bodyPr/>
                    <a:lstStyle/>
                    <a:p>
                      <a:pPr>
                        <a:buNone/>
                      </a:pPr>
                      <a:r>
                        <a:rPr lang="en-US"/>
                        <a:t>Echidna, Foundry (Forge)</a:t>
                      </a:r>
                    </a:p>
                  </a:txBody>
                  <a:tcPr anchor="ctr"/>
                </a:tc>
                <a:extLst>
                  <a:ext uri="{0D108BD9-81ED-4DB2-BD59-A6C34878D82A}">
                    <a16:rowId xmlns:a16="http://schemas.microsoft.com/office/drawing/2014/main" val="2215298"/>
                  </a:ext>
                </a:extLst>
              </a:tr>
              <a:tr h="827479">
                <a:tc>
                  <a:txBody>
                    <a:bodyPr/>
                    <a:lstStyle/>
                    <a:p>
                      <a:pPr>
                        <a:buNone/>
                      </a:pPr>
                      <a:r>
                        <a:rPr lang="en-US"/>
                        <a:t>Symbolic execution</a:t>
                      </a:r>
                    </a:p>
                  </a:txBody>
                  <a:tcPr anchor="ctr"/>
                </a:tc>
                <a:tc>
                  <a:txBody>
                    <a:bodyPr/>
                    <a:lstStyle/>
                    <a:p>
                      <a:pPr>
                        <a:buNone/>
                      </a:pPr>
                      <a:r>
                        <a:rPr lang="en-US"/>
                        <a:t>Explore multiple execution paths to find inputs that break constraints</a:t>
                      </a:r>
                    </a:p>
                  </a:txBody>
                  <a:tcPr anchor="ctr"/>
                </a:tc>
                <a:tc>
                  <a:txBody>
                    <a:bodyPr/>
                    <a:lstStyle/>
                    <a:p>
                      <a:pPr>
                        <a:buNone/>
                      </a:pPr>
                      <a:r>
                        <a:rPr lang="en-US"/>
                        <a:t>Manticore, Mythril</a:t>
                      </a:r>
                    </a:p>
                  </a:txBody>
                  <a:tcPr anchor="ctr"/>
                </a:tc>
                <a:extLst>
                  <a:ext uri="{0D108BD9-81ED-4DB2-BD59-A6C34878D82A}">
                    <a16:rowId xmlns:a16="http://schemas.microsoft.com/office/drawing/2014/main" val="1509738801"/>
                  </a:ext>
                </a:extLst>
              </a:tr>
              <a:tr h="827479">
                <a:tc>
                  <a:txBody>
                    <a:bodyPr/>
                    <a:lstStyle/>
                    <a:p>
                      <a:pPr>
                        <a:buNone/>
                      </a:pPr>
                      <a:r>
                        <a:rPr lang="en-US"/>
                        <a:t>Formal verification</a:t>
                      </a:r>
                    </a:p>
                  </a:txBody>
                  <a:tcPr anchor="ctr"/>
                </a:tc>
                <a:tc>
                  <a:txBody>
                    <a:bodyPr/>
                    <a:lstStyle/>
                    <a:p>
                      <a:pPr>
                        <a:buNone/>
                      </a:pPr>
                      <a:r>
                        <a:rPr lang="en-US" dirty="0"/>
                        <a:t>Mathematically prove correctness of specified properties</a:t>
                      </a:r>
                    </a:p>
                  </a:txBody>
                  <a:tcPr anchor="ctr"/>
                </a:tc>
                <a:tc>
                  <a:txBody>
                    <a:bodyPr/>
                    <a:lstStyle/>
                    <a:p>
                      <a:pPr>
                        <a:buNone/>
                      </a:pPr>
                      <a:r>
                        <a:rPr lang="en-US"/>
                        <a:t>Certora, SMTChecker</a:t>
                      </a:r>
                    </a:p>
                  </a:txBody>
                  <a:tcPr anchor="ctr"/>
                </a:tc>
                <a:extLst>
                  <a:ext uri="{0D108BD9-81ED-4DB2-BD59-A6C34878D82A}">
                    <a16:rowId xmlns:a16="http://schemas.microsoft.com/office/drawing/2014/main" val="2531241483"/>
                  </a:ext>
                </a:extLst>
              </a:tr>
              <a:tr h="586131">
                <a:tc>
                  <a:txBody>
                    <a:bodyPr/>
                    <a:lstStyle/>
                    <a:p>
                      <a:pPr>
                        <a:buNone/>
                      </a:pPr>
                      <a:r>
                        <a:rPr lang="en-US"/>
                        <a:t>Testing &amp; coverage</a:t>
                      </a:r>
                    </a:p>
                  </a:txBody>
                  <a:tcPr anchor="ctr"/>
                </a:tc>
                <a:tc>
                  <a:txBody>
                    <a:bodyPr/>
                    <a:lstStyle/>
                    <a:p>
                      <a:pPr>
                        <a:buNone/>
                      </a:pPr>
                      <a:r>
                        <a:rPr lang="en-US"/>
                        <a:t>High-coverage unit and integration testing</a:t>
                      </a:r>
                    </a:p>
                  </a:txBody>
                  <a:tcPr anchor="ctr"/>
                </a:tc>
                <a:tc>
                  <a:txBody>
                    <a:bodyPr/>
                    <a:lstStyle/>
                    <a:p>
                      <a:pPr>
                        <a:buNone/>
                      </a:pPr>
                      <a:r>
                        <a:rPr lang="en-US"/>
                        <a:t>Hardhat, Foundry</a:t>
                      </a:r>
                    </a:p>
                  </a:txBody>
                  <a:tcPr anchor="ctr"/>
                </a:tc>
                <a:extLst>
                  <a:ext uri="{0D108BD9-81ED-4DB2-BD59-A6C34878D82A}">
                    <a16:rowId xmlns:a16="http://schemas.microsoft.com/office/drawing/2014/main" val="774620934"/>
                  </a:ext>
                </a:extLst>
              </a:tr>
              <a:tr h="586131">
                <a:tc>
                  <a:txBody>
                    <a:bodyPr/>
                    <a:lstStyle/>
                    <a:p>
                      <a:pPr>
                        <a:buNone/>
                      </a:pPr>
                      <a:r>
                        <a:rPr lang="en-US"/>
                        <a:t>Runtime monitoring</a:t>
                      </a:r>
                    </a:p>
                  </a:txBody>
                  <a:tcPr anchor="ctr"/>
                </a:tc>
                <a:tc>
                  <a:txBody>
                    <a:bodyPr/>
                    <a:lstStyle/>
                    <a:p>
                      <a:pPr>
                        <a:buNone/>
                      </a:pPr>
                      <a:r>
                        <a:rPr lang="en-US"/>
                        <a:t>Detect issues and respond after deployment</a:t>
                      </a:r>
                    </a:p>
                  </a:txBody>
                  <a:tcPr anchor="ctr"/>
                </a:tc>
                <a:tc>
                  <a:txBody>
                    <a:bodyPr/>
                    <a:lstStyle/>
                    <a:p>
                      <a:pPr>
                        <a:buNone/>
                      </a:pPr>
                      <a:r>
                        <a:rPr lang="en-US" dirty="0"/>
                        <a:t>Tenderly, Forta, bug bounties</a:t>
                      </a:r>
                    </a:p>
                  </a:txBody>
                  <a:tcPr anchor="ctr"/>
                </a:tc>
                <a:extLst>
                  <a:ext uri="{0D108BD9-81ED-4DB2-BD59-A6C34878D82A}">
                    <a16:rowId xmlns:a16="http://schemas.microsoft.com/office/drawing/2014/main" val="333293242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8B129A-FB6B-4A20-8B86-E30B142E3316}"/>
</file>

<file path=customXml/itemProps2.xml><?xml version="1.0" encoding="utf-8"?>
<ds:datastoreItem xmlns:ds="http://schemas.openxmlformats.org/officeDocument/2006/customXml" ds:itemID="{8DB77BDD-D514-45CC-9A72-BEFB1C0EE43E}"/>
</file>

<file path=customXml/itemProps3.xml><?xml version="1.0" encoding="utf-8"?>
<ds:datastoreItem xmlns:ds="http://schemas.openxmlformats.org/officeDocument/2006/customXml" ds:itemID="{1046EAA4-97D3-47B6-9B21-A64C1F136FA8}"/>
</file>

<file path=docProps/app.xml><?xml version="1.0" encoding="utf-8"?>
<Properties xmlns="http://schemas.openxmlformats.org/officeDocument/2006/extended-properties" xmlns:vt="http://schemas.openxmlformats.org/officeDocument/2006/docPropsVTypes">
  <TotalTime>860</TotalTime>
  <Words>6159</Words>
  <Application>Microsoft Macintosh PowerPoint</Application>
  <PresentationFormat>On-screen Show (4:3)</PresentationFormat>
  <Paragraphs>598</Paragraphs>
  <Slides>73</Slides>
  <Notes>40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73</vt:i4>
      </vt:variant>
    </vt:vector>
  </HeadingPairs>
  <TitlesOfParts>
    <vt:vector size="88" baseType="lpstr">
      <vt:lpstr>Roboto Medium</vt:lpstr>
      <vt:lpstr>Calibri</vt:lpstr>
      <vt:lpstr>Times New Roman</vt:lpstr>
      <vt:lpstr>Courier New</vt:lpstr>
      <vt:lpstr>Wingdings</vt:lpstr>
      <vt:lpstr>Roboto Thin</vt:lpstr>
      <vt:lpstr>Helvetica Neue</vt:lpstr>
      <vt:lpstr>Arial MT</vt:lpstr>
      <vt:lpstr>Roboto</vt:lpstr>
      <vt:lpstr>Cambria</vt:lpstr>
      <vt:lpstr>Dosis</vt:lpstr>
      <vt:lpstr>Helvetica</vt:lpstr>
      <vt:lpstr>Arial</vt:lpstr>
      <vt:lpstr>Office Theme</vt:lpstr>
      <vt:lpstr>1_Office Theme</vt:lpstr>
      <vt:lpstr>Blockchain Technologies &amp;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smart contract?</vt:lpstr>
      <vt:lpstr>What is a smart contract?</vt:lpstr>
      <vt:lpstr>Smart Contract Examples</vt:lpstr>
      <vt:lpstr>Smart Contract Examples</vt:lpstr>
      <vt:lpstr>PowerPoint Presentation</vt:lpstr>
      <vt:lpstr>Smart Contract Example: Supply Chain</vt:lpstr>
      <vt:lpstr>PowerPoint Presentation</vt:lpstr>
      <vt:lpstr>PowerPoint Presentation</vt:lpstr>
      <vt:lpstr>PowerPoint Presentation</vt:lpstr>
      <vt:lpstr>Building of Smart Contracts</vt:lpstr>
      <vt:lpstr>Building of Smart Contracts</vt:lpstr>
      <vt:lpstr>Ethereum Blockchain System</vt:lpstr>
      <vt:lpstr>Ethereum Blockchain System</vt:lpstr>
      <vt:lpstr>Ethereum Blockchain System</vt:lpstr>
      <vt:lpstr>PowerPoint Presentation</vt:lpstr>
      <vt:lpstr>PowerPoint Presentation</vt:lpstr>
      <vt:lpstr>PowerPoint Presentation</vt:lpstr>
      <vt:lpstr>PowerPoint Presentation</vt:lpstr>
      <vt:lpstr>PowerPoint Presentation</vt:lpstr>
      <vt:lpstr>PowerPoint Presentation</vt:lpstr>
      <vt:lpstr>Building a Smart Contract: Step 3: Coding</vt:lpstr>
      <vt:lpstr>PowerPoint Presentation</vt:lpstr>
      <vt:lpstr>PowerPoint Presentation</vt:lpstr>
      <vt:lpstr>PowerPoint Presentation</vt:lpstr>
      <vt:lpstr>Building a Smart Contract</vt:lpstr>
      <vt:lpstr>Building a Smart Contract</vt:lpstr>
      <vt:lpstr>Building a Smart Contract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Technologies &amp; Systems</dc:title>
  <dc:creator>Rohit WILP</dc:creator>
  <cp:lastModifiedBy>Prof Animesh Giri</cp:lastModifiedBy>
  <cp:revision>70</cp:revision>
  <dcterms:modified xsi:type="dcterms:W3CDTF">2026-08-20T13:23:09Z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