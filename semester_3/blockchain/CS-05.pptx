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diagrams/data1.xml" ContentType="application/vnd.openxmlformats-officedocument.drawingml.diagramData+xml"/>
  <Override PartName="/ppt/presentation.xml" ContentType="application/vnd.openxmlformats-officedocument.presentationml.presentation.main+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15.xml" ContentType="application/vnd.openxmlformats-officedocument.presentationml.notesSlide+xml"/>
  <Override PartName="/ppt/notesSlides/notesSlide33.xml" ContentType="application/vnd.openxmlformats-officedocument.presentationml.notesSlide+xml"/>
  <Override PartName="/ppt/notesMasters/notesMaster1.xml" ContentType="application/vnd.openxmlformats-officedocument.presentationml.notesMaster+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1.xml" ContentType="application/vnd.openxmlformats-officedocument.presentationml.tag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64"/>
  </p:notesMasterIdLst>
  <p:sldIdLst>
    <p:sldId id="256" r:id="rId3"/>
    <p:sldId id="996" r:id="rId4"/>
    <p:sldId id="366" r:id="rId5"/>
    <p:sldId id="992" r:id="rId6"/>
    <p:sldId id="991" r:id="rId7"/>
    <p:sldId id="483" r:id="rId8"/>
    <p:sldId id="362" r:id="rId9"/>
    <p:sldId id="388" r:id="rId10"/>
    <p:sldId id="977" r:id="rId11"/>
    <p:sldId id="993" r:id="rId12"/>
    <p:sldId id="438" r:id="rId13"/>
    <p:sldId id="379" r:id="rId14"/>
    <p:sldId id="999" r:id="rId15"/>
    <p:sldId id="987" r:id="rId16"/>
    <p:sldId id="1000" r:id="rId17"/>
    <p:sldId id="1001" r:id="rId18"/>
    <p:sldId id="380" r:id="rId19"/>
    <p:sldId id="381" r:id="rId20"/>
    <p:sldId id="454" r:id="rId21"/>
    <p:sldId id="1002" r:id="rId22"/>
    <p:sldId id="485" r:id="rId23"/>
    <p:sldId id="453" r:id="rId24"/>
    <p:sldId id="365" r:id="rId25"/>
    <p:sldId id="994" r:id="rId26"/>
    <p:sldId id="397" r:id="rId27"/>
    <p:sldId id="367" r:id="rId28"/>
    <p:sldId id="394" r:id="rId29"/>
    <p:sldId id="399" r:id="rId30"/>
    <p:sldId id="990" r:id="rId31"/>
    <p:sldId id="378" r:id="rId32"/>
    <p:sldId id="988" r:id="rId33"/>
    <p:sldId id="489" r:id="rId34"/>
    <p:sldId id="755" r:id="rId35"/>
    <p:sldId id="383" r:id="rId36"/>
    <p:sldId id="384" r:id="rId37"/>
    <p:sldId id="386" r:id="rId38"/>
    <p:sldId id="385" r:id="rId39"/>
    <p:sldId id="490" r:id="rId40"/>
    <p:sldId id="756" r:id="rId41"/>
    <p:sldId id="757" r:id="rId42"/>
    <p:sldId id="758" r:id="rId43"/>
    <p:sldId id="759" r:id="rId44"/>
    <p:sldId id="760" r:id="rId45"/>
    <p:sldId id="761" r:id="rId46"/>
    <p:sldId id="762" r:id="rId47"/>
    <p:sldId id="971" r:id="rId48"/>
    <p:sldId id="972" r:id="rId49"/>
    <p:sldId id="980" r:id="rId50"/>
    <p:sldId id="981" r:id="rId51"/>
    <p:sldId id="982" r:id="rId52"/>
    <p:sldId id="983" r:id="rId53"/>
    <p:sldId id="941" r:id="rId54"/>
    <p:sldId id="984" r:id="rId55"/>
    <p:sldId id="985" r:id="rId56"/>
    <p:sldId id="986" r:id="rId57"/>
    <p:sldId id="973" r:id="rId58"/>
    <p:sldId id="975" r:id="rId59"/>
    <p:sldId id="407" r:id="rId60"/>
    <p:sldId id="409" r:id="rId61"/>
    <p:sldId id="410" r:id="rId62"/>
    <p:sldId id="315" r:id="rId63"/>
  </p:sldIdLst>
  <p:sldSz cx="9144000" cy="6858000" type="screen4x3"/>
  <p:notesSz cx="6858000" cy="9144000"/>
  <p:embeddedFontLst>
    <p:embeddedFont>
      <p:font typeface="MS PGothic" panose="020B0600070205080204" pitchFamily="34" charset="-128"/>
      <p:regular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EAA4C75-4FB5-4408-A9F4-940FEEBAE718}">
          <p14:sldIdLst>
            <p14:sldId id="256"/>
            <p14:sldId id="996"/>
            <p14:sldId id="366"/>
            <p14:sldId id="992"/>
            <p14:sldId id="991"/>
            <p14:sldId id="483"/>
            <p14:sldId id="362"/>
            <p14:sldId id="388"/>
            <p14:sldId id="977"/>
            <p14:sldId id="993"/>
            <p14:sldId id="438"/>
            <p14:sldId id="379"/>
            <p14:sldId id="999"/>
            <p14:sldId id="987"/>
            <p14:sldId id="1000"/>
            <p14:sldId id="1001"/>
            <p14:sldId id="380"/>
            <p14:sldId id="381"/>
            <p14:sldId id="454"/>
            <p14:sldId id="1002"/>
            <p14:sldId id="485"/>
            <p14:sldId id="453"/>
            <p14:sldId id="365"/>
            <p14:sldId id="994"/>
            <p14:sldId id="397"/>
            <p14:sldId id="367"/>
            <p14:sldId id="394"/>
            <p14:sldId id="399"/>
            <p14:sldId id="990"/>
            <p14:sldId id="378"/>
            <p14:sldId id="988"/>
            <p14:sldId id="489"/>
            <p14:sldId id="755"/>
            <p14:sldId id="383"/>
            <p14:sldId id="384"/>
            <p14:sldId id="386"/>
            <p14:sldId id="385"/>
            <p14:sldId id="490"/>
            <p14:sldId id="756"/>
            <p14:sldId id="757"/>
            <p14:sldId id="758"/>
            <p14:sldId id="759"/>
            <p14:sldId id="760"/>
            <p14:sldId id="761"/>
            <p14:sldId id="762"/>
            <p14:sldId id="971"/>
            <p14:sldId id="972"/>
            <p14:sldId id="980"/>
            <p14:sldId id="981"/>
            <p14:sldId id="982"/>
            <p14:sldId id="983"/>
            <p14:sldId id="941"/>
            <p14:sldId id="984"/>
            <p14:sldId id="985"/>
            <p14:sldId id="986"/>
            <p14:sldId id="973"/>
            <p14:sldId id="975"/>
            <p14:sldId id="407"/>
            <p14:sldId id="409"/>
            <p14:sldId id="410"/>
            <p14:sldId id="315"/>
          </p14:sldIdLst>
        </p14:section>
      </p14:sectionLst>
    </p:ex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9" roundtripDataSignature="AMtx7miuSeqmg832KJR4TrulSr/XVuIC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77"/>
  </p:normalViewPr>
  <p:slideViewPr>
    <p:cSldViewPr snapToGrid="0">
      <p:cViewPr varScale="1">
        <p:scale>
          <a:sx n="101" d="100"/>
          <a:sy n="101" d="100"/>
        </p:scale>
        <p:origin x="1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84"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79" Type="http://customschemas.google.com/relationships/presentationmetadata" Target="meta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80" Type="http://schemas.openxmlformats.org/officeDocument/2006/relationships/presProps" Target="presProps.xml"/><Relationship Id="rId85" Type="http://schemas.openxmlformats.org/officeDocument/2006/relationships/customXml" Target="../customXml/item2.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1.fntdata"/><Relationship Id="rId81" Type="http://schemas.openxmlformats.org/officeDocument/2006/relationships/viewProps" Target="viewProps.xml"/><Relationship Id="rId86"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41FDA7-46F1-4BC4-8847-41C04F87854A}" type="doc">
      <dgm:prSet loTypeId="urn:microsoft.com/office/officeart/2011/layout/HexagonRadial" loCatId="cycle" qsTypeId="urn:microsoft.com/office/officeart/2005/8/quickstyle/simple1#2" qsCatId="simple" csTypeId="urn:microsoft.com/office/officeart/2005/8/colors/accent1_2#2" csCatId="accent1" phldr="1"/>
      <dgm:spPr/>
      <dgm:t>
        <a:bodyPr/>
        <a:lstStyle/>
        <a:p>
          <a:endParaRPr lang="en-AU"/>
        </a:p>
      </dgm:t>
    </dgm:pt>
    <dgm:pt modelId="{03872B7A-FB41-4BFE-AA4F-CC8D31780922}">
      <dgm:prSet phldrT="[Text]" custT="1"/>
      <dgm:spPr/>
      <dgm:t>
        <a:bodyPr/>
        <a:lstStyle/>
        <a:p>
          <a:r>
            <a:rPr lang="en-AU" sz="1600" dirty="0"/>
            <a:t>Architectural Element</a:t>
          </a:r>
        </a:p>
      </dgm:t>
    </dgm:pt>
    <dgm:pt modelId="{830E09B4-C3FF-435F-8603-E4DC11F3A278}" type="parTrans" cxnId="{6F1F33C9-B8DE-411F-94DA-1E72332EACE3}">
      <dgm:prSet/>
      <dgm:spPr/>
      <dgm:t>
        <a:bodyPr/>
        <a:lstStyle/>
        <a:p>
          <a:endParaRPr lang="en-AU" sz="2000"/>
        </a:p>
      </dgm:t>
    </dgm:pt>
    <dgm:pt modelId="{064052D1-A65A-4A1A-933A-683051D2FFF9}" type="sibTrans" cxnId="{6F1F33C9-B8DE-411F-94DA-1E72332EACE3}">
      <dgm:prSet/>
      <dgm:spPr/>
      <dgm:t>
        <a:bodyPr/>
        <a:lstStyle/>
        <a:p>
          <a:endParaRPr lang="en-AU" sz="2000"/>
        </a:p>
      </dgm:t>
    </dgm:pt>
    <dgm:pt modelId="{B5BB1B15-DA1F-4F4B-8DE7-02BB345613D6}">
      <dgm:prSet custT="1"/>
      <dgm:spPr/>
      <dgm:t>
        <a:bodyPr/>
        <a:lstStyle/>
        <a:p>
          <a:r>
            <a:rPr lang="en-AU" sz="1400" dirty="0"/>
            <a:t>Storage Element</a:t>
          </a:r>
        </a:p>
      </dgm:t>
    </dgm:pt>
    <dgm:pt modelId="{941B285F-3DDD-464B-A4E5-96DD0C0CCB35}" type="parTrans" cxnId="{94ED52DE-DF5E-4BE2-B371-83D28F125D38}">
      <dgm:prSet/>
      <dgm:spPr/>
      <dgm:t>
        <a:bodyPr/>
        <a:lstStyle/>
        <a:p>
          <a:endParaRPr lang="en-AU" sz="2000"/>
        </a:p>
      </dgm:t>
    </dgm:pt>
    <dgm:pt modelId="{58AF55A7-8D27-427B-8D51-915E310AAC16}" type="sibTrans" cxnId="{94ED52DE-DF5E-4BE2-B371-83D28F125D38}">
      <dgm:prSet/>
      <dgm:spPr/>
      <dgm:t>
        <a:bodyPr/>
        <a:lstStyle/>
        <a:p>
          <a:endParaRPr lang="en-AU" sz="2000"/>
        </a:p>
      </dgm:t>
    </dgm:pt>
    <dgm:pt modelId="{5D489046-1A80-41AD-90BB-6E5690A10A1F}">
      <dgm:prSet custT="1"/>
      <dgm:spPr/>
      <dgm:t>
        <a:bodyPr/>
        <a:lstStyle/>
        <a:p>
          <a:r>
            <a:rPr lang="en-AU" sz="1400" dirty="0"/>
            <a:t>Computational Element</a:t>
          </a:r>
        </a:p>
      </dgm:t>
    </dgm:pt>
    <dgm:pt modelId="{A181FD8A-E5A1-46DE-876B-0418AFB55BA5}" type="parTrans" cxnId="{A12D8D35-ECF9-4FA3-AF8A-54FA5470F96D}">
      <dgm:prSet/>
      <dgm:spPr/>
      <dgm:t>
        <a:bodyPr/>
        <a:lstStyle/>
        <a:p>
          <a:endParaRPr lang="en-AU" sz="2000"/>
        </a:p>
      </dgm:t>
    </dgm:pt>
    <dgm:pt modelId="{A86F76B9-A26B-4146-B3DD-D0B6707C25D8}" type="sibTrans" cxnId="{A12D8D35-ECF9-4FA3-AF8A-54FA5470F96D}">
      <dgm:prSet/>
      <dgm:spPr/>
      <dgm:t>
        <a:bodyPr/>
        <a:lstStyle/>
        <a:p>
          <a:endParaRPr lang="en-AU" sz="2000"/>
        </a:p>
      </dgm:t>
    </dgm:pt>
    <dgm:pt modelId="{3EF826D0-9353-469F-AD51-98F086DA8112}">
      <dgm:prSet custT="1"/>
      <dgm:spPr/>
      <dgm:t>
        <a:bodyPr/>
        <a:lstStyle/>
        <a:p>
          <a:r>
            <a:rPr lang="en-AU" sz="1400" dirty="0"/>
            <a:t>Communi-cation Mechanism</a:t>
          </a:r>
        </a:p>
      </dgm:t>
    </dgm:pt>
    <dgm:pt modelId="{2E218BD3-DBE9-4EAB-A956-825FE1A8A96B}" type="parTrans" cxnId="{F463898A-331D-4263-8069-F2E2C0E09F8D}">
      <dgm:prSet/>
      <dgm:spPr/>
      <dgm:t>
        <a:bodyPr/>
        <a:lstStyle/>
        <a:p>
          <a:endParaRPr lang="en-AU" sz="2000"/>
        </a:p>
      </dgm:t>
    </dgm:pt>
    <dgm:pt modelId="{AB300EE3-756D-4CD1-964D-2CF10CDCBF25}" type="sibTrans" cxnId="{F463898A-331D-4263-8069-F2E2C0E09F8D}">
      <dgm:prSet/>
      <dgm:spPr/>
      <dgm:t>
        <a:bodyPr/>
        <a:lstStyle/>
        <a:p>
          <a:endParaRPr lang="en-AU" sz="2000"/>
        </a:p>
      </dgm:t>
    </dgm:pt>
    <dgm:pt modelId="{AC44856B-A26F-4176-BFDB-F8330F97E213}">
      <dgm:prSet custT="1"/>
      <dgm:spPr/>
      <dgm:t>
        <a:bodyPr/>
        <a:lstStyle/>
        <a:p>
          <a:r>
            <a:rPr lang="en-AU" sz="1400" dirty="0"/>
            <a:t>Asset Management and Control Mechanism</a:t>
          </a:r>
        </a:p>
      </dgm:t>
    </dgm:pt>
    <dgm:pt modelId="{893833E5-849A-4BF0-8FF8-1325508D9A05}" type="parTrans" cxnId="{BC9980DB-7D60-4284-B3EC-09CB727E50DF}">
      <dgm:prSet/>
      <dgm:spPr/>
      <dgm:t>
        <a:bodyPr/>
        <a:lstStyle/>
        <a:p>
          <a:endParaRPr lang="en-AU" sz="2000"/>
        </a:p>
      </dgm:t>
    </dgm:pt>
    <dgm:pt modelId="{B947A088-A410-484B-BCFC-2312B054725D}" type="sibTrans" cxnId="{BC9980DB-7D60-4284-B3EC-09CB727E50DF}">
      <dgm:prSet/>
      <dgm:spPr/>
      <dgm:t>
        <a:bodyPr/>
        <a:lstStyle/>
        <a:p>
          <a:endParaRPr lang="en-AU" sz="2000"/>
        </a:p>
      </dgm:t>
    </dgm:pt>
    <dgm:pt modelId="{1545DDEA-7264-4538-BDE6-EFB3B49C24E2}">
      <dgm:prSet custT="1"/>
      <dgm:spPr/>
      <dgm:t>
        <a:bodyPr/>
        <a:lstStyle/>
        <a:p>
          <a:endParaRPr lang="en-AU" sz="1600" dirty="0"/>
        </a:p>
      </dgm:t>
    </dgm:pt>
    <dgm:pt modelId="{ADDB773E-C4A1-4F3F-A236-B6883980E182}" type="parTrans" cxnId="{DE7D4FC2-E9C3-443D-93EB-7E0661D46004}">
      <dgm:prSet/>
      <dgm:spPr/>
      <dgm:t>
        <a:bodyPr/>
        <a:lstStyle/>
        <a:p>
          <a:endParaRPr lang="en-AU" sz="2000"/>
        </a:p>
      </dgm:t>
    </dgm:pt>
    <dgm:pt modelId="{C9A38AD8-581D-4B7D-AD43-DE53806E6969}" type="sibTrans" cxnId="{DE7D4FC2-E9C3-443D-93EB-7E0661D46004}">
      <dgm:prSet/>
      <dgm:spPr/>
      <dgm:t>
        <a:bodyPr/>
        <a:lstStyle/>
        <a:p>
          <a:endParaRPr lang="en-AU" sz="2000"/>
        </a:p>
      </dgm:t>
    </dgm:pt>
    <dgm:pt modelId="{410C8EF4-E153-4465-9FF9-2FB17C8AB454}">
      <dgm:prSet custT="1"/>
      <dgm:spPr/>
      <dgm:t>
        <a:bodyPr/>
        <a:lstStyle/>
        <a:p>
          <a:endParaRPr lang="en-AU" sz="1600" dirty="0"/>
        </a:p>
      </dgm:t>
    </dgm:pt>
    <dgm:pt modelId="{91F5DB34-404B-4724-82DD-AA1F90110B42}" type="sibTrans" cxnId="{DE1DE128-2A62-47AA-947B-416788F28983}">
      <dgm:prSet/>
      <dgm:spPr/>
      <dgm:t>
        <a:bodyPr/>
        <a:lstStyle/>
        <a:p>
          <a:endParaRPr lang="en-AU" sz="2000"/>
        </a:p>
      </dgm:t>
    </dgm:pt>
    <dgm:pt modelId="{4C90D029-79A3-4D03-AB39-83D446FDF6F3}" type="parTrans" cxnId="{DE1DE128-2A62-47AA-947B-416788F28983}">
      <dgm:prSet/>
      <dgm:spPr/>
      <dgm:t>
        <a:bodyPr/>
        <a:lstStyle/>
        <a:p>
          <a:endParaRPr lang="en-AU" sz="2000"/>
        </a:p>
      </dgm:t>
    </dgm:pt>
    <dgm:pt modelId="{6260D791-6584-43FD-B43A-DD2A361C63C8}" type="pres">
      <dgm:prSet presAssocID="{6841FDA7-46F1-4BC4-8847-41C04F87854A}" presName="Name0" presStyleCnt="0">
        <dgm:presLayoutVars>
          <dgm:chMax val="1"/>
          <dgm:chPref val="1"/>
          <dgm:dir/>
          <dgm:animOne val="branch"/>
          <dgm:animLvl val="lvl"/>
        </dgm:presLayoutVars>
      </dgm:prSet>
      <dgm:spPr/>
    </dgm:pt>
    <dgm:pt modelId="{CBE524B0-31F9-4CC1-BB1F-95BC5987B47A}" type="pres">
      <dgm:prSet presAssocID="{03872B7A-FB41-4BFE-AA4F-CC8D31780922}" presName="Parent" presStyleLbl="node0" presStyleIdx="0" presStyleCnt="1">
        <dgm:presLayoutVars>
          <dgm:chMax val="6"/>
          <dgm:chPref val="6"/>
        </dgm:presLayoutVars>
      </dgm:prSet>
      <dgm:spPr/>
    </dgm:pt>
    <dgm:pt modelId="{D3417241-D945-4F60-9E4F-228FA9011B96}" type="pres">
      <dgm:prSet presAssocID="{410C8EF4-E153-4465-9FF9-2FB17C8AB454}" presName="Accent1" presStyleCnt="0"/>
      <dgm:spPr/>
    </dgm:pt>
    <dgm:pt modelId="{40887ED9-5D21-4CA5-A0EB-DF9E1045B406}" type="pres">
      <dgm:prSet presAssocID="{410C8EF4-E153-4465-9FF9-2FB17C8AB454}" presName="Accent" presStyleLbl="bgShp" presStyleIdx="0" presStyleCnt="6"/>
      <dgm:spPr/>
    </dgm:pt>
    <dgm:pt modelId="{E10D5476-9CD9-44F5-9855-012BC1B4BE56}" type="pres">
      <dgm:prSet presAssocID="{410C8EF4-E153-4465-9FF9-2FB17C8AB454}" presName="Child1" presStyleLbl="node1" presStyleIdx="0" presStyleCnt="6" custScaleY="57532" custLinFactNeighborX="90990" custLinFactNeighborY="61381">
        <dgm:presLayoutVars>
          <dgm:chMax val="0"/>
          <dgm:chPref val="0"/>
          <dgm:bulletEnabled val="1"/>
        </dgm:presLayoutVars>
      </dgm:prSet>
      <dgm:spPr/>
    </dgm:pt>
    <dgm:pt modelId="{7E6D15DF-BF86-46AD-84C7-1D94E1FCA5B5}" type="pres">
      <dgm:prSet presAssocID="{3EF826D0-9353-469F-AD51-98F086DA8112}" presName="Accent2" presStyleCnt="0"/>
      <dgm:spPr/>
    </dgm:pt>
    <dgm:pt modelId="{E989C0F4-F4D7-4DEE-9B8C-1D36B9699652}" type="pres">
      <dgm:prSet presAssocID="{3EF826D0-9353-469F-AD51-98F086DA8112}" presName="Accent" presStyleLbl="bgShp" presStyleIdx="1" presStyleCnt="6" custLinFactX="-100000" custLinFactY="127393" custLinFactNeighborX="-166355" custLinFactNeighborY="200000"/>
      <dgm:spPr/>
    </dgm:pt>
    <dgm:pt modelId="{4B8EDFF3-4D21-43A9-8722-40FFE245A717}" type="pres">
      <dgm:prSet presAssocID="{3EF826D0-9353-469F-AD51-98F086DA8112}" presName="Child2" presStyleLbl="node1" presStyleIdx="1" presStyleCnt="6" custScaleX="106446" custScaleY="106906">
        <dgm:presLayoutVars>
          <dgm:chMax val="0"/>
          <dgm:chPref val="0"/>
          <dgm:bulletEnabled val="1"/>
        </dgm:presLayoutVars>
      </dgm:prSet>
      <dgm:spPr/>
    </dgm:pt>
    <dgm:pt modelId="{393CCD86-FFC2-4E72-BEA7-FFC931CC8FB5}" type="pres">
      <dgm:prSet presAssocID="{AC44856B-A26F-4176-BFDB-F8330F97E213}" presName="Accent3" presStyleCnt="0"/>
      <dgm:spPr/>
    </dgm:pt>
    <dgm:pt modelId="{D051A1AE-2D42-470E-BE1C-4BA45001443C}" type="pres">
      <dgm:prSet presAssocID="{AC44856B-A26F-4176-BFDB-F8330F97E213}" presName="Accent" presStyleLbl="bgShp" presStyleIdx="2" presStyleCnt="6" custFlipVert="1" custScaleY="80003" custLinFactY="-26945" custLinFactNeighborX="-10912" custLinFactNeighborY="-100000"/>
      <dgm:spPr/>
    </dgm:pt>
    <dgm:pt modelId="{0E0A7782-D909-47A9-A7E6-C60FD91D823B}" type="pres">
      <dgm:prSet presAssocID="{AC44856B-A26F-4176-BFDB-F8330F97E213}" presName="Child3" presStyleLbl="node1" presStyleIdx="2" presStyleCnt="6" custScaleX="106446" custScaleY="105819">
        <dgm:presLayoutVars>
          <dgm:chMax val="0"/>
          <dgm:chPref val="0"/>
          <dgm:bulletEnabled val="1"/>
        </dgm:presLayoutVars>
      </dgm:prSet>
      <dgm:spPr/>
    </dgm:pt>
    <dgm:pt modelId="{55E1068F-CAD8-4FE4-AB5A-F3AF783A1CA4}" type="pres">
      <dgm:prSet presAssocID="{1545DDEA-7264-4538-BDE6-EFB3B49C24E2}" presName="Accent4" presStyleCnt="0"/>
      <dgm:spPr/>
    </dgm:pt>
    <dgm:pt modelId="{18F9843D-B1FA-4143-A018-2433B1C712D2}" type="pres">
      <dgm:prSet presAssocID="{1545DDEA-7264-4538-BDE6-EFB3B49C24E2}" presName="Accent" presStyleLbl="bgShp" presStyleIdx="3" presStyleCnt="6" custLinFactNeighborX="99992" custLinFactNeighborY="-39462"/>
      <dgm:spPr/>
    </dgm:pt>
    <dgm:pt modelId="{53392981-2864-40BF-949B-AA90BF680CA7}" type="pres">
      <dgm:prSet presAssocID="{1545DDEA-7264-4538-BDE6-EFB3B49C24E2}" presName="Child4" presStyleLbl="node1" presStyleIdx="3" presStyleCnt="6" custScaleY="49044" custLinFactNeighborX="-92134" custLinFactNeighborY="-63502">
        <dgm:presLayoutVars>
          <dgm:chMax val="0"/>
          <dgm:chPref val="0"/>
          <dgm:bulletEnabled val="1"/>
        </dgm:presLayoutVars>
      </dgm:prSet>
      <dgm:spPr/>
    </dgm:pt>
    <dgm:pt modelId="{C4F544E6-7545-44B0-A90A-413D7B7D6A3F}" type="pres">
      <dgm:prSet presAssocID="{B5BB1B15-DA1F-4F4B-8DE7-02BB345613D6}" presName="Accent5" presStyleCnt="0"/>
      <dgm:spPr/>
    </dgm:pt>
    <dgm:pt modelId="{364CB5CC-9739-4EE9-8E38-61FB5627194C}" type="pres">
      <dgm:prSet presAssocID="{B5BB1B15-DA1F-4F4B-8DE7-02BB345613D6}" presName="Accent" presStyleLbl="bgShp" presStyleIdx="4" presStyleCnt="6" custLinFactX="-17448" custLinFactY="-127515" custLinFactNeighborX="-100000" custLinFactNeighborY="-200000"/>
      <dgm:spPr/>
    </dgm:pt>
    <dgm:pt modelId="{E653E335-4555-431E-81CD-7F8449BA6DA0}" type="pres">
      <dgm:prSet presAssocID="{B5BB1B15-DA1F-4F4B-8DE7-02BB345613D6}" presName="Child5" presStyleLbl="node1" presStyleIdx="4" presStyleCnt="6" custScaleX="106446" custScaleY="104879">
        <dgm:presLayoutVars>
          <dgm:chMax val="0"/>
          <dgm:chPref val="0"/>
          <dgm:bulletEnabled val="1"/>
        </dgm:presLayoutVars>
      </dgm:prSet>
      <dgm:spPr/>
    </dgm:pt>
    <dgm:pt modelId="{49D04E88-5993-49F8-8456-DB8E1A752670}" type="pres">
      <dgm:prSet presAssocID="{5D489046-1A80-41AD-90BB-6E5690A10A1F}" presName="Accent6" presStyleCnt="0"/>
      <dgm:spPr/>
    </dgm:pt>
    <dgm:pt modelId="{93918C64-509C-442E-BE85-DC3681A2DA36}" type="pres">
      <dgm:prSet presAssocID="{5D489046-1A80-41AD-90BB-6E5690A10A1F}" presName="Accent" presStyleLbl="bgShp" presStyleIdx="5" presStyleCnt="6" custLinFactNeighborX="2087" custLinFactNeighborY="79342"/>
      <dgm:spPr/>
    </dgm:pt>
    <dgm:pt modelId="{7BF6350D-7FFE-4C95-880D-47203B130A48}" type="pres">
      <dgm:prSet presAssocID="{5D489046-1A80-41AD-90BB-6E5690A10A1F}" presName="Child6" presStyleLbl="node1" presStyleIdx="5" presStyleCnt="6" custScaleX="121454" custScaleY="107181">
        <dgm:presLayoutVars>
          <dgm:chMax val="0"/>
          <dgm:chPref val="0"/>
          <dgm:bulletEnabled val="1"/>
        </dgm:presLayoutVars>
      </dgm:prSet>
      <dgm:spPr/>
    </dgm:pt>
  </dgm:ptLst>
  <dgm:cxnLst>
    <dgm:cxn modelId="{5DA09606-3BD3-475B-95AF-93A3BA2725D2}" type="presOf" srcId="{B5BB1B15-DA1F-4F4B-8DE7-02BB345613D6}" destId="{E653E335-4555-431E-81CD-7F8449BA6DA0}" srcOrd="0" destOrd="0" presId="urn:microsoft.com/office/officeart/2011/layout/HexagonRadial"/>
    <dgm:cxn modelId="{DE1DE128-2A62-47AA-947B-416788F28983}" srcId="{03872B7A-FB41-4BFE-AA4F-CC8D31780922}" destId="{410C8EF4-E153-4465-9FF9-2FB17C8AB454}" srcOrd="0" destOrd="0" parTransId="{4C90D029-79A3-4D03-AB39-83D446FDF6F3}" sibTransId="{91F5DB34-404B-4724-82DD-AA1F90110B42}"/>
    <dgm:cxn modelId="{A12D8D35-ECF9-4FA3-AF8A-54FA5470F96D}" srcId="{03872B7A-FB41-4BFE-AA4F-CC8D31780922}" destId="{5D489046-1A80-41AD-90BB-6E5690A10A1F}" srcOrd="5" destOrd="0" parTransId="{A181FD8A-E5A1-46DE-876B-0418AFB55BA5}" sibTransId="{A86F76B9-A26B-4146-B3DD-D0B6707C25D8}"/>
    <dgm:cxn modelId="{8409FF48-925C-4127-A20F-252C88D8EA8A}" type="presOf" srcId="{AC44856B-A26F-4176-BFDB-F8330F97E213}" destId="{0E0A7782-D909-47A9-A7E6-C60FD91D823B}" srcOrd="0" destOrd="0" presId="urn:microsoft.com/office/officeart/2011/layout/HexagonRadial"/>
    <dgm:cxn modelId="{61E0A34B-AE1D-4F0A-BF7A-C4762D641C49}" type="presOf" srcId="{03872B7A-FB41-4BFE-AA4F-CC8D31780922}" destId="{CBE524B0-31F9-4CC1-BB1F-95BC5987B47A}" srcOrd="0" destOrd="0" presId="urn:microsoft.com/office/officeart/2011/layout/HexagonRadial"/>
    <dgm:cxn modelId="{46468B68-2279-402A-A8AB-0BDBDC818277}" type="presOf" srcId="{6841FDA7-46F1-4BC4-8847-41C04F87854A}" destId="{6260D791-6584-43FD-B43A-DD2A361C63C8}" srcOrd="0" destOrd="0" presId="urn:microsoft.com/office/officeart/2011/layout/HexagonRadial"/>
    <dgm:cxn modelId="{7214A67D-8585-4B0A-AF79-2504F3AF7501}" type="presOf" srcId="{1545DDEA-7264-4538-BDE6-EFB3B49C24E2}" destId="{53392981-2864-40BF-949B-AA90BF680CA7}" srcOrd="0" destOrd="0" presId="urn:microsoft.com/office/officeart/2011/layout/HexagonRadial"/>
    <dgm:cxn modelId="{F463898A-331D-4263-8069-F2E2C0E09F8D}" srcId="{03872B7A-FB41-4BFE-AA4F-CC8D31780922}" destId="{3EF826D0-9353-469F-AD51-98F086DA8112}" srcOrd="1" destOrd="0" parTransId="{2E218BD3-DBE9-4EAB-A956-825FE1A8A96B}" sibTransId="{AB300EE3-756D-4CD1-964D-2CF10CDCBF25}"/>
    <dgm:cxn modelId="{600322AB-47D2-4853-ACEA-8FB8D5FEE9AF}" type="presOf" srcId="{3EF826D0-9353-469F-AD51-98F086DA8112}" destId="{4B8EDFF3-4D21-43A9-8722-40FFE245A717}" srcOrd="0" destOrd="0" presId="urn:microsoft.com/office/officeart/2011/layout/HexagonRadial"/>
    <dgm:cxn modelId="{DE7D4FC2-E9C3-443D-93EB-7E0661D46004}" srcId="{03872B7A-FB41-4BFE-AA4F-CC8D31780922}" destId="{1545DDEA-7264-4538-BDE6-EFB3B49C24E2}" srcOrd="3" destOrd="0" parTransId="{ADDB773E-C4A1-4F3F-A236-B6883980E182}" sibTransId="{C9A38AD8-581D-4B7D-AD43-DE53806E6969}"/>
    <dgm:cxn modelId="{A95756C2-528D-4A34-8F23-71105FA1C55D}" type="presOf" srcId="{410C8EF4-E153-4465-9FF9-2FB17C8AB454}" destId="{E10D5476-9CD9-44F5-9855-012BC1B4BE56}" srcOrd="0" destOrd="0" presId="urn:microsoft.com/office/officeart/2011/layout/HexagonRadial"/>
    <dgm:cxn modelId="{6F1F33C9-B8DE-411F-94DA-1E72332EACE3}" srcId="{6841FDA7-46F1-4BC4-8847-41C04F87854A}" destId="{03872B7A-FB41-4BFE-AA4F-CC8D31780922}" srcOrd="0" destOrd="0" parTransId="{830E09B4-C3FF-435F-8603-E4DC11F3A278}" sibTransId="{064052D1-A65A-4A1A-933A-683051D2FFF9}"/>
    <dgm:cxn modelId="{BC9980DB-7D60-4284-B3EC-09CB727E50DF}" srcId="{03872B7A-FB41-4BFE-AA4F-CC8D31780922}" destId="{AC44856B-A26F-4176-BFDB-F8330F97E213}" srcOrd="2" destOrd="0" parTransId="{893833E5-849A-4BF0-8FF8-1325508D9A05}" sibTransId="{B947A088-A410-484B-BCFC-2312B054725D}"/>
    <dgm:cxn modelId="{94ED52DE-DF5E-4BE2-B371-83D28F125D38}" srcId="{03872B7A-FB41-4BFE-AA4F-CC8D31780922}" destId="{B5BB1B15-DA1F-4F4B-8DE7-02BB345613D6}" srcOrd="4" destOrd="0" parTransId="{941B285F-3DDD-464B-A4E5-96DD0C0CCB35}" sibTransId="{58AF55A7-8D27-427B-8D51-915E310AAC16}"/>
    <dgm:cxn modelId="{7E1E71EC-D41A-414E-B520-3C8779665080}" type="presOf" srcId="{5D489046-1A80-41AD-90BB-6E5690A10A1F}" destId="{7BF6350D-7FFE-4C95-880D-47203B130A48}" srcOrd="0" destOrd="0" presId="urn:microsoft.com/office/officeart/2011/layout/HexagonRadial"/>
    <dgm:cxn modelId="{231140ED-66A8-48B3-A23C-B083944B652F}" type="presParOf" srcId="{6260D791-6584-43FD-B43A-DD2A361C63C8}" destId="{CBE524B0-31F9-4CC1-BB1F-95BC5987B47A}" srcOrd="0" destOrd="0" presId="urn:microsoft.com/office/officeart/2011/layout/HexagonRadial"/>
    <dgm:cxn modelId="{F5D48E9C-BD3D-4BB1-A2A1-48A2C363D6F8}" type="presParOf" srcId="{6260D791-6584-43FD-B43A-DD2A361C63C8}" destId="{D3417241-D945-4F60-9E4F-228FA9011B96}" srcOrd="1" destOrd="0" presId="urn:microsoft.com/office/officeart/2011/layout/HexagonRadial"/>
    <dgm:cxn modelId="{AB941605-8563-44A8-A451-9A4BF749E5A6}" type="presParOf" srcId="{D3417241-D945-4F60-9E4F-228FA9011B96}" destId="{40887ED9-5D21-4CA5-A0EB-DF9E1045B406}" srcOrd="0" destOrd="0" presId="urn:microsoft.com/office/officeart/2011/layout/HexagonRadial"/>
    <dgm:cxn modelId="{ABB4C489-13CC-4F96-9439-BC06EEE9FD72}" type="presParOf" srcId="{6260D791-6584-43FD-B43A-DD2A361C63C8}" destId="{E10D5476-9CD9-44F5-9855-012BC1B4BE56}" srcOrd="2" destOrd="0" presId="urn:microsoft.com/office/officeart/2011/layout/HexagonRadial"/>
    <dgm:cxn modelId="{E28300C9-8854-45FD-9DAC-CE8DC7B8C7F0}" type="presParOf" srcId="{6260D791-6584-43FD-B43A-DD2A361C63C8}" destId="{7E6D15DF-BF86-46AD-84C7-1D94E1FCA5B5}" srcOrd="3" destOrd="0" presId="urn:microsoft.com/office/officeart/2011/layout/HexagonRadial"/>
    <dgm:cxn modelId="{DA6ECE22-C4C1-4EAB-92F2-CC0F2DFC9C59}" type="presParOf" srcId="{7E6D15DF-BF86-46AD-84C7-1D94E1FCA5B5}" destId="{E989C0F4-F4D7-4DEE-9B8C-1D36B9699652}" srcOrd="0" destOrd="0" presId="urn:microsoft.com/office/officeart/2011/layout/HexagonRadial"/>
    <dgm:cxn modelId="{099D2CE5-42E3-44E3-B3D2-5D91E020D2EF}" type="presParOf" srcId="{6260D791-6584-43FD-B43A-DD2A361C63C8}" destId="{4B8EDFF3-4D21-43A9-8722-40FFE245A717}" srcOrd="4" destOrd="0" presId="urn:microsoft.com/office/officeart/2011/layout/HexagonRadial"/>
    <dgm:cxn modelId="{EFD8325B-4FCD-4B4A-ABAF-3A15ED0FF4D3}" type="presParOf" srcId="{6260D791-6584-43FD-B43A-DD2A361C63C8}" destId="{393CCD86-FFC2-4E72-BEA7-FFC931CC8FB5}" srcOrd="5" destOrd="0" presId="urn:microsoft.com/office/officeart/2011/layout/HexagonRadial"/>
    <dgm:cxn modelId="{6C628B48-0178-4629-9751-BB7F1DB34478}" type="presParOf" srcId="{393CCD86-FFC2-4E72-BEA7-FFC931CC8FB5}" destId="{D051A1AE-2D42-470E-BE1C-4BA45001443C}" srcOrd="0" destOrd="0" presId="urn:microsoft.com/office/officeart/2011/layout/HexagonRadial"/>
    <dgm:cxn modelId="{120BBD38-AB1C-4773-A325-A61CC2D616A1}" type="presParOf" srcId="{6260D791-6584-43FD-B43A-DD2A361C63C8}" destId="{0E0A7782-D909-47A9-A7E6-C60FD91D823B}" srcOrd="6" destOrd="0" presId="urn:microsoft.com/office/officeart/2011/layout/HexagonRadial"/>
    <dgm:cxn modelId="{6942B25C-DDE9-4DE9-A5FB-101A4C269EBC}" type="presParOf" srcId="{6260D791-6584-43FD-B43A-DD2A361C63C8}" destId="{55E1068F-CAD8-4FE4-AB5A-F3AF783A1CA4}" srcOrd="7" destOrd="0" presId="urn:microsoft.com/office/officeart/2011/layout/HexagonRadial"/>
    <dgm:cxn modelId="{063B2FAE-BDD2-4DD1-9493-FC8EE3F11600}" type="presParOf" srcId="{55E1068F-CAD8-4FE4-AB5A-F3AF783A1CA4}" destId="{18F9843D-B1FA-4143-A018-2433B1C712D2}" srcOrd="0" destOrd="0" presId="urn:microsoft.com/office/officeart/2011/layout/HexagonRadial"/>
    <dgm:cxn modelId="{47374F51-8332-4872-B97F-AE333AF30FEF}" type="presParOf" srcId="{6260D791-6584-43FD-B43A-DD2A361C63C8}" destId="{53392981-2864-40BF-949B-AA90BF680CA7}" srcOrd="8" destOrd="0" presId="urn:microsoft.com/office/officeart/2011/layout/HexagonRadial"/>
    <dgm:cxn modelId="{307BC7F5-D777-4CFE-A448-694C0D5C9F4A}" type="presParOf" srcId="{6260D791-6584-43FD-B43A-DD2A361C63C8}" destId="{C4F544E6-7545-44B0-A90A-413D7B7D6A3F}" srcOrd="9" destOrd="0" presId="urn:microsoft.com/office/officeart/2011/layout/HexagonRadial"/>
    <dgm:cxn modelId="{4A64A009-496B-4314-B614-F6BDED7A1F2E}" type="presParOf" srcId="{C4F544E6-7545-44B0-A90A-413D7B7D6A3F}" destId="{364CB5CC-9739-4EE9-8E38-61FB5627194C}" srcOrd="0" destOrd="0" presId="urn:microsoft.com/office/officeart/2011/layout/HexagonRadial"/>
    <dgm:cxn modelId="{38FFF53A-5CC0-4E45-A858-270B2B7ADD66}" type="presParOf" srcId="{6260D791-6584-43FD-B43A-DD2A361C63C8}" destId="{E653E335-4555-431E-81CD-7F8449BA6DA0}" srcOrd="10" destOrd="0" presId="urn:microsoft.com/office/officeart/2011/layout/HexagonRadial"/>
    <dgm:cxn modelId="{5727CEF9-AB2F-4FC3-963C-8C60EA4B4FF7}" type="presParOf" srcId="{6260D791-6584-43FD-B43A-DD2A361C63C8}" destId="{49D04E88-5993-49F8-8456-DB8E1A752670}" srcOrd="11" destOrd="0" presId="urn:microsoft.com/office/officeart/2011/layout/HexagonRadial"/>
    <dgm:cxn modelId="{3FFB739B-D272-471D-98E5-38DE39E4C205}" type="presParOf" srcId="{49D04E88-5993-49F8-8456-DB8E1A752670}" destId="{93918C64-509C-442E-BE85-DC3681A2DA36}" srcOrd="0" destOrd="0" presId="urn:microsoft.com/office/officeart/2011/layout/HexagonRadial"/>
    <dgm:cxn modelId="{931E6392-7A46-44B9-8C06-B464D46E093B}" type="presParOf" srcId="{6260D791-6584-43FD-B43A-DD2A361C63C8}" destId="{7BF6350D-7FFE-4C95-880D-47203B130A48}"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E524B0-31F9-4CC1-BB1F-95BC5987B47A}">
      <dsp:nvSpPr>
        <dsp:cNvPr id="0" name=""/>
        <dsp:cNvSpPr/>
      </dsp:nvSpPr>
      <dsp:spPr>
        <a:xfrm>
          <a:off x="2639990" y="1598942"/>
          <a:ext cx="1994193" cy="1725057"/>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AU" sz="1600" kern="1200" dirty="0"/>
            <a:t>Architectural Element</a:t>
          </a:r>
        </a:p>
      </dsp:txBody>
      <dsp:txXfrm>
        <a:off x="2970456" y="1884808"/>
        <a:ext cx="1333261" cy="1153325"/>
      </dsp:txXfrm>
    </dsp:sp>
    <dsp:sp modelId="{E989C0F4-F4D7-4DEE-9B8C-1D36B9699652}">
      <dsp:nvSpPr>
        <dsp:cNvPr id="0" name=""/>
        <dsp:cNvSpPr/>
      </dsp:nvSpPr>
      <dsp:spPr>
        <a:xfrm>
          <a:off x="1884675" y="2896091"/>
          <a:ext cx="752403" cy="64829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0D5476-9CD9-44F5-9855-012BC1B4BE56}">
      <dsp:nvSpPr>
        <dsp:cNvPr id="0" name=""/>
        <dsp:cNvSpPr/>
      </dsp:nvSpPr>
      <dsp:spPr>
        <a:xfrm>
          <a:off x="4310668" y="1198010"/>
          <a:ext cx="1634227" cy="813386"/>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AU" sz="1600" kern="1200" dirty="0"/>
        </a:p>
      </dsp:txBody>
      <dsp:txXfrm>
        <a:off x="4524315" y="1304346"/>
        <a:ext cx="1206933" cy="600714"/>
      </dsp:txXfrm>
    </dsp:sp>
    <dsp:sp modelId="{D051A1AE-2D42-470E-BE1C-4BA45001443C}">
      <dsp:nvSpPr>
        <dsp:cNvPr id="0" name=""/>
        <dsp:cNvSpPr/>
      </dsp:nvSpPr>
      <dsp:spPr>
        <a:xfrm flipV="1">
          <a:off x="4684749" y="1227426"/>
          <a:ext cx="752403" cy="51865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8EDFF3-4D21-43A9-8722-40FFE245A717}">
      <dsp:nvSpPr>
        <dsp:cNvPr id="0" name=""/>
        <dsp:cNvSpPr/>
      </dsp:nvSpPr>
      <dsp:spPr>
        <a:xfrm>
          <a:off x="4269789" y="850763"/>
          <a:ext cx="1739569" cy="151143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AU" sz="1400" kern="1200" dirty="0"/>
            <a:t>Communi-cation Mechanism</a:t>
          </a:r>
        </a:p>
      </dsp:txBody>
      <dsp:txXfrm>
        <a:off x="4558692" y="1101778"/>
        <a:ext cx="1161763" cy="1009405"/>
      </dsp:txXfrm>
    </dsp:sp>
    <dsp:sp modelId="{18F9843D-B1FA-4143-A018-2433B1C712D2}">
      <dsp:nvSpPr>
        <dsp:cNvPr id="0" name=""/>
        <dsp:cNvSpPr/>
      </dsp:nvSpPr>
      <dsp:spPr>
        <a:xfrm>
          <a:off x="4909200" y="3097837"/>
          <a:ext cx="752403" cy="64829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0A7782-D909-47A9-A7E6-C60FD91D823B}">
      <dsp:nvSpPr>
        <dsp:cNvPr id="0" name=""/>
        <dsp:cNvSpPr/>
      </dsp:nvSpPr>
      <dsp:spPr>
        <a:xfrm>
          <a:off x="4269789" y="2567942"/>
          <a:ext cx="1739569" cy="1496067"/>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AU" sz="1400" kern="1200" dirty="0"/>
            <a:t>Asset Management and Control Mechanism</a:t>
          </a:r>
        </a:p>
      </dsp:txBody>
      <dsp:txXfrm>
        <a:off x="4557229" y="2815146"/>
        <a:ext cx="1164689" cy="1001659"/>
      </dsp:txXfrm>
    </dsp:sp>
    <dsp:sp modelId="{364CB5CC-9739-4EE9-8E38-61FB5627194C}">
      <dsp:nvSpPr>
        <dsp:cNvPr id="0" name=""/>
        <dsp:cNvSpPr/>
      </dsp:nvSpPr>
      <dsp:spPr>
        <a:xfrm>
          <a:off x="1760019" y="1372416"/>
          <a:ext cx="752403" cy="64829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392981-2864-40BF-949B-AA90BF680CA7}">
      <dsp:nvSpPr>
        <dsp:cNvPr id="0" name=""/>
        <dsp:cNvSpPr/>
      </dsp:nvSpPr>
      <dsp:spPr>
        <a:xfrm>
          <a:off x="1318005" y="2942047"/>
          <a:ext cx="1634227" cy="693383"/>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AU" sz="1600" kern="1200" dirty="0"/>
        </a:p>
      </dsp:txBody>
      <dsp:txXfrm>
        <a:off x="1520224" y="3027846"/>
        <a:ext cx="1229789" cy="521785"/>
      </dsp:txXfrm>
    </dsp:sp>
    <dsp:sp modelId="{93918C64-509C-442E-BE85-DC3681A2DA36}">
      <dsp:nvSpPr>
        <dsp:cNvPr id="0" name=""/>
        <dsp:cNvSpPr/>
      </dsp:nvSpPr>
      <dsp:spPr>
        <a:xfrm>
          <a:off x="1766911" y="2798569"/>
          <a:ext cx="752403" cy="64829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3E335-4555-431E-81CD-7F8449BA6DA0}">
      <dsp:nvSpPr>
        <dsp:cNvPr id="0" name=""/>
        <dsp:cNvSpPr/>
      </dsp:nvSpPr>
      <dsp:spPr>
        <a:xfrm>
          <a:off x="1265279" y="2575559"/>
          <a:ext cx="1739569" cy="1482777"/>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AU" sz="1400" kern="1200" dirty="0"/>
            <a:t>Storage Element</a:t>
          </a:r>
        </a:p>
      </dsp:txBody>
      <dsp:txXfrm>
        <a:off x="1551453" y="2819488"/>
        <a:ext cx="1167221" cy="994919"/>
      </dsp:txXfrm>
    </dsp:sp>
    <dsp:sp modelId="{7BF6350D-7FFE-4C95-880D-47203B130A48}">
      <dsp:nvSpPr>
        <dsp:cNvPr id="0" name=""/>
        <dsp:cNvSpPr/>
      </dsp:nvSpPr>
      <dsp:spPr>
        <a:xfrm>
          <a:off x="1142646" y="846873"/>
          <a:ext cx="1984834" cy="1515323"/>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AU" sz="1400" kern="1200" dirty="0"/>
            <a:t>Computational Element</a:t>
          </a:r>
        </a:p>
      </dsp:txBody>
      <dsp:txXfrm>
        <a:off x="1452358" y="1083323"/>
        <a:ext cx="1365410" cy="1042423"/>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287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9EA737B2-38E3-C2F8-E09D-14FE1F73910C}"/>
            </a:ext>
          </a:extLst>
        </p:cNvPr>
        <p:cNvGrpSpPr/>
        <p:nvPr/>
      </p:nvGrpSpPr>
      <p:grpSpPr>
        <a:xfrm>
          <a:off x="0" y="0"/>
          <a:ext cx="0" cy="0"/>
          <a:chOff x="0" y="0"/>
          <a:chExt cx="0" cy="0"/>
        </a:xfrm>
      </p:grpSpPr>
      <p:sp>
        <p:nvSpPr>
          <p:cNvPr id="285" name="Google Shape;285;p2:notes">
            <a:extLst>
              <a:ext uri="{FF2B5EF4-FFF2-40B4-BE49-F238E27FC236}">
                <a16:creationId xmlns:a16="http://schemas.microsoft.com/office/drawing/2014/main" id="{E7A42B77-B5C8-B6BA-9A2B-0ECD838FE0CB}"/>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a:extLst>
              <a:ext uri="{FF2B5EF4-FFF2-40B4-BE49-F238E27FC236}">
                <a16:creationId xmlns:a16="http://schemas.microsoft.com/office/drawing/2014/main" id="{BC57076A-E6B8-3841-BCAC-E4DD86D8409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6597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6</a:t>
            </a:fld>
            <a:endParaRPr lang="en-AU"/>
          </a:p>
        </p:txBody>
      </p:sp>
    </p:spTree>
    <p:extLst>
      <p:ext uri="{BB962C8B-B14F-4D97-AF65-F5344CB8AC3E}">
        <p14:creationId xmlns:p14="http://schemas.microsoft.com/office/powerpoint/2010/main" val="3120352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713232" rtl="0" eaLnBrk="1" fontAlgn="auto" latinLnBrk="0" hangingPunct="1">
              <a:lnSpc>
                <a:spcPct val="100000"/>
              </a:lnSpc>
              <a:spcBef>
                <a:spcPts val="0"/>
              </a:spcBef>
              <a:spcAft>
                <a:spcPts val="0"/>
              </a:spcAft>
              <a:buClrTx/>
              <a:buSzTx/>
              <a:buFontTx/>
              <a:buNone/>
              <a:tabLst/>
              <a:defRPr/>
            </a:pPr>
            <a:r>
              <a:rPr lang="en-US" dirty="0"/>
              <a:t>Software components </a:t>
            </a:r>
            <a:r>
              <a:rPr lang="en-AU" dirty="0"/>
              <a:t>are the elements that encapsulate processing and data in a system’s architecture </a:t>
            </a:r>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7</a:t>
            </a:fld>
            <a:endParaRPr lang="en-AU"/>
          </a:p>
        </p:txBody>
      </p:sp>
    </p:spTree>
    <p:extLst>
      <p:ext uri="{BB962C8B-B14F-4D97-AF65-F5344CB8AC3E}">
        <p14:creationId xmlns:p14="http://schemas.microsoft.com/office/powerpoint/2010/main" val="4260622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8</a:t>
            </a:fld>
            <a:endParaRPr lang="en-AU"/>
          </a:p>
        </p:txBody>
      </p:sp>
    </p:spTree>
    <p:extLst>
      <p:ext uri="{BB962C8B-B14F-4D97-AF65-F5344CB8AC3E}">
        <p14:creationId xmlns:p14="http://schemas.microsoft.com/office/powerpoint/2010/main" val="2530638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lvl="0" indent="-171450">
              <a:buFont typeface="Arial"/>
              <a:buChar char="•"/>
            </a:pPr>
            <a:r>
              <a:rPr lang="en-AU" dirty="0"/>
              <a:t>File</a:t>
            </a:r>
            <a:r>
              <a:rPr lang="en-AU" baseline="0" dirty="0"/>
              <a:t> transferred from a component to another</a:t>
            </a:r>
            <a:endParaRPr lang="en-AU" dirty="0"/>
          </a:p>
          <a:p>
            <a:pPr marL="171450" lvl="0" indent="-171450">
              <a:buFont typeface="Arial"/>
              <a:buChar char="•"/>
            </a:pPr>
            <a:r>
              <a:rPr lang="en-AU" dirty="0"/>
              <a:t>Stream</a:t>
            </a:r>
            <a:r>
              <a:rPr lang="en-AU" baseline="0" dirty="0"/>
              <a:t> coming from a component to another</a:t>
            </a:r>
            <a:endParaRPr lang="en-AU" dirty="0"/>
          </a:p>
          <a:p>
            <a:pPr marL="171450" lvl="0" indent="-171450">
              <a:buFont typeface="Arial"/>
              <a:buChar char="•"/>
            </a:pPr>
            <a:r>
              <a:rPr lang="en-AU" dirty="0"/>
              <a:t>Simple procedure calls</a:t>
            </a:r>
          </a:p>
          <a:p>
            <a:pPr marL="171450" lvl="0" indent="-171450">
              <a:buFont typeface="Arial"/>
              <a:buChar char="•"/>
            </a:pPr>
            <a:r>
              <a:rPr lang="en-AU" dirty="0"/>
              <a:t>Shared data accesses</a:t>
            </a:r>
          </a:p>
          <a:p>
            <a:pPr marL="171450" lvl="0" indent="-171450">
              <a:buFont typeface="Arial"/>
              <a:buChar char="•"/>
            </a:pPr>
            <a:r>
              <a:rPr lang="en-AU" dirty="0"/>
              <a:t>Message</a:t>
            </a:r>
            <a:r>
              <a:rPr lang="en-AU" baseline="0" dirty="0"/>
              <a:t> bus that connect multiple components</a:t>
            </a:r>
            <a:endParaRPr lang="en-AU" dirty="0"/>
          </a:p>
          <a:p>
            <a:pPr marL="171450" lvl="0" indent="-171450">
              <a:buFont typeface="Arial"/>
              <a:buChar char="•"/>
            </a:pPr>
            <a:r>
              <a:rPr lang="en-AU" dirty="0"/>
              <a:t>Much more sophisticated and complex connectors are possible: blockchain</a:t>
            </a:r>
          </a:p>
          <a:p>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9</a:t>
            </a:fld>
            <a:endParaRPr lang="en-AU"/>
          </a:p>
        </p:txBody>
      </p:sp>
    </p:spTree>
    <p:extLst>
      <p:ext uri="{BB962C8B-B14F-4D97-AF65-F5344CB8AC3E}">
        <p14:creationId xmlns:p14="http://schemas.microsoft.com/office/powerpoint/2010/main" val="2530638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t>Two kind</a:t>
            </a:r>
            <a:r>
              <a:rPr lang="en-US" baseline="0" dirty="0"/>
              <a:t>s of requirements</a:t>
            </a:r>
          </a:p>
          <a:p>
            <a:pPr marL="171450" indent="-171450">
              <a:buFont typeface="Arial"/>
              <a:buChar char="•"/>
            </a:pPr>
            <a:r>
              <a:rPr lang="en-US" baseline="0" dirty="0"/>
              <a:t>FR: specify the behavior of system </a:t>
            </a:r>
          </a:p>
          <a:p>
            <a:pPr marL="171450" indent="-171450">
              <a:buFont typeface="Arial"/>
              <a:buChar char="•"/>
            </a:pPr>
            <a:r>
              <a:rPr lang="en-US" baseline="0" dirty="0"/>
              <a:t>NFR: specifies criteria that can be used to judge how well the system operates</a:t>
            </a:r>
            <a:endParaRPr lang="en-US" dirty="0"/>
          </a:p>
          <a:p>
            <a:r>
              <a:rPr lang="en-US" dirty="0"/>
              <a:t>With</a:t>
            </a:r>
            <a:r>
              <a:rPr lang="en-US" baseline="0" dirty="0"/>
              <a:t> a fixed budget and timeframe, there is tradeoffs between non functional properties </a:t>
            </a: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11</a:t>
            </a:fld>
            <a:endParaRPr lang="en-AU"/>
          </a:p>
        </p:txBody>
      </p:sp>
    </p:spTree>
    <p:extLst>
      <p:ext uri="{BB962C8B-B14F-4D97-AF65-F5344CB8AC3E}">
        <p14:creationId xmlns:p14="http://schemas.microsoft.com/office/powerpoint/2010/main" val="1538381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 blockchain stores and shares data, and executes smart contracts.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 blockchain component might also control digital currency or represent other assets.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Due to limitations of privacy and scalability, there are also off-chain auxiliary databases used in the system.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First, private data is stored in an internal database. Second, large data is stored separately, such as in a cloud service.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There is an API layer between the three data storage mechanisms.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Key management is an essential component when working with blockchains. Every participant in a blockchain network has one or more private keys, which are used by the participant to digitally sign its transactions.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12</a:t>
            </a:fld>
            <a:endParaRPr lang="en-AU"/>
          </a:p>
        </p:txBody>
      </p:sp>
    </p:spTree>
    <p:extLst>
      <p:ext uri="{BB962C8B-B14F-4D97-AF65-F5344CB8AC3E}">
        <p14:creationId xmlns:p14="http://schemas.microsoft.com/office/powerpoint/2010/main" val="3718823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B2CD-21DE-DE0C-24E1-CD975D021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AF787-1D9C-7CE7-49FA-11ACA3B117A6}"/>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C993EF3C-C8F5-878E-B889-29EA3BF3F0D5}"/>
              </a:ext>
            </a:extLst>
          </p:cNvPr>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 blockchain stores and shares data, and executes smart contracts.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 blockchain component might also control digital currency or represent other assets.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Due to limitations of privacy and scalability, there are also off-chain auxiliary databases used in the system.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First, private data is stored in an internal database. Second, large data is stored separately, such as in a cloud service.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There is an API layer between the three data storage mechanisms.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Key management is an essential component when working with blockchains. Every participant in a blockchain network has one or more private keys, which are used by the participant to digitally sign its transactions.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9C7E734-6DC3-8972-0054-44F2F8677FF6}"/>
              </a:ext>
            </a:extLst>
          </p:cNvPr>
          <p:cNvSpPr>
            <a:spLocks noGrp="1"/>
          </p:cNvSpPr>
          <p:nvPr>
            <p:ph type="sldNum" sz="quarter" idx="10"/>
          </p:nvPr>
        </p:nvSpPr>
        <p:spPr/>
        <p:txBody>
          <a:bodyPr/>
          <a:lstStyle/>
          <a:p>
            <a:fld id="{9A496215-5E4C-414D-A8DB-C38AA7CF7C2A}" type="slidenum">
              <a:rPr lang="en-AU" smtClean="0"/>
              <a:pPr/>
              <a:t>14</a:t>
            </a:fld>
            <a:endParaRPr lang="en-AU"/>
          </a:p>
        </p:txBody>
      </p:sp>
    </p:spTree>
    <p:extLst>
      <p:ext uri="{BB962C8B-B14F-4D97-AF65-F5344CB8AC3E}">
        <p14:creationId xmlns:p14="http://schemas.microsoft.com/office/powerpoint/2010/main" val="12680715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We can then consider design tradeoffs regarding these quality attributes,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and provide rationales to support architectural decisions about whether to employ a blockchain or some conventional component.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17</a:t>
            </a:fld>
            <a:endParaRPr lang="en-AU"/>
          </a:p>
        </p:txBody>
      </p:sp>
    </p:spTree>
    <p:extLst>
      <p:ext uri="{BB962C8B-B14F-4D97-AF65-F5344CB8AC3E}">
        <p14:creationId xmlns:p14="http://schemas.microsoft.com/office/powerpoint/2010/main" val="3718823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As a component, blockchain has unique properties and limitations.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Blockchains are complex, network-based software components, which can provide data storage, computation services, and communication services.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Blockchain features can include cryptographically-secure payment, mining, transaction validation, incentive mechanisms, and permission management.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 so-called ‘oracle’ may supply information about the external world to the blockchain, usually by adding that information to the blockchain as data in a transaction.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18</a:t>
            </a:fld>
            <a:endParaRPr lang="en-AU"/>
          </a:p>
        </p:txBody>
      </p:sp>
    </p:spTree>
    <p:extLst>
      <p:ext uri="{BB962C8B-B14F-4D97-AF65-F5344CB8AC3E}">
        <p14:creationId xmlns:p14="http://schemas.microsoft.com/office/powerpoint/2010/main" val="3718823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 typeface="Arial"/>
              <a:buChar char="•"/>
            </a:pPr>
            <a:r>
              <a:rPr lang="en-US" dirty="0"/>
              <a:t>From software architecture perspective, blockchain is a distributed database</a:t>
            </a:r>
            <a:r>
              <a:rPr lang="en-US" baseline="0" dirty="0"/>
              <a:t> with unique properties and limitations.</a:t>
            </a:r>
          </a:p>
          <a:p>
            <a:pPr marL="171450" indent="-171450">
              <a:buFont typeface="Arial"/>
              <a:buChar char="•"/>
            </a:pPr>
            <a:r>
              <a:rPr lang="en-US" baseline="0" dirty="0"/>
              <a:t>Cannot meet requirements for all usage scenarios</a:t>
            </a:r>
          </a:p>
          <a:p>
            <a:endParaRPr lang="en-US" sz="9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900" i="1" kern="1200" dirty="0">
                <a:solidFill>
                  <a:schemeClr val="tx1"/>
                </a:solidFill>
                <a:effectLst/>
                <a:latin typeface="+mn-lt"/>
                <a:ea typeface="+mn-ea"/>
                <a:cs typeface="+mn-cs"/>
              </a:rPr>
              <a:t>Data privacy </a:t>
            </a:r>
            <a:r>
              <a:rPr lang="en-US" sz="900" kern="1200" dirty="0">
                <a:solidFill>
                  <a:schemeClr val="tx1"/>
                </a:solidFill>
                <a:effectLst/>
                <a:latin typeface="+mn-lt"/>
                <a:ea typeface="+mn-ea"/>
                <a:cs typeface="+mn-cs"/>
              </a:rPr>
              <a:t>and </a:t>
            </a:r>
            <a:r>
              <a:rPr lang="en-US" sz="900" i="1" kern="1200" dirty="0">
                <a:solidFill>
                  <a:schemeClr val="tx1"/>
                </a:solidFill>
                <a:effectLst/>
                <a:latin typeface="+mn-lt"/>
                <a:ea typeface="+mn-ea"/>
                <a:cs typeface="+mn-cs"/>
              </a:rPr>
              <a:t>scalability </a:t>
            </a:r>
            <a:r>
              <a:rPr lang="en-US" sz="900" kern="1200" dirty="0">
                <a:solidFill>
                  <a:schemeClr val="tx1"/>
                </a:solidFill>
                <a:effectLst/>
                <a:latin typeface="+mn-lt"/>
                <a:ea typeface="+mn-ea"/>
                <a:cs typeface="+mn-cs"/>
              </a:rPr>
              <a:t>are the two limitations of public blockchains.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900" kern="1200" dirty="0">
                <a:solidFill>
                  <a:schemeClr val="tx1"/>
                </a:solidFill>
                <a:effectLst/>
                <a:latin typeface="+mn-lt"/>
                <a:ea typeface="+mn-ea"/>
                <a:cs typeface="+mn-cs"/>
              </a:rPr>
              <a:t>On a public blockchain, there is no privileged users, and every participant can join the network to access all the information on blockchain and can validate new transactions.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tx1"/>
              </a:solidFill>
              <a:effectLst/>
              <a:latin typeface="+mn-lt"/>
              <a:ea typeface="+mn-ea"/>
              <a:cs typeface="+mn-cs"/>
            </a:endParaRPr>
          </a:p>
          <a:p>
            <a:pPr marL="171450" indent="-171450">
              <a:buFont typeface="Arial"/>
              <a:buChar char="•"/>
            </a:pPr>
            <a:r>
              <a:rPr lang="en-US" sz="900" kern="1200" baseline="0" dirty="0">
                <a:solidFill>
                  <a:schemeClr val="tx1"/>
                </a:solidFill>
                <a:effectLst/>
                <a:latin typeface="+mn-lt"/>
                <a:ea typeface="+mn-ea"/>
                <a:cs typeface="+mn-cs"/>
              </a:rPr>
              <a:t>the mainstream public blockchain </a:t>
            </a:r>
            <a:r>
              <a:rPr lang="en-US" sz="900" kern="1200" dirty="0">
                <a:solidFill>
                  <a:schemeClr val="tx1"/>
                </a:solidFill>
                <a:effectLst/>
                <a:latin typeface="+mn-lt"/>
                <a:ea typeface="+mn-ea"/>
                <a:cs typeface="+mn-cs"/>
              </a:rPr>
              <a:t>can only handle on average 3-20 transactions per second</a:t>
            </a:r>
          </a:p>
          <a:p>
            <a:pPr marL="171450" indent="-171450">
              <a:buFont typeface="Arial"/>
              <a:buChar char="•"/>
            </a:pPr>
            <a:r>
              <a:rPr lang="en-US" sz="900" kern="1200" dirty="0">
                <a:solidFill>
                  <a:schemeClr val="tx1"/>
                </a:solidFill>
                <a:effectLst/>
                <a:latin typeface="+mn-lt"/>
                <a:ea typeface="+mn-ea"/>
                <a:cs typeface="+mn-cs"/>
              </a:rPr>
              <a:t>mainstream payment services, like VISA, can handle an average of 1,700 transactions per second.</a:t>
            </a: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21</a:t>
            </a:fld>
            <a:endParaRPr lang="en-AU"/>
          </a:p>
        </p:txBody>
      </p:sp>
    </p:spTree>
    <p:extLst>
      <p:ext uri="{BB962C8B-B14F-4D97-AF65-F5344CB8AC3E}">
        <p14:creationId xmlns:p14="http://schemas.microsoft.com/office/powerpoint/2010/main" val="577840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85540B3C-6D72-7CE9-ACED-D5D2C4ACB61B}"/>
            </a:ext>
          </a:extLst>
        </p:cNvPr>
        <p:cNvGrpSpPr/>
        <p:nvPr/>
      </p:nvGrpSpPr>
      <p:grpSpPr>
        <a:xfrm>
          <a:off x="0" y="0"/>
          <a:ext cx="0" cy="0"/>
          <a:chOff x="0" y="0"/>
          <a:chExt cx="0" cy="0"/>
        </a:xfrm>
      </p:grpSpPr>
      <p:sp>
        <p:nvSpPr>
          <p:cNvPr id="285" name="Google Shape;285;p2:notes">
            <a:extLst>
              <a:ext uri="{FF2B5EF4-FFF2-40B4-BE49-F238E27FC236}">
                <a16:creationId xmlns:a16="http://schemas.microsoft.com/office/drawing/2014/main" id="{14169B51-6A1B-7133-7E12-60EF6F7F8F63}"/>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a:extLst>
              <a:ext uri="{FF2B5EF4-FFF2-40B4-BE49-F238E27FC236}">
                <a16:creationId xmlns:a16="http://schemas.microsoft.com/office/drawing/2014/main" id="{15BD5341-25AB-1EEB-D7B6-23ADCF6986E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8779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2792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8321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a:extLst>
            <a:ext uri="{FF2B5EF4-FFF2-40B4-BE49-F238E27FC236}">
              <a16:creationId xmlns:a16="http://schemas.microsoft.com/office/drawing/2014/main" id="{3973428B-5E09-98F4-5024-7E5DF546120F}"/>
            </a:ext>
          </a:extLst>
        </p:cNvPr>
        <p:cNvGrpSpPr/>
        <p:nvPr/>
      </p:nvGrpSpPr>
      <p:grpSpPr>
        <a:xfrm>
          <a:off x="0" y="0"/>
          <a:ext cx="0" cy="0"/>
          <a:chOff x="0" y="0"/>
          <a:chExt cx="0" cy="0"/>
        </a:xfrm>
      </p:grpSpPr>
      <p:sp>
        <p:nvSpPr>
          <p:cNvPr id="312" name="Google Shape;312;p6:notes">
            <a:extLst>
              <a:ext uri="{FF2B5EF4-FFF2-40B4-BE49-F238E27FC236}">
                <a16:creationId xmlns:a16="http://schemas.microsoft.com/office/drawing/2014/main" id="{ED3986A7-746E-11DA-809E-85BA23BADB0B}"/>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a:extLst>
              <a:ext uri="{FF2B5EF4-FFF2-40B4-BE49-F238E27FC236}">
                <a16:creationId xmlns:a16="http://schemas.microsoft.com/office/drawing/2014/main" id="{5BA7D10C-2008-BB8A-E768-4483D1C5BD8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1633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9720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26724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a:extLst>
            <a:ext uri="{FF2B5EF4-FFF2-40B4-BE49-F238E27FC236}">
              <a16:creationId xmlns:a16="http://schemas.microsoft.com/office/drawing/2014/main" id="{A154B042-8D25-10C0-E903-6978511CD26D}"/>
            </a:ext>
          </a:extLst>
        </p:cNvPr>
        <p:cNvGrpSpPr/>
        <p:nvPr/>
      </p:nvGrpSpPr>
      <p:grpSpPr>
        <a:xfrm>
          <a:off x="0" y="0"/>
          <a:ext cx="0" cy="0"/>
          <a:chOff x="0" y="0"/>
          <a:chExt cx="0" cy="0"/>
        </a:xfrm>
      </p:grpSpPr>
      <p:sp>
        <p:nvSpPr>
          <p:cNvPr id="312" name="Google Shape;312;p6:notes">
            <a:extLst>
              <a:ext uri="{FF2B5EF4-FFF2-40B4-BE49-F238E27FC236}">
                <a16:creationId xmlns:a16="http://schemas.microsoft.com/office/drawing/2014/main" id="{A02E50A9-EDDF-E2B1-F107-16B6A5ABE706}"/>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a:extLst>
              <a:ext uri="{FF2B5EF4-FFF2-40B4-BE49-F238E27FC236}">
                <a16:creationId xmlns:a16="http://schemas.microsoft.com/office/drawing/2014/main" id="{75DDDF6F-8820-335B-DBA2-A266112505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4211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094356F5-09A8-B3A1-E26C-A562514FB680}"/>
            </a:ext>
          </a:extLst>
        </p:cNvPr>
        <p:cNvGrpSpPr/>
        <p:nvPr/>
      </p:nvGrpSpPr>
      <p:grpSpPr>
        <a:xfrm>
          <a:off x="0" y="0"/>
          <a:ext cx="0" cy="0"/>
          <a:chOff x="0" y="0"/>
          <a:chExt cx="0" cy="0"/>
        </a:xfrm>
      </p:grpSpPr>
      <p:sp>
        <p:nvSpPr>
          <p:cNvPr id="285" name="Google Shape;285;p2:notes">
            <a:extLst>
              <a:ext uri="{FF2B5EF4-FFF2-40B4-BE49-F238E27FC236}">
                <a16:creationId xmlns:a16="http://schemas.microsoft.com/office/drawing/2014/main" id="{DAC89E37-DEC0-B246-D085-2C60F9ECB372}"/>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a:extLst>
              <a:ext uri="{FF2B5EF4-FFF2-40B4-BE49-F238E27FC236}">
                <a16:creationId xmlns:a16="http://schemas.microsoft.com/office/drawing/2014/main" id="{341A7DE4-F160-26BA-4694-DA915089D9A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398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lvl="1">
              <a:buFont typeface="Arial" panose="020B0604020202020204" pitchFamily="34" charset="0"/>
              <a:buChar char="•"/>
            </a:pPr>
            <a:r>
              <a:rPr lang="en-AU" sz="2400" dirty="0"/>
              <a:t>Lifecycle of transactions</a:t>
            </a:r>
          </a:p>
          <a:p>
            <a:pPr lvl="2"/>
            <a:r>
              <a:rPr lang="en-US" dirty="0"/>
              <a:t>Created by an initiator</a:t>
            </a:r>
          </a:p>
          <a:p>
            <a:pPr lvl="2"/>
            <a:r>
              <a:rPr lang="en-US" dirty="0"/>
              <a:t>Signed with the initiator’s signature which provides authorization to spend the money, create a contract or pass the parameters</a:t>
            </a:r>
          </a:p>
          <a:p>
            <a:pPr lvl="2"/>
            <a:r>
              <a:rPr lang="en-US" sz="1800" dirty="0"/>
              <a:t>Sent to a node which validates the transaction</a:t>
            </a:r>
          </a:p>
          <a:p>
            <a:pPr lvl="2"/>
            <a:r>
              <a:rPr lang="en-US" dirty="0"/>
              <a:t>Invalid transactions are discarded</a:t>
            </a:r>
          </a:p>
          <a:p>
            <a:pPr lvl="2"/>
            <a:r>
              <a:rPr lang="en-US" sz="1800" dirty="0"/>
              <a:t>Valid transaction is propagated to other connect</a:t>
            </a:r>
            <a:r>
              <a:rPr lang="en-US" dirty="0"/>
              <a:t>ed nodes for further validation and send it to their peers until it reaches every node (usually within a few seconds)</a:t>
            </a:r>
          </a:p>
          <a:p>
            <a:pPr lvl="2"/>
            <a:r>
              <a:rPr lang="en-US" dirty="0"/>
              <a:t>When it reaches a miner, it is verified and maybe included in a block</a:t>
            </a:r>
          </a:p>
          <a:p>
            <a:pPr lvl="2"/>
            <a:r>
              <a:rPr lang="en-AU" sz="1900" dirty="0"/>
              <a:t>The network reaches a consensus about the latest block to be included into the blockchain using consensus mechanism</a:t>
            </a:r>
            <a:endParaRPr lang="en-US" dirty="0"/>
          </a:p>
          <a:p>
            <a:pPr lvl="2"/>
            <a:r>
              <a:rPr lang="en-US" dirty="0"/>
              <a:t>The new block is broadcasted to the network by the winning miner</a:t>
            </a:r>
          </a:p>
          <a:p>
            <a:pPr lvl="2"/>
            <a:r>
              <a:rPr lang="en-US" dirty="0"/>
              <a:t>The nodes receiving the new block, verify the block and record it into the blockchain</a:t>
            </a:r>
          </a:p>
          <a:p>
            <a:pPr lvl="2"/>
            <a:r>
              <a:rPr lang="en-US" dirty="0"/>
              <a:t>Users often wait a number  of subsequent blocks to be added to the block containing a transaction before viewing the transaction as committed</a:t>
            </a:r>
            <a:endParaRPr lang="en-AU" sz="1800" dirty="0"/>
          </a:p>
        </p:txBody>
      </p:sp>
      <p:sp>
        <p:nvSpPr>
          <p:cNvPr id="4" name="Slide Number Placeholder 3"/>
          <p:cNvSpPr>
            <a:spLocks noGrp="1"/>
          </p:cNvSpPr>
          <p:nvPr>
            <p:ph type="sldNum" sz="quarter" idx="10"/>
          </p:nvPr>
        </p:nvSpPr>
        <p:spPr/>
        <p:txBody>
          <a:bodyPr/>
          <a:lstStyle/>
          <a:p>
            <a:fld id="{001C9F81-DB2C-42C9-B6F6-C5F374D31FE4}" type="slidenum">
              <a:rPr lang="en-AU" smtClean="0"/>
              <a:t>33</a:t>
            </a:fld>
            <a:endParaRPr lang="en-AU" dirty="0"/>
          </a:p>
        </p:txBody>
      </p:sp>
    </p:spTree>
    <p:extLst>
      <p:ext uri="{BB962C8B-B14F-4D97-AF65-F5344CB8AC3E}">
        <p14:creationId xmlns:p14="http://schemas.microsoft.com/office/powerpoint/2010/main" val="2088540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each block contains a small (possibly empty) list of transactions.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Each block in the data structure is “chained” back to the previous block, by containing a cryptographic hash of the representation of the previous block.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Historical transactions in the blockchain may not be deleted or altered without invalidating this chain of hashes.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Combined with computational constraints and incentive schemes on the creation of blocks, this can in practice prevent tampering and revision of information stored in the block- chain.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34</a:t>
            </a:fld>
            <a:endParaRPr lang="en-AU"/>
          </a:p>
        </p:txBody>
      </p:sp>
    </p:spTree>
    <p:extLst>
      <p:ext uri="{BB962C8B-B14F-4D97-AF65-F5344CB8AC3E}">
        <p14:creationId xmlns:p14="http://schemas.microsoft.com/office/powerpoint/2010/main" val="2211522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 typeface="Arial"/>
              <a:buChar char="•"/>
            </a:pPr>
            <a:r>
              <a:rPr lang="en-US" sz="1200" kern="1200" dirty="0" err="1">
                <a:solidFill>
                  <a:schemeClr val="tx1"/>
                </a:solidFill>
                <a:effectLst/>
                <a:latin typeface="+mn-lt"/>
                <a:ea typeface="+mn-ea"/>
                <a:cs typeface="+mn-cs"/>
              </a:rPr>
              <a:t>Cryptocurrencies</a:t>
            </a:r>
            <a:r>
              <a:rPr lang="en-US" sz="1200" kern="1200" dirty="0">
                <a:solidFill>
                  <a:schemeClr val="tx1"/>
                </a:solidFill>
                <a:effectLst/>
                <a:latin typeface="+mn-lt"/>
                <a:ea typeface="+mn-ea"/>
                <a:cs typeface="+mn-cs"/>
              </a:rPr>
              <a:t> are one kind of digital asset, but other kinds of digital asset tokens can be implemented on blockchains. </a:t>
            </a:r>
          </a:p>
          <a:p>
            <a:pPr marL="171450" indent="-171450">
              <a:buFont typeface="Arial"/>
              <a:buChar char="•"/>
            </a:pPr>
            <a:r>
              <a:rPr lang="en-US" sz="1200" kern="1200" dirty="0" err="1">
                <a:solidFill>
                  <a:schemeClr val="tx1"/>
                </a:solidFill>
                <a:effectLst/>
                <a:latin typeface="+mn-lt"/>
                <a:ea typeface="+mn-ea"/>
                <a:cs typeface="+mn-cs"/>
              </a:rPr>
              <a:t>Ethereum</a:t>
            </a:r>
            <a:r>
              <a:rPr lang="en-US" sz="1200" kern="1200" dirty="0">
                <a:solidFill>
                  <a:schemeClr val="tx1"/>
                </a:solidFill>
                <a:effectLst/>
                <a:latin typeface="+mn-lt"/>
                <a:ea typeface="+mn-ea"/>
                <a:cs typeface="+mn-cs"/>
              </a:rPr>
              <a:t> digital asset tokens can be represented using smart contracts, which can represent the tokenized asset and store holdings as values of private variables</a:t>
            </a:r>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35</a:t>
            </a:fld>
            <a:endParaRPr lang="en-AU"/>
          </a:p>
        </p:txBody>
      </p:sp>
    </p:spTree>
    <p:extLst>
      <p:ext uri="{BB962C8B-B14F-4D97-AF65-F5344CB8AC3E}">
        <p14:creationId xmlns:p14="http://schemas.microsoft.com/office/powerpoint/2010/main" val="22115224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There are various representations of </a:t>
            </a:r>
            <a:r>
              <a:rPr lang="en-US" sz="1200" kern="1200" dirty="0" err="1">
                <a:solidFill>
                  <a:schemeClr val="tx1"/>
                </a:solidFill>
                <a:effectLst/>
                <a:latin typeface="+mn-lt"/>
                <a:ea typeface="+mn-ea"/>
                <a:cs typeface="+mn-cs"/>
              </a:rPr>
              <a:t>cryptocurrency</a:t>
            </a:r>
            <a:r>
              <a:rPr lang="en-US" sz="1200" kern="1200" dirty="0">
                <a:solidFill>
                  <a:schemeClr val="tx1"/>
                </a:solidFill>
                <a:effectLst/>
                <a:latin typeface="+mn-lt"/>
                <a:ea typeface="+mn-ea"/>
                <a:cs typeface="+mn-cs"/>
              </a:rPr>
              <a:t> holdings.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In </a:t>
            </a:r>
            <a:r>
              <a:rPr lang="en-US" sz="1200" kern="1200" dirty="0" err="1">
                <a:solidFill>
                  <a:schemeClr val="tx1"/>
                </a:solidFill>
                <a:effectLst/>
                <a:latin typeface="+mn-lt"/>
                <a:ea typeface="+mn-ea"/>
                <a:cs typeface="+mn-cs"/>
              </a:rPr>
              <a:t>Bitcoin</a:t>
            </a:r>
            <a:r>
              <a:rPr lang="en-US" sz="1200" kern="1200" dirty="0">
                <a:solidFill>
                  <a:schemeClr val="tx1"/>
                </a:solidFill>
                <a:effectLst/>
                <a:latin typeface="+mn-lt"/>
                <a:ea typeface="+mn-ea"/>
                <a:cs typeface="+mn-cs"/>
              </a:rPr>
              <a:t>, the holdings of an address comprise the collection of unspent transaction outputs (UTXO) from all previous transactions to that address.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In </a:t>
            </a:r>
            <a:r>
              <a:rPr lang="en-US" sz="1200" kern="1200" dirty="0" err="1">
                <a:solidFill>
                  <a:schemeClr val="tx1"/>
                </a:solidFill>
                <a:effectLst/>
                <a:latin typeface="+mn-lt"/>
                <a:ea typeface="+mn-ea"/>
                <a:cs typeface="+mn-cs"/>
              </a:rPr>
              <a:t>Ethereum</a:t>
            </a:r>
            <a:r>
              <a:rPr lang="en-US" sz="1200" kern="1200" dirty="0">
                <a:solidFill>
                  <a:schemeClr val="tx1"/>
                </a:solidFill>
                <a:effectLst/>
                <a:latin typeface="+mn-lt"/>
                <a:ea typeface="+mn-ea"/>
                <a:cs typeface="+mn-cs"/>
              </a:rPr>
              <a:t>, the holdings of an address are represented in a global system state.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In </a:t>
            </a:r>
            <a:r>
              <a:rPr lang="en-US" sz="1200" kern="1200" dirty="0" err="1">
                <a:solidFill>
                  <a:schemeClr val="tx1"/>
                </a:solidFill>
                <a:effectLst/>
                <a:latin typeface="+mn-lt"/>
                <a:ea typeface="+mn-ea"/>
                <a:cs typeface="+mn-cs"/>
              </a:rPr>
              <a:t>Ethereum</a:t>
            </a:r>
            <a:r>
              <a:rPr lang="en-US" sz="1200" kern="1200" dirty="0">
                <a:solidFill>
                  <a:schemeClr val="tx1"/>
                </a:solidFill>
                <a:effectLst/>
                <a:latin typeface="+mn-lt"/>
                <a:ea typeface="+mn-ea"/>
                <a:cs typeface="+mn-cs"/>
              </a:rPr>
              <a:t>, every smart contract has its own storage which only it can update. Contract storage can be viewed as a flexible key-value data store.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Blockchain are immutable, so the updates to variables in the contract store do not change the data in old blocks. Instead, the transactions only update the latest view of those variables in the contract store.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36</a:t>
            </a:fld>
            <a:endParaRPr lang="en-AU"/>
          </a:p>
        </p:txBody>
      </p:sp>
    </p:spTree>
    <p:extLst>
      <p:ext uri="{BB962C8B-B14F-4D97-AF65-F5344CB8AC3E}">
        <p14:creationId xmlns:p14="http://schemas.microsoft.com/office/powerpoint/2010/main" val="36635397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Shared data stores, provide a basic Create/Read- /Update/Delete (CRUD) interface.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 blockchain is an append-only data store and does not support in-place updates, but rather only supports the creation of new transactions.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 current view of smart contract variable values can mimic the </a:t>
            </a:r>
            <a:r>
              <a:rPr lang="en-US" sz="1200" kern="1200" dirty="0" err="1">
                <a:solidFill>
                  <a:schemeClr val="tx1"/>
                </a:solidFill>
                <a:effectLst/>
                <a:latin typeface="+mn-lt"/>
                <a:ea typeface="+mn-ea"/>
                <a:cs typeface="+mn-cs"/>
              </a:rPr>
              <a:t>behaviour</a:t>
            </a:r>
            <a:r>
              <a:rPr lang="en-US" sz="1200" kern="1200" dirty="0">
                <a:solidFill>
                  <a:schemeClr val="tx1"/>
                </a:solidFill>
                <a:effectLst/>
                <a:latin typeface="+mn-lt"/>
                <a:ea typeface="+mn-ea"/>
                <a:cs typeface="+mn-cs"/>
              </a:rPr>
              <a:t> of conventional data stores.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Any changes/updates on contract states are appended to the blockchain as new transactions.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An analogy with this so-called ledger in data stores is the concept of log where data items get appended but never deleted or updated. </a:t>
            </a: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39</a:t>
            </a:fld>
            <a:endParaRPr lang="en-AU"/>
          </a:p>
        </p:txBody>
      </p:sp>
    </p:spTree>
    <p:extLst>
      <p:ext uri="{BB962C8B-B14F-4D97-AF65-F5344CB8AC3E}">
        <p14:creationId xmlns:p14="http://schemas.microsoft.com/office/powerpoint/2010/main" val="37828671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Traditional shared data stores have their own consensus protocols to synchronize replicas in a fully trusted environment, such as 2-Phase Commit and </a:t>
            </a:r>
            <a:r>
              <a:rPr lang="en-US" sz="1200" kern="1200" dirty="0" err="1">
                <a:solidFill>
                  <a:schemeClr val="tx1"/>
                </a:solidFill>
                <a:effectLst/>
                <a:latin typeface="+mn-lt"/>
                <a:ea typeface="+mn-ea"/>
                <a:cs typeface="+mn-cs"/>
              </a:rPr>
              <a:t>Paxos</a:t>
            </a:r>
            <a:r>
              <a:rPr lang="en-US" sz="1200" kern="1200" dirty="0">
                <a:solidFill>
                  <a:schemeClr val="tx1"/>
                </a:solidFill>
                <a:effectLst/>
                <a:latin typeface="+mn-lt"/>
                <a:ea typeface="+mn-ea"/>
                <a:cs typeface="+mn-cs"/>
              </a:rPr>
              <a:t>.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Blockchains also rely on consensus protocols, and private blockchains often use the same protocols as traditional shared data stores.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On public blockchains, the assumptions required for conventional consensus protocols do not hold.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on a public blockchain there may be no master nodes, many thousands of nodes, their number may be unknown number.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Each of these facts violate assumptions required for some conventional consensus algorithms.</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Some private blockchains assume that nodes are somewhat trustworthy, but on a public blockchain that assumption is not always reasonable. </a:t>
            </a:r>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40</a:t>
            </a:fld>
            <a:endParaRPr lang="en-AU"/>
          </a:p>
        </p:txBody>
      </p:sp>
    </p:spTree>
    <p:extLst>
      <p:ext uri="{BB962C8B-B14F-4D97-AF65-F5344CB8AC3E}">
        <p14:creationId xmlns:p14="http://schemas.microsoft.com/office/powerpoint/2010/main" val="37828671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41</a:t>
            </a:fld>
            <a:endParaRPr lang="en-AU"/>
          </a:p>
        </p:txBody>
      </p:sp>
    </p:spTree>
    <p:extLst>
      <p:ext uri="{BB962C8B-B14F-4D97-AF65-F5344CB8AC3E}">
        <p14:creationId xmlns:p14="http://schemas.microsoft.com/office/powerpoint/2010/main" val="3782867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713232" rtl="0" eaLnBrk="1" fontAlgn="auto" latinLnBrk="0" hangingPunct="1">
              <a:lnSpc>
                <a:spcPct val="100000"/>
              </a:lnSpc>
              <a:spcBef>
                <a:spcPts val="0"/>
              </a:spcBef>
              <a:spcAft>
                <a:spcPts val="0"/>
              </a:spcAft>
              <a:buClrTx/>
              <a:buSzTx/>
              <a:buFont typeface="Arial"/>
              <a:buChar char="•"/>
              <a:tabLst/>
              <a:defRPr/>
            </a:pPr>
            <a:r>
              <a:rPr lang="en-US" sz="900" kern="1200" dirty="0">
                <a:solidFill>
                  <a:schemeClr val="tx1"/>
                </a:solidFill>
                <a:effectLst/>
                <a:latin typeface="+mn-lt"/>
                <a:ea typeface="+mn-ea"/>
                <a:cs typeface="+mn-cs"/>
              </a:rPr>
              <a:t>Blockchains validate the consistency of transactions by </a:t>
            </a:r>
          </a:p>
          <a:p>
            <a:pPr marL="171450" marR="0" indent="-171450" algn="l" defTabSz="713232" rtl="0" eaLnBrk="1" fontAlgn="auto" latinLnBrk="0" hangingPunct="1">
              <a:lnSpc>
                <a:spcPct val="100000"/>
              </a:lnSpc>
              <a:spcBef>
                <a:spcPts val="0"/>
              </a:spcBef>
              <a:spcAft>
                <a:spcPts val="0"/>
              </a:spcAft>
              <a:buClrTx/>
              <a:buSzTx/>
              <a:buFont typeface="Arial"/>
              <a:buChar char="•"/>
              <a:tabLst/>
              <a:defRPr/>
            </a:pPr>
            <a:r>
              <a:rPr lang="en-US" sz="900" kern="1200" dirty="0">
                <a:solidFill>
                  <a:schemeClr val="tx1"/>
                </a:solidFill>
                <a:effectLst/>
                <a:latin typeface="+mn-lt"/>
                <a:ea typeface="+mn-ea"/>
                <a:cs typeface="+mn-cs"/>
              </a:rPr>
              <a:t>using global rules implemented in the blockchain platform, </a:t>
            </a:r>
          </a:p>
          <a:p>
            <a:pPr marL="171450" marR="0" indent="-171450" algn="l" defTabSz="713232" rtl="0" eaLnBrk="1" fontAlgn="auto" latinLnBrk="0" hangingPunct="1">
              <a:lnSpc>
                <a:spcPct val="100000"/>
              </a:lnSpc>
              <a:spcBef>
                <a:spcPts val="0"/>
              </a:spcBef>
              <a:spcAft>
                <a:spcPts val="0"/>
              </a:spcAft>
              <a:buClrTx/>
              <a:buSzTx/>
              <a:buFont typeface="Arial"/>
              <a:buChar char="•"/>
              <a:tabLst/>
              <a:defRPr/>
            </a:pPr>
            <a:r>
              <a:rPr lang="en-US" sz="900" kern="1200" dirty="0">
                <a:solidFill>
                  <a:schemeClr val="tx1"/>
                </a:solidFill>
                <a:effectLst/>
                <a:latin typeface="+mn-lt"/>
                <a:ea typeface="+mn-ea"/>
                <a:cs typeface="+mn-cs"/>
              </a:rPr>
              <a:t>and by using application-specific rules implemented in smart contracts. Global rules on public blockchains include for example, that </a:t>
            </a:r>
            <a:r>
              <a:rPr lang="en-US" sz="900" kern="1200" dirty="0" err="1">
                <a:solidFill>
                  <a:schemeClr val="tx1"/>
                </a:solidFill>
                <a:effectLst/>
                <a:latin typeface="+mn-lt"/>
                <a:ea typeface="+mn-ea"/>
                <a:cs typeface="+mn-cs"/>
              </a:rPr>
              <a:t>cryptocurrency</a:t>
            </a:r>
            <a:r>
              <a:rPr lang="en-US" sz="900" kern="1200" dirty="0">
                <a:solidFill>
                  <a:schemeClr val="tx1"/>
                </a:solidFill>
                <a:effectLst/>
                <a:latin typeface="+mn-lt"/>
                <a:ea typeface="+mn-ea"/>
                <a:cs typeface="+mn-cs"/>
              </a:rPr>
              <a:t> transactions do not create money, nor transfer money without </a:t>
            </a:r>
            <a:r>
              <a:rPr lang="en-US" sz="900" kern="1200" dirty="0" err="1">
                <a:solidFill>
                  <a:schemeClr val="tx1"/>
                </a:solidFill>
                <a:effectLst/>
                <a:latin typeface="+mn-lt"/>
                <a:ea typeface="+mn-ea"/>
                <a:cs typeface="+mn-cs"/>
              </a:rPr>
              <a:t>authorisation</a:t>
            </a:r>
            <a:r>
              <a:rPr lang="en-US" sz="9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42</a:t>
            </a:fld>
            <a:endParaRPr lang="en-AU"/>
          </a:p>
        </p:txBody>
      </p:sp>
    </p:spTree>
    <p:extLst>
      <p:ext uri="{BB962C8B-B14F-4D97-AF65-F5344CB8AC3E}">
        <p14:creationId xmlns:p14="http://schemas.microsoft.com/office/powerpoint/2010/main" val="37828671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cloud providers are trusted to store data uploaded by users, and to provide access to that data</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Users are normally not able influence to how the data is stored. Data integrity and access availability may not be guaranteed. </a:t>
            </a:r>
            <a:endParaRPr lang="en-US" dirty="0"/>
          </a:p>
          <a:p>
            <a:endParaRPr lang="en-US" dirty="0"/>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blockchain there is no need to trust a single entity.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Storage integrity is guaranteed (probabilistically) through the actions of the collective of nodes that operates the blockchain.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Users can monitor that collective, and could even participate themselves as nodes that store the blockchain if desired.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There are no guarantees or defined service-level agreements (SLAs) provided by public block- chains.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43</a:t>
            </a:fld>
            <a:endParaRPr lang="en-AU"/>
          </a:p>
        </p:txBody>
      </p:sp>
    </p:spTree>
    <p:extLst>
      <p:ext uri="{BB962C8B-B14F-4D97-AF65-F5344CB8AC3E}">
        <p14:creationId xmlns:p14="http://schemas.microsoft.com/office/powerpoint/2010/main" val="40964546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 typeface="Arial"/>
              <a:buChar char="•"/>
            </a:pPr>
            <a:r>
              <a:rPr lang="en-US" sz="1200" kern="1200" dirty="0">
                <a:solidFill>
                  <a:schemeClr val="tx1"/>
                </a:solidFill>
                <a:effectLst/>
                <a:latin typeface="+mn-lt"/>
                <a:ea typeface="+mn-ea"/>
                <a:cs typeface="+mn-cs"/>
              </a:rPr>
              <a:t>Peer-to- peer systems use various mechanisms to share data with peers and to replicate data across nodes. </a:t>
            </a:r>
          </a:p>
          <a:p>
            <a:pPr marL="171450" indent="-171450">
              <a:buFont typeface="Arial"/>
              <a:buChar char="•"/>
            </a:pPr>
            <a:r>
              <a:rPr lang="en-US" sz="1200" kern="1200" dirty="0">
                <a:solidFill>
                  <a:schemeClr val="tx1"/>
                </a:solidFill>
                <a:effectLst/>
                <a:latin typeface="+mn-lt"/>
                <a:ea typeface="+mn-ea"/>
                <a:cs typeface="+mn-cs"/>
              </a:rPr>
              <a:t>Access to data will be possible while users have access to nodes that are active in the blockchain network.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44</a:t>
            </a:fld>
            <a:endParaRPr lang="en-AU"/>
          </a:p>
        </p:txBody>
      </p:sp>
    </p:spTree>
    <p:extLst>
      <p:ext uri="{BB962C8B-B14F-4D97-AF65-F5344CB8AC3E}">
        <p14:creationId xmlns:p14="http://schemas.microsoft.com/office/powerpoint/2010/main" val="40964546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baseline="0" dirty="0">
                <a:solidFill>
                  <a:schemeClr val="tx1"/>
                </a:solidFill>
                <a:effectLst/>
                <a:latin typeface="+mn-lt"/>
                <a:ea typeface="+mn-ea"/>
                <a:cs typeface="+mn-cs"/>
              </a:rPr>
              <a:t>Replicated State Machines is </a:t>
            </a:r>
            <a:r>
              <a:rPr lang="en-US" sz="1200" kern="1200" dirty="0">
                <a:solidFill>
                  <a:schemeClr val="tx1"/>
                </a:solidFill>
                <a:effectLst/>
                <a:latin typeface="+mn-lt"/>
                <a:ea typeface="+mn-ea"/>
                <a:cs typeface="+mn-cs"/>
              </a:rPr>
              <a:t>a mechanism to implement fault-tolerant services in a distributed system.</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Request/component</a:t>
            </a:r>
            <a:r>
              <a:rPr lang="en-US" sz="1200" kern="1200" baseline="0" dirty="0">
                <a:solidFill>
                  <a:schemeClr val="tx1"/>
                </a:solidFill>
                <a:effectLst/>
                <a:latin typeface="+mn-lt"/>
                <a:ea typeface="+mn-ea"/>
                <a:cs typeface="+mn-cs"/>
              </a:rPr>
              <a:t>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baseline="0" dirty="0">
                <a:solidFill>
                  <a:schemeClr val="tx1"/>
                </a:solidFill>
                <a:effectLst/>
                <a:latin typeface="+mn-lt"/>
                <a:ea typeface="+mn-ea"/>
                <a:cs typeface="+mn-cs"/>
              </a:rPr>
              <a:t>Transaction/node</a:t>
            </a:r>
            <a:endParaRPr lang="en-US"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Blockchain is similar to Replicated State</a:t>
            </a:r>
            <a:r>
              <a:rPr lang="en-US" sz="1200" kern="1200" baseline="0" dirty="0">
                <a:solidFill>
                  <a:schemeClr val="tx1"/>
                </a:solidFill>
                <a:effectLst/>
                <a:latin typeface="+mn-lt"/>
                <a:ea typeface="+mn-ea"/>
                <a:cs typeface="+mn-cs"/>
              </a:rPr>
              <a:t> machines in the following aspects</a:t>
            </a:r>
            <a:endParaRPr lang="en-US"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To cope with failures, they replicate state at several servers, and coordinate service requests issued by the clients. Similarly, the blockchain uses distribution to not depend on any single entity.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Both uses a consensus that guarantee that only one request or transaction among</a:t>
            </a:r>
            <a:r>
              <a:rPr lang="en-US" sz="1200" kern="1200" baseline="0" dirty="0">
                <a:solidFill>
                  <a:schemeClr val="tx1"/>
                </a:solidFill>
                <a:effectLst/>
                <a:latin typeface="+mn-lt"/>
                <a:ea typeface="+mn-ea"/>
                <a:cs typeface="+mn-cs"/>
              </a:rPr>
              <a:t> multiple conflicting ones is responded or approved.</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baseline="0" dirty="0">
                <a:solidFill>
                  <a:schemeClr val="tx1"/>
                </a:solidFill>
                <a:effectLst/>
                <a:latin typeface="+mn-lt"/>
                <a:ea typeface="+mn-ea"/>
                <a:cs typeface="+mn-cs"/>
              </a:rPr>
              <a:t>Both using voting mechanism to achieve consensus when  a quorum of voters agree to the same result</a:t>
            </a:r>
            <a:endParaRPr lang="en-US" sz="1200" b="1"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0" kern="1200" dirty="0">
                <a:solidFill>
                  <a:schemeClr val="tx1"/>
                </a:solidFill>
                <a:effectLst/>
                <a:latin typeface="+mn-lt"/>
                <a:ea typeface="+mn-ea"/>
                <a:cs typeface="+mn-cs"/>
              </a:rPr>
              <a:t>Both provides replication. </a:t>
            </a:r>
            <a:r>
              <a:rPr lang="en-US" sz="1200" kern="1200" dirty="0">
                <a:solidFill>
                  <a:schemeClr val="tx1"/>
                </a:solidFill>
                <a:effectLst/>
                <a:latin typeface="+mn-lt"/>
                <a:ea typeface="+mn-ea"/>
                <a:cs typeface="+mn-cs"/>
              </a:rPr>
              <a:t>replicated state machine transmit state update</a:t>
            </a:r>
            <a:r>
              <a:rPr lang="en-US" sz="1200" kern="1200" baseline="0" dirty="0">
                <a:solidFill>
                  <a:schemeClr val="tx1"/>
                </a:solidFill>
                <a:effectLst/>
                <a:latin typeface="+mn-lt"/>
                <a:ea typeface="+mn-ea"/>
                <a:cs typeface="+mn-cs"/>
              </a:rPr>
              <a:t> date</a:t>
            </a:r>
            <a:r>
              <a:rPr lang="en-US" sz="1200" kern="1200" dirty="0">
                <a:solidFill>
                  <a:schemeClr val="tx1"/>
                </a:solidFill>
                <a:effectLst/>
                <a:latin typeface="+mn-lt"/>
                <a:ea typeface="+mn-ea"/>
                <a:cs typeface="+mn-cs"/>
              </a:rPr>
              <a:t> among components,</a:t>
            </a:r>
            <a:r>
              <a:rPr lang="en-US" sz="1200" kern="1200" baseline="0" dirty="0">
                <a:solidFill>
                  <a:schemeClr val="tx1"/>
                </a:solidFill>
                <a:effectLst/>
                <a:latin typeface="+mn-lt"/>
                <a:ea typeface="+mn-ea"/>
                <a:cs typeface="+mn-cs"/>
              </a:rPr>
              <a:t> which is replicated. </a:t>
            </a:r>
            <a:endParaRPr lang="en-US" sz="120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Public blockchains offer no strict guarantees on transaction inclusion, but once transactions are seen as committed, they are replicated and persisted, and are exceedingly unlikely to be removed. </a:t>
            </a:r>
            <a:endParaRPr lang="en-US" sz="1200" b="0" kern="1200" dirty="0">
              <a:solidFill>
                <a:schemeClr val="tx1"/>
              </a:solidFill>
              <a:effectLst/>
              <a:latin typeface="+mn-lt"/>
              <a:ea typeface="+mn-ea"/>
              <a:cs typeface="+mn-cs"/>
            </a:endParaRPr>
          </a:p>
          <a:p>
            <a:pPr marL="171450" indent="-171450">
              <a:buFont typeface="Arial"/>
              <a:buChar char="•"/>
            </a:pPr>
            <a:r>
              <a:rPr lang="en-US" sz="1200" b="1" kern="1200" dirty="0">
                <a:solidFill>
                  <a:schemeClr val="tx1"/>
                </a:solidFill>
                <a:effectLst/>
                <a:latin typeface="+mn-lt"/>
                <a:ea typeface="+mn-ea"/>
                <a:cs typeface="+mn-cs"/>
              </a:rPr>
              <a:t>Facilitation</a:t>
            </a:r>
            <a:r>
              <a:rPr lang="en-US" sz="1200" b="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Finally, a replicated state machine totally orders the requests from components. blocks in the blockchain data structure are totally ordered, and so are the transactions within a block. </a:t>
            </a:r>
            <a:endParaRPr lang="en-US" dirty="0"/>
          </a:p>
          <a:p>
            <a:endParaRPr lang="en-US" dirty="0"/>
          </a:p>
        </p:txBody>
      </p:sp>
      <p:sp>
        <p:nvSpPr>
          <p:cNvPr id="4" name="Slide Number Placeholder 3"/>
          <p:cNvSpPr>
            <a:spLocks noGrp="1"/>
          </p:cNvSpPr>
          <p:nvPr>
            <p:ph type="sldNum" sz="quarter" idx="10"/>
          </p:nvPr>
        </p:nvSpPr>
        <p:spPr/>
        <p:txBody>
          <a:bodyPr/>
          <a:lstStyle/>
          <a:p>
            <a:fld id="{9A496215-5E4C-414D-A8DB-C38AA7CF7C2A}" type="slidenum">
              <a:rPr lang="en-AU" smtClean="0"/>
              <a:pPr/>
              <a:t>45</a:t>
            </a:fld>
            <a:endParaRPr lang="en-AU"/>
          </a:p>
        </p:txBody>
      </p:sp>
    </p:spTree>
    <p:extLst>
      <p:ext uri="{BB962C8B-B14F-4D97-AF65-F5344CB8AC3E}">
        <p14:creationId xmlns:p14="http://schemas.microsoft.com/office/powerpoint/2010/main" val="37828671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40s</a:t>
            </a:r>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blockchain can be a software component offering computational capabilities.</a:t>
            </a:r>
          </a:p>
          <a:p>
            <a:r>
              <a:rPr lang="en-AU" sz="1200" b="0" i="0" u="none" strike="noStrike" kern="1200" baseline="0" dirty="0">
                <a:solidFill>
                  <a:schemeClr val="tx1"/>
                </a:solidFill>
                <a:latin typeface="+mn-lt"/>
                <a:ea typeface="+mn-ea"/>
                <a:cs typeface="+mn-cs"/>
              </a:rPr>
              <a:t>Smart contracts allow us to execute small programs on the blockchain.</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Smart contracts on Ethereum can express triggers, conditions and business logic, to enable complex programmable behaviours. </a:t>
            </a:r>
          </a:p>
          <a:p>
            <a:endParaRPr lang="en-AU"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common simple example of a smart contract-enabled service is escrow, Escrow can be implemented in a smart contract. It can hold funds until the conditions defined in the smart contract have been satisfied. </a:t>
            </a:r>
          </a:p>
          <a:p>
            <a:r>
              <a:rPr lang="en-AU" sz="1200" b="0" i="0" u="none" strike="noStrike" kern="1200" baseline="0" dirty="0">
                <a:solidFill>
                  <a:schemeClr val="tx1"/>
                </a:solidFill>
                <a:latin typeface="+mn-lt"/>
                <a:ea typeface="+mn-ea"/>
                <a:cs typeface="+mn-cs"/>
              </a:rPr>
              <a:t>One of the main kinds of architectural decisions is about which pieces of functionality</a:t>
            </a:r>
          </a:p>
          <a:p>
            <a:r>
              <a:rPr lang="en-AU" sz="1200" b="0" i="0" u="none" strike="noStrike" kern="1200" baseline="0" dirty="0">
                <a:solidFill>
                  <a:schemeClr val="tx1"/>
                </a:solidFill>
                <a:latin typeface="+mn-lt"/>
                <a:ea typeface="+mn-ea"/>
                <a:cs typeface="+mn-cs"/>
              </a:rPr>
              <a:t>should be allocated to which components. </a:t>
            </a:r>
          </a:p>
          <a:p>
            <a:r>
              <a:rPr lang="en-AU" sz="1200" b="0" i="0" u="none" strike="noStrike" kern="1200" baseline="0" dirty="0">
                <a:solidFill>
                  <a:schemeClr val="tx1"/>
                </a:solidFill>
                <a:latin typeface="+mn-lt"/>
                <a:ea typeface="+mn-ea"/>
                <a:cs typeface="+mn-cs"/>
              </a:rPr>
              <a:t>For blockchain-based systems, this includes the key decisions about which parts of the data and computation should be placed on-chain or kept off-chain. Part of an application can be implemented inside the blockchain component using the blockchain ledger and smart contracts.</a:t>
            </a:r>
          </a:p>
          <a:p>
            <a:r>
              <a:rPr lang="en-AU" sz="1200" b="0" i="0" u="none" strike="noStrike" kern="1200" baseline="0" dirty="0">
                <a:solidFill>
                  <a:schemeClr val="tx1"/>
                </a:solidFill>
                <a:latin typeface="+mn-lt"/>
                <a:ea typeface="+mn-ea"/>
                <a:cs typeface="+mn-cs"/>
              </a:rPr>
              <a:t>However the amount of computational power, data storage space, and control of read accesses on a blockchain can be limited.</a:t>
            </a:r>
          </a:p>
          <a:p>
            <a:r>
              <a:rPr lang="en-AU" sz="1200" b="0" i="0" u="none" strike="noStrike" kern="1200" baseline="0" dirty="0">
                <a:solidFill>
                  <a:schemeClr val="tx1"/>
                </a:solidFill>
                <a:latin typeface="+mn-lt"/>
                <a:ea typeface="+mn-ea"/>
                <a:cs typeface="+mn-cs"/>
              </a:rPr>
              <a:t> So, parts of an application implemented outside the blockchain component might host off-line data and application</a:t>
            </a:r>
          </a:p>
          <a:p>
            <a:r>
              <a:rPr lang="en-AU" sz="1200" b="0" i="0" u="none" strike="noStrike" kern="1200" baseline="0" dirty="0">
                <a:solidFill>
                  <a:schemeClr val="tx1"/>
                </a:solidFill>
                <a:latin typeface="+mn-lt"/>
                <a:ea typeface="+mn-ea"/>
                <a:cs typeface="+mn-cs"/>
              </a:rPr>
              <a:t>logic. Blockchain transactions and their effects sit at the interface between on-chain</a:t>
            </a:r>
          </a:p>
          <a:p>
            <a:r>
              <a:rPr lang="en-AU" sz="1200" b="0" i="0" u="none" strike="noStrike" kern="1200" baseline="0" dirty="0">
                <a:solidFill>
                  <a:schemeClr val="tx1"/>
                </a:solidFill>
                <a:latin typeface="+mn-lt"/>
                <a:ea typeface="+mn-ea"/>
                <a:cs typeface="+mn-cs"/>
              </a:rPr>
              <a:t>and off-chain functions.</a:t>
            </a:r>
          </a:p>
          <a:p>
            <a:endParaRPr lang="en-US" sz="1200" b="0" i="0" u="none" strike="noStrike" kern="1200" baseline="0" dirty="0">
              <a:solidFill>
                <a:schemeClr val="tx1"/>
              </a:solidFill>
              <a:latin typeface="+mn-lt"/>
              <a:ea typeface="+mn-ea"/>
              <a:cs typeface="+mn-cs"/>
            </a:endParaRPr>
          </a:p>
          <a:p>
            <a:r>
              <a:rPr lang="en-AU" sz="1200" b="0" i="0" u="none" strike="noStrike" kern="1200" baseline="0" dirty="0">
                <a:solidFill>
                  <a:schemeClr val="tx1"/>
                </a:solidFill>
                <a:latin typeface="+mn-lt"/>
                <a:ea typeface="+mn-ea"/>
                <a:cs typeface="+mn-cs"/>
              </a:rPr>
              <a:t>A common practice is to store hashed data, meta-data, and some small-sized</a:t>
            </a:r>
          </a:p>
          <a:p>
            <a:r>
              <a:rPr lang="en-AU" sz="1200" b="0" i="0" u="none" strike="noStrike" kern="1200" baseline="0" dirty="0">
                <a:solidFill>
                  <a:schemeClr val="tx1"/>
                </a:solidFill>
                <a:latin typeface="+mn-lt"/>
                <a:ea typeface="+mn-ea"/>
                <a:cs typeface="+mn-cs"/>
              </a:rPr>
              <a:t>public data on-chain, and to keep large or private data off-chain. Due to the limited</a:t>
            </a:r>
          </a:p>
          <a:p>
            <a:r>
              <a:rPr lang="en-AU" sz="1200" b="0" i="0" u="none" strike="noStrike" kern="1200" baseline="0" dirty="0">
                <a:solidFill>
                  <a:schemeClr val="tx1"/>
                </a:solidFill>
                <a:latin typeface="+mn-lt"/>
                <a:ea typeface="+mn-ea"/>
                <a:cs typeface="+mn-cs"/>
              </a:rPr>
              <a:t>size of the data store provided by the blockchain, an off-chain data store is necessary</a:t>
            </a:r>
          </a:p>
          <a:p>
            <a:r>
              <a:rPr lang="en-AU" sz="1200" b="0" i="0" u="none" strike="noStrike" kern="1200" baseline="0" dirty="0">
                <a:solidFill>
                  <a:schemeClr val="tx1"/>
                </a:solidFill>
                <a:latin typeface="+mn-lt"/>
                <a:ea typeface="+mn-ea"/>
                <a:cs typeface="+mn-cs"/>
              </a:rPr>
              <a:t>for some applications. There are existing platforms providing a data layer on top of</a:t>
            </a:r>
          </a:p>
          <a:p>
            <a:r>
              <a:rPr lang="en-AU" sz="1200" b="0" i="0" u="none" strike="noStrike" kern="1200" baseline="0" dirty="0">
                <a:solidFill>
                  <a:schemeClr val="tx1"/>
                </a:solidFill>
                <a:latin typeface="+mn-lt"/>
                <a:ea typeface="+mn-ea"/>
                <a:cs typeface="+mn-cs"/>
              </a:rPr>
              <a:t>the blockchains, such as Factom, which stores only the hash of the private data and</a:t>
            </a:r>
          </a:p>
          <a:p>
            <a:r>
              <a:rPr lang="en-AU" sz="1200" b="0" i="0" u="none" strike="noStrike" kern="1200" baseline="0" dirty="0">
                <a:solidFill>
                  <a:schemeClr val="tx1"/>
                </a:solidFill>
                <a:latin typeface="+mn-lt"/>
                <a:ea typeface="+mn-ea"/>
                <a:cs typeface="+mn-cs"/>
              </a:rPr>
              <a:t>small amounts of public data in their own blockchain. Distributed data storage, like</a:t>
            </a:r>
          </a:p>
          <a:p>
            <a:r>
              <a:rPr lang="en-AU" sz="1200" b="0" i="0" u="none" strike="noStrike" kern="1200" baseline="0" dirty="0">
                <a:solidFill>
                  <a:schemeClr val="tx1"/>
                </a:solidFill>
                <a:latin typeface="+mn-lt"/>
                <a:ea typeface="+mn-ea"/>
                <a:cs typeface="+mn-cs"/>
              </a:rPr>
              <a:t>IPFS8, or systems using DHTs (Distributed Hash Tables) are also sometime used in</a:t>
            </a:r>
          </a:p>
          <a:p>
            <a:r>
              <a:rPr lang="en-AU" sz="1200" b="0" i="0" u="none" strike="noStrike" kern="1200" baseline="0" dirty="0">
                <a:solidFill>
                  <a:schemeClr val="tx1"/>
                </a:solidFill>
                <a:latin typeface="+mn-lt"/>
                <a:ea typeface="+mn-ea"/>
                <a:cs typeface="+mn-cs"/>
              </a:rPr>
              <a:t>combination with blockchains to build decentralized applications.</a:t>
            </a:r>
          </a:p>
          <a:p>
            <a:r>
              <a:rPr lang="en-AU" sz="1200" b="0" i="0" u="none" strike="noStrike" kern="1200" baseline="0" dirty="0">
                <a:solidFill>
                  <a:schemeClr val="tx1"/>
                </a:solidFill>
                <a:latin typeface="+mn-lt"/>
                <a:ea typeface="+mn-ea"/>
                <a:cs typeface="+mn-cs"/>
              </a:rPr>
              <a:t>Blockchain computation has a closed-world assumption; smart contracts can usually</a:t>
            </a:r>
          </a:p>
          <a:p>
            <a:r>
              <a:rPr lang="en-AU" sz="1200" b="0" i="0" u="none" strike="noStrike" kern="1200" baseline="0" dirty="0">
                <a:solidFill>
                  <a:schemeClr val="tx1"/>
                </a:solidFill>
                <a:latin typeface="+mn-lt"/>
                <a:ea typeface="+mn-ea"/>
                <a:cs typeface="+mn-cs"/>
              </a:rPr>
              <a:t>only examine state that is stored on the blockchain ledger. So in order to interact</a:t>
            </a:r>
          </a:p>
          <a:p>
            <a:r>
              <a:rPr lang="en-AU" sz="1200" b="0" i="0" u="none" strike="noStrike" kern="1200" baseline="0" dirty="0">
                <a:solidFill>
                  <a:schemeClr val="tx1"/>
                </a:solidFill>
                <a:latin typeface="+mn-lt"/>
                <a:ea typeface="+mn-ea"/>
                <a:cs typeface="+mn-cs"/>
              </a:rPr>
              <a:t>with the external world, oracles are invoked to bring external state into the blockchain.</a:t>
            </a:r>
          </a:p>
          <a:p>
            <a:r>
              <a:rPr lang="en-AU" sz="1200" b="0" i="0" u="none" strike="noStrike" kern="1200" baseline="0" dirty="0">
                <a:solidFill>
                  <a:schemeClr val="tx1"/>
                </a:solidFill>
                <a:latin typeface="+mn-lt"/>
                <a:ea typeface="+mn-ea"/>
                <a:cs typeface="+mn-cs"/>
              </a:rPr>
              <a:t>There are various sorts of oracles: some are like normal users of the blockchain,</a:t>
            </a:r>
          </a:p>
          <a:p>
            <a:r>
              <a:rPr lang="en-AU" sz="1200" b="0" i="0" u="none" strike="noStrike" kern="1200" baseline="0" dirty="0">
                <a:solidFill>
                  <a:schemeClr val="tx1"/>
                </a:solidFill>
                <a:latin typeface="+mn-lt"/>
                <a:ea typeface="+mn-ea"/>
                <a:cs typeface="+mn-cs"/>
              </a:rPr>
              <a:t>and merely record facts about the world as normal transactions on the ledger;</a:t>
            </a:r>
          </a:p>
          <a:p>
            <a:r>
              <a:rPr lang="en-AU" sz="1200" b="0" i="0" u="none" strike="noStrike" kern="1200" baseline="0" dirty="0">
                <a:solidFill>
                  <a:schemeClr val="tx1"/>
                </a:solidFill>
                <a:latin typeface="+mn-lt"/>
                <a:ea typeface="+mn-ea"/>
                <a:cs typeface="+mn-cs"/>
              </a:rPr>
              <a:t>while others are components or nodes within the blockchain platform that can invoke</a:t>
            </a:r>
          </a:p>
          <a:p>
            <a:r>
              <a:rPr lang="en-AU" sz="1200" b="0" i="0" u="none" strike="noStrike" kern="1200" baseline="0" dirty="0">
                <a:solidFill>
                  <a:schemeClr val="tx1"/>
                </a:solidFill>
                <a:latin typeface="+mn-lt"/>
                <a:ea typeface="+mn-ea"/>
                <a:cs typeface="+mn-cs"/>
              </a:rPr>
              <a:t>smart contracts privileged to them. In either case, oracles typically become a</a:t>
            </a:r>
          </a:p>
          <a:p>
            <a:r>
              <a:rPr lang="en-AU" sz="1200" b="0" i="0" u="none" strike="noStrike" kern="1200" baseline="0" dirty="0">
                <a:solidFill>
                  <a:schemeClr val="tx1"/>
                </a:solidFill>
                <a:latin typeface="+mn-lt"/>
                <a:ea typeface="+mn-ea"/>
                <a:cs typeface="+mn-cs"/>
              </a:rPr>
              <a:t>trusted party for this data about the external world.</a:t>
            </a:r>
            <a:endParaRPr lang="en-AU" dirty="0"/>
          </a:p>
        </p:txBody>
      </p:sp>
      <p:sp>
        <p:nvSpPr>
          <p:cNvPr id="4" name="Slide Number Placeholder 3"/>
          <p:cNvSpPr>
            <a:spLocks noGrp="1"/>
          </p:cNvSpPr>
          <p:nvPr>
            <p:ph type="sldNum" sz="quarter" idx="10"/>
          </p:nvPr>
        </p:nvSpPr>
        <p:spPr/>
        <p:txBody>
          <a:bodyPr/>
          <a:lstStyle/>
          <a:p>
            <a:fld id="{001C9F81-DB2C-42C9-B6F6-C5F374D31FE4}" type="slidenum">
              <a:rPr lang="en-AU" smtClean="0"/>
              <a:t>47</a:t>
            </a:fld>
            <a:endParaRPr lang="en-AU" dirty="0"/>
          </a:p>
        </p:txBody>
      </p:sp>
    </p:spTree>
    <p:extLst>
      <p:ext uri="{BB962C8B-B14F-4D97-AF65-F5344CB8AC3E}">
        <p14:creationId xmlns:p14="http://schemas.microsoft.com/office/powerpoint/2010/main" val="38142384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There was very limited native capability for programmable transactions. </a:t>
            </a:r>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48</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Native smart contracts on </a:t>
            </a:r>
            <a:r>
              <a:rPr lang="en-US" sz="1200" kern="1200" dirty="0" err="1">
                <a:solidFill>
                  <a:schemeClr val="tx1"/>
                </a:solidFill>
                <a:effectLst/>
                <a:latin typeface="+mn-lt"/>
                <a:ea typeface="+mn-ea"/>
                <a:cs typeface="+mn-cs"/>
              </a:rPr>
              <a:t>Bitcoin</a:t>
            </a:r>
            <a:r>
              <a:rPr lang="en-US" sz="1200" kern="1200" dirty="0">
                <a:solidFill>
                  <a:schemeClr val="tx1"/>
                </a:solidFill>
                <a:effectLst/>
                <a:latin typeface="+mn-lt"/>
                <a:ea typeface="+mn-ea"/>
                <a:cs typeface="+mn-cs"/>
              </a:rPr>
              <a:t> are very simple and do not support complex control flow.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Some external services attempted to address this, to allow end users to build self-executing contracts on the </a:t>
            </a:r>
            <a:r>
              <a:rPr lang="en-US" sz="1200" kern="1200" dirty="0" err="1">
                <a:solidFill>
                  <a:schemeClr val="tx1"/>
                </a:solidFill>
                <a:effectLst/>
                <a:latin typeface="+mn-lt"/>
                <a:ea typeface="+mn-ea"/>
                <a:cs typeface="+mn-cs"/>
              </a:rPr>
              <a:t>Bitcoin</a:t>
            </a:r>
            <a:r>
              <a:rPr lang="en-US" sz="1200" kern="1200" dirty="0">
                <a:solidFill>
                  <a:schemeClr val="tx1"/>
                </a:solidFill>
                <a:effectLst/>
                <a:latin typeface="+mn-lt"/>
                <a:ea typeface="+mn-ea"/>
                <a:cs typeface="+mn-cs"/>
              </a:rPr>
              <a:t> blockchain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but the blockchain platform does not guarantee the integrity of the execution of these smart contracts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Instead, smart contract execution is performed by external oracles.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49</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This kind of capability significantly expands the power of blockchain systems, and increases their range of use and potential for innovation.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50</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 typeface="Arial"/>
              <a:buChar char="•"/>
            </a:pPr>
            <a:r>
              <a:rPr lang="en-US" sz="1200" kern="1200" dirty="0">
                <a:solidFill>
                  <a:schemeClr val="tx1"/>
                </a:solidFill>
                <a:effectLst/>
                <a:latin typeface="+mn-lt"/>
                <a:ea typeface="+mn-ea"/>
                <a:cs typeface="+mn-cs"/>
              </a:rPr>
              <a:t>The components at the application layer exchange data by sending data to the blockchain using transactions, and query the blockchain data structure to retrieve the data. </a:t>
            </a:r>
          </a:p>
          <a:p>
            <a:pPr marL="171450" indent="-171450">
              <a:buFont typeface="Arial"/>
              <a:buChar char="•"/>
            </a:pPr>
            <a:r>
              <a:rPr lang="en-US" sz="1200" kern="1200" dirty="0" err="1">
                <a:solidFill>
                  <a:schemeClr val="tx1"/>
                </a:solidFill>
                <a:effectLst/>
                <a:latin typeface="+mn-lt"/>
                <a:ea typeface="+mn-ea"/>
                <a:cs typeface="+mn-cs"/>
              </a:rPr>
              <a:t>Ethereum</a:t>
            </a:r>
            <a:r>
              <a:rPr lang="en-US" sz="1200" kern="1200" dirty="0">
                <a:solidFill>
                  <a:schemeClr val="tx1"/>
                </a:solidFill>
                <a:effectLst/>
                <a:latin typeface="+mn-lt"/>
                <a:ea typeface="+mn-ea"/>
                <a:cs typeface="+mn-cs"/>
              </a:rPr>
              <a:t> suggests to cache all transactions to prevent the blockchain network from being stressed by frequent queries. </a:t>
            </a:r>
            <a:endParaRPr lang="en-US" sz="900" kern="1200" dirty="0">
              <a:solidFill>
                <a:schemeClr val="tx1"/>
              </a:solidFill>
              <a:effectLst/>
              <a:latin typeface="+mn-lt"/>
              <a:ea typeface="+mn-ea"/>
              <a:cs typeface="+mn-cs"/>
            </a:endParaRPr>
          </a:p>
          <a:p>
            <a:pPr marL="171450" indent="-171450">
              <a:buFont typeface="Arial"/>
              <a:buChar char="•"/>
            </a:pPr>
            <a:r>
              <a:rPr lang="en-US" sz="1200" kern="1200" dirty="0">
                <a:solidFill>
                  <a:schemeClr val="tx1"/>
                </a:solidFill>
                <a:effectLst/>
                <a:latin typeface="+mn-lt"/>
                <a:ea typeface="+mn-ea"/>
                <a:cs typeface="+mn-cs"/>
              </a:rPr>
              <a:t>There can be a component that continuously monitors the updates from new blocks. </a:t>
            </a:r>
          </a:p>
          <a:p>
            <a:pPr marL="171450" indent="-171450">
              <a:buFont typeface="Arial"/>
              <a:buChar char="•"/>
            </a:pPr>
            <a:r>
              <a:rPr lang="en-US" sz="1200" kern="1200" dirty="0">
                <a:solidFill>
                  <a:schemeClr val="tx1"/>
                </a:solidFill>
                <a:effectLst/>
                <a:latin typeface="+mn-lt"/>
                <a:ea typeface="+mn-ea"/>
                <a:cs typeface="+mn-cs"/>
              </a:rPr>
              <a:t>This component can store relevant data in a local database or pass it on through proactive API calls to components on the application layer.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53</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Typically the control flow of an application is initiated from externally owned accounts and is transferred among contract accounts.</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Smart contracts behave like agents that live in the execution environment of the blockchain system and its network.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Contracts are instantiated by submitting transactions with the code of the contracts to the blockchain network</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 smart contract defines a set of functions. When invoked in a transaction, the contract runs the function code using the supplied parameter values.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Contracts can also create new contracts, and can terminate themselves.</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 contract cannot respond to transactions after termination, but the code of the contract remains on the blockchain, permanently stored in the transaction that created the contract. </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54</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An oracle facilitates component coordination with external state.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An oracle is a component in a blockchain-based system.</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55</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58</a:t>
            </a:fld>
            <a:endParaRPr lang="en-AU"/>
          </a:p>
        </p:txBody>
      </p:sp>
    </p:spTree>
    <p:extLst>
      <p:ext uri="{BB962C8B-B14F-4D97-AF65-F5344CB8AC3E}">
        <p14:creationId xmlns:p14="http://schemas.microsoft.com/office/powerpoint/2010/main" val="29500614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01C9F81-DB2C-42C9-B6F6-C5F374D31FE4}" type="slidenum">
              <a:rPr lang="en-AU" smtClean="0"/>
              <a:t>59</a:t>
            </a:fld>
            <a:endParaRPr lang="en-AU"/>
          </a:p>
        </p:txBody>
      </p:sp>
    </p:spTree>
    <p:extLst>
      <p:ext uri="{BB962C8B-B14F-4D97-AF65-F5344CB8AC3E}">
        <p14:creationId xmlns:p14="http://schemas.microsoft.com/office/powerpoint/2010/main" val="5878356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These token standards describe the functions and events that token smart contracts should implement.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kern="1200" dirty="0">
                <a:solidFill>
                  <a:schemeClr val="tx1"/>
                </a:solidFill>
                <a:effectLst/>
                <a:latin typeface="+mn-lt"/>
                <a:ea typeface="+mn-ea"/>
                <a:cs typeface="+mn-cs"/>
              </a:rPr>
              <a:t>The new proposed tokens should follow the standard. </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0" kern="1200" dirty="0" err="1">
                <a:solidFill>
                  <a:schemeClr val="tx1"/>
                </a:solidFill>
                <a:effectLst/>
                <a:latin typeface="+mn-lt"/>
                <a:ea typeface="+mn-ea"/>
                <a:cs typeface="+mn-cs"/>
              </a:rPr>
              <a:t>balanceOf</a:t>
            </a:r>
            <a:r>
              <a:rPr lang="en-US" sz="1200" b="0" kern="1200" dirty="0">
                <a:solidFill>
                  <a:schemeClr val="tx1"/>
                </a:solidFill>
                <a:effectLst/>
                <a:latin typeface="+mn-lt"/>
                <a:ea typeface="+mn-ea"/>
                <a:cs typeface="+mn-cs"/>
              </a:rPr>
              <a:t>:</a:t>
            </a:r>
            <a:r>
              <a:rPr lang="en-US" sz="1200" b="0" kern="1200" baseline="0" dirty="0">
                <a:solidFill>
                  <a:schemeClr val="tx1"/>
                </a:solidFill>
                <a:effectLst/>
                <a:latin typeface="+mn-lt"/>
                <a:ea typeface="+mn-ea"/>
                <a:cs typeface="+mn-cs"/>
              </a:rPr>
              <a:t> Get the token balance for account “</a:t>
            </a:r>
            <a:r>
              <a:rPr lang="en-US" sz="1200" b="0" kern="1200" baseline="0" dirty="0" err="1">
                <a:solidFill>
                  <a:schemeClr val="tx1"/>
                </a:solidFill>
                <a:effectLst/>
                <a:latin typeface="+mn-lt"/>
                <a:ea typeface="+mn-ea"/>
                <a:cs typeface="+mn-cs"/>
              </a:rPr>
              <a:t>tokenOwner</a:t>
            </a:r>
            <a:r>
              <a:rPr lang="en-US" sz="1200" b="0" kern="1200" baseline="0" dirty="0">
                <a:solidFill>
                  <a:schemeClr val="tx1"/>
                </a:solidFill>
                <a:effectLst/>
                <a:latin typeface="+mn-lt"/>
                <a:ea typeface="+mn-ea"/>
                <a:cs typeface="+mn-cs"/>
              </a:rPr>
              <a:t>”</a:t>
            </a:r>
            <a:endParaRPr lang="en-US" sz="1200" b="0" kern="1200" dirty="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1" kern="1200" dirty="0">
                <a:solidFill>
                  <a:schemeClr val="tx1"/>
                </a:solidFill>
                <a:effectLst/>
                <a:latin typeface="+mn-lt"/>
                <a:ea typeface="+mn-ea"/>
                <a:cs typeface="+mn-cs"/>
              </a:rPr>
              <a:t>Allowance</a:t>
            </a:r>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returns the amount of tokens approved by the owner that can be transferred to the spender’s account</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1" kern="1200" baseline="0" dirty="0">
                <a:solidFill>
                  <a:schemeClr val="tx1"/>
                </a:solidFill>
                <a:effectLst/>
                <a:latin typeface="+mn-lt"/>
                <a:ea typeface="+mn-ea"/>
                <a:cs typeface="+mn-cs"/>
              </a:rPr>
              <a:t>Transfer</a:t>
            </a:r>
            <a:r>
              <a:rPr lang="en-US" sz="1200" kern="1200" baseline="0" dirty="0">
                <a:solidFill>
                  <a:schemeClr val="tx1"/>
                </a:solidFill>
                <a:effectLst/>
                <a:latin typeface="+mn-lt"/>
                <a:ea typeface="+mn-ea"/>
                <a:cs typeface="+mn-cs"/>
              </a:rPr>
              <a:t>: Transfer “tokens” from the “from” account to the “to” account</a:t>
            </a:r>
          </a:p>
          <a:p>
            <a:pPr marL="171450" marR="0" indent="-171450" algn="l" defTabSz="914400" rtl="0" eaLnBrk="1" fontAlgn="auto" latinLnBrk="0" hangingPunct="1">
              <a:lnSpc>
                <a:spcPct val="100000"/>
              </a:lnSpc>
              <a:spcBef>
                <a:spcPts val="0"/>
              </a:spcBef>
              <a:spcAft>
                <a:spcPts val="0"/>
              </a:spcAft>
              <a:buClrTx/>
              <a:buSzTx/>
              <a:buFont typeface="Arial"/>
              <a:buChar char="•"/>
              <a:tabLst/>
              <a:defRPr/>
            </a:pPr>
            <a:r>
              <a:rPr lang="en-US" sz="1200" b="1" kern="1200" baseline="0" dirty="0">
                <a:solidFill>
                  <a:schemeClr val="tx1"/>
                </a:solidFill>
                <a:effectLst/>
                <a:latin typeface="+mn-lt"/>
                <a:ea typeface="+mn-ea"/>
                <a:cs typeface="+mn-cs"/>
              </a:rPr>
              <a:t>Approve</a:t>
            </a:r>
            <a:r>
              <a:rPr lang="en-US" sz="1200" kern="1200" baseline="0" dirty="0">
                <a:solidFill>
                  <a:schemeClr val="tx1"/>
                </a:solidFill>
                <a:effectLst/>
                <a:latin typeface="+mn-lt"/>
                <a:ea typeface="+mn-ea"/>
                <a:cs typeface="+mn-cs"/>
              </a:rPr>
              <a:t>: Token owner can approve for “spender” to </a:t>
            </a:r>
            <a:r>
              <a:rPr lang="en-US" sz="1200" kern="1200" baseline="0" dirty="0" err="1">
                <a:solidFill>
                  <a:schemeClr val="tx1"/>
                </a:solidFill>
                <a:effectLst/>
                <a:latin typeface="+mn-lt"/>
                <a:ea typeface="+mn-ea"/>
                <a:cs typeface="+mn-cs"/>
              </a:rPr>
              <a:t>transferFrom</a:t>
            </a:r>
            <a:r>
              <a:rPr lang="en-US" sz="1200" kern="1200" baseline="0" dirty="0">
                <a:solidFill>
                  <a:schemeClr val="tx1"/>
                </a:solidFill>
                <a:effectLst/>
                <a:latin typeface="+mn-lt"/>
                <a:ea typeface="+mn-ea"/>
                <a:cs typeface="+mn-cs"/>
              </a:rPr>
              <a:t>(</a:t>
            </a:r>
            <a:r>
              <a:rPr lang="mr-IN" sz="1200" kern="1200" baseline="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“tokens” from the token owner’s account</a:t>
            </a:r>
            <a:endParaRPr lang="en-US" dirty="0"/>
          </a:p>
          <a:p>
            <a:endParaRPr lang="en-US" dirty="0"/>
          </a:p>
        </p:txBody>
      </p:sp>
      <p:sp>
        <p:nvSpPr>
          <p:cNvPr id="4" name="Slide Number Placeholder 3"/>
          <p:cNvSpPr>
            <a:spLocks noGrp="1"/>
          </p:cNvSpPr>
          <p:nvPr>
            <p:ph type="sldNum" sz="quarter" idx="10"/>
          </p:nvPr>
        </p:nvSpPr>
        <p:spPr/>
        <p:txBody>
          <a:bodyPr/>
          <a:lstStyle/>
          <a:p>
            <a:fld id="{001C9F81-DB2C-42C9-B6F6-C5F374D31FE4}" type="slidenum">
              <a:rPr lang="en-AU" smtClean="0"/>
              <a:t>60</a:t>
            </a:fld>
            <a:endParaRPr lang="en-AU"/>
          </a:p>
        </p:txBody>
      </p:sp>
    </p:spTree>
    <p:extLst>
      <p:ext uri="{BB962C8B-B14F-4D97-AF65-F5344CB8AC3E}">
        <p14:creationId xmlns:p14="http://schemas.microsoft.com/office/powerpoint/2010/main" val="5878356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Font typeface="Arial"/>
              <a:buNone/>
            </a:pPr>
            <a:endParaRPr/>
          </a:p>
        </p:txBody>
      </p:sp>
      <p:sp>
        <p:nvSpPr>
          <p:cNvPr id="694" name="Google Shape;69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spTree>
      <p:nvGrpSpPr>
        <p:cNvPr id="1" name="Shape 19"/>
        <p:cNvGrpSpPr/>
        <p:nvPr/>
      </p:nvGrpSpPr>
      <p:grpSpPr>
        <a:xfrm>
          <a:off x="0" y="0"/>
          <a:ext cx="0" cy="0"/>
          <a:chOff x="0" y="0"/>
          <a:chExt cx="0" cy="0"/>
        </a:xfrm>
      </p:grpSpPr>
      <p:pic>
        <p:nvPicPr>
          <p:cNvPr id="20" name="Google Shape;20;p63" descr="Picture 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1" name="Google Shape;21;p63"/>
          <p:cNvSpPr/>
          <p:nvPr/>
        </p:nvSpPr>
        <p:spPr>
          <a:xfrm>
            <a:off x="0" y="4281488"/>
            <a:ext cx="9144000" cy="2576512"/>
          </a:xfrm>
          <a:prstGeom prst="rect">
            <a:avLst/>
          </a:prstGeom>
          <a:solidFill>
            <a:srgbClr val="FFFFFF"/>
          </a:solidFill>
          <a:ln w="9525" cap="flat" cmpd="sng">
            <a:solidFill>
              <a:srgbClr val="4A7EBB"/>
            </a:solidFill>
            <a:prstDash val="solid"/>
            <a:round/>
            <a:headEnd type="none" w="sm" len="sm"/>
            <a:tailEnd type="none" w="sm" len="sm"/>
          </a:ln>
          <a:effectLst>
            <a:outerShdw blurRad="38100" dist="23000" dir="5400000" rotWithShape="0">
              <a:srgbClr val="000000">
                <a:alpha val="34901"/>
              </a:srgbClr>
            </a:outerShdw>
          </a:effectLst>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2" name="Google Shape;22;p63" descr="Picture 8"/>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23" name="Google Shape;23;p63"/>
          <p:cNvSpPr/>
          <p:nvPr/>
        </p:nvSpPr>
        <p:spPr>
          <a:xfrm>
            <a:off x="2882900" y="677545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24;p63"/>
          <p:cNvSpPr/>
          <p:nvPr/>
        </p:nvSpPr>
        <p:spPr>
          <a:xfrm>
            <a:off x="-12700" y="677545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25;p63"/>
          <p:cNvSpPr/>
          <p:nvPr/>
        </p:nvSpPr>
        <p:spPr>
          <a:xfrm>
            <a:off x="5778500" y="677545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26;p63"/>
          <p:cNvSpPr txBox="1"/>
          <p:nvPr/>
        </p:nvSpPr>
        <p:spPr>
          <a:xfrm>
            <a:off x="6903719" y="7620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7" name="Google Shape;27;p63"/>
          <p:cNvSpPr txBox="1">
            <a:spLocks noGrp="1"/>
          </p:cNvSpPr>
          <p:nvPr>
            <p:ph type="body" idx="1"/>
          </p:nvPr>
        </p:nvSpPr>
        <p:spPr>
          <a:xfrm>
            <a:off x="304800" y="4648200"/>
            <a:ext cx="8458200" cy="1600200"/>
          </a:xfrm>
          <a:prstGeom prst="rect">
            <a:avLst/>
          </a:prstGeom>
          <a:noFill/>
          <a:ln>
            <a:noFill/>
          </a:ln>
        </p:spPr>
        <p:txBody>
          <a:bodyPr spcFirstLastPara="1" wrap="square" lIns="45700" tIns="45700" rIns="45700" bIns="45700" anchor="t" anchorCtr="0">
            <a:normAutofit/>
          </a:bodyPr>
          <a:lstStyle>
            <a:lvl1pPr marL="457200" lvl="0" indent="-228600" algn="l">
              <a:lnSpc>
                <a:spcPct val="104999"/>
              </a:lnSpc>
              <a:spcBef>
                <a:spcPts val="0"/>
              </a:spcBef>
              <a:spcAft>
                <a:spcPts val="0"/>
              </a:spcAft>
              <a:buClr>
                <a:srgbClr val="000000"/>
              </a:buClr>
              <a:buSzPts val="4000"/>
              <a:buFont typeface="Arial"/>
              <a:buNone/>
              <a:defRPr sz="4000" b="1"/>
            </a:lvl1pPr>
            <a:lvl2pPr marL="914400" lvl="1" indent="-482600" algn="l">
              <a:lnSpc>
                <a:spcPct val="104999"/>
              </a:lnSpc>
              <a:spcBef>
                <a:spcPts val="0"/>
              </a:spcBef>
              <a:spcAft>
                <a:spcPts val="0"/>
              </a:spcAft>
              <a:buClr>
                <a:srgbClr val="000000"/>
              </a:buClr>
              <a:buSzPts val="4000"/>
              <a:buFont typeface="Arial"/>
              <a:buChar char="–"/>
              <a:defRPr sz="4000" b="1"/>
            </a:lvl2pPr>
            <a:lvl3pPr marL="1371600" lvl="2" indent="-482600" algn="l">
              <a:lnSpc>
                <a:spcPct val="104999"/>
              </a:lnSpc>
              <a:spcBef>
                <a:spcPts val="0"/>
              </a:spcBef>
              <a:spcAft>
                <a:spcPts val="0"/>
              </a:spcAft>
              <a:buClr>
                <a:srgbClr val="000000"/>
              </a:buClr>
              <a:buSzPts val="4000"/>
              <a:buFont typeface="Arial"/>
              <a:buChar char="•"/>
              <a:defRPr sz="4000" b="1"/>
            </a:lvl3pPr>
            <a:lvl4pPr marL="1828800" lvl="3" indent="-482600" algn="l">
              <a:lnSpc>
                <a:spcPct val="104999"/>
              </a:lnSpc>
              <a:spcBef>
                <a:spcPts val="0"/>
              </a:spcBef>
              <a:spcAft>
                <a:spcPts val="0"/>
              </a:spcAft>
              <a:buClr>
                <a:srgbClr val="000000"/>
              </a:buClr>
              <a:buSzPts val="4000"/>
              <a:buFont typeface="Arial"/>
              <a:buChar char="–"/>
              <a:defRPr sz="4000" b="1"/>
            </a:lvl4pPr>
            <a:lvl5pPr marL="2286000" lvl="4" indent="-482600" algn="l">
              <a:lnSpc>
                <a:spcPct val="104999"/>
              </a:lnSpc>
              <a:spcBef>
                <a:spcPts val="0"/>
              </a:spcBef>
              <a:spcAft>
                <a:spcPts val="0"/>
              </a:spcAft>
              <a:buClr>
                <a:srgbClr val="000000"/>
              </a:buClr>
              <a:buSzPts val="4000"/>
              <a:buFont typeface="Arial"/>
              <a:buChar char="»"/>
              <a:defRPr sz="40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8" name="Google Shape;28;p63"/>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3_Picture with Caption">
  <p:cSld name="3_Picture with Caption">
    <p:spTree>
      <p:nvGrpSpPr>
        <p:cNvPr id="1" name="Shape 29"/>
        <p:cNvGrpSpPr/>
        <p:nvPr/>
      </p:nvGrpSpPr>
      <p:grpSpPr>
        <a:xfrm>
          <a:off x="0" y="0"/>
          <a:ext cx="0" cy="0"/>
          <a:chOff x="0" y="0"/>
          <a:chExt cx="0" cy="0"/>
        </a:xfrm>
      </p:grpSpPr>
      <p:grpSp>
        <p:nvGrpSpPr>
          <p:cNvPr id="30" name="Google Shape;30;p66"/>
          <p:cNvGrpSpPr/>
          <p:nvPr/>
        </p:nvGrpSpPr>
        <p:grpSpPr>
          <a:xfrm>
            <a:off x="-702671" y="-883443"/>
            <a:ext cx="10499751" cy="9147815"/>
            <a:chOff x="-702671" y="-883443"/>
            <a:chExt cx="10499751" cy="9147815"/>
          </a:xfrm>
        </p:grpSpPr>
        <p:pic>
          <p:nvPicPr>
            <p:cNvPr id="31" name="Google Shape;31;p66"/>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32" name="Google Shape;32;p66"/>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33" name="Google Shape;33;p66"/>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34" name="Google Shape;34;p66"/>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35" name="Google Shape;35;p66"/>
            <p:cNvGrpSpPr/>
            <p:nvPr/>
          </p:nvGrpSpPr>
          <p:grpSpPr>
            <a:xfrm>
              <a:off x="-1" y="0"/>
              <a:ext cx="9144003" cy="6857673"/>
              <a:chOff x="-1" y="0"/>
              <a:chExt cx="9144003" cy="6857673"/>
            </a:xfrm>
          </p:grpSpPr>
          <p:grpSp>
            <p:nvGrpSpPr>
              <p:cNvPr id="36" name="Google Shape;36;p66"/>
              <p:cNvGrpSpPr/>
              <p:nvPr/>
            </p:nvGrpSpPr>
            <p:grpSpPr>
              <a:xfrm>
                <a:off x="-1" y="1295400"/>
                <a:ext cx="7010403" cy="46039"/>
                <a:chOff x="-1" y="0"/>
                <a:chExt cx="7010402" cy="46038"/>
              </a:xfrm>
            </p:grpSpPr>
            <p:sp>
              <p:nvSpPr>
                <p:cNvPr id="37" name="Google Shape;37;p66"/>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38;p66"/>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66"/>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40" name="Google Shape;40;p66"/>
              <p:cNvGrpSpPr/>
              <p:nvPr/>
            </p:nvGrpSpPr>
            <p:grpSpPr>
              <a:xfrm>
                <a:off x="2133599" y="6553200"/>
                <a:ext cx="7010403" cy="46039"/>
                <a:chOff x="-1" y="0"/>
                <a:chExt cx="7010402" cy="46038"/>
              </a:xfrm>
            </p:grpSpPr>
            <p:sp>
              <p:nvSpPr>
                <p:cNvPr id="41" name="Google Shape;41;p66"/>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2" name="Google Shape;42;p66"/>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66"/>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44" name="Google Shape;44;p66"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45" name="Google Shape;45;p66"/>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46" name="Google Shape;46;p66"/>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47" name="Google Shape;47;p66"/>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48"/>
        <p:cNvGrpSpPr/>
        <p:nvPr/>
      </p:nvGrpSpPr>
      <p:grpSpPr>
        <a:xfrm>
          <a:off x="0" y="0"/>
          <a:ext cx="0" cy="0"/>
          <a:chOff x="0" y="0"/>
          <a:chExt cx="0" cy="0"/>
        </a:xfrm>
      </p:grpSpPr>
      <p:sp>
        <p:nvSpPr>
          <p:cNvPr id="49" name="Google Shape;49;p67"/>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67"/>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67"/>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67"/>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 name="Google Shape;53;p67"/>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54" name="Google Shape;54;p67" descr="Picture 10"/>
          <p:cNvPicPr preferRelativeResize="0"/>
          <p:nvPr/>
        </p:nvPicPr>
        <p:blipFill rotWithShape="1">
          <a:blip r:embed="rId2">
            <a:alphaModFix/>
          </a:blip>
          <a:srcRect t="2" b="28592"/>
          <a:stretch/>
        </p:blipFill>
        <p:spPr>
          <a:xfrm>
            <a:off x="76200" y="3352800"/>
            <a:ext cx="2057400" cy="1979614"/>
          </a:xfrm>
          <a:prstGeom prst="rect">
            <a:avLst/>
          </a:prstGeom>
          <a:noFill/>
          <a:ln>
            <a:noFill/>
          </a:ln>
        </p:spPr>
      </p:pic>
      <p:sp>
        <p:nvSpPr>
          <p:cNvPr id="55" name="Google Shape;55;p67"/>
          <p:cNvSpPr txBox="1"/>
          <p:nvPr/>
        </p:nvSpPr>
        <p:spPr>
          <a:xfrm>
            <a:off x="-30481" y="52578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800" b="0" i="0" u="none" strike="noStrike" cap="none">
              <a:solidFill>
                <a:srgbClr val="000000"/>
              </a:solidFill>
              <a:latin typeface="Calibri"/>
              <a:ea typeface="Calibri"/>
              <a:cs typeface="Calibri"/>
              <a:sym typeface="Calibri"/>
            </a:endParaRPr>
          </a:p>
        </p:txBody>
      </p:sp>
      <p:sp>
        <p:nvSpPr>
          <p:cNvPr id="56" name="Google Shape;56;p67"/>
          <p:cNvSpPr txBox="1">
            <a:spLocks noGrp="1"/>
          </p:cNvSpPr>
          <p:nvPr>
            <p:ph type="title"/>
          </p:nvPr>
        </p:nvSpPr>
        <p:spPr>
          <a:xfrm>
            <a:off x="2667000" y="3898061"/>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wo Content">
  <p:cSld name="Two Content">
    <p:spTree>
      <p:nvGrpSpPr>
        <p:cNvPr id="1" name="Shape 57"/>
        <p:cNvGrpSpPr/>
        <p:nvPr/>
      </p:nvGrpSpPr>
      <p:grpSpPr>
        <a:xfrm>
          <a:off x="0" y="0"/>
          <a:ext cx="0" cy="0"/>
          <a:chOff x="0" y="0"/>
          <a:chExt cx="0" cy="0"/>
        </a:xfrm>
      </p:grpSpPr>
      <p:grpSp>
        <p:nvGrpSpPr>
          <p:cNvPr id="58" name="Google Shape;58;p68"/>
          <p:cNvGrpSpPr/>
          <p:nvPr/>
        </p:nvGrpSpPr>
        <p:grpSpPr>
          <a:xfrm>
            <a:off x="-702671" y="-883443"/>
            <a:ext cx="10499751" cy="9147815"/>
            <a:chOff x="-702671" y="-883443"/>
            <a:chExt cx="10499751" cy="9147815"/>
          </a:xfrm>
        </p:grpSpPr>
        <p:pic>
          <p:nvPicPr>
            <p:cNvPr id="59" name="Google Shape;59;p68"/>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60" name="Google Shape;60;p68"/>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61" name="Google Shape;61;p68"/>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62" name="Google Shape;62;p68"/>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63" name="Google Shape;63;p68"/>
            <p:cNvGrpSpPr/>
            <p:nvPr/>
          </p:nvGrpSpPr>
          <p:grpSpPr>
            <a:xfrm>
              <a:off x="-1" y="0"/>
              <a:ext cx="9144003" cy="6857673"/>
              <a:chOff x="-1" y="0"/>
              <a:chExt cx="9144003" cy="6857673"/>
            </a:xfrm>
          </p:grpSpPr>
          <p:grpSp>
            <p:nvGrpSpPr>
              <p:cNvPr id="64" name="Google Shape;64;p68"/>
              <p:cNvGrpSpPr/>
              <p:nvPr/>
            </p:nvGrpSpPr>
            <p:grpSpPr>
              <a:xfrm>
                <a:off x="-1" y="1295400"/>
                <a:ext cx="7010403" cy="46039"/>
                <a:chOff x="-1" y="0"/>
                <a:chExt cx="7010402" cy="46038"/>
              </a:xfrm>
            </p:grpSpPr>
            <p:sp>
              <p:nvSpPr>
                <p:cNvPr id="65" name="Google Shape;65;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6" name="Google Shape;66;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7" name="Google Shape;67;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68" name="Google Shape;68;p68"/>
              <p:cNvGrpSpPr/>
              <p:nvPr/>
            </p:nvGrpSpPr>
            <p:grpSpPr>
              <a:xfrm>
                <a:off x="2133599" y="6553200"/>
                <a:ext cx="7010403" cy="46039"/>
                <a:chOff x="-1" y="0"/>
                <a:chExt cx="7010402" cy="46038"/>
              </a:xfrm>
            </p:grpSpPr>
            <p:sp>
              <p:nvSpPr>
                <p:cNvPr id="69" name="Google Shape;69;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0" name="Google Shape;70;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1" name="Google Shape;71;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72" name="Google Shape;72;p68"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73" name="Google Shape;73;p68"/>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74" name="Google Shape;74;p68"/>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75" name="Google Shape;75;p68"/>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76" name="Google Shape;76;p68"/>
          <p:cNvSpPr txBox="1">
            <a:spLocks noGrp="1"/>
          </p:cNvSpPr>
          <p:nvPr>
            <p:ph type="body" idx="1"/>
          </p:nvPr>
        </p:nvSpPr>
        <p:spPr>
          <a:xfrm>
            <a:off x="4953000" y="1600200"/>
            <a:ext cx="4038600" cy="45259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600"/>
              </a:spcBef>
              <a:spcAft>
                <a:spcPts val="0"/>
              </a:spcAft>
              <a:buClr>
                <a:srgbClr val="000000"/>
              </a:buClr>
              <a:buSzPts val="2800"/>
              <a:buFont typeface="Arial"/>
              <a:buNone/>
              <a:defRPr sz="2800"/>
            </a:lvl1pPr>
            <a:lvl2pPr marL="914400" lvl="1" indent="-406400" algn="l">
              <a:lnSpc>
                <a:spcPct val="100000"/>
              </a:lnSpc>
              <a:spcBef>
                <a:spcPts val="600"/>
              </a:spcBef>
              <a:spcAft>
                <a:spcPts val="0"/>
              </a:spcAft>
              <a:buClr>
                <a:srgbClr val="000000"/>
              </a:buClr>
              <a:buSzPts val="2800"/>
              <a:buFont typeface="Arial"/>
              <a:buChar char="–"/>
              <a:defRPr sz="2800"/>
            </a:lvl2pPr>
            <a:lvl3pPr marL="1371600" lvl="2" indent="-406400" algn="l">
              <a:lnSpc>
                <a:spcPct val="100000"/>
              </a:lnSpc>
              <a:spcBef>
                <a:spcPts val="600"/>
              </a:spcBef>
              <a:spcAft>
                <a:spcPts val="0"/>
              </a:spcAft>
              <a:buClr>
                <a:srgbClr val="000000"/>
              </a:buClr>
              <a:buSzPts val="2800"/>
              <a:buFont typeface="Arial"/>
              <a:buChar char="•"/>
              <a:defRPr sz="2800"/>
            </a:lvl3pPr>
            <a:lvl4pPr marL="1828800" lvl="3" indent="-406400" algn="l">
              <a:lnSpc>
                <a:spcPct val="100000"/>
              </a:lnSpc>
              <a:spcBef>
                <a:spcPts val="600"/>
              </a:spcBef>
              <a:spcAft>
                <a:spcPts val="0"/>
              </a:spcAft>
              <a:buClr>
                <a:srgbClr val="000000"/>
              </a:buClr>
              <a:buSzPts val="2800"/>
              <a:buFont typeface="Arial"/>
              <a:buChar char="–"/>
              <a:defRPr sz="2800"/>
            </a:lvl4pPr>
            <a:lvl5pPr marL="2286000" lvl="4" indent="-406400" algn="l">
              <a:lnSpc>
                <a:spcPct val="100000"/>
              </a:lnSpc>
              <a:spcBef>
                <a:spcPts val="600"/>
              </a:spcBef>
              <a:spcAft>
                <a:spcPts val="0"/>
              </a:spcAft>
              <a:buClr>
                <a:srgbClr val="000000"/>
              </a:buClr>
              <a:buSzPts val="2800"/>
              <a:buFont typeface="Arial"/>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77" name="Google Shape;77;p68"/>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p:cSld name="Comparison">
    <p:spTree>
      <p:nvGrpSpPr>
        <p:cNvPr id="1" name="Shape 78"/>
        <p:cNvGrpSpPr/>
        <p:nvPr/>
      </p:nvGrpSpPr>
      <p:grpSpPr>
        <a:xfrm>
          <a:off x="0" y="0"/>
          <a:ext cx="0" cy="0"/>
          <a:chOff x="0" y="0"/>
          <a:chExt cx="0" cy="0"/>
        </a:xfrm>
      </p:grpSpPr>
      <p:grpSp>
        <p:nvGrpSpPr>
          <p:cNvPr id="79" name="Google Shape;79;p69"/>
          <p:cNvGrpSpPr/>
          <p:nvPr/>
        </p:nvGrpSpPr>
        <p:grpSpPr>
          <a:xfrm>
            <a:off x="-702671" y="-883443"/>
            <a:ext cx="10499751" cy="9147815"/>
            <a:chOff x="-702671" y="-883443"/>
            <a:chExt cx="10499751" cy="9147815"/>
          </a:xfrm>
        </p:grpSpPr>
        <p:pic>
          <p:nvPicPr>
            <p:cNvPr id="80" name="Google Shape;80;p69"/>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81" name="Google Shape;81;p69"/>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82" name="Google Shape;82;p69"/>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83" name="Google Shape;83;p69"/>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84" name="Google Shape;84;p69"/>
            <p:cNvGrpSpPr/>
            <p:nvPr/>
          </p:nvGrpSpPr>
          <p:grpSpPr>
            <a:xfrm>
              <a:off x="-1" y="0"/>
              <a:ext cx="9144003" cy="6857673"/>
              <a:chOff x="-1" y="0"/>
              <a:chExt cx="9144003" cy="6857673"/>
            </a:xfrm>
          </p:grpSpPr>
          <p:grpSp>
            <p:nvGrpSpPr>
              <p:cNvPr id="85" name="Google Shape;85;p69"/>
              <p:cNvGrpSpPr/>
              <p:nvPr/>
            </p:nvGrpSpPr>
            <p:grpSpPr>
              <a:xfrm>
                <a:off x="-1" y="1295400"/>
                <a:ext cx="7010403" cy="46039"/>
                <a:chOff x="-1" y="0"/>
                <a:chExt cx="7010402" cy="46038"/>
              </a:xfrm>
            </p:grpSpPr>
            <p:sp>
              <p:nvSpPr>
                <p:cNvPr id="86" name="Google Shape;86;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7" name="Google Shape;87;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8" name="Google Shape;88;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9" name="Google Shape;89;p69"/>
              <p:cNvGrpSpPr/>
              <p:nvPr/>
            </p:nvGrpSpPr>
            <p:grpSpPr>
              <a:xfrm>
                <a:off x="2133599" y="6553200"/>
                <a:ext cx="7010403" cy="46039"/>
                <a:chOff x="-1" y="0"/>
                <a:chExt cx="7010402" cy="46038"/>
              </a:xfrm>
            </p:grpSpPr>
            <p:sp>
              <p:nvSpPr>
                <p:cNvPr id="90" name="Google Shape;90;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1" name="Google Shape;91;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2" name="Google Shape;92;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93" name="Google Shape;93;p69"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94" name="Google Shape;94;p69"/>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95" name="Google Shape;95;p69"/>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96" name="Google Shape;96;p69"/>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97" name="Google Shape;97;p69"/>
          <p:cNvSpPr txBox="1">
            <a:spLocks noGrp="1"/>
          </p:cNvSpPr>
          <p:nvPr>
            <p:ph type="body" idx="1"/>
          </p:nvPr>
        </p:nvSpPr>
        <p:spPr>
          <a:xfrm>
            <a:off x="457200" y="1535112"/>
            <a:ext cx="4040188" cy="8270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Arial"/>
              <a:buNone/>
              <a:defRPr sz="2400" b="1"/>
            </a:lvl1pPr>
            <a:lvl2pPr marL="914400" lvl="1" indent="-228600" algn="l">
              <a:lnSpc>
                <a:spcPct val="100000"/>
              </a:lnSpc>
              <a:spcBef>
                <a:spcPts val="500"/>
              </a:spcBef>
              <a:spcAft>
                <a:spcPts val="0"/>
              </a:spcAft>
              <a:buClr>
                <a:srgbClr val="000000"/>
              </a:buClr>
              <a:buSzPts val="2400"/>
              <a:buFont typeface="Arial"/>
              <a:buNone/>
              <a:defRPr sz="2400" b="1"/>
            </a:lvl2pPr>
            <a:lvl3pPr marL="1371600" lvl="2" indent="-228600" algn="l">
              <a:lnSpc>
                <a:spcPct val="100000"/>
              </a:lnSpc>
              <a:spcBef>
                <a:spcPts val="500"/>
              </a:spcBef>
              <a:spcAft>
                <a:spcPts val="0"/>
              </a:spcAft>
              <a:buClr>
                <a:srgbClr val="000000"/>
              </a:buClr>
              <a:buSzPts val="2400"/>
              <a:buFont typeface="Arial"/>
              <a:buNone/>
              <a:defRPr sz="2400" b="1"/>
            </a:lvl3pPr>
            <a:lvl4pPr marL="1828800" lvl="3" indent="-228600" algn="l">
              <a:lnSpc>
                <a:spcPct val="100000"/>
              </a:lnSpc>
              <a:spcBef>
                <a:spcPts val="500"/>
              </a:spcBef>
              <a:spcAft>
                <a:spcPts val="0"/>
              </a:spcAft>
              <a:buClr>
                <a:srgbClr val="000000"/>
              </a:buClr>
              <a:buSzPts val="2400"/>
              <a:buFont typeface="Arial"/>
              <a:buNone/>
              <a:defRPr sz="2400" b="1"/>
            </a:lvl4pPr>
            <a:lvl5pPr marL="2286000" lvl="4" indent="-228600" algn="l">
              <a:lnSpc>
                <a:spcPct val="100000"/>
              </a:lnSpc>
              <a:spcBef>
                <a:spcPts val="500"/>
              </a:spcBef>
              <a:spcAft>
                <a:spcPts val="0"/>
              </a:spcAft>
              <a:buClr>
                <a:srgbClr val="000000"/>
              </a:buClr>
              <a:buSzPts val="2400"/>
              <a:buFont typeface="Arial"/>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8" name="Google Shape;98;p69"/>
          <p:cNvSpPr txBox="1">
            <a:spLocks noGrp="1"/>
          </p:cNvSpPr>
          <p:nvPr>
            <p:ph type="body" idx="2"/>
          </p:nvPr>
        </p:nvSpPr>
        <p:spPr>
          <a:xfrm>
            <a:off x="4645025" y="1535112"/>
            <a:ext cx="4041775" cy="827088"/>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9" name="Google Shape;99;p69"/>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Picture with Caption">
  <p:cSld name="Picture with Caption">
    <p:spTree>
      <p:nvGrpSpPr>
        <p:cNvPr id="1" name="Shape 143"/>
        <p:cNvGrpSpPr/>
        <p:nvPr/>
      </p:nvGrpSpPr>
      <p:grpSpPr>
        <a:xfrm>
          <a:off x="0" y="0"/>
          <a:ext cx="0" cy="0"/>
          <a:chOff x="0" y="0"/>
          <a:chExt cx="0" cy="0"/>
        </a:xfrm>
      </p:grpSpPr>
      <p:grpSp>
        <p:nvGrpSpPr>
          <p:cNvPr id="144" name="Google Shape;144;p72"/>
          <p:cNvGrpSpPr/>
          <p:nvPr/>
        </p:nvGrpSpPr>
        <p:grpSpPr>
          <a:xfrm>
            <a:off x="-702671" y="-883443"/>
            <a:ext cx="10499751" cy="9147815"/>
            <a:chOff x="-702671" y="-883443"/>
            <a:chExt cx="10499751" cy="9147815"/>
          </a:xfrm>
        </p:grpSpPr>
        <p:pic>
          <p:nvPicPr>
            <p:cNvPr id="145" name="Google Shape;145;p72"/>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46" name="Google Shape;146;p72"/>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47" name="Google Shape;147;p72"/>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48" name="Google Shape;148;p72"/>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49" name="Google Shape;149;p72"/>
            <p:cNvGrpSpPr/>
            <p:nvPr/>
          </p:nvGrpSpPr>
          <p:grpSpPr>
            <a:xfrm>
              <a:off x="-1" y="0"/>
              <a:ext cx="9144003" cy="6857673"/>
              <a:chOff x="-1" y="0"/>
              <a:chExt cx="9144003" cy="6857673"/>
            </a:xfrm>
          </p:grpSpPr>
          <p:grpSp>
            <p:nvGrpSpPr>
              <p:cNvPr id="150" name="Google Shape;150;p72"/>
              <p:cNvGrpSpPr/>
              <p:nvPr/>
            </p:nvGrpSpPr>
            <p:grpSpPr>
              <a:xfrm>
                <a:off x="-1" y="1295400"/>
                <a:ext cx="7010403" cy="46039"/>
                <a:chOff x="-1" y="0"/>
                <a:chExt cx="7010402" cy="46038"/>
              </a:xfrm>
            </p:grpSpPr>
            <p:sp>
              <p:nvSpPr>
                <p:cNvPr id="151" name="Google Shape;151;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2" name="Google Shape;152;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3" name="Google Shape;153;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54" name="Google Shape;154;p72"/>
              <p:cNvGrpSpPr/>
              <p:nvPr/>
            </p:nvGrpSpPr>
            <p:grpSpPr>
              <a:xfrm>
                <a:off x="2133599" y="6553200"/>
                <a:ext cx="7010403" cy="46039"/>
                <a:chOff x="-1" y="0"/>
                <a:chExt cx="7010402" cy="46038"/>
              </a:xfrm>
            </p:grpSpPr>
            <p:sp>
              <p:nvSpPr>
                <p:cNvPr id="155" name="Google Shape;155;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6" name="Google Shape;156;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7" name="Google Shape;157;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58" name="Google Shape;158;p72"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59" name="Google Shape;159;p72"/>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60" name="Google Shape;160;p72"/>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61" name="Google Shape;161;p72"/>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62" name="Google Shape;162;p72"/>
          <p:cNvSpPr txBox="1">
            <a:spLocks noGrp="1"/>
          </p:cNvSpPr>
          <p:nvPr>
            <p:ph type="title"/>
          </p:nvPr>
        </p:nvSpPr>
        <p:spPr>
          <a:xfrm>
            <a:off x="1792288" y="5407025"/>
            <a:ext cx="5486401"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0000"/>
              </a:buClr>
              <a:buSzPts val="1800"/>
              <a:buFont typeface="Arial"/>
              <a:buNone/>
              <a:defRPr sz="1800">
                <a:solidFill>
                  <a:srgbClr val="000000"/>
                </a:solidFill>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63" name="Google Shape;163;p72"/>
          <p:cNvSpPr txBox="1">
            <a:spLocks noGrp="1"/>
          </p:cNvSpPr>
          <p:nvPr>
            <p:ph type="body" idx="1"/>
          </p:nvPr>
        </p:nvSpPr>
        <p:spPr>
          <a:xfrm>
            <a:off x="1792288" y="5711825"/>
            <a:ext cx="5486401" cy="30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600"/>
              <a:buFont typeface="Arial"/>
              <a:buNone/>
              <a:defRPr sz="1600"/>
            </a:lvl1pPr>
            <a:lvl2pPr marL="914400" lvl="1" indent="-228600" algn="l">
              <a:lnSpc>
                <a:spcPct val="100000"/>
              </a:lnSpc>
              <a:spcBef>
                <a:spcPts val="300"/>
              </a:spcBef>
              <a:spcAft>
                <a:spcPts val="0"/>
              </a:spcAft>
              <a:buClr>
                <a:srgbClr val="000000"/>
              </a:buClr>
              <a:buSzPts val="1600"/>
              <a:buFont typeface="Arial"/>
              <a:buNone/>
              <a:defRPr sz="1600"/>
            </a:lvl2pPr>
            <a:lvl3pPr marL="1371600" lvl="2" indent="-228600" algn="l">
              <a:lnSpc>
                <a:spcPct val="100000"/>
              </a:lnSpc>
              <a:spcBef>
                <a:spcPts val="300"/>
              </a:spcBef>
              <a:spcAft>
                <a:spcPts val="0"/>
              </a:spcAft>
              <a:buClr>
                <a:srgbClr val="000000"/>
              </a:buClr>
              <a:buSzPts val="1600"/>
              <a:buFont typeface="Arial"/>
              <a:buNone/>
              <a:defRPr sz="1600"/>
            </a:lvl3pPr>
            <a:lvl4pPr marL="1828800" lvl="3" indent="-228600" algn="l">
              <a:lnSpc>
                <a:spcPct val="100000"/>
              </a:lnSpc>
              <a:spcBef>
                <a:spcPts val="300"/>
              </a:spcBef>
              <a:spcAft>
                <a:spcPts val="0"/>
              </a:spcAft>
              <a:buClr>
                <a:srgbClr val="000000"/>
              </a:buClr>
              <a:buSzPts val="1600"/>
              <a:buFont typeface="Arial"/>
              <a:buNone/>
              <a:defRPr sz="1600"/>
            </a:lvl4pPr>
            <a:lvl5pPr marL="2286000" lvl="4" indent="-228600" algn="l">
              <a:lnSpc>
                <a:spcPct val="100000"/>
              </a:lnSpc>
              <a:spcBef>
                <a:spcPts val="300"/>
              </a:spcBef>
              <a:spcAft>
                <a:spcPts val="0"/>
              </a:spcAft>
              <a:buClr>
                <a:srgbClr val="000000"/>
              </a:buClr>
              <a:buSzPts val="1600"/>
              <a:buFont typeface="Arial"/>
              <a:buNone/>
              <a:defRPr sz="16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64" name="Google Shape;164;p72"/>
          <p:cNvSpPr>
            <a:spLocks noGrp="1"/>
          </p:cNvSpPr>
          <p:nvPr>
            <p:ph type="pic" idx="2"/>
          </p:nvPr>
        </p:nvSpPr>
        <p:spPr>
          <a:xfrm>
            <a:off x="1792288" y="1828800"/>
            <a:ext cx="5486401" cy="3429000"/>
          </a:xfrm>
          <a:prstGeom prst="rect">
            <a:avLst/>
          </a:prstGeom>
          <a:noFill/>
          <a:ln w="57150" cap="flat" cmpd="sng">
            <a:solidFill>
              <a:srgbClr val="DCE6F2"/>
            </a:solidFill>
            <a:prstDash val="solid"/>
            <a:round/>
            <a:headEnd type="none" w="sm" len="sm"/>
            <a:tailEnd type="none" w="sm" len="sm"/>
          </a:ln>
        </p:spPr>
      </p:sp>
      <p:sp>
        <p:nvSpPr>
          <p:cNvPr id="165" name="Google Shape;165;p7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18"/>
        <p:cNvGrpSpPr/>
        <p:nvPr/>
      </p:nvGrpSpPr>
      <p:grpSpPr>
        <a:xfrm>
          <a:off x="0" y="0"/>
          <a:ext cx="0" cy="0"/>
          <a:chOff x="0" y="0"/>
          <a:chExt cx="0" cy="0"/>
        </a:xfrm>
      </p:grpSpPr>
      <p:pic>
        <p:nvPicPr>
          <p:cNvPr id="19" name="Google Shape;19;p10"/>
          <p:cNvPicPr preferRelativeResize="0"/>
          <p:nvPr/>
        </p:nvPicPr>
        <p:blipFill rotWithShape="1">
          <a:blip r:embed="rId2">
            <a:alphaModFix amt="50000"/>
          </a:blip>
          <a:srcRect l="177" t="-543" r="177" b="-542"/>
          <a:stretch/>
        </p:blipFill>
        <p:spPr>
          <a:xfrm>
            <a:off x="3563108" y="2223656"/>
            <a:ext cx="2017786" cy="2729344"/>
          </a:xfrm>
          <a:prstGeom prst="rect">
            <a:avLst/>
          </a:prstGeom>
          <a:noFill/>
          <a:ln>
            <a:noFill/>
          </a:ln>
        </p:spPr>
      </p:pic>
      <p:pic>
        <p:nvPicPr>
          <p:cNvPr id="20" name="Google Shape;20;p10"/>
          <p:cNvPicPr preferRelativeResize="0"/>
          <p:nvPr/>
        </p:nvPicPr>
        <p:blipFill rotWithShape="1">
          <a:blip r:embed="rId3">
            <a:alphaModFix/>
          </a:blip>
          <a:srcRect/>
          <a:stretch/>
        </p:blipFill>
        <p:spPr>
          <a:xfrm>
            <a:off x="0" y="6817420"/>
            <a:ext cx="9144000" cy="40580"/>
          </a:xfrm>
          <a:prstGeom prst="rect">
            <a:avLst/>
          </a:prstGeom>
          <a:noFill/>
          <a:ln>
            <a:noFill/>
          </a:ln>
        </p:spPr>
      </p:pic>
      <p:pic>
        <p:nvPicPr>
          <p:cNvPr id="21" name="Google Shape;21;p10"/>
          <p:cNvPicPr preferRelativeResize="0"/>
          <p:nvPr/>
        </p:nvPicPr>
        <p:blipFill rotWithShape="1">
          <a:blip r:embed="rId4">
            <a:alphaModFix/>
          </a:blip>
          <a:srcRect/>
          <a:stretch/>
        </p:blipFill>
        <p:spPr>
          <a:xfrm>
            <a:off x="0" y="160569"/>
            <a:ext cx="8001000" cy="764364"/>
          </a:xfrm>
          <a:prstGeom prst="rect">
            <a:avLst/>
          </a:prstGeom>
          <a:noFill/>
          <a:ln>
            <a:noFill/>
          </a:ln>
        </p:spPr>
      </p:pic>
      <p:sp>
        <p:nvSpPr>
          <p:cNvPr id="22" name="Google Shape;22;p10"/>
          <p:cNvSpPr txBox="1">
            <a:spLocks noGrp="1"/>
          </p:cNvSpPr>
          <p:nvPr>
            <p:ph type="title"/>
          </p:nvPr>
        </p:nvSpPr>
        <p:spPr>
          <a:xfrm>
            <a:off x="628650" y="160569"/>
            <a:ext cx="6991350" cy="76436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Helvetica Neue"/>
              <a:buNone/>
              <a:defRPr sz="2400" b="1">
                <a:solidFill>
                  <a:schemeClr val="lt1"/>
                </a:solidFill>
                <a:latin typeface="Helvetica" panose="020B0604020202020204" pitchFamily="34" charset="0"/>
                <a:ea typeface="Helvetica" panose="020B0604020202020204" pitchFamily="34" charset="0"/>
                <a:cs typeface="Helvetica" panose="020B0604020202020204" pitchFamily="34" charset="0"/>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0"/>
          <p:cNvSpPr txBox="1">
            <a:spLocks noGrp="1"/>
          </p:cNvSpPr>
          <p:nvPr>
            <p:ph type="body" idx="1"/>
          </p:nvPr>
        </p:nvSpPr>
        <p:spPr>
          <a:xfrm>
            <a:off x="643304" y="1600202"/>
            <a:ext cx="7620000" cy="2728913"/>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sz="1350">
                <a:latin typeface="Helvetica" panose="020B0604020202020204" pitchFamily="34" charset="0"/>
                <a:ea typeface="Helvetica" panose="020B0604020202020204" pitchFamily="34" charset="0"/>
                <a:cs typeface="Helvetica" panose="020B0604020202020204" pitchFamily="34" charset="0"/>
                <a:sym typeface="Helvetica Neue"/>
              </a:defRPr>
            </a:lvl1pPr>
            <a:lvl2pPr marL="685800" lvl="1" indent="-247650" algn="l">
              <a:lnSpc>
                <a:spcPct val="90000"/>
              </a:lnSpc>
              <a:spcBef>
                <a:spcPts val="375"/>
              </a:spcBef>
              <a:spcAft>
                <a:spcPts val="0"/>
              </a:spcAft>
              <a:buClr>
                <a:schemeClr val="dk1"/>
              </a:buClr>
              <a:buSzPts val="1600"/>
              <a:buChar char="•"/>
              <a:defRPr sz="1200">
                <a:latin typeface="Helvetica Neue"/>
                <a:ea typeface="Helvetica Neue"/>
                <a:cs typeface="Helvetica Neue"/>
                <a:sym typeface="Helvetica Neue"/>
              </a:defRPr>
            </a:lvl2pPr>
            <a:lvl3pPr marL="1028700" lvl="2" indent="-238125" algn="l">
              <a:lnSpc>
                <a:spcPct val="90000"/>
              </a:lnSpc>
              <a:spcBef>
                <a:spcPts val="375"/>
              </a:spcBef>
              <a:spcAft>
                <a:spcPts val="0"/>
              </a:spcAft>
              <a:buClr>
                <a:schemeClr val="dk1"/>
              </a:buClr>
              <a:buSzPts val="1400"/>
              <a:buChar char="•"/>
              <a:defRPr sz="1050">
                <a:latin typeface="Helvetica Neue"/>
                <a:ea typeface="Helvetica Neue"/>
                <a:cs typeface="Helvetica Neue"/>
                <a:sym typeface="Helvetica Neue"/>
              </a:defRPr>
            </a:lvl3pPr>
            <a:lvl4pPr marL="1371600" lvl="3" indent="-228600" algn="l">
              <a:lnSpc>
                <a:spcPct val="90000"/>
              </a:lnSpc>
              <a:spcBef>
                <a:spcPts val="375"/>
              </a:spcBef>
              <a:spcAft>
                <a:spcPts val="0"/>
              </a:spcAft>
              <a:buClr>
                <a:schemeClr val="dk1"/>
              </a:buClr>
              <a:buSzPts val="1200"/>
              <a:buChar char="•"/>
              <a:defRPr sz="900">
                <a:latin typeface="Helvetica Neue"/>
                <a:ea typeface="Helvetica Neue"/>
                <a:cs typeface="Helvetica Neue"/>
                <a:sym typeface="Helvetica Neue"/>
              </a:defRPr>
            </a:lvl4pPr>
            <a:lvl5pPr marL="1714500" lvl="4" indent="-228600" algn="l">
              <a:lnSpc>
                <a:spcPct val="90000"/>
              </a:lnSpc>
              <a:spcBef>
                <a:spcPts val="375"/>
              </a:spcBef>
              <a:spcAft>
                <a:spcPts val="0"/>
              </a:spcAft>
              <a:buClr>
                <a:schemeClr val="dk1"/>
              </a:buClr>
              <a:buSzPts val="1200"/>
              <a:buChar char="•"/>
              <a:defRPr sz="900">
                <a:latin typeface="Helvetica Neue"/>
                <a:ea typeface="Helvetica Neue"/>
                <a:cs typeface="Helvetica Neue"/>
                <a:sym typeface="Helvetica Neue"/>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dirty="0"/>
          </a:p>
        </p:txBody>
      </p:sp>
      <p:sp>
        <p:nvSpPr>
          <p:cNvPr id="24" name="Google Shape;24;p10"/>
          <p:cNvSpPr txBox="1">
            <a:spLocks noGrp="1"/>
          </p:cNvSpPr>
          <p:nvPr>
            <p:ph type="body" idx="2"/>
          </p:nvPr>
        </p:nvSpPr>
        <p:spPr>
          <a:xfrm>
            <a:off x="246935" y="1143002"/>
            <a:ext cx="8397717" cy="395287"/>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1C1573"/>
              </a:buClr>
              <a:buSzPts val="2000"/>
              <a:buNone/>
              <a:defRPr sz="1500" b="1">
                <a:solidFill>
                  <a:srgbClr val="1C1573"/>
                </a:solidFill>
                <a:latin typeface="Helvetica" panose="020B0604020202020204" pitchFamily="34" charset="0"/>
                <a:ea typeface="Helvetica" panose="020B0604020202020204" pitchFamily="34" charset="0"/>
                <a:cs typeface="Helvetica" panose="020B0604020202020204" pitchFamily="34" charset="0"/>
                <a:sym typeface="Helvetica Neue"/>
              </a:defRPr>
            </a:lvl1pPr>
            <a:lvl2pPr marL="685800" lvl="1" indent="-285750" algn="l">
              <a:lnSpc>
                <a:spcPct val="90000"/>
              </a:lnSpc>
              <a:spcBef>
                <a:spcPts val="375"/>
              </a:spcBef>
              <a:spcAft>
                <a:spcPts val="0"/>
              </a:spcAft>
              <a:buClr>
                <a:srgbClr val="1C1573"/>
              </a:buClr>
              <a:buSzPts val="2400"/>
              <a:buChar char="•"/>
              <a:defRPr b="1">
                <a:solidFill>
                  <a:srgbClr val="1C1573"/>
                </a:solidFill>
                <a:latin typeface="Helvetica Neue"/>
                <a:ea typeface="Helvetica Neue"/>
                <a:cs typeface="Helvetica Neue"/>
                <a:sym typeface="Helvetica Neue"/>
              </a:defRPr>
            </a:lvl2pPr>
            <a:lvl3pPr marL="1028700" lvl="2" indent="-266700" algn="l">
              <a:lnSpc>
                <a:spcPct val="90000"/>
              </a:lnSpc>
              <a:spcBef>
                <a:spcPts val="375"/>
              </a:spcBef>
              <a:spcAft>
                <a:spcPts val="0"/>
              </a:spcAft>
              <a:buClr>
                <a:srgbClr val="1C1573"/>
              </a:buClr>
              <a:buSzPts val="2000"/>
              <a:buChar char="•"/>
              <a:defRPr b="1">
                <a:solidFill>
                  <a:srgbClr val="1C1573"/>
                </a:solidFill>
                <a:latin typeface="Helvetica Neue"/>
                <a:ea typeface="Helvetica Neue"/>
                <a:cs typeface="Helvetica Neue"/>
                <a:sym typeface="Helvetica Neue"/>
              </a:defRPr>
            </a:lvl3pPr>
            <a:lvl4pPr marL="1371600" lvl="3" indent="-257175" algn="l">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4pPr>
            <a:lvl5pPr marL="1714500" lvl="4" indent="-257175" algn="l">
              <a:lnSpc>
                <a:spcPct val="90000"/>
              </a:lnSpc>
              <a:spcBef>
                <a:spcPts val="375"/>
              </a:spcBef>
              <a:spcAft>
                <a:spcPts val="0"/>
              </a:spcAft>
              <a:buClr>
                <a:srgbClr val="1C1573"/>
              </a:buClr>
              <a:buSzPts val="1800"/>
              <a:buChar char="•"/>
              <a:defRPr b="1">
                <a:solidFill>
                  <a:srgbClr val="1C1573"/>
                </a:solidFill>
                <a:latin typeface="Helvetica Neue"/>
                <a:ea typeface="Helvetica Neue"/>
                <a:cs typeface="Helvetica Neue"/>
                <a:sym typeface="Helvetica Neue"/>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723297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type="tx">
  <p:cSld name="Custom Layout">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62"/>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1" name="Google Shape;11;p62"/>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2" name="Google Shape;12;p62"/>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3" name="Google Shape;13;p62"/>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pic>
        <p:nvPicPr>
          <p:cNvPr id="14" name="Google Shape;14;p62" descr="Picture 10"/>
          <p:cNvPicPr preferRelativeResize="0"/>
          <p:nvPr/>
        </p:nvPicPr>
        <p:blipFill rotWithShape="1">
          <a:blip r:embed="rId3">
            <a:alphaModFix/>
          </a:blip>
          <a:srcRect t="2" b="28592"/>
          <a:stretch/>
        </p:blipFill>
        <p:spPr>
          <a:xfrm>
            <a:off x="76200" y="3352800"/>
            <a:ext cx="2057400" cy="1979614"/>
          </a:xfrm>
          <a:prstGeom prst="rect">
            <a:avLst/>
          </a:prstGeom>
          <a:noFill/>
          <a:ln>
            <a:noFill/>
          </a:ln>
        </p:spPr>
      </p:pic>
      <p:sp>
        <p:nvSpPr>
          <p:cNvPr id="15" name="Google Shape;15;p62"/>
          <p:cNvSpPr txBox="1"/>
          <p:nvPr/>
        </p:nvSpPr>
        <p:spPr>
          <a:xfrm>
            <a:off x="-30481" y="5257800"/>
            <a:ext cx="2118362" cy="538569"/>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dirty="0">
                <a:solidFill>
                  <a:srgbClr val="FFFFFF"/>
                </a:solidFill>
                <a:latin typeface="Arial"/>
                <a:ea typeface="Arial"/>
                <a:cs typeface="Arial"/>
                <a:sym typeface="Arial"/>
              </a:rPr>
              <a:t>BITS</a:t>
            </a:r>
            <a:r>
              <a:rPr lang="en-US" sz="2900" b="0" i="0" u="none" strike="noStrike" cap="none" dirty="0">
                <a:solidFill>
                  <a:srgbClr val="FFFFFF"/>
                </a:solidFill>
                <a:latin typeface="Arial"/>
                <a:ea typeface="Arial"/>
                <a:cs typeface="Arial"/>
                <a:sym typeface="Arial"/>
              </a:rPr>
              <a:t> </a:t>
            </a:r>
            <a:r>
              <a:rPr lang="en-US" sz="2900" b="0" i="0" u="none" strike="noStrike" cap="none" dirty="0" err="1">
                <a:solidFill>
                  <a:srgbClr val="FFFFFF"/>
                </a:solidFill>
                <a:latin typeface="Arial"/>
                <a:ea typeface="Arial"/>
                <a:cs typeface="Arial"/>
                <a:sym typeface="Arial"/>
              </a:rPr>
              <a:t>Pilani</a:t>
            </a:r>
            <a:endParaRPr sz="1800" b="0" i="0" u="none" strike="noStrike" cap="none" dirty="0">
              <a:solidFill>
                <a:srgbClr val="000000"/>
              </a:solidFill>
              <a:latin typeface="Arial" panose="020B0604020202020204" pitchFamily="34" charset="0"/>
              <a:ea typeface="Calibri"/>
              <a:cs typeface="Arial" panose="020B0604020202020204" pitchFamily="34" charset="0"/>
              <a:sym typeface="Calibri"/>
            </a:endParaRPr>
          </a:p>
        </p:txBody>
      </p:sp>
      <p:sp>
        <p:nvSpPr>
          <p:cNvPr id="16" name="Google Shape;16;p62"/>
          <p:cNvSpPr txBox="1">
            <a:spLocks noGrp="1"/>
          </p:cNvSpPr>
          <p:nvPr>
            <p:ph type="body" idx="1"/>
          </p:nvPr>
        </p:nvSpPr>
        <p:spPr>
          <a:xfrm>
            <a:off x="2514600" y="5410200"/>
            <a:ext cx="6019800" cy="533400"/>
          </a:xfrm>
          <a:prstGeom prst="rect">
            <a:avLst/>
          </a:prstGeom>
          <a:noFill/>
          <a:ln>
            <a:noFill/>
          </a:ln>
        </p:spPr>
        <p:txBody>
          <a:bodyPr spcFirstLastPara="1" wrap="square" lIns="45700" tIns="45700" rIns="45700" bIns="45700" anchor="b" anchorCtr="0">
            <a:normAutofit/>
          </a:bodyPr>
          <a:lstStyle>
            <a:lvl1pPr marL="457200" lvl="0" indent="-228600" algn="r">
              <a:lnSpc>
                <a:spcPct val="100000"/>
              </a:lnSpc>
              <a:spcBef>
                <a:spcPts val="0"/>
              </a:spcBef>
              <a:spcAft>
                <a:spcPts val="0"/>
              </a:spcAft>
              <a:buClr>
                <a:srgbClr val="FFFFFF"/>
              </a:buClr>
              <a:buSzPts val="1800"/>
              <a:buFont typeface="Arial"/>
              <a:buNone/>
              <a:defRPr sz="1800">
                <a:solidFill>
                  <a:srgbClr val="FFFFFF"/>
                </a:solidFill>
              </a:defRPr>
            </a:lvl1pPr>
            <a:lvl2pPr marL="914400" lvl="1" indent="-342900" algn="r">
              <a:lnSpc>
                <a:spcPct val="100000"/>
              </a:lnSpc>
              <a:spcBef>
                <a:spcPts val="0"/>
              </a:spcBef>
              <a:spcAft>
                <a:spcPts val="0"/>
              </a:spcAft>
              <a:buClr>
                <a:srgbClr val="FFFFFF"/>
              </a:buClr>
              <a:buSzPts val="1800"/>
              <a:buFont typeface="Arial"/>
              <a:buChar char="–"/>
              <a:defRPr sz="1800">
                <a:solidFill>
                  <a:srgbClr val="FFFFFF"/>
                </a:solidFill>
              </a:defRPr>
            </a:lvl2pPr>
            <a:lvl3pPr marL="1371600" lvl="2" indent="-342900" algn="r">
              <a:lnSpc>
                <a:spcPct val="100000"/>
              </a:lnSpc>
              <a:spcBef>
                <a:spcPts val="0"/>
              </a:spcBef>
              <a:spcAft>
                <a:spcPts val="0"/>
              </a:spcAft>
              <a:buClr>
                <a:srgbClr val="FFFFFF"/>
              </a:buClr>
              <a:buSzPts val="1800"/>
              <a:buFont typeface="Arial"/>
              <a:buChar char="•"/>
              <a:defRPr sz="1800">
                <a:solidFill>
                  <a:srgbClr val="FFFFFF"/>
                </a:solidFill>
              </a:defRPr>
            </a:lvl3pPr>
            <a:lvl4pPr marL="1828800" lvl="3" indent="-342900" algn="r">
              <a:lnSpc>
                <a:spcPct val="100000"/>
              </a:lnSpc>
              <a:spcBef>
                <a:spcPts val="0"/>
              </a:spcBef>
              <a:spcAft>
                <a:spcPts val="0"/>
              </a:spcAft>
              <a:buClr>
                <a:srgbClr val="FFFFFF"/>
              </a:buClr>
              <a:buSzPts val="1800"/>
              <a:buFont typeface="Arial"/>
              <a:buChar char="–"/>
              <a:defRPr sz="1800">
                <a:solidFill>
                  <a:srgbClr val="FFFFFF"/>
                </a:solidFill>
              </a:defRPr>
            </a:lvl4pPr>
            <a:lvl5pPr marL="2286000" lvl="4" indent="-342900" algn="r">
              <a:lnSpc>
                <a:spcPct val="100000"/>
              </a:lnSpc>
              <a:spcBef>
                <a:spcPts val="0"/>
              </a:spcBef>
              <a:spcAft>
                <a:spcPts val="0"/>
              </a:spcAft>
              <a:buClr>
                <a:srgbClr val="FFFFFF"/>
              </a:buClr>
              <a:buSzPts val="1800"/>
              <a:buFont typeface="Arial"/>
              <a:buChar char="»"/>
              <a:defRPr sz="1800">
                <a:solidFill>
                  <a:srgbClr val="FFFFFF"/>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7" name="Google Shape;17;p6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8" name="Google Shape;18;p6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89575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1_Title and Content" type="tx">
  <p:cSld name="TITLE_AND_BODY">
    <p:spTree>
      <p:nvGrpSpPr>
        <p:cNvPr id="1" name="Shape 172"/>
        <p:cNvGrpSpPr/>
        <p:nvPr/>
      </p:nvGrpSpPr>
      <p:grpSpPr>
        <a:xfrm>
          <a:off x="0" y="0"/>
          <a:ext cx="0" cy="0"/>
          <a:chOff x="0" y="0"/>
          <a:chExt cx="0" cy="0"/>
        </a:xfrm>
      </p:grpSpPr>
      <p:grpSp>
        <p:nvGrpSpPr>
          <p:cNvPr id="173" name="Google Shape;173;p65"/>
          <p:cNvGrpSpPr/>
          <p:nvPr/>
        </p:nvGrpSpPr>
        <p:grpSpPr>
          <a:xfrm>
            <a:off x="-211367" y="-654317"/>
            <a:ext cx="9517143" cy="8232476"/>
            <a:chOff x="-211367" y="-654317"/>
            <a:chExt cx="9517143" cy="8232476"/>
          </a:xfrm>
        </p:grpSpPr>
        <p:pic>
          <p:nvPicPr>
            <p:cNvPr id="174" name="Google Shape;174;p65"/>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75" name="Google Shape;175;p65"/>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76" name="Google Shape;176;p65"/>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77" name="Google Shape;177;p65"/>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78" name="Google Shape;178;p65"/>
            <p:cNvGrpSpPr/>
            <p:nvPr/>
          </p:nvGrpSpPr>
          <p:grpSpPr>
            <a:xfrm>
              <a:off x="-1" y="0"/>
              <a:ext cx="9144003" cy="6599239"/>
              <a:chOff x="-1" y="0"/>
              <a:chExt cx="9144003" cy="6599239"/>
            </a:xfrm>
          </p:grpSpPr>
          <p:grpSp>
            <p:nvGrpSpPr>
              <p:cNvPr id="179" name="Google Shape;179;p65"/>
              <p:cNvGrpSpPr/>
              <p:nvPr/>
            </p:nvGrpSpPr>
            <p:grpSpPr>
              <a:xfrm>
                <a:off x="-1" y="1295400"/>
                <a:ext cx="7010403" cy="46039"/>
                <a:chOff x="-1" y="0"/>
                <a:chExt cx="7010402" cy="46038"/>
              </a:xfrm>
            </p:grpSpPr>
            <p:sp>
              <p:nvSpPr>
                <p:cNvPr id="180" name="Google Shape;180;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1" name="Google Shape;181;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2" name="Google Shape;182;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83" name="Google Shape;183;p65"/>
              <p:cNvGrpSpPr/>
              <p:nvPr/>
            </p:nvGrpSpPr>
            <p:grpSpPr>
              <a:xfrm>
                <a:off x="2133599" y="6553200"/>
                <a:ext cx="7010403" cy="46039"/>
                <a:chOff x="-1" y="0"/>
                <a:chExt cx="7010402" cy="46038"/>
              </a:xfrm>
            </p:grpSpPr>
            <p:sp>
              <p:nvSpPr>
                <p:cNvPr id="184" name="Google Shape;184;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5" name="Google Shape;185;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6" name="Google Shape;186;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87" name="Google Shape;187;p65"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grpSp>
        <p:pic>
          <p:nvPicPr>
            <p:cNvPr id="189" name="Google Shape;189;p65"/>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90" name="Google Shape;190;p65"/>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91" name="Google Shape;191;p6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600"/>
              <a:buFont typeface="Calibri"/>
              <a:buNone/>
              <a:defRPr sz="3600" b="1"/>
            </a:lvl1pPr>
            <a:lvl2pPr marL="914400" lvl="1" indent="-406400" algn="l">
              <a:lnSpc>
                <a:spcPct val="100000"/>
              </a:lnSpc>
              <a:spcBef>
                <a:spcPts val="0"/>
              </a:spcBef>
              <a:spcAft>
                <a:spcPts val="0"/>
              </a:spcAft>
              <a:buSzPts val="2800"/>
              <a:buFont typeface="Calibri"/>
              <a:buChar char="–"/>
              <a:defRPr sz="3600" b="1"/>
            </a:lvl2pPr>
            <a:lvl3pPr marL="1371600" lvl="2" indent="-381000" algn="l">
              <a:lnSpc>
                <a:spcPct val="100000"/>
              </a:lnSpc>
              <a:spcBef>
                <a:spcPts val="0"/>
              </a:spcBef>
              <a:spcAft>
                <a:spcPts val="0"/>
              </a:spcAft>
              <a:buSzPts val="2400"/>
              <a:buFont typeface="Calibri"/>
              <a:buChar char="•"/>
              <a:defRPr sz="3600" b="1"/>
            </a:lvl3pPr>
            <a:lvl4pPr marL="1828800" lvl="3" indent="-355600" algn="l">
              <a:lnSpc>
                <a:spcPct val="100000"/>
              </a:lnSpc>
              <a:spcBef>
                <a:spcPts val="0"/>
              </a:spcBef>
              <a:spcAft>
                <a:spcPts val="0"/>
              </a:spcAft>
              <a:buSzPts val="2000"/>
              <a:buFont typeface="Calibri"/>
              <a:buChar char="–"/>
              <a:defRPr sz="3600" b="1"/>
            </a:lvl4pPr>
            <a:lvl5pPr marL="2286000" lvl="4" indent="-355600" algn="l">
              <a:lnSpc>
                <a:spcPct val="100000"/>
              </a:lnSpc>
              <a:spcBef>
                <a:spcPts val="0"/>
              </a:spcBef>
              <a:spcAft>
                <a:spcPts val="0"/>
              </a:spcAft>
              <a:buSzPts val="2000"/>
              <a:buFont typeface="Calibri"/>
              <a:buChar char="»"/>
              <a:defRPr sz="3600" b="1"/>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192" name="Google Shape;192;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242"/>
        <p:cNvGrpSpPr/>
        <p:nvPr/>
      </p:nvGrpSpPr>
      <p:grpSpPr>
        <a:xfrm>
          <a:off x="0" y="0"/>
          <a:ext cx="0" cy="0"/>
          <a:chOff x="0" y="0"/>
          <a:chExt cx="0" cy="0"/>
        </a:xfrm>
      </p:grpSpPr>
      <p:sp>
        <p:nvSpPr>
          <p:cNvPr id="243" name="Google Shape;243;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8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5" name="Google Shape;245;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6" name="Google Shape;246;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7" name="Google Shape;247;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248"/>
        <p:cNvGrpSpPr/>
        <p:nvPr/>
      </p:nvGrpSpPr>
      <p:grpSpPr>
        <a:xfrm>
          <a:off x="0" y="0"/>
          <a:ext cx="0" cy="0"/>
          <a:chOff x="0" y="0"/>
          <a:chExt cx="0" cy="0"/>
        </a:xfrm>
      </p:grpSpPr>
      <p:sp>
        <p:nvSpPr>
          <p:cNvPr id="249" name="Google Shape;249;p8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8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1" name="Google Shape;251;p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2" name="Google Shape;252;p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3" name="Google Shape;253;p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271"/>
        <p:cNvGrpSpPr/>
        <p:nvPr/>
      </p:nvGrpSpPr>
      <p:grpSpPr>
        <a:xfrm>
          <a:off x="0" y="0"/>
          <a:ext cx="0" cy="0"/>
          <a:chOff x="0" y="0"/>
          <a:chExt cx="0" cy="0"/>
        </a:xfrm>
      </p:grpSpPr>
      <p:sp>
        <p:nvSpPr>
          <p:cNvPr id="272" name="Google Shape;272;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3" name="Google Shape;273;p8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8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5" name="Google Shape;275;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6" name="Google Shape;276;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7" name="Google Shape;277;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298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ata61 Divider Slid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E9022-4E91-4AE1-9B32-52DF7FA0F1BB}"/>
              </a:ext>
            </a:extLst>
          </p:cNvPr>
          <p:cNvSpPr>
            <a:spLocks noGrp="1"/>
          </p:cNvSpPr>
          <p:nvPr>
            <p:ph type="ctrTitle" hasCustomPrompt="1"/>
          </p:nvPr>
        </p:nvSpPr>
        <p:spPr>
          <a:xfrm>
            <a:off x="658669" y="3038716"/>
            <a:ext cx="5052378" cy="1783243"/>
          </a:xfrm>
          <a:prstGeom prst="rect">
            <a:avLst/>
          </a:prstGeom>
        </p:spPr>
        <p:txBody>
          <a:bodyPr anchor="t">
            <a:normAutofit/>
          </a:bodyPr>
          <a:lstStyle>
            <a:lvl1pPr algn="l">
              <a:defRPr sz="3600"/>
            </a:lvl1pPr>
          </a:lstStyle>
          <a:p>
            <a:r>
              <a:rPr lang="en-US" dirty="0"/>
              <a:t>Divider Title </a:t>
            </a:r>
            <a:endParaRPr lang="en-AU" dirty="0"/>
          </a:p>
        </p:txBody>
      </p:sp>
      <p:sp>
        <p:nvSpPr>
          <p:cNvPr id="10" name="Rechteck 9">
            <a:extLst>
              <a:ext uri="{FF2B5EF4-FFF2-40B4-BE49-F238E27FC236}">
                <a16:creationId xmlns:a16="http://schemas.microsoft.com/office/drawing/2014/main" id="{1672F628-EE80-4E51-B88E-558820590E23}"/>
              </a:ext>
            </a:extLst>
          </p:cNvPr>
          <p:cNvSpPr/>
          <p:nvPr userDrawn="1"/>
        </p:nvSpPr>
        <p:spPr bwMode="auto">
          <a:xfrm>
            <a:off x="1" y="3"/>
            <a:ext cx="595309" cy="2731051"/>
          </a:xfrm>
          <a:prstGeom prst="rect">
            <a:avLst/>
          </a:prstGeom>
          <a:solidFill>
            <a:srgbClr val="C50E1F"/>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64" rtl="0" eaLnBrk="1" fontAlgn="base" latinLnBrk="0" hangingPunct="1">
              <a:lnSpc>
                <a:spcPct val="100000"/>
              </a:lnSpc>
              <a:spcBef>
                <a:spcPct val="0"/>
              </a:spcBef>
              <a:spcAft>
                <a:spcPct val="0"/>
              </a:spcAft>
              <a:buClrTx/>
              <a:buSzTx/>
              <a:buFontTx/>
              <a:buNone/>
              <a:tabLst/>
            </a:pPr>
            <a:endParaRPr kumimoji="0" lang="de-DE" sz="1200" b="0" i="0" u="none" strike="noStrike" cap="none" normalizeH="0" baseline="0">
              <a:ln>
                <a:noFill/>
              </a:ln>
              <a:solidFill>
                <a:schemeClr val="tx1"/>
              </a:solidFill>
              <a:effectLst/>
              <a:latin typeface="Arial" panose="020B0604020202020204" pitchFamily="34" charset="0"/>
            </a:endParaRPr>
          </a:p>
        </p:txBody>
      </p:sp>
      <p:sp>
        <p:nvSpPr>
          <p:cNvPr id="14" name="Line 8">
            <a:extLst>
              <a:ext uri="{FF2B5EF4-FFF2-40B4-BE49-F238E27FC236}">
                <a16:creationId xmlns:a16="http://schemas.microsoft.com/office/drawing/2014/main" id="{3EDBF35F-9A23-45C4-A334-ECDC5ACAE03E}"/>
              </a:ext>
            </a:extLst>
          </p:cNvPr>
          <p:cNvSpPr>
            <a:spLocks noChangeShapeType="1"/>
          </p:cNvSpPr>
          <p:nvPr userDrawn="1">
            <p:custDataLst>
              <p:tags r:id="rId1"/>
            </p:custDataLst>
          </p:nvPr>
        </p:nvSpPr>
        <p:spPr bwMode="auto">
          <a:xfrm>
            <a:off x="648000" y="2725920"/>
            <a:ext cx="5063046" cy="147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sz="1000"/>
          </a:p>
        </p:txBody>
      </p:sp>
    </p:spTree>
    <p:extLst>
      <p:ext uri="{BB962C8B-B14F-4D97-AF65-F5344CB8AC3E}">
        <p14:creationId xmlns:p14="http://schemas.microsoft.com/office/powerpoint/2010/main" val="1826563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187F0-1597-414C-8CB5-4B97FBD7EE66}"/>
              </a:ext>
            </a:extLst>
          </p:cNvPr>
          <p:cNvSpPr>
            <a:spLocks noGrp="1"/>
          </p:cNvSpPr>
          <p:nvPr>
            <p:ph idx="1" hasCustomPrompt="1"/>
          </p:nvPr>
        </p:nvSpPr>
        <p:spPr>
          <a:xfrm>
            <a:off x="648002" y="1526879"/>
            <a:ext cx="7911799" cy="4435012"/>
          </a:xfrm>
        </p:spPr>
        <p:txBody>
          <a:bodyPr/>
          <a:lstStyle>
            <a:lvl2pPr>
              <a:defRPr sz="1389"/>
            </a:lvl2pPr>
            <a:lvl3pPr>
              <a:defRPr sz="1250"/>
            </a:lvl3pPr>
            <a:lvl4pPr>
              <a:defRPr sz="1250"/>
            </a:lvl4pPr>
            <a:lvl5pPr marL="872943" indent="-185171">
              <a:defRPr sz="972"/>
            </a:lvl5pPr>
          </a:lstStyle>
          <a:p>
            <a:pPr lvl="0"/>
            <a:r>
              <a:rPr lang="en-US" dirty="0"/>
              <a:t>Edit Master text styles</a:t>
            </a:r>
          </a:p>
          <a:p>
            <a:pPr lvl="1"/>
            <a:r>
              <a:rPr lang="en-US" dirty="0"/>
              <a:t>Second level</a:t>
            </a:r>
          </a:p>
          <a:p>
            <a:pPr lvl="2"/>
            <a:r>
              <a:rPr lang="en-US" dirty="0"/>
              <a:t>Third level</a:t>
            </a:r>
          </a:p>
          <a:p>
            <a:pPr lvl="2"/>
            <a:r>
              <a:rPr lang="en-US" dirty="0"/>
              <a:t>Fourth level</a:t>
            </a:r>
          </a:p>
          <a:p>
            <a:pPr lvl="3"/>
            <a:r>
              <a:rPr lang="en-US" dirty="0"/>
              <a:t>Fifth level</a:t>
            </a:r>
            <a:endParaRPr lang="en-AU" dirty="0"/>
          </a:p>
        </p:txBody>
      </p:sp>
      <p:sp>
        <p:nvSpPr>
          <p:cNvPr id="4" name="Title 1">
            <a:extLst>
              <a:ext uri="{FF2B5EF4-FFF2-40B4-BE49-F238E27FC236}">
                <a16:creationId xmlns:a16="http://schemas.microsoft.com/office/drawing/2014/main" id="{4A8FE5B1-857A-4F74-BC93-2B434C346E3D}"/>
              </a:ext>
            </a:extLst>
          </p:cNvPr>
          <p:cNvSpPr>
            <a:spLocks noGrp="1"/>
          </p:cNvSpPr>
          <p:nvPr>
            <p:ph type="title"/>
          </p:nvPr>
        </p:nvSpPr>
        <p:spPr>
          <a:xfrm>
            <a:off x="648000" y="345599"/>
            <a:ext cx="6631640" cy="777600"/>
          </a:xfrm>
        </p:spPr>
        <p:txBody>
          <a:bodyPr/>
          <a:lstStyle>
            <a:lvl1pPr>
              <a:defRPr>
                <a:latin typeface="+mn-lt"/>
              </a:defRPr>
            </a:lvl1pPr>
          </a:lstStyle>
          <a:p>
            <a:r>
              <a:rPr lang="de-DE" dirty="0"/>
              <a:t>Mastertitelformat bearbeiten</a:t>
            </a:r>
            <a:endParaRPr lang="en-US" dirty="0"/>
          </a:p>
        </p:txBody>
      </p:sp>
    </p:spTree>
    <p:extLst>
      <p:ext uri="{BB962C8B-B14F-4D97-AF65-F5344CB8AC3E}">
        <p14:creationId xmlns:p14="http://schemas.microsoft.com/office/powerpoint/2010/main" val="3900988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de-DE" dirty="0"/>
              <a:t>Mastertitelformat bearbeiten</a:t>
            </a:r>
            <a:endParaRPr lang="en-US" dirty="0"/>
          </a:p>
        </p:txBody>
      </p:sp>
      <p:sp>
        <p:nvSpPr>
          <p:cNvPr id="3" name="Content Placeholder 2"/>
          <p:cNvSpPr>
            <a:spLocks noGrp="1"/>
          </p:cNvSpPr>
          <p:nvPr>
            <p:ph idx="1"/>
          </p:nvPr>
        </p:nvSpPr>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92C9502F-080B-434D-B6E6-152AABCB560F}" type="datetime5">
              <a:rPr lang="en-US" smtClean="0"/>
              <a:t>22-Aug-26</a:t>
            </a:fld>
            <a:endParaRPr lang="en-US" dirty="0"/>
          </a:p>
        </p:txBody>
      </p:sp>
      <p:sp>
        <p:nvSpPr>
          <p:cNvPr id="5" name="Footer Placeholder 4"/>
          <p:cNvSpPr>
            <a:spLocks noGrp="1"/>
          </p:cNvSpPr>
          <p:nvPr>
            <p:ph type="ftr" sz="quarter" idx="11"/>
          </p:nvPr>
        </p:nvSpPr>
        <p:spPr>
          <a:xfrm>
            <a:off x="3028950" y="6356352"/>
            <a:ext cx="3086100" cy="365125"/>
          </a:xfrm>
          <a:prstGeom prst="rect">
            <a:avLst/>
          </a:prstGeom>
        </p:spPr>
        <p:txBody>
          <a:bodyPr/>
          <a:lstStyle/>
          <a:p>
            <a:r>
              <a:rPr lang="de-DE" altLang="de-DE"/>
              <a:t> </a:t>
            </a:r>
            <a:endParaRPr lang="de-DE" altLang="de-DE" b="0"/>
          </a:p>
        </p:txBody>
      </p:sp>
      <p:sp>
        <p:nvSpPr>
          <p:cNvPr id="7" name="Foliennummernplatzhalter 11">
            <a:extLst>
              <a:ext uri="{FF2B5EF4-FFF2-40B4-BE49-F238E27FC236}">
                <a16:creationId xmlns:a16="http://schemas.microsoft.com/office/drawing/2014/main" id="{D50F91F7-3962-47B6-A740-54D17721F666}"/>
              </a:ext>
            </a:extLst>
          </p:cNvPr>
          <p:cNvSpPr>
            <a:spLocks noGrp="1"/>
          </p:cNvSpPr>
          <p:nvPr>
            <p:ph type="sldNum" sz="quarter" idx="4"/>
          </p:nvPr>
        </p:nvSpPr>
        <p:spPr>
          <a:xfrm>
            <a:off x="6712882" y="6442087"/>
            <a:ext cx="1855118" cy="269803"/>
          </a:xfrm>
          <a:prstGeom prst="rect">
            <a:avLst/>
          </a:prstGeom>
        </p:spPr>
        <p:txBody>
          <a:bodyPr vert="horz" lIns="91440" tIns="45720" rIns="91440" bIns="45720" rtlCol="0" anchor="ctr"/>
          <a:lstStyle>
            <a:lvl1pPr algn="r">
              <a:defRPr sz="1200">
                <a:solidFill>
                  <a:schemeClr val="tx1">
                    <a:tint val="75000"/>
                  </a:schemeClr>
                </a:solidFill>
              </a:defRPr>
            </a:lvl1pPr>
          </a:lstStyle>
          <a:p>
            <a:fld id="{97F98C0B-273E-428A-ABCF-EBED2BA25188}" type="slidenum">
              <a:rPr lang="en-US" smtClean="0"/>
              <a:t>‹#›</a:t>
            </a:fld>
            <a:endParaRPr lang="en-US"/>
          </a:p>
        </p:txBody>
      </p:sp>
    </p:spTree>
    <p:extLst>
      <p:ext uri="{BB962C8B-B14F-4D97-AF65-F5344CB8AC3E}">
        <p14:creationId xmlns:p14="http://schemas.microsoft.com/office/powerpoint/2010/main" val="2718397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Title and Content_subhead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187F0-1597-414C-8CB5-4B97FBD7EE66}"/>
              </a:ext>
            </a:extLst>
          </p:cNvPr>
          <p:cNvSpPr>
            <a:spLocks noGrp="1"/>
          </p:cNvSpPr>
          <p:nvPr>
            <p:ph idx="1"/>
          </p:nvPr>
        </p:nvSpPr>
        <p:spPr/>
        <p:txBody>
          <a:bodyPr/>
          <a:lstStyle>
            <a:lvl2pPr>
              <a:defRPr sz="1389"/>
            </a:lvl2pPr>
            <a:lvl3pPr>
              <a:defRPr sz="1250"/>
            </a:lvl3pPr>
            <a:lvl4pPr>
              <a:defRPr sz="1250"/>
            </a:lvl4pPr>
            <a:lvl5pPr marL="872943" indent="-185171">
              <a:defRPr sz="12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9">
            <a:extLst>
              <a:ext uri="{FF2B5EF4-FFF2-40B4-BE49-F238E27FC236}">
                <a16:creationId xmlns:a16="http://schemas.microsoft.com/office/drawing/2014/main" id="{B004F5C3-4454-4773-BD71-9D32B253AC45}"/>
              </a:ext>
            </a:extLst>
          </p:cNvPr>
          <p:cNvSpPr>
            <a:spLocks noGrp="1"/>
          </p:cNvSpPr>
          <p:nvPr>
            <p:ph type="body" sz="quarter" idx="10" hasCustomPrompt="1"/>
          </p:nvPr>
        </p:nvSpPr>
        <p:spPr>
          <a:xfrm>
            <a:off x="648000" y="871729"/>
            <a:ext cx="6631640" cy="365126"/>
          </a:xfrm>
        </p:spPr>
        <p:txBody>
          <a:bodyPr/>
          <a:lstStyle>
            <a:lvl1pPr marL="0" indent="0">
              <a:buNone/>
              <a:defRPr b="0">
                <a:solidFill>
                  <a:schemeClr val="tx1">
                    <a:lumMod val="75000"/>
                    <a:lumOff val="25000"/>
                  </a:schemeClr>
                </a:solidFill>
              </a:defRPr>
            </a:lvl1pPr>
          </a:lstStyle>
          <a:p>
            <a:pPr lvl="0"/>
            <a:r>
              <a:rPr lang="en-US" dirty="0"/>
              <a:t>Subheading</a:t>
            </a:r>
            <a:endParaRPr lang="en-AU" dirty="0"/>
          </a:p>
        </p:txBody>
      </p:sp>
      <p:sp>
        <p:nvSpPr>
          <p:cNvPr id="7" name="Title 1">
            <a:extLst>
              <a:ext uri="{FF2B5EF4-FFF2-40B4-BE49-F238E27FC236}">
                <a16:creationId xmlns:a16="http://schemas.microsoft.com/office/drawing/2014/main" id="{8651E7C4-C652-42D2-8105-275060EADF92}"/>
              </a:ext>
            </a:extLst>
          </p:cNvPr>
          <p:cNvSpPr>
            <a:spLocks noGrp="1"/>
          </p:cNvSpPr>
          <p:nvPr>
            <p:ph type="title"/>
          </p:nvPr>
        </p:nvSpPr>
        <p:spPr>
          <a:xfrm>
            <a:off x="648000" y="345599"/>
            <a:ext cx="6631640" cy="526130"/>
          </a:xfrm>
        </p:spPr>
        <p:txBody>
          <a:bodyPr/>
          <a:lstStyle>
            <a:lvl1pPr>
              <a:defRPr>
                <a:latin typeface="+mn-lt"/>
              </a:defRPr>
            </a:lvl1pPr>
          </a:lstStyle>
          <a:p>
            <a:r>
              <a:rPr lang="de-DE" dirty="0"/>
              <a:t>Mastertitelformat bearbeiten</a:t>
            </a:r>
            <a:endParaRPr lang="en-US" dirty="0"/>
          </a:p>
        </p:txBody>
      </p:sp>
    </p:spTree>
    <p:extLst>
      <p:ext uri="{BB962C8B-B14F-4D97-AF65-F5344CB8AC3E}">
        <p14:creationId xmlns:p14="http://schemas.microsoft.com/office/powerpoint/2010/main" val="47435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spTree>
      <p:nvGrpSpPr>
        <p:cNvPr id="1" name="Shape 19"/>
        <p:cNvGrpSpPr/>
        <p:nvPr/>
      </p:nvGrpSpPr>
      <p:grpSpPr>
        <a:xfrm>
          <a:off x="0" y="0"/>
          <a:ext cx="0" cy="0"/>
          <a:chOff x="0" y="0"/>
          <a:chExt cx="0" cy="0"/>
        </a:xfrm>
      </p:grpSpPr>
      <p:pic>
        <p:nvPicPr>
          <p:cNvPr id="20" name="Google Shape;20;p63" descr="Picture 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1" name="Google Shape;21;p63"/>
          <p:cNvSpPr/>
          <p:nvPr/>
        </p:nvSpPr>
        <p:spPr>
          <a:xfrm>
            <a:off x="0" y="4281488"/>
            <a:ext cx="9144000" cy="2576512"/>
          </a:xfrm>
          <a:prstGeom prst="rect">
            <a:avLst/>
          </a:prstGeom>
          <a:solidFill>
            <a:srgbClr val="FFFFFF"/>
          </a:solidFill>
          <a:ln w="9525" cap="flat" cmpd="sng">
            <a:solidFill>
              <a:srgbClr val="4A7EBB"/>
            </a:solidFill>
            <a:prstDash val="solid"/>
            <a:round/>
            <a:headEnd type="none" w="sm" len="sm"/>
            <a:tailEnd type="none" w="sm" len="sm"/>
          </a:ln>
          <a:effectLst>
            <a:outerShdw blurRad="38100" dist="23000" dir="5400000" rotWithShape="0">
              <a:srgbClr val="000000">
                <a:alpha val="34901"/>
              </a:srgbClr>
            </a:outerShdw>
          </a:effectLst>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2" name="Google Shape;22;p63" descr="Picture 8"/>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23" name="Google Shape;23;p63"/>
          <p:cNvSpPr/>
          <p:nvPr/>
        </p:nvSpPr>
        <p:spPr>
          <a:xfrm>
            <a:off x="2882900" y="677545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24;p63"/>
          <p:cNvSpPr/>
          <p:nvPr/>
        </p:nvSpPr>
        <p:spPr>
          <a:xfrm>
            <a:off x="-12700" y="677545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25;p63"/>
          <p:cNvSpPr/>
          <p:nvPr/>
        </p:nvSpPr>
        <p:spPr>
          <a:xfrm>
            <a:off x="5778500" y="677545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26;p63"/>
          <p:cNvSpPr txBox="1"/>
          <p:nvPr/>
        </p:nvSpPr>
        <p:spPr>
          <a:xfrm>
            <a:off x="6903719" y="7620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7" name="Google Shape;27;p63"/>
          <p:cNvSpPr txBox="1">
            <a:spLocks noGrp="1"/>
          </p:cNvSpPr>
          <p:nvPr>
            <p:ph type="body" idx="1"/>
          </p:nvPr>
        </p:nvSpPr>
        <p:spPr>
          <a:xfrm>
            <a:off x="304800" y="4648200"/>
            <a:ext cx="8458200" cy="1600200"/>
          </a:xfrm>
          <a:prstGeom prst="rect">
            <a:avLst/>
          </a:prstGeom>
          <a:noFill/>
          <a:ln>
            <a:noFill/>
          </a:ln>
        </p:spPr>
        <p:txBody>
          <a:bodyPr spcFirstLastPara="1" wrap="square" lIns="45700" tIns="45700" rIns="45700" bIns="45700" anchor="t" anchorCtr="0">
            <a:normAutofit/>
          </a:bodyPr>
          <a:lstStyle>
            <a:lvl1pPr marL="457200" lvl="0" indent="-228600" algn="l">
              <a:lnSpc>
                <a:spcPct val="104999"/>
              </a:lnSpc>
              <a:spcBef>
                <a:spcPts val="0"/>
              </a:spcBef>
              <a:spcAft>
                <a:spcPts val="0"/>
              </a:spcAft>
              <a:buClr>
                <a:srgbClr val="000000"/>
              </a:buClr>
              <a:buSzPts val="4000"/>
              <a:buFont typeface="Arial"/>
              <a:buNone/>
              <a:defRPr sz="4000" b="1"/>
            </a:lvl1pPr>
            <a:lvl2pPr marL="914400" lvl="1" indent="-482600" algn="l">
              <a:lnSpc>
                <a:spcPct val="104999"/>
              </a:lnSpc>
              <a:spcBef>
                <a:spcPts val="0"/>
              </a:spcBef>
              <a:spcAft>
                <a:spcPts val="0"/>
              </a:spcAft>
              <a:buClr>
                <a:srgbClr val="000000"/>
              </a:buClr>
              <a:buSzPts val="4000"/>
              <a:buFont typeface="Arial"/>
              <a:buChar char="–"/>
              <a:defRPr sz="4000" b="1"/>
            </a:lvl2pPr>
            <a:lvl3pPr marL="1371600" lvl="2" indent="-482600" algn="l">
              <a:lnSpc>
                <a:spcPct val="104999"/>
              </a:lnSpc>
              <a:spcBef>
                <a:spcPts val="0"/>
              </a:spcBef>
              <a:spcAft>
                <a:spcPts val="0"/>
              </a:spcAft>
              <a:buClr>
                <a:srgbClr val="000000"/>
              </a:buClr>
              <a:buSzPts val="4000"/>
              <a:buFont typeface="Arial"/>
              <a:buChar char="•"/>
              <a:defRPr sz="4000" b="1"/>
            </a:lvl3pPr>
            <a:lvl4pPr marL="1828800" lvl="3" indent="-482600" algn="l">
              <a:lnSpc>
                <a:spcPct val="104999"/>
              </a:lnSpc>
              <a:spcBef>
                <a:spcPts val="0"/>
              </a:spcBef>
              <a:spcAft>
                <a:spcPts val="0"/>
              </a:spcAft>
              <a:buClr>
                <a:srgbClr val="000000"/>
              </a:buClr>
              <a:buSzPts val="4000"/>
              <a:buFont typeface="Arial"/>
              <a:buChar char="–"/>
              <a:defRPr sz="4000" b="1"/>
            </a:lvl4pPr>
            <a:lvl5pPr marL="2286000" lvl="4" indent="-482600" algn="l">
              <a:lnSpc>
                <a:spcPct val="104999"/>
              </a:lnSpc>
              <a:spcBef>
                <a:spcPts val="0"/>
              </a:spcBef>
              <a:spcAft>
                <a:spcPts val="0"/>
              </a:spcAft>
              <a:buClr>
                <a:srgbClr val="000000"/>
              </a:buClr>
              <a:buSzPts val="4000"/>
              <a:buFont typeface="Arial"/>
              <a:buChar char="»"/>
              <a:defRPr sz="40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8" name="Google Shape;28;p63"/>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73308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1.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theme" Target="../theme/theme2.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r="-1000"/>
          </a:stretch>
        </a:blip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9pPr>
          </a:lstStyle>
          <a:p>
            <a:endParaRPr/>
          </a:p>
        </p:txBody>
      </p:sp>
      <p:sp>
        <p:nvSpPr>
          <p:cNvPr id="7" name="Google Shape;7;p6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 name="Google Shape;8;p6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1pPr>
            <a:lvl2pPr marR="0" lvl="1"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2pPr>
            <a:lvl3pPr marR="0" lvl="2"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3pPr>
            <a:lvl4pPr marR="0" lvl="3"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4pPr>
            <a:lvl5pPr marR="0" lvl="4"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5pPr>
            <a:lvl6pPr marR="0" lvl="5"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6pPr>
            <a:lvl7pPr marR="0" lvl="6"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7pPr>
            <a:lvl8pPr marR="0" lvl="7"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8pPr>
            <a:lvl9pPr marR="0" lvl="8"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7" r:id="rId6"/>
    <p:sldLayoutId id="2147483673" r:id="rId7"/>
    <p:sldLayoutId id="214748368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r="-1000"/>
          </a:stretch>
        </a:blipFill>
        <a:effectLst/>
      </p:bgPr>
    </p:bg>
    <p:spTree>
      <p:nvGrpSpPr>
        <p:cNvPr id="1" name="Shape 166"/>
        <p:cNvGrpSpPr/>
        <p:nvPr/>
      </p:nvGrpSpPr>
      <p:grpSpPr>
        <a:xfrm>
          <a:off x="0" y="0"/>
          <a:ext cx="0" cy="0"/>
          <a:chOff x="0" y="0"/>
          <a:chExt cx="0" cy="0"/>
        </a:xfrm>
      </p:grpSpPr>
      <p:sp>
        <p:nvSpPr>
          <p:cNvPr id="167" name="Google Shape;167;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8" name="Google Shape;168;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9" name="Google Shape;16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7" r:id="rId2"/>
    <p:sldLayoutId id="2147483668" r:id="rId3"/>
    <p:sldLayoutId id="2147483670" r:id="rId4"/>
    <p:sldLayoutId id="2147483672" r:id="rId5"/>
    <p:sldLayoutId id="2147483675" r:id="rId6"/>
    <p:sldLayoutId id="2147483676" r:id="rId7"/>
    <p:sldLayoutId id="2147483677" r:id="rId8"/>
    <p:sldLayoutId id="2147483678" r:id="rId9"/>
    <p:sldLayoutId id="214748367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8.xml"/><Relationship Id="rId7" Type="http://schemas.openxmlformats.org/officeDocument/2006/relationships/image" Target="../media/image14.png"/><Relationship Id="rId2" Type="http://schemas.openxmlformats.org/officeDocument/2006/relationships/slideLayout" Target="../slideLayouts/slideLayout15.xml"/><Relationship Id="rId1" Type="http://schemas.openxmlformats.org/officeDocument/2006/relationships/tags" Target="../tags/tag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jpg"/><Relationship Id="rId7"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6.xml"/><Relationship Id="rId6" Type="http://schemas.openxmlformats.org/officeDocument/2006/relationships/image" Target="../media/image28.jpg"/><Relationship Id="rId5" Type="http://schemas.openxmlformats.org/officeDocument/2006/relationships/image" Target="../media/image27.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6.xml"/><Relationship Id="rId1" Type="http://schemas.openxmlformats.org/officeDocument/2006/relationships/video" Target="https://www.youtube.com/embed/U1XOPIqyP7A?feature=oembed" TargetMode="External"/><Relationship Id="rId5" Type="http://schemas.openxmlformats.org/officeDocument/2006/relationships/image" Target="../media/image32.jpeg"/><Relationship Id="rId4" Type="http://schemas.openxmlformats.org/officeDocument/2006/relationships/hyperlink" Target="https://www.youtube.com/watch?v=U1XOPIqyP7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hyperlink" Target="https://eips.ethereum.org/EIPS/eip-1155" TargetMode="External"/><Relationship Id="rId2" Type="http://schemas.openxmlformats.org/officeDocument/2006/relationships/notesSlide" Target="../notesSlides/notesSlide43.xm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
          <p:cNvSpPr txBox="1">
            <a:spLocks noGrp="1"/>
          </p:cNvSpPr>
          <p:nvPr>
            <p:ph type="title"/>
          </p:nvPr>
        </p:nvSpPr>
        <p:spPr>
          <a:xfrm>
            <a:off x="1944210" y="3810000"/>
            <a:ext cx="6590190" cy="1524000"/>
          </a:xfrm>
          <a:prstGeom prst="rect">
            <a:avLst/>
          </a:prstGeom>
          <a:noFill/>
          <a:ln>
            <a:noFill/>
          </a:ln>
        </p:spPr>
        <p:txBody>
          <a:bodyPr spcFirstLastPara="1" wrap="square" lIns="91425" tIns="45700" rIns="91425" bIns="45700" anchor="ctr" anchorCtr="0">
            <a:normAutofit/>
          </a:bodyPr>
          <a:lstStyle/>
          <a:p>
            <a:pPr lvl="0" algn="r">
              <a:lnSpc>
                <a:spcPct val="90909"/>
              </a:lnSpc>
              <a:buSzPts val="4400"/>
            </a:pPr>
            <a:r>
              <a:rPr lang="en-IN" sz="2800" dirty="0" err="1"/>
              <a:t>Blockchain</a:t>
            </a:r>
            <a:r>
              <a:rPr lang="en-IN" sz="2800" dirty="0"/>
              <a:t> Technologies &amp; Systems</a:t>
            </a:r>
            <a:endParaRPr sz="2800" i="0" u="none" strike="noStrike" cap="none" dirty="0">
              <a:solidFill>
                <a:srgbClr val="FFFFFF"/>
              </a:solidFil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
          <p:cNvSpPr txBox="1">
            <a:spLocks noGrp="1"/>
          </p:cNvSpPr>
          <p:nvPr>
            <p:ph type="body" idx="1"/>
          </p:nvPr>
        </p:nvSpPr>
        <p:spPr>
          <a:xfrm>
            <a:off x="342900" y="4977984"/>
            <a:ext cx="8458200" cy="1167984"/>
          </a:xfrm>
          <a:prstGeom prst="rect">
            <a:avLst/>
          </a:prstGeom>
          <a:noFill/>
          <a:ln>
            <a:noFill/>
          </a:ln>
        </p:spPr>
        <p:txBody>
          <a:bodyPr spcFirstLastPara="1" wrap="square" lIns="45700" tIns="45700" rIns="45700" bIns="45700" anchor="t" anchorCtr="0">
            <a:normAutofit fontScale="62500" lnSpcReduction="20000"/>
          </a:bodyPr>
          <a:lstStyle/>
          <a:p>
            <a:pPr marL="0" lvl="0" indent="0" algn="ctr"/>
            <a:r>
              <a:rPr lang="en-US" dirty="0"/>
              <a:t>Blockchain Technologies &amp; Systems</a:t>
            </a:r>
            <a:br>
              <a:rPr lang="en-US" dirty="0"/>
            </a:br>
            <a:endParaRPr dirty="0"/>
          </a:p>
          <a:p>
            <a:pPr marL="0" lvl="0" indent="0" algn="ctr" rtl="0">
              <a:lnSpc>
                <a:spcPct val="104999"/>
              </a:lnSpc>
              <a:spcBef>
                <a:spcPts val="0"/>
              </a:spcBef>
              <a:spcAft>
                <a:spcPts val="0"/>
              </a:spcAft>
              <a:buClr>
                <a:srgbClr val="000000"/>
              </a:buClr>
              <a:buSzPts val="4000"/>
              <a:buNone/>
            </a:pPr>
            <a:r>
              <a:rPr lang="en-US" dirty="0"/>
              <a:t>Contact Session . 05</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a:t>
            </a:fld>
            <a:endParaRPr/>
          </a:p>
        </p:txBody>
      </p:sp>
      <p:sp>
        <p:nvSpPr>
          <p:cNvPr id="3" name="Google Shape;294;p3">
            <a:extLst>
              <a:ext uri="{FF2B5EF4-FFF2-40B4-BE49-F238E27FC236}">
                <a16:creationId xmlns:a16="http://schemas.microsoft.com/office/drawing/2014/main" id="{F1874D55-F866-C06E-8A6D-3E68A0FFBFA2}"/>
              </a:ext>
            </a:extLst>
          </p:cNvPr>
          <p:cNvSpPr txBox="1"/>
          <p:nvPr/>
        </p:nvSpPr>
        <p:spPr>
          <a:xfrm>
            <a:off x="684622" y="346792"/>
            <a:ext cx="4868466" cy="857250"/>
          </a:xfrm>
          <a:prstGeom prst="rect">
            <a:avLst/>
          </a:prstGeom>
          <a:no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2800" b="1" dirty="0">
                <a:latin typeface="Arial Rounded"/>
                <a:sym typeface="Arial Rounded"/>
              </a:rPr>
              <a:t>Contents</a:t>
            </a:r>
            <a:endParaRPr dirty="0"/>
          </a:p>
        </p:txBody>
      </p:sp>
      <p:sp>
        <p:nvSpPr>
          <p:cNvPr id="5" name="TextBox 4">
            <a:extLst>
              <a:ext uri="{FF2B5EF4-FFF2-40B4-BE49-F238E27FC236}">
                <a16:creationId xmlns:a16="http://schemas.microsoft.com/office/drawing/2014/main" id="{4EF8A7B2-E9EC-F981-2F2D-B30C908559D2}"/>
              </a:ext>
            </a:extLst>
          </p:cNvPr>
          <p:cNvSpPr txBox="1"/>
          <p:nvPr/>
        </p:nvSpPr>
        <p:spPr>
          <a:xfrm>
            <a:off x="413534" y="1671186"/>
            <a:ext cx="8316931" cy="2677656"/>
          </a:xfrm>
          <a:prstGeom prst="rect">
            <a:avLst/>
          </a:prstGeom>
          <a:noFill/>
        </p:spPr>
        <p:txBody>
          <a:bodyPr wrap="square">
            <a:spAutoFit/>
          </a:bodyPr>
          <a:lstStyle/>
          <a:p>
            <a:r>
              <a:rPr lang="en-IN" sz="2400" dirty="0"/>
              <a:t>RL 4.4	Blockchain in Software Architecture</a:t>
            </a:r>
          </a:p>
          <a:p>
            <a:r>
              <a:rPr lang="en-IN" sz="2400" dirty="0"/>
              <a:t>RL 4.5	Integrating Blockchain into enterprise applications</a:t>
            </a:r>
          </a:p>
          <a:p>
            <a:r>
              <a:rPr lang="en-IN" sz="2400" dirty="0"/>
              <a:t>RL 4.6	Blockchain and Smart contract vulnerabilities</a:t>
            </a:r>
          </a:p>
          <a:p>
            <a:endParaRPr lang="en-IN" sz="2400" dirty="0"/>
          </a:p>
          <a:p>
            <a:r>
              <a:rPr lang="en-IN" sz="2400" dirty="0"/>
              <a:t>CS5</a:t>
            </a:r>
          </a:p>
          <a:p>
            <a:r>
              <a:rPr lang="en-IN" sz="2400" dirty="0"/>
              <a:t>	•	Blockchain as Computational Element</a:t>
            </a:r>
          </a:p>
          <a:p>
            <a:r>
              <a:rPr lang="en-IN" sz="2400" dirty="0"/>
              <a:t>	•	Blockchain as Communication Mechanism</a:t>
            </a:r>
          </a:p>
        </p:txBody>
      </p:sp>
    </p:spTree>
    <p:extLst>
      <p:ext uri="{BB962C8B-B14F-4D97-AF65-F5344CB8AC3E}">
        <p14:creationId xmlns:p14="http://schemas.microsoft.com/office/powerpoint/2010/main" val="3677267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027D6-9C67-E8F2-4D35-832442F07DD1}"/>
              </a:ext>
            </a:extLst>
          </p:cNvPr>
          <p:cNvSpPr>
            <a:spLocks noGrp="1"/>
          </p:cNvSpPr>
          <p:nvPr>
            <p:ph type="title"/>
          </p:nvPr>
        </p:nvSpPr>
        <p:spPr/>
        <p:txBody>
          <a:bodyPr/>
          <a:lstStyle/>
          <a:p>
            <a:r>
              <a:rPr lang="en-US" dirty="0"/>
              <a:t>What will we learn today?</a:t>
            </a:r>
            <a:endParaRPr lang="en-IN" dirty="0"/>
          </a:p>
        </p:txBody>
      </p:sp>
      <p:sp>
        <p:nvSpPr>
          <p:cNvPr id="4" name="Slide Number Placeholder 3">
            <a:extLst>
              <a:ext uri="{FF2B5EF4-FFF2-40B4-BE49-F238E27FC236}">
                <a16:creationId xmlns:a16="http://schemas.microsoft.com/office/drawing/2014/main" id="{326E3EE1-5B89-8B0A-3EBC-8A2EA8B9E8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6" name="TextBox 5">
            <a:extLst>
              <a:ext uri="{FF2B5EF4-FFF2-40B4-BE49-F238E27FC236}">
                <a16:creationId xmlns:a16="http://schemas.microsoft.com/office/drawing/2014/main" id="{DD655251-7149-3EDA-2C29-17816A32D317}"/>
              </a:ext>
            </a:extLst>
          </p:cNvPr>
          <p:cNvSpPr txBox="1"/>
          <p:nvPr/>
        </p:nvSpPr>
        <p:spPr>
          <a:xfrm>
            <a:off x="457199" y="1819691"/>
            <a:ext cx="8029255" cy="4094006"/>
          </a:xfrm>
          <a:prstGeom prst="rect">
            <a:avLst/>
          </a:prstGeom>
          <a:noFill/>
        </p:spPr>
        <p:txBody>
          <a:bodyPr wrap="square">
            <a:spAutoFit/>
          </a:bodyPr>
          <a:lstStyle/>
          <a:p>
            <a:pPr marL="342900" indent="-342900">
              <a:buFont typeface="Arial" panose="020B0604020202020204" pitchFamily="34" charset="0"/>
              <a:buChar char="•"/>
            </a:pPr>
            <a:r>
              <a:rPr lang="en-US" sz="2400" dirty="0"/>
              <a:t>Software Architecture Basics</a:t>
            </a:r>
          </a:p>
          <a:p>
            <a:pPr marL="342900" marR="0" indent="-342900" algn="l" rtl="0" fontAlgn="t">
              <a:lnSpc>
                <a:spcPct val="107000"/>
              </a:lnSpc>
              <a:spcBef>
                <a:spcPts val="300"/>
              </a:spcBef>
              <a:spcAft>
                <a:spcPts val="300"/>
              </a:spcAft>
              <a:buFont typeface="Arial" panose="020B0604020202020204" pitchFamily="34" charset="0"/>
              <a:buChar char="•"/>
            </a:pPr>
            <a:r>
              <a:rPr lang="en-US" sz="2400" dirty="0"/>
              <a:t>Blockchain in Software Architectures</a:t>
            </a:r>
          </a:p>
          <a:p>
            <a:pPr marL="342900" marR="0" indent="-342900" algn="l" rtl="0" fontAlgn="t">
              <a:lnSpc>
                <a:spcPct val="107000"/>
              </a:lnSpc>
              <a:spcBef>
                <a:spcPts val="300"/>
              </a:spcBef>
              <a:spcAft>
                <a:spcPts val="300"/>
              </a:spcAft>
              <a:buFont typeface="Arial" panose="020B0604020202020204" pitchFamily="34" charset="0"/>
              <a:buChar char="•"/>
            </a:pPr>
            <a:r>
              <a:rPr lang="en-IN" sz="2400" b="0" i="0" u="none" strike="noStrike" dirty="0">
                <a:solidFill>
                  <a:srgbClr val="000000"/>
                </a:solidFill>
                <a:effectLst/>
                <a:latin typeface="Arial" panose="020B0604020202020204" pitchFamily="34" charset="0"/>
              </a:rPr>
              <a:t>Integrating Blockchain into enterprise applications</a:t>
            </a:r>
            <a:endParaRPr lang="en-IN" sz="2400" b="0" i="0" u="none" strike="noStrike" dirty="0">
              <a:effectLst/>
              <a:latin typeface="Arial" panose="020B0604020202020204" pitchFamily="34" charset="0"/>
            </a:endParaRPr>
          </a:p>
          <a:p>
            <a:pPr marL="342900" marR="0" indent="-342900" algn="l" rtl="0" fontAlgn="t">
              <a:lnSpc>
                <a:spcPct val="107000"/>
              </a:lnSpc>
              <a:spcBef>
                <a:spcPts val="300"/>
              </a:spcBef>
              <a:spcAft>
                <a:spcPts val="300"/>
              </a:spcAft>
              <a:buFont typeface="Arial" panose="020B0604020202020204" pitchFamily="34" charset="0"/>
              <a:buChar char="•"/>
            </a:pPr>
            <a:r>
              <a:rPr lang="en-IN" sz="2400" b="0" i="0" u="none" strike="noStrike" dirty="0">
                <a:solidFill>
                  <a:srgbClr val="000000"/>
                </a:solidFill>
                <a:effectLst/>
                <a:latin typeface="Arial" panose="020B0604020202020204" pitchFamily="34" charset="0"/>
              </a:rPr>
              <a:t>Blockchain and Smart contract vulnerabilities</a:t>
            </a:r>
            <a:endParaRPr lang="en-US" sz="2400" dirty="0"/>
          </a:p>
          <a:p>
            <a:pPr marL="342900" indent="-342900">
              <a:buFont typeface="Arial" panose="020B0604020202020204" pitchFamily="34" charset="0"/>
              <a:buChar char="•"/>
            </a:pPr>
            <a:r>
              <a:rPr lang="en-US" sz="2400" dirty="0"/>
              <a:t>Functionality of Blockchain</a:t>
            </a:r>
          </a:p>
          <a:p>
            <a:pPr lvl="3"/>
            <a:r>
              <a:rPr lang="en-US" sz="2400" dirty="0"/>
              <a:t>	Data Storage</a:t>
            </a:r>
          </a:p>
          <a:p>
            <a:pPr lvl="1"/>
            <a:r>
              <a:rPr lang="en-US" sz="2400" dirty="0"/>
              <a:t>	Computation</a:t>
            </a:r>
          </a:p>
          <a:p>
            <a:pPr lvl="1"/>
            <a:r>
              <a:rPr lang="en-US" sz="2400" dirty="0"/>
              <a:t>	Communication</a:t>
            </a:r>
          </a:p>
          <a:p>
            <a:pPr lvl="1"/>
            <a:r>
              <a:rPr lang="en-AU" sz="2400" b="1" dirty="0"/>
              <a:t>	</a:t>
            </a:r>
            <a:r>
              <a:rPr lang="en-AU" sz="2400" dirty="0"/>
              <a:t>Asset Management</a:t>
            </a:r>
            <a:endParaRPr lang="en-US" sz="2400" dirty="0"/>
          </a:p>
          <a:p>
            <a:pPr lvl="1"/>
            <a:r>
              <a:rPr lang="en-US" sz="2400" dirty="0"/>
              <a:t>	</a:t>
            </a:r>
          </a:p>
        </p:txBody>
      </p:sp>
    </p:spTree>
    <p:extLst>
      <p:ext uri="{BB962C8B-B14F-4D97-AF65-F5344CB8AC3E}">
        <p14:creationId xmlns:p14="http://schemas.microsoft.com/office/powerpoint/2010/main" val="2651007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2FEA3712-F15A-9186-D112-8032A35F98DB}"/>
            </a:ext>
          </a:extLst>
        </p:cNvPr>
        <p:cNvGrpSpPr/>
        <p:nvPr/>
      </p:nvGrpSpPr>
      <p:grpSpPr>
        <a:xfrm>
          <a:off x="0" y="0"/>
          <a:ext cx="0" cy="0"/>
          <a:chOff x="0" y="0"/>
          <a:chExt cx="0" cy="0"/>
        </a:xfrm>
      </p:grpSpPr>
      <p:sp>
        <p:nvSpPr>
          <p:cNvPr id="288" name="Google Shape;288;p2">
            <a:extLst>
              <a:ext uri="{FF2B5EF4-FFF2-40B4-BE49-F238E27FC236}">
                <a16:creationId xmlns:a16="http://schemas.microsoft.com/office/drawing/2014/main" id="{649A4F30-4EA7-01C5-FA43-FC02685FA32F}"/>
              </a:ext>
            </a:extLst>
          </p:cNvPr>
          <p:cNvSpPr txBox="1">
            <a:spLocks noGrp="1"/>
          </p:cNvSpPr>
          <p:nvPr>
            <p:ph type="body" idx="1"/>
          </p:nvPr>
        </p:nvSpPr>
        <p:spPr>
          <a:xfrm>
            <a:off x="342900" y="4700581"/>
            <a:ext cx="8458200" cy="1167984"/>
          </a:xfrm>
          <a:prstGeom prst="rect">
            <a:avLst/>
          </a:prstGeom>
          <a:noFill/>
          <a:ln>
            <a:noFill/>
          </a:ln>
        </p:spPr>
        <p:txBody>
          <a:bodyPr spcFirstLastPara="1" wrap="square" lIns="45700" tIns="45700" rIns="45700" bIns="45700" anchor="t" anchorCtr="0">
            <a:normAutofit/>
          </a:bodyPr>
          <a:lstStyle/>
          <a:p>
            <a:pPr algn="ctr"/>
            <a:r>
              <a:rPr lang="en-AU" dirty="0"/>
              <a:t>Blockchain in Software Architecture</a:t>
            </a:r>
            <a:endParaRPr lang="en-IN" sz="4000" dirty="0"/>
          </a:p>
        </p:txBody>
      </p:sp>
    </p:spTree>
    <p:extLst>
      <p:ext uri="{BB962C8B-B14F-4D97-AF65-F5344CB8AC3E}">
        <p14:creationId xmlns:p14="http://schemas.microsoft.com/office/powerpoint/2010/main" val="2760771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Architecture’s Elements</a:t>
            </a:r>
          </a:p>
        </p:txBody>
      </p:sp>
      <p:sp>
        <p:nvSpPr>
          <p:cNvPr id="3" name="Content Placeholder 2"/>
          <p:cNvSpPr>
            <a:spLocks noGrp="1"/>
          </p:cNvSpPr>
          <p:nvPr>
            <p:ph idx="1"/>
          </p:nvPr>
        </p:nvSpPr>
        <p:spPr>
          <a:xfrm>
            <a:off x="648000" y="1795500"/>
            <a:ext cx="7920000" cy="4646587"/>
          </a:xfrm>
        </p:spPr>
        <p:txBody>
          <a:bodyPr>
            <a:normAutofit fontScale="92500" lnSpcReduction="10000"/>
          </a:bodyPr>
          <a:lstStyle/>
          <a:p>
            <a:pPr marL="342900" indent="-342900"/>
            <a:r>
              <a:rPr lang="en-US" sz="2600" dirty="0"/>
              <a:t>A </a:t>
            </a:r>
            <a:r>
              <a:rPr lang="en-US" sz="2600" b="1" dirty="0"/>
              <a:t>software architecture</a:t>
            </a:r>
            <a:r>
              <a:rPr lang="en-US" sz="2600" dirty="0"/>
              <a:t> defines the overall structure and organization of a software system. </a:t>
            </a:r>
          </a:p>
          <a:p>
            <a:pPr marL="342900" indent="-342900"/>
            <a:r>
              <a:rPr lang="en-US" sz="2600" dirty="0"/>
              <a:t>A software system is </a:t>
            </a:r>
            <a:r>
              <a:rPr lang="en-US" sz="2600" b="1" dirty="0"/>
              <a:t>not a single monolithic unit</a:t>
            </a:r>
            <a:r>
              <a:rPr lang="en-US" sz="2600" dirty="0"/>
              <a:t>; it is composed of multiple interconnected parts. </a:t>
            </a:r>
          </a:p>
          <a:p>
            <a:pPr marL="342900" indent="-342900"/>
            <a:r>
              <a:rPr lang="en-US" sz="2600" dirty="0"/>
              <a:t>Dividing the system into smaller units improves </a:t>
            </a:r>
            <a:r>
              <a:rPr lang="en-US" sz="2600" b="1" dirty="0"/>
              <a:t>modularity, scalability, maintainability, and flexibility</a:t>
            </a:r>
            <a:r>
              <a:rPr lang="en-US" sz="2600" dirty="0"/>
              <a:t>. </a:t>
            </a:r>
          </a:p>
          <a:p>
            <a:pPr marL="25400" indent="0">
              <a:buNone/>
            </a:pPr>
            <a:endParaRPr lang="en-US" sz="2600" dirty="0"/>
          </a:p>
          <a:p>
            <a:r>
              <a:rPr lang="en-US" sz="2600" dirty="0"/>
              <a:t>One split: </a:t>
            </a:r>
          </a:p>
          <a:p>
            <a:pPr lvl="1"/>
            <a:r>
              <a:rPr lang="en-US" sz="2600" dirty="0"/>
              <a:t>Component, </a:t>
            </a:r>
          </a:p>
          <a:p>
            <a:pPr lvl="1"/>
            <a:r>
              <a:rPr lang="en-US" sz="2600" dirty="0"/>
              <a:t>Connector, and </a:t>
            </a:r>
          </a:p>
          <a:p>
            <a:pPr lvl="1"/>
            <a:r>
              <a:rPr lang="en-US" sz="2600" dirty="0"/>
              <a:t>Configuration</a:t>
            </a:r>
          </a:p>
          <a:p>
            <a:pPr lvl="1"/>
            <a:endParaRPr lang="en-US" sz="2400" dirty="0"/>
          </a:p>
          <a:p>
            <a:pPr lvl="1"/>
            <a:endParaRPr lang="en-US" sz="2400" dirty="0"/>
          </a:p>
        </p:txBody>
      </p:sp>
      <p:sp>
        <p:nvSpPr>
          <p:cNvPr id="4" name="Foliennummernplatzhalter 3">
            <a:extLst>
              <a:ext uri="{FF2B5EF4-FFF2-40B4-BE49-F238E27FC236}">
                <a16:creationId xmlns:a16="http://schemas.microsoft.com/office/drawing/2014/main" id="{104A4CE3-B001-43DA-8414-3D4B64C5618E}"/>
              </a:ext>
            </a:extLst>
          </p:cNvPr>
          <p:cNvSpPr>
            <a:spLocks noGrp="1"/>
          </p:cNvSpPr>
          <p:nvPr>
            <p:ph type="sldNum" sz="quarter" idx="4"/>
          </p:nvPr>
        </p:nvSpPr>
        <p:spPr/>
        <p:txBody>
          <a:bodyPr/>
          <a:lstStyle/>
          <a:p>
            <a:fld id="{97F98C0B-273E-428A-ABCF-EBED2BA25188}" type="slidenum">
              <a:rPr lang="en-US" smtClean="0"/>
              <a:t>6</a:t>
            </a:fld>
            <a:endParaRPr lang="en-US"/>
          </a:p>
        </p:txBody>
      </p:sp>
    </p:spTree>
    <p:extLst>
      <p:ext uri="{BB962C8B-B14F-4D97-AF65-F5344CB8AC3E}">
        <p14:creationId xmlns:p14="http://schemas.microsoft.com/office/powerpoint/2010/main" val="4069454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Software Component</a:t>
            </a:r>
          </a:p>
        </p:txBody>
      </p:sp>
      <p:sp>
        <p:nvSpPr>
          <p:cNvPr id="26625" name="Content Placeholder 1"/>
          <p:cNvSpPr>
            <a:spLocks noGrp="1"/>
          </p:cNvSpPr>
          <p:nvPr>
            <p:ph idx="1"/>
          </p:nvPr>
        </p:nvSpPr>
        <p:spPr>
          <a:xfrm>
            <a:off x="457200" y="1417638"/>
            <a:ext cx="8229600" cy="4525963"/>
          </a:xfrm>
        </p:spPr>
        <p:txBody>
          <a:bodyPr>
            <a:noAutofit/>
          </a:bodyPr>
          <a:lstStyle/>
          <a:p>
            <a:r>
              <a:rPr lang="en-AU" sz="2400" dirty="0"/>
              <a:t>Software components are the fundamental building blocks for software architecture</a:t>
            </a:r>
          </a:p>
          <a:p>
            <a:endParaRPr lang="en-AU" sz="2400" dirty="0"/>
          </a:p>
          <a:p>
            <a:r>
              <a:rPr lang="en-AU" sz="2400" dirty="0"/>
              <a:t>A software component is an architectural entity that:</a:t>
            </a:r>
          </a:p>
          <a:p>
            <a:pPr lvl="1"/>
            <a:r>
              <a:rPr lang="en-AU" sz="2400" dirty="0"/>
              <a:t>Encapsulates a subset of the system’s functionality and/or data</a:t>
            </a:r>
          </a:p>
          <a:p>
            <a:pPr lvl="1"/>
            <a:r>
              <a:rPr lang="en-AU" sz="2400" dirty="0"/>
              <a:t>Restricts access to that subset via an explicitly defined interface</a:t>
            </a:r>
          </a:p>
          <a:p>
            <a:pPr lvl="1"/>
            <a:r>
              <a:rPr lang="en-AU" sz="2400" dirty="0"/>
              <a:t>Has explicitly defined dependencies on its required execution context</a:t>
            </a:r>
          </a:p>
          <a:p>
            <a:pPr lvl="1"/>
            <a:endParaRPr lang="en-AU" sz="2400" dirty="0"/>
          </a:p>
          <a:p>
            <a:r>
              <a:rPr lang="en-AU" sz="2400" dirty="0"/>
              <a:t>Components typically provide application-specific services</a:t>
            </a:r>
          </a:p>
        </p:txBody>
      </p:sp>
      <p:sp>
        <p:nvSpPr>
          <p:cNvPr id="4" name="Foliennummernplatzhalter 3">
            <a:extLst>
              <a:ext uri="{FF2B5EF4-FFF2-40B4-BE49-F238E27FC236}">
                <a16:creationId xmlns:a16="http://schemas.microsoft.com/office/drawing/2014/main" id="{34257DA9-259C-4EB9-AC90-67CC111F29F5}"/>
              </a:ext>
            </a:extLst>
          </p:cNvPr>
          <p:cNvSpPr>
            <a:spLocks noGrp="1"/>
          </p:cNvSpPr>
          <p:nvPr>
            <p:ph type="sldNum" sz="quarter" idx="4"/>
          </p:nvPr>
        </p:nvSpPr>
        <p:spPr/>
        <p:txBody>
          <a:bodyPr/>
          <a:lstStyle/>
          <a:p>
            <a:fld id="{97F98C0B-273E-428A-ABCF-EBED2BA25188}" type="slidenum">
              <a:rPr lang="en-US" smtClean="0"/>
              <a:t>7</a:t>
            </a:fld>
            <a:endParaRPr lang="en-US"/>
          </a:p>
        </p:txBody>
      </p:sp>
    </p:spTree>
    <p:extLst>
      <p:ext uri="{BB962C8B-B14F-4D97-AF65-F5344CB8AC3E}">
        <p14:creationId xmlns:p14="http://schemas.microsoft.com/office/powerpoint/2010/main" val="3902488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a:spLocks noGrp="1"/>
          </p:cNvSpPr>
          <p:nvPr>
            <p:ph idx="1"/>
          </p:nvPr>
        </p:nvSpPr>
        <p:spPr/>
        <p:txBody>
          <a:bodyPr>
            <a:normAutofit fontScale="92500"/>
          </a:bodyPr>
          <a:lstStyle/>
          <a:p>
            <a:pPr algn="just"/>
            <a:r>
              <a:rPr lang="en-AU" sz="2600" dirty="0"/>
              <a:t>In complex systems interaction may become more important and challenging than the functionality of the individual components</a:t>
            </a:r>
          </a:p>
          <a:p>
            <a:pPr algn="just"/>
            <a:r>
              <a:rPr lang="en-AU" sz="2600" dirty="0"/>
              <a:t>Connector: architectural building block tasked with effecting and regulating interactions among components</a:t>
            </a:r>
          </a:p>
          <a:p>
            <a:pPr algn="just"/>
            <a:r>
              <a:rPr lang="en-AU" sz="2600" dirty="0"/>
              <a:t>Connectors typically provide application-independent interaction facilities</a:t>
            </a:r>
          </a:p>
          <a:p>
            <a:pPr lvl="1" algn="just"/>
            <a:r>
              <a:rPr lang="en-AU" sz="1800" b="1" dirty="0"/>
              <a:t>Communication</a:t>
            </a:r>
            <a:r>
              <a:rPr lang="en-AU" sz="1800" dirty="0"/>
              <a:t>: transfer data </a:t>
            </a:r>
          </a:p>
          <a:p>
            <a:pPr lvl="1" algn="just"/>
            <a:r>
              <a:rPr lang="en-AU" sz="1800" b="1" dirty="0"/>
              <a:t>Coordination</a:t>
            </a:r>
            <a:r>
              <a:rPr lang="en-AU" sz="1800" dirty="0"/>
              <a:t>: transfer control</a:t>
            </a:r>
          </a:p>
          <a:p>
            <a:pPr lvl="1" algn="just"/>
            <a:r>
              <a:rPr lang="en-AU" sz="1800" b="1" dirty="0"/>
              <a:t>Facilitation</a:t>
            </a:r>
            <a:r>
              <a:rPr lang="en-AU" sz="1800" dirty="0"/>
              <a:t>: enable</a:t>
            </a:r>
            <a:r>
              <a:rPr lang="zh-CN" altLang="en-US" sz="1800" dirty="0"/>
              <a:t> </a:t>
            </a:r>
            <a:r>
              <a:rPr lang="en-AU" sz="1800" dirty="0"/>
              <a:t>and optimise component’s interactions</a:t>
            </a:r>
          </a:p>
          <a:p>
            <a:pPr lvl="1" algn="just"/>
            <a:r>
              <a:rPr lang="en-AU" sz="1800" b="1" dirty="0"/>
              <a:t>Conversion</a:t>
            </a:r>
            <a:r>
              <a:rPr lang="en-AU" sz="1800" dirty="0"/>
              <a:t>: adjust the interactions between incompatible interfaces</a:t>
            </a:r>
          </a:p>
          <a:p>
            <a:pPr lvl="2"/>
            <a:endParaRPr lang="en-AU" dirty="0"/>
          </a:p>
          <a:p>
            <a:pPr lvl="2"/>
            <a:endParaRPr lang="en-AU" dirty="0"/>
          </a:p>
        </p:txBody>
      </p:sp>
      <p:sp>
        <p:nvSpPr>
          <p:cNvPr id="2" name="Title 1"/>
          <p:cNvSpPr>
            <a:spLocks noGrp="1"/>
          </p:cNvSpPr>
          <p:nvPr>
            <p:ph type="title"/>
          </p:nvPr>
        </p:nvSpPr>
        <p:spPr/>
        <p:txBody>
          <a:bodyPr/>
          <a:lstStyle/>
          <a:p>
            <a:r>
              <a:rPr lang="en-US" dirty="0"/>
              <a:t>Software Connectors</a:t>
            </a:r>
          </a:p>
        </p:txBody>
      </p:sp>
    </p:spTree>
    <p:extLst>
      <p:ext uri="{BB962C8B-B14F-4D97-AF65-F5344CB8AC3E}">
        <p14:creationId xmlns:p14="http://schemas.microsoft.com/office/powerpoint/2010/main" val="561924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127" y="532835"/>
            <a:ext cx="8241491" cy="777600"/>
          </a:xfrm>
        </p:spPr>
        <p:txBody>
          <a:bodyPr>
            <a:normAutofit/>
          </a:bodyPr>
          <a:lstStyle/>
          <a:p>
            <a:r>
              <a:rPr lang="en-US" dirty="0"/>
              <a:t>Example Software Connectors</a:t>
            </a:r>
          </a:p>
        </p:txBody>
      </p:sp>
      <p:pic>
        <p:nvPicPr>
          <p:cNvPr id="7" name="Picture 6"/>
          <p:cNvPicPr>
            <a:picLocks noChangeAspect="1"/>
          </p:cNvPicPr>
          <p:nvPr/>
        </p:nvPicPr>
        <p:blipFill>
          <a:blip r:embed="rId4"/>
          <a:stretch>
            <a:fillRect/>
          </a:stretch>
        </p:blipFill>
        <p:spPr>
          <a:xfrm>
            <a:off x="683569" y="1659330"/>
            <a:ext cx="2488952" cy="1040069"/>
          </a:xfrm>
          <a:prstGeom prst="rect">
            <a:avLst/>
          </a:prstGeom>
        </p:spPr>
      </p:pic>
      <p:pic>
        <p:nvPicPr>
          <p:cNvPr id="8" name="Picture 7"/>
          <p:cNvPicPr>
            <a:picLocks noChangeAspect="1"/>
          </p:cNvPicPr>
          <p:nvPr/>
        </p:nvPicPr>
        <p:blipFill>
          <a:blip r:embed="rId5"/>
          <a:stretch>
            <a:fillRect/>
          </a:stretch>
        </p:blipFill>
        <p:spPr>
          <a:xfrm>
            <a:off x="3419872" y="3143817"/>
            <a:ext cx="2618302" cy="1653260"/>
          </a:xfrm>
          <a:prstGeom prst="rect">
            <a:avLst/>
          </a:prstGeom>
        </p:spPr>
      </p:pic>
      <p:sp>
        <p:nvSpPr>
          <p:cNvPr id="10" name="TextBox 9"/>
          <p:cNvSpPr txBox="1"/>
          <p:nvPr/>
        </p:nvSpPr>
        <p:spPr>
          <a:xfrm>
            <a:off x="1259633" y="2663764"/>
            <a:ext cx="1195527" cy="311466"/>
          </a:xfrm>
          <a:prstGeom prst="rect">
            <a:avLst/>
          </a:prstGeom>
          <a:noFill/>
        </p:spPr>
        <p:txBody>
          <a:bodyPr wrap="none" lIns="95095" tIns="47547" rIns="95095" bIns="47547" rtlCol="0">
            <a:spAutoFit/>
          </a:bodyPr>
          <a:lstStyle/>
          <a:p>
            <a:r>
              <a:rPr lang="en-US" dirty="0"/>
              <a:t>File Transfer</a:t>
            </a:r>
          </a:p>
        </p:txBody>
      </p:sp>
      <p:sp>
        <p:nvSpPr>
          <p:cNvPr id="11" name="TextBox 10"/>
          <p:cNvSpPr txBox="1"/>
          <p:nvPr/>
        </p:nvSpPr>
        <p:spPr>
          <a:xfrm>
            <a:off x="3995938" y="4663986"/>
            <a:ext cx="1277281" cy="311466"/>
          </a:xfrm>
          <a:prstGeom prst="rect">
            <a:avLst/>
          </a:prstGeom>
          <a:noFill/>
        </p:spPr>
        <p:txBody>
          <a:bodyPr wrap="none" lIns="95095" tIns="47547" rIns="95095" bIns="47547" rtlCol="0">
            <a:spAutoFit/>
          </a:bodyPr>
          <a:lstStyle/>
          <a:p>
            <a:r>
              <a:rPr lang="en-US" dirty="0"/>
              <a:t>Message Bus</a:t>
            </a:r>
          </a:p>
        </p:txBody>
      </p:sp>
      <p:pic>
        <p:nvPicPr>
          <p:cNvPr id="12" name="Picture 11"/>
          <p:cNvPicPr>
            <a:picLocks noChangeAspect="1"/>
          </p:cNvPicPr>
          <p:nvPr/>
        </p:nvPicPr>
        <p:blipFill>
          <a:blip r:embed="rId6"/>
          <a:stretch>
            <a:fillRect/>
          </a:stretch>
        </p:blipFill>
        <p:spPr>
          <a:xfrm>
            <a:off x="755576" y="3254554"/>
            <a:ext cx="2376264" cy="1922371"/>
          </a:xfrm>
          <a:prstGeom prst="rect">
            <a:avLst/>
          </a:prstGeom>
        </p:spPr>
      </p:pic>
      <p:sp>
        <p:nvSpPr>
          <p:cNvPr id="13" name="TextBox 12"/>
          <p:cNvSpPr txBox="1"/>
          <p:nvPr/>
        </p:nvSpPr>
        <p:spPr>
          <a:xfrm>
            <a:off x="971601" y="5064031"/>
            <a:ext cx="1585057" cy="311466"/>
          </a:xfrm>
          <a:prstGeom prst="rect">
            <a:avLst/>
          </a:prstGeom>
          <a:noFill/>
        </p:spPr>
        <p:txBody>
          <a:bodyPr wrap="none" lIns="95095" tIns="47547" rIns="95095" bIns="47547" rtlCol="0">
            <a:spAutoFit/>
          </a:bodyPr>
          <a:lstStyle/>
          <a:p>
            <a:r>
              <a:rPr lang="en-US" dirty="0"/>
              <a:t>Shared Database</a:t>
            </a:r>
          </a:p>
        </p:txBody>
      </p:sp>
      <p:pic>
        <p:nvPicPr>
          <p:cNvPr id="14" name="Picture 13"/>
          <p:cNvPicPr>
            <a:picLocks noChangeAspect="1"/>
          </p:cNvPicPr>
          <p:nvPr/>
        </p:nvPicPr>
        <p:blipFill>
          <a:blip r:embed="rId7"/>
          <a:stretch>
            <a:fillRect/>
          </a:stretch>
        </p:blipFill>
        <p:spPr>
          <a:xfrm>
            <a:off x="6444208" y="1703658"/>
            <a:ext cx="2232248" cy="888284"/>
          </a:xfrm>
          <a:prstGeom prst="rect">
            <a:avLst/>
          </a:prstGeom>
        </p:spPr>
      </p:pic>
      <p:sp>
        <p:nvSpPr>
          <p:cNvPr id="15" name="TextBox 14"/>
          <p:cNvSpPr txBox="1"/>
          <p:nvPr/>
        </p:nvSpPr>
        <p:spPr>
          <a:xfrm>
            <a:off x="6372201" y="2503746"/>
            <a:ext cx="2053134" cy="311466"/>
          </a:xfrm>
          <a:prstGeom prst="rect">
            <a:avLst/>
          </a:prstGeom>
          <a:noFill/>
        </p:spPr>
        <p:txBody>
          <a:bodyPr wrap="none" lIns="95095" tIns="47547" rIns="95095" bIns="47547" rtlCol="0">
            <a:spAutoFit/>
          </a:bodyPr>
          <a:lstStyle/>
          <a:p>
            <a:r>
              <a:rPr lang="en-US" dirty="0"/>
              <a:t>Remote Procedure Call</a:t>
            </a:r>
          </a:p>
        </p:txBody>
      </p:sp>
      <p:pic>
        <p:nvPicPr>
          <p:cNvPr id="16" name="Picture 15"/>
          <p:cNvPicPr>
            <a:picLocks noChangeAspect="1"/>
          </p:cNvPicPr>
          <p:nvPr/>
        </p:nvPicPr>
        <p:blipFill>
          <a:blip r:embed="rId8"/>
          <a:stretch>
            <a:fillRect/>
          </a:stretch>
        </p:blipFill>
        <p:spPr>
          <a:xfrm>
            <a:off x="3491882" y="1703658"/>
            <a:ext cx="2378843" cy="884934"/>
          </a:xfrm>
          <a:prstGeom prst="rect">
            <a:avLst/>
          </a:prstGeom>
        </p:spPr>
      </p:pic>
      <p:sp>
        <p:nvSpPr>
          <p:cNvPr id="17" name="TextBox 16"/>
          <p:cNvSpPr txBox="1"/>
          <p:nvPr/>
        </p:nvSpPr>
        <p:spPr>
          <a:xfrm>
            <a:off x="4283968" y="2663764"/>
            <a:ext cx="769128" cy="311466"/>
          </a:xfrm>
          <a:prstGeom prst="rect">
            <a:avLst/>
          </a:prstGeom>
          <a:noFill/>
        </p:spPr>
        <p:txBody>
          <a:bodyPr wrap="none" lIns="95095" tIns="47547" rIns="95095" bIns="47547" rtlCol="0">
            <a:spAutoFit/>
          </a:bodyPr>
          <a:lstStyle/>
          <a:p>
            <a:r>
              <a:rPr lang="en-US" dirty="0"/>
              <a:t>Stream</a:t>
            </a:r>
          </a:p>
        </p:txBody>
      </p:sp>
      <p:grpSp>
        <p:nvGrpSpPr>
          <p:cNvPr id="20" name="Group 19"/>
          <p:cNvGrpSpPr/>
          <p:nvPr/>
        </p:nvGrpSpPr>
        <p:grpSpPr>
          <a:xfrm>
            <a:off x="6300192" y="3223827"/>
            <a:ext cx="2592288" cy="1987963"/>
            <a:chOff x="6300192" y="2571750"/>
            <a:chExt cx="2592288" cy="1789167"/>
          </a:xfrm>
        </p:grpSpPr>
        <p:pic>
          <p:nvPicPr>
            <p:cNvPr id="18" name="Picture 17"/>
            <p:cNvPicPr>
              <a:picLocks noChangeAspect="1"/>
            </p:cNvPicPr>
            <p:nvPr/>
          </p:nvPicPr>
          <p:blipFill>
            <a:blip r:embed="rId9"/>
            <a:stretch>
              <a:fillRect/>
            </a:stretch>
          </p:blipFill>
          <p:spPr>
            <a:xfrm>
              <a:off x="6300192" y="2571750"/>
              <a:ext cx="2592288" cy="1606984"/>
            </a:xfrm>
            <a:prstGeom prst="rect">
              <a:avLst/>
            </a:prstGeom>
          </p:spPr>
        </p:pic>
        <p:sp>
          <p:nvSpPr>
            <p:cNvPr id="19" name="TextBox 18"/>
            <p:cNvSpPr txBox="1"/>
            <p:nvPr/>
          </p:nvSpPr>
          <p:spPr>
            <a:xfrm>
              <a:off x="7092280" y="4083918"/>
              <a:ext cx="1051891" cy="276999"/>
            </a:xfrm>
            <a:prstGeom prst="rect">
              <a:avLst/>
            </a:prstGeom>
            <a:noFill/>
          </p:spPr>
          <p:txBody>
            <a:bodyPr wrap="none" rtlCol="0">
              <a:spAutoFit/>
            </a:bodyPr>
            <a:lstStyle/>
            <a:p>
              <a:r>
                <a:rPr lang="en-US" dirty="0" err="1"/>
                <a:t>Blockchain</a:t>
              </a:r>
              <a:endParaRPr lang="en-US" dirty="0"/>
            </a:p>
          </p:txBody>
        </p:sp>
      </p:grpSp>
      <p:sp>
        <p:nvSpPr>
          <p:cNvPr id="3" name="Rounded Rectangle 2"/>
          <p:cNvSpPr/>
          <p:nvPr/>
        </p:nvSpPr>
        <p:spPr>
          <a:xfrm>
            <a:off x="6276170" y="3158228"/>
            <a:ext cx="2613321" cy="2162149"/>
          </a:xfrm>
          <a:prstGeom prst="roundRect">
            <a:avLst/>
          </a:prstGeom>
          <a:noFill/>
          <a:ln w="28575" cmpd="sng">
            <a:solidFill>
              <a:schemeClr val="accent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feld 3">
            <a:extLst>
              <a:ext uri="{FF2B5EF4-FFF2-40B4-BE49-F238E27FC236}">
                <a16:creationId xmlns:a16="http://schemas.microsoft.com/office/drawing/2014/main" id="{D2BF3B24-0179-4654-88A2-2468E87A2C6D}"/>
              </a:ext>
            </a:extLst>
          </p:cNvPr>
          <p:cNvSpPr txBox="1"/>
          <p:nvPr/>
        </p:nvSpPr>
        <p:spPr>
          <a:xfrm>
            <a:off x="4283969" y="5385975"/>
            <a:ext cx="4605522" cy="308418"/>
          </a:xfrm>
          <a:prstGeom prst="rect">
            <a:avLst/>
          </a:prstGeom>
          <a:noFill/>
        </p:spPr>
        <p:txBody>
          <a:bodyPr wrap="square" rtlCol="0">
            <a:spAutoFit/>
          </a:bodyPr>
          <a:lstStyle/>
          <a:p>
            <a:pPr algn="r"/>
            <a:r>
              <a:rPr lang="en-US" dirty="0">
                <a:sym typeface="Wingdings" panose="05000000000000000000" pitchFamily="2" charset="2"/>
              </a:rPr>
              <a:t> </a:t>
            </a:r>
            <a:r>
              <a:rPr lang="en-US" dirty="0"/>
              <a:t>Blockchain can play the role of a software connector</a:t>
            </a:r>
          </a:p>
        </p:txBody>
      </p:sp>
    </p:spTree>
    <p:custDataLst>
      <p:tags r:id="rId1"/>
    </p:custDataLst>
    <p:extLst>
      <p:ext uri="{BB962C8B-B14F-4D97-AF65-F5344CB8AC3E}">
        <p14:creationId xmlns:p14="http://schemas.microsoft.com/office/powerpoint/2010/main" val="363497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EB54975-44B7-2E1B-0B50-1B49D63F077E}"/>
              </a:ext>
            </a:extLst>
          </p:cNvPr>
          <p:cNvSpPr>
            <a:spLocks noGrp="1" noChangeArrowheads="1"/>
          </p:cNvSpPr>
          <p:nvPr>
            <p:ph idx="1"/>
          </p:nvPr>
        </p:nvSpPr>
        <p:spPr bwMode="auto">
          <a:xfrm>
            <a:off x="380874" y="1305684"/>
            <a:ext cx="814684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Configuration</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specifies how components and connectors are organized and interact to achieve system functionality.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architectural approach simplifies system design, development, testing, integration, and future maintenance. </a:t>
            </a:r>
          </a:p>
        </p:txBody>
      </p:sp>
      <p:sp>
        <p:nvSpPr>
          <p:cNvPr id="6" name="TextBox 5">
            <a:extLst>
              <a:ext uri="{FF2B5EF4-FFF2-40B4-BE49-F238E27FC236}">
                <a16:creationId xmlns:a16="http://schemas.microsoft.com/office/drawing/2014/main" id="{EC29733B-7034-312C-D380-8B9365B5DE37}"/>
              </a:ext>
            </a:extLst>
          </p:cNvPr>
          <p:cNvSpPr txBox="1"/>
          <p:nvPr/>
        </p:nvSpPr>
        <p:spPr>
          <a:xfrm>
            <a:off x="226594" y="3350997"/>
            <a:ext cx="8146843" cy="2677656"/>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In a blockchain application, Smart Contracts, Ledger, Consensus, and User Applications are </a:t>
            </a:r>
            <a:r>
              <a:rPr lang="en-US" sz="2400" b="1" dirty="0">
                <a:latin typeface="Calibri" panose="020F0502020204030204" pitchFamily="34" charset="0"/>
                <a:ea typeface="Calibri" panose="020F0502020204030204" pitchFamily="34" charset="0"/>
                <a:cs typeface="Calibri" panose="020F0502020204030204" pitchFamily="34" charset="0"/>
              </a:rPr>
              <a:t>components</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APIs and peer-to-peer protocols are </a:t>
            </a:r>
            <a:r>
              <a:rPr lang="en-US" sz="2400" b="1" dirty="0">
                <a:latin typeface="Calibri" panose="020F0502020204030204" pitchFamily="34" charset="0"/>
                <a:ea typeface="Calibri" panose="020F0502020204030204" pitchFamily="34" charset="0"/>
                <a:cs typeface="Calibri" panose="020F0502020204030204" pitchFamily="34" charset="0"/>
              </a:rPr>
              <a:t>connectors</a:t>
            </a:r>
            <a:r>
              <a:rPr lang="en-US" sz="2400" dirty="0">
                <a:latin typeface="Calibri" panose="020F0502020204030204" pitchFamily="34" charset="0"/>
                <a:ea typeface="Calibri" panose="020F0502020204030204" pitchFamily="34" charset="0"/>
                <a:cs typeface="Calibri" panose="020F0502020204030204" pitchFamily="34" charset="0"/>
              </a:rPr>
              <a:t> </a:t>
            </a: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overall blockchain network structure represents the </a:t>
            </a:r>
            <a:r>
              <a:rPr lang="en-US" sz="2400" b="1" dirty="0">
                <a:latin typeface="Calibri" panose="020F0502020204030204" pitchFamily="34" charset="0"/>
                <a:ea typeface="Calibri" panose="020F0502020204030204" pitchFamily="34" charset="0"/>
                <a:cs typeface="Calibri" panose="020F0502020204030204" pitchFamily="34" charset="0"/>
              </a:rPr>
              <a:t>configuration.</a:t>
            </a:r>
            <a:endParaRPr lang="en-IN" sz="2400" b="1" dirty="0">
              <a:latin typeface="Calibri" panose="020F0502020204030204" pitchFamily="34" charset="0"/>
              <a:ea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5B563C23-27CE-C814-65C7-71A400F540F9}"/>
              </a:ext>
            </a:extLst>
          </p:cNvPr>
          <p:cNvSpPr>
            <a:spLocks noGrp="1"/>
          </p:cNvSpPr>
          <p:nvPr>
            <p:ph type="title"/>
          </p:nvPr>
        </p:nvSpPr>
        <p:spPr>
          <a:xfrm>
            <a:off x="647700" y="346075"/>
            <a:ext cx="6632575" cy="777875"/>
          </a:xfrm>
        </p:spPr>
        <p:txBody>
          <a:bodyPr/>
          <a:lstStyle/>
          <a:p>
            <a:r>
              <a:rPr lang="en-US" dirty="0"/>
              <a:t>Software </a:t>
            </a:r>
            <a:r>
              <a:rPr kumimoji="0" lang="en-US" altLang="en-US" sz="4400" i="0" u="none" strike="noStrike" cap="none" normalizeH="0" baseline="0" dirty="0">
                <a:ln>
                  <a:noFill/>
                </a:ln>
                <a:solidFill>
                  <a:schemeClr val="tx1"/>
                </a:solidFill>
                <a:effectLst/>
                <a:latin typeface="Arial" panose="020B0604020202020204" pitchFamily="34" charset="0"/>
              </a:rPr>
              <a:t>Configuration</a:t>
            </a:r>
            <a:endParaRPr lang="en-US" dirty="0"/>
          </a:p>
        </p:txBody>
      </p:sp>
    </p:spTree>
    <p:extLst>
      <p:ext uri="{BB962C8B-B14F-4D97-AF65-F5344CB8AC3E}">
        <p14:creationId xmlns:p14="http://schemas.microsoft.com/office/powerpoint/2010/main" val="3807191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Non-Functional Properties</a:t>
            </a:r>
          </a:p>
        </p:txBody>
      </p:sp>
      <p:sp>
        <p:nvSpPr>
          <p:cNvPr id="3" name="Content Placeholder 2"/>
          <p:cNvSpPr>
            <a:spLocks noGrp="1"/>
          </p:cNvSpPr>
          <p:nvPr>
            <p:ph idx="1"/>
          </p:nvPr>
        </p:nvSpPr>
        <p:spPr>
          <a:xfrm>
            <a:off x="457200" y="1508919"/>
            <a:ext cx="8229600" cy="4841887"/>
          </a:xfrm>
        </p:spPr>
        <p:txBody>
          <a:bodyPr>
            <a:normAutofit fontScale="92500" lnSpcReduction="20000"/>
          </a:bodyPr>
          <a:lstStyle/>
          <a:p>
            <a:pPr marL="0" indent="0" algn="ctr">
              <a:buNone/>
            </a:pPr>
            <a:r>
              <a:rPr lang="en-AU" dirty="0"/>
              <a:t>Non-Functional Properties arise from Architectural Design Choices</a:t>
            </a:r>
          </a:p>
          <a:p>
            <a:pPr marL="25400" indent="0">
              <a:buNone/>
            </a:pPr>
            <a:endParaRPr lang="en-AU" dirty="0"/>
          </a:p>
          <a:p>
            <a:pPr marL="0" indent="0">
              <a:buNone/>
            </a:pPr>
            <a:r>
              <a:rPr lang="en-AU" dirty="0"/>
              <a:t>There are two kinds of requirements:</a:t>
            </a:r>
          </a:p>
          <a:p>
            <a:pPr marL="673200" lvl="1" indent="-457200">
              <a:buFont typeface="+mj-lt"/>
              <a:buAutoNum type="arabicPeriod"/>
            </a:pPr>
            <a:r>
              <a:rPr lang="en-AU" sz="2400" u="sng" dirty="0"/>
              <a:t>Functional</a:t>
            </a:r>
            <a:r>
              <a:rPr lang="en-AU" sz="2400" dirty="0"/>
              <a:t> Requirements </a:t>
            </a:r>
          </a:p>
          <a:p>
            <a:pPr marL="1016000" lvl="2" indent="-295275"/>
            <a:r>
              <a:rPr lang="en-AU" dirty="0"/>
              <a:t>What does the system do, what are the inputs and outputs?</a:t>
            </a:r>
          </a:p>
          <a:p>
            <a:pPr marL="673200" lvl="1" indent="-457200">
              <a:buFont typeface="+mj-lt"/>
              <a:buAutoNum type="arabicPeriod"/>
            </a:pPr>
            <a:r>
              <a:rPr lang="en-AU" sz="2400" u="sng" dirty="0"/>
              <a:t>Non-Functional</a:t>
            </a:r>
            <a:r>
              <a:rPr lang="en-AU" sz="2400" dirty="0"/>
              <a:t> Requirements (a.k.a. </a:t>
            </a:r>
            <a:r>
              <a:rPr lang="en-AU" sz="2400" i="1" dirty="0"/>
              <a:t>Qualities</a:t>
            </a:r>
            <a:r>
              <a:rPr lang="en-AU" sz="2400" dirty="0"/>
              <a:t>, or </a:t>
            </a:r>
            <a:r>
              <a:rPr lang="en-AU" sz="2400" i="1" dirty="0"/>
              <a:t>-</a:t>
            </a:r>
            <a:r>
              <a:rPr lang="en-AU" sz="2400" i="1" dirty="0" err="1"/>
              <a:t>illities</a:t>
            </a:r>
            <a:r>
              <a:rPr lang="en-AU" sz="2400" dirty="0"/>
              <a:t>)</a:t>
            </a:r>
          </a:p>
          <a:p>
            <a:pPr lvl="2"/>
            <a:r>
              <a:rPr lang="en-AU" dirty="0"/>
              <a:t>How does the system do that, i.e., how fast, at what cost, …?</a:t>
            </a:r>
          </a:p>
          <a:p>
            <a:pPr lvl="2"/>
            <a:r>
              <a:rPr lang="en-AU" dirty="0"/>
              <a:t>e.g. “Performance” (latency, throughput, … )</a:t>
            </a:r>
          </a:p>
          <a:p>
            <a:pPr lvl="2"/>
            <a:r>
              <a:rPr lang="en-AU" dirty="0"/>
              <a:t>e.g. “Security” (confidentiality, integrity, availability, privacy, …)</a:t>
            </a:r>
          </a:p>
          <a:p>
            <a:pPr lvl="2"/>
            <a:r>
              <a:rPr lang="en-AU" dirty="0"/>
              <a:t>e.g. Usability, Reliability, Modifiability, …</a:t>
            </a:r>
          </a:p>
        </p:txBody>
      </p:sp>
      <p:sp>
        <p:nvSpPr>
          <p:cNvPr id="5" name="Foliennummernplatzhalter 4">
            <a:extLst>
              <a:ext uri="{FF2B5EF4-FFF2-40B4-BE49-F238E27FC236}">
                <a16:creationId xmlns:a16="http://schemas.microsoft.com/office/drawing/2014/main" id="{10D2686D-7D9C-498F-8BDE-8E44F836A080}"/>
              </a:ext>
            </a:extLst>
          </p:cNvPr>
          <p:cNvSpPr>
            <a:spLocks noGrp="1"/>
          </p:cNvSpPr>
          <p:nvPr>
            <p:ph type="sldNum" sz="quarter" idx="4"/>
          </p:nvPr>
        </p:nvSpPr>
        <p:spPr/>
        <p:txBody>
          <a:bodyPr/>
          <a:lstStyle/>
          <a:p>
            <a:fld id="{97F98C0B-273E-428A-ABCF-EBED2BA25188}" type="slidenum">
              <a:rPr lang="en-US" smtClean="0"/>
              <a:t>11</a:t>
            </a:fld>
            <a:endParaRPr lang="en-US"/>
          </a:p>
        </p:txBody>
      </p:sp>
      <p:sp>
        <p:nvSpPr>
          <p:cNvPr id="6" name="Rectangle 5"/>
          <p:cNvSpPr/>
          <p:nvPr/>
        </p:nvSpPr>
        <p:spPr>
          <a:xfrm>
            <a:off x="648000" y="1436235"/>
            <a:ext cx="7920000" cy="8675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40579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452" y="633992"/>
            <a:ext cx="8876872" cy="777600"/>
          </a:xfrm>
        </p:spPr>
        <p:txBody>
          <a:bodyPr>
            <a:normAutofit fontScale="90000"/>
          </a:bodyPr>
          <a:lstStyle/>
          <a:p>
            <a:r>
              <a:rPr lang="en-US" dirty="0"/>
              <a:t>Blockchain in Larger Software System</a:t>
            </a:r>
          </a:p>
        </p:txBody>
      </p:sp>
      <p:sp>
        <p:nvSpPr>
          <p:cNvPr id="8" name="Rectangle 7"/>
          <p:cNvSpPr/>
          <p:nvPr/>
        </p:nvSpPr>
        <p:spPr>
          <a:xfrm>
            <a:off x="1187624" y="1898115"/>
            <a:ext cx="1512168" cy="560063"/>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Applications</a:t>
            </a:r>
            <a:endParaRPr lang="en-US" dirty="0"/>
          </a:p>
        </p:txBody>
      </p:sp>
      <p:sp>
        <p:nvSpPr>
          <p:cNvPr id="9" name="Rectangle 8"/>
          <p:cNvSpPr/>
          <p:nvPr/>
        </p:nvSpPr>
        <p:spPr>
          <a:xfrm>
            <a:off x="1187624" y="2618195"/>
            <a:ext cx="6480720" cy="560063"/>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lIns="95095" tIns="47547" rIns="95095" bIns="47547" rtlCol="0" anchor="ctr"/>
          <a:lstStyle/>
          <a:p>
            <a:pPr algn="ctr"/>
            <a:r>
              <a:rPr lang="en-AU" dirty="0"/>
              <a:t>API</a:t>
            </a:r>
            <a:endParaRPr lang="en-US" dirty="0"/>
          </a:p>
        </p:txBody>
      </p:sp>
      <p:sp>
        <p:nvSpPr>
          <p:cNvPr id="10" name="Rectangle 9"/>
          <p:cNvSpPr/>
          <p:nvPr/>
        </p:nvSpPr>
        <p:spPr>
          <a:xfrm>
            <a:off x="3157354" y="3455462"/>
            <a:ext cx="1516691" cy="560063"/>
          </a:xfrm>
          <a:prstGeom prst="rect">
            <a:avLst/>
          </a:prstGeom>
          <a:ln/>
        </p:spPr>
        <p:style>
          <a:lnRef idx="1">
            <a:schemeClr val="accent1"/>
          </a:lnRef>
          <a:fillRef idx="2">
            <a:schemeClr val="accent1"/>
          </a:fillRef>
          <a:effectRef idx="1">
            <a:schemeClr val="accent1"/>
          </a:effectRef>
          <a:fontRef idx="minor">
            <a:schemeClr val="dk1"/>
          </a:fontRef>
        </p:style>
        <p:txBody>
          <a:bodyPr lIns="95095" tIns="47547" rIns="95095" bIns="47547" rtlCol="0" anchor="ctr"/>
          <a:lstStyle/>
          <a:p>
            <a:pPr algn="ctr"/>
            <a:r>
              <a:rPr lang="en-AU" dirty="0"/>
              <a:t>Tokens </a:t>
            </a:r>
            <a:r>
              <a:rPr lang="en-US" altLang="zh-CN" dirty="0"/>
              <a:t>/ Currencies</a:t>
            </a:r>
            <a:endParaRPr lang="en-US" dirty="0"/>
          </a:p>
        </p:txBody>
      </p:sp>
      <p:sp>
        <p:nvSpPr>
          <p:cNvPr id="11" name="Rectangle 10"/>
          <p:cNvSpPr/>
          <p:nvPr/>
        </p:nvSpPr>
        <p:spPr>
          <a:xfrm>
            <a:off x="4810249" y="3448548"/>
            <a:ext cx="1244675" cy="560063"/>
          </a:xfrm>
          <a:prstGeom prst="rect">
            <a:avLst/>
          </a:prstGeom>
          <a:ln/>
        </p:spPr>
        <p:style>
          <a:lnRef idx="1">
            <a:schemeClr val="accent1"/>
          </a:lnRef>
          <a:fillRef idx="2">
            <a:schemeClr val="accent1"/>
          </a:fillRef>
          <a:effectRef idx="1">
            <a:schemeClr val="accent1"/>
          </a:effectRef>
          <a:fontRef idx="minor">
            <a:schemeClr val="dk1"/>
          </a:fontRef>
        </p:style>
        <p:txBody>
          <a:bodyPr lIns="95095" tIns="47547" rIns="95095" bIns="47547" rtlCol="0" anchor="ctr"/>
          <a:lstStyle/>
          <a:p>
            <a:pPr algn="ctr"/>
            <a:r>
              <a:rPr lang="en-AU" dirty="0"/>
              <a:t>Smart</a:t>
            </a:r>
            <a:r>
              <a:rPr lang="zh-CN" altLang="en-US" dirty="0"/>
              <a:t> </a:t>
            </a:r>
            <a:r>
              <a:rPr lang="en-AU" altLang="zh-CN" dirty="0"/>
              <a:t>Contracts</a:t>
            </a:r>
            <a:endParaRPr lang="en-US" dirty="0"/>
          </a:p>
        </p:txBody>
      </p:sp>
      <p:sp>
        <p:nvSpPr>
          <p:cNvPr id="12" name="Rectangle 11"/>
          <p:cNvSpPr/>
          <p:nvPr/>
        </p:nvSpPr>
        <p:spPr>
          <a:xfrm>
            <a:off x="2843808" y="1898115"/>
            <a:ext cx="1512168" cy="560063"/>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Applications</a:t>
            </a:r>
            <a:endParaRPr lang="en-US" dirty="0"/>
          </a:p>
        </p:txBody>
      </p:sp>
      <p:sp>
        <p:nvSpPr>
          <p:cNvPr id="13" name="Rectangle 12"/>
          <p:cNvSpPr/>
          <p:nvPr/>
        </p:nvSpPr>
        <p:spPr>
          <a:xfrm>
            <a:off x="4492300" y="1927701"/>
            <a:ext cx="1512168" cy="560063"/>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Applications</a:t>
            </a:r>
            <a:endParaRPr lang="en-US" dirty="0"/>
          </a:p>
        </p:txBody>
      </p:sp>
      <p:sp>
        <p:nvSpPr>
          <p:cNvPr id="14" name="Can 13"/>
          <p:cNvSpPr/>
          <p:nvPr/>
        </p:nvSpPr>
        <p:spPr>
          <a:xfrm>
            <a:off x="3157353" y="4210972"/>
            <a:ext cx="2897570" cy="640071"/>
          </a:xfrm>
          <a:prstGeom prst="can">
            <a:avLst/>
          </a:prstGeom>
          <a:ln/>
        </p:spPr>
        <p:style>
          <a:lnRef idx="1">
            <a:schemeClr val="accent1"/>
          </a:lnRef>
          <a:fillRef idx="2">
            <a:schemeClr val="accent1"/>
          </a:fillRef>
          <a:effectRef idx="1">
            <a:schemeClr val="accent1"/>
          </a:effectRef>
          <a:fontRef idx="minor">
            <a:schemeClr val="dk1"/>
          </a:fontRef>
        </p:style>
        <p:txBody>
          <a:bodyPr lIns="95095" tIns="47547" rIns="95095" bIns="47547" rtlCol="0" anchor="ctr"/>
          <a:lstStyle/>
          <a:p>
            <a:pPr algn="ctr"/>
            <a:r>
              <a:rPr lang="en-US" dirty="0"/>
              <a:t>Shared Data Ledger </a:t>
            </a:r>
          </a:p>
          <a:p>
            <a:pPr algn="ctr"/>
            <a:r>
              <a:rPr lang="en-US" dirty="0"/>
              <a:t>(meta-data, small data)</a:t>
            </a:r>
          </a:p>
        </p:txBody>
      </p:sp>
      <p:sp>
        <p:nvSpPr>
          <p:cNvPr id="15" name="Rectangle 14"/>
          <p:cNvSpPr/>
          <p:nvPr/>
        </p:nvSpPr>
        <p:spPr>
          <a:xfrm>
            <a:off x="6156176" y="1898115"/>
            <a:ext cx="1512168" cy="560063"/>
          </a:xfrm>
          <a:prstGeom prst="rect">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Applications</a:t>
            </a:r>
            <a:endParaRPr lang="en-US" dirty="0"/>
          </a:p>
        </p:txBody>
      </p:sp>
      <p:sp>
        <p:nvSpPr>
          <p:cNvPr id="16" name="Rectangle 15"/>
          <p:cNvSpPr/>
          <p:nvPr/>
        </p:nvSpPr>
        <p:spPr>
          <a:xfrm>
            <a:off x="3030793" y="3338273"/>
            <a:ext cx="3144031" cy="2124926"/>
          </a:xfrm>
          <a:prstGeom prst="rect">
            <a:avLst/>
          </a:prstGeom>
          <a:noFill/>
          <a:ln w="38100" cmpd="sng">
            <a:solidFill>
              <a:schemeClr val="accent1">
                <a:lumMod val="50000"/>
              </a:schemeClr>
            </a:solidFill>
            <a:prstDash val="dash"/>
          </a:ln>
        </p:spPr>
        <p:style>
          <a:lnRef idx="2">
            <a:schemeClr val="accent1"/>
          </a:lnRef>
          <a:fillRef idx="1">
            <a:schemeClr val="lt1"/>
          </a:fillRef>
          <a:effectRef idx="0">
            <a:schemeClr val="accent1"/>
          </a:effectRef>
          <a:fontRef idx="minor">
            <a:schemeClr val="dk1"/>
          </a:fontRef>
        </p:style>
        <p:txBody>
          <a:bodyPr lIns="95095" tIns="47547" rIns="95095" bIns="47547" rtlCol="0" anchor="ctr"/>
          <a:lstStyle/>
          <a:p>
            <a:pPr algn="ctr"/>
            <a:endParaRPr lang="en-US" dirty="0"/>
          </a:p>
        </p:txBody>
      </p:sp>
      <p:sp>
        <p:nvSpPr>
          <p:cNvPr id="17" name="Rectangle 16"/>
          <p:cNvSpPr/>
          <p:nvPr/>
        </p:nvSpPr>
        <p:spPr>
          <a:xfrm>
            <a:off x="3037453" y="4995788"/>
            <a:ext cx="3143662" cy="311466"/>
          </a:xfrm>
          <a:prstGeom prst="rect">
            <a:avLst/>
          </a:prstGeom>
          <a:ln>
            <a:noFill/>
          </a:ln>
        </p:spPr>
        <p:txBody>
          <a:bodyPr wrap="square" lIns="95095" tIns="47547" rIns="95095" bIns="47547">
            <a:spAutoFit/>
          </a:bodyPr>
          <a:lstStyle/>
          <a:p>
            <a:pPr algn="ctr"/>
            <a:r>
              <a:rPr lang="en-AU" b="1" dirty="0" err="1">
                <a:solidFill>
                  <a:schemeClr val="accent3">
                    <a:lumMod val="50000"/>
                  </a:schemeClr>
                </a:solidFill>
              </a:rPr>
              <a:t>Blockchain</a:t>
            </a:r>
            <a:endParaRPr lang="en-US" b="1" dirty="0">
              <a:solidFill>
                <a:schemeClr val="accent3">
                  <a:lumMod val="50000"/>
                </a:schemeClr>
              </a:solidFill>
            </a:endParaRPr>
          </a:p>
        </p:txBody>
      </p:sp>
      <p:sp>
        <p:nvSpPr>
          <p:cNvPr id="18" name="Can 17"/>
          <p:cNvSpPr/>
          <p:nvPr/>
        </p:nvSpPr>
        <p:spPr>
          <a:xfrm>
            <a:off x="6421283" y="4206742"/>
            <a:ext cx="1147049" cy="642193"/>
          </a:xfrm>
          <a:prstGeom prst="can">
            <a:avLst/>
          </a:prstGeom>
          <a:ln/>
        </p:spPr>
        <p:style>
          <a:lnRef idx="2">
            <a:schemeClr val="accent5">
              <a:shade val="50000"/>
            </a:schemeClr>
          </a:lnRef>
          <a:fillRef idx="1">
            <a:schemeClr val="accent5"/>
          </a:fillRef>
          <a:effectRef idx="0">
            <a:schemeClr val="accent5"/>
          </a:effectRef>
          <a:fontRef idx="minor">
            <a:schemeClr val="lt1"/>
          </a:fontRef>
        </p:style>
        <p:txBody>
          <a:bodyPr lIns="95095" tIns="47547" rIns="95095" bIns="47547" rtlCol="0" anchor="ctr"/>
          <a:lstStyle/>
          <a:p>
            <a:pPr algn="ctr"/>
            <a:r>
              <a:rPr lang="en-US" dirty="0"/>
              <a:t>Big Data</a:t>
            </a:r>
          </a:p>
        </p:txBody>
      </p:sp>
      <p:sp>
        <p:nvSpPr>
          <p:cNvPr id="7" name="Can 6"/>
          <p:cNvSpPr/>
          <p:nvPr/>
        </p:nvSpPr>
        <p:spPr>
          <a:xfrm>
            <a:off x="6421282" y="3418283"/>
            <a:ext cx="1139906" cy="703048"/>
          </a:xfrm>
          <a:prstGeom prst="can">
            <a:avLst/>
          </a:prstGeom>
          <a:ln/>
        </p:spPr>
        <p:style>
          <a:lnRef idx="2">
            <a:schemeClr val="accent5">
              <a:shade val="50000"/>
            </a:schemeClr>
          </a:lnRef>
          <a:fillRef idx="1">
            <a:schemeClr val="accent5"/>
          </a:fillRef>
          <a:effectRef idx="0">
            <a:schemeClr val="accent5"/>
          </a:effectRef>
          <a:fontRef idx="minor">
            <a:schemeClr val="lt1"/>
          </a:fontRef>
        </p:style>
        <p:txBody>
          <a:bodyPr lIns="95095" tIns="47547" rIns="95095" bIns="47547" rtlCol="0" anchor="ctr"/>
          <a:lstStyle/>
          <a:p>
            <a:pPr algn="ctr"/>
            <a:r>
              <a:rPr lang="en-US" dirty="0"/>
              <a:t>Private Data</a:t>
            </a:r>
          </a:p>
        </p:txBody>
      </p:sp>
      <p:sp>
        <p:nvSpPr>
          <p:cNvPr id="19" name="Rectangle 18"/>
          <p:cNvSpPr/>
          <p:nvPr/>
        </p:nvSpPr>
        <p:spPr>
          <a:xfrm>
            <a:off x="6308045" y="3332981"/>
            <a:ext cx="1359581" cy="2130218"/>
          </a:xfrm>
          <a:prstGeom prst="rect">
            <a:avLst/>
          </a:prstGeom>
          <a:noFill/>
          <a:ln w="38100" cmpd="sng">
            <a:solidFill>
              <a:schemeClr val="accent1">
                <a:lumMod val="50000"/>
              </a:schemeClr>
            </a:solidFill>
            <a:prstDash val="dash"/>
          </a:ln>
        </p:spPr>
        <p:style>
          <a:lnRef idx="2">
            <a:schemeClr val="accent1"/>
          </a:lnRef>
          <a:fillRef idx="1">
            <a:schemeClr val="lt1"/>
          </a:fillRef>
          <a:effectRef idx="0">
            <a:schemeClr val="accent1"/>
          </a:effectRef>
          <a:fontRef idx="minor">
            <a:schemeClr val="dk1"/>
          </a:fontRef>
        </p:style>
        <p:txBody>
          <a:bodyPr lIns="95095" tIns="47547" rIns="95095" bIns="47547" rtlCol="0" anchor="ctr"/>
          <a:lstStyle/>
          <a:p>
            <a:pPr algn="ctr"/>
            <a:endParaRPr lang="en-US" dirty="0"/>
          </a:p>
        </p:txBody>
      </p:sp>
      <p:sp>
        <p:nvSpPr>
          <p:cNvPr id="20" name="Rectangle 19"/>
          <p:cNvSpPr/>
          <p:nvPr/>
        </p:nvSpPr>
        <p:spPr>
          <a:xfrm>
            <a:off x="6308046" y="4879489"/>
            <a:ext cx="1354817" cy="526910"/>
          </a:xfrm>
          <a:prstGeom prst="rect">
            <a:avLst/>
          </a:prstGeom>
          <a:ln>
            <a:noFill/>
          </a:ln>
        </p:spPr>
        <p:txBody>
          <a:bodyPr wrap="square" lIns="95095" tIns="47547" rIns="95095" bIns="47547">
            <a:spAutoFit/>
          </a:bodyPr>
          <a:lstStyle/>
          <a:p>
            <a:pPr algn="ctr"/>
            <a:r>
              <a:rPr lang="en-AU" b="1" dirty="0">
                <a:solidFill>
                  <a:schemeClr val="accent3">
                    <a:lumMod val="50000"/>
                  </a:schemeClr>
                </a:solidFill>
              </a:rPr>
              <a:t>Auxiliary </a:t>
            </a:r>
          </a:p>
          <a:p>
            <a:pPr algn="ctr"/>
            <a:r>
              <a:rPr lang="en-AU" b="1" dirty="0">
                <a:solidFill>
                  <a:schemeClr val="accent3">
                    <a:lumMod val="50000"/>
                  </a:schemeClr>
                </a:solidFill>
              </a:rPr>
              <a:t>Database</a:t>
            </a:r>
            <a:endParaRPr lang="en-US" b="1" dirty="0">
              <a:solidFill>
                <a:schemeClr val="accent3">
                  <a:lumMod val="50000"/>
                </a:schemeClr>
              </a:solidFill>
            </a:endParaRPr>
          </a:p>
        </p:txBody>
      </p:sp>
      <p:sp>
        <p:nvSpPr>
          <p:cNvPr id="25" name="Rectangle 24"/>
          <p:cNvSpPr/>
          <p:nvPr/>
        </p:nvSpPr>
        <p:spPr>
          <a:xfrm>
            <a:off x="1193397" y="3456655"/>
            <a:ext cx="1516691" cy="56006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Key Management</a:t>
            </a:r>
            <a:endParaRPr lang="en-US" dirty="0"/>
          </a:p>
        </p:txBody>
      </p:sp>
      <p:sp>
        <p:nvSpPr>
          <p:cNvPr id="26" name="Rectangle 25"/>
          <p:cNvSpPr/>
          <p:nvPr/>
        </p:nvSpPr>
        <p:spPr>
          <a:xfrm>
            <a:off x="1194458" y="4286697"/>
            <a:ext cx="1516691" cy="56006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Key Management</a:t>
            </a:r>
            <a:endParaRPr lang="en-US" dirty="0"/>
          </a:p>
        </p:txBody>
      </p:sp>
      <p:sp>
        <p:nvSpPr>
          <p:cNvPr id="27" name="Rectangle 26"/>
          <p:cNvSpPr/>
          <p:nvPr/>
        </p:nvSpPr>
        <p:spPr>
          <a:xfrm>
            <a:off x="1255472" y="4354490"/>
            <a:ext cx="1516691" cy="56006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Key Management</a:t>
            </a:r>
            <a:endParaRPr lang="en-US" dirty="0"/>
          </a:p>
        </p:txBody>
      </p:sp>
      <p:sp>
        <p:nvSpPr>
          <p:cNvPr id="28" name="Rectangle 27"/>
          <p:cNvSpPr/>
          <p:nvPr/>
        </p:nvSpPr>
        <p:spPr>
          <a:xfrm>
            <a:off x="1329808" y="4422284"/>
            <a:ext cx="1516691" cy="56006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lIns="95095" tIns="47547" rIns="95095" bIns="47547" rtlCol="0" anchor="ctr"/>
          <a:lstStyle/>
          <a:p>
            <a:pPr algn="ctr"/>
            <a:r>
              <a:rPr lang="en-AU" dirty="0"/>
              <a:t>Component</a:t>
            </a:r>
            <a:endParaRPr lang="en-US" dirty="0"/>
          </a:p>
        </p:txBody>
      </p:sp>
    </p:spTree>
    <p:extLst>
      <p:ext uri="{BB962C8B-B14F-4D97-AF65-F5344CB8AC3E}">
        <p14:creationId xmlns:p14="http://schemas.microsoft.com/office/powerpoint/2010/main" val="3547955277"/>
      </p:ext>
    </p:extLst>
  </p:cSld>
  <p:clrMapOvr>
    <a:masterClrMapping/>
  </p:clrMapOvr>
  <mc:AlternateContent xmlns:mc="http://schemas.openxmlformats.org/markup-compatibility/2006" xmlns:p14="http://schemas.microsoft.com/office/powerpoint/2010/main">
    <mc:Choice Requires="p14">
      <p:transition spd="slow" p14:dur="2000" advTm="49260"/>
    </mc:Choice>
    <mc:Fallback xmlns="">
      <p:transition xmlns:p14="http://schemas.microsoft.com/office/powerpoint/2010/main" spd="slow" advTm="4926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AEEBFF9-9481-D33B-2AE0-8FB6DA402079}"/>
              </a:ext>
            </a:extLst>
          </p:cNvPr>
          <p:cNvSpPr>
            <a:spLocks noChangeArrowheads="1"/>
          </p:cNvSpPr>
          <p:nvPr/>
        </p:nvSpPr>
        <p:spPr bwMode="auto">
          <a:xfrm>
            <a:off x="277402" y="1385371"/>
            <a:ext cx="844535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Blockchain is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one component</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 a larger enterprise software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Users interact with blockchain through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applications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not directly.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Multiple applications can share the same blockchain platform.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Applications communicate with blockchain using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APIs (Application Programming Interfaces)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Blockchain provides a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shared, trusted, and tamper-proof ledger</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Business logic is implemented using </a:t>
            </a: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Smart Contracts</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Large business data is stored outside the blockchain in external databases.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Together, applications, APIs, blockchain, and databases form a complete enterprise solution. </a:t>
            </a:r>
          </a:p>
        </p:txBody>
      </p:sp>
      <p:sp>
        <p:nvSpPr>
          <p:cNvPr id="6" name="TextBox 5">
            <a:extLst>
              <a:ext uri="{FF2B5EF4-FFF2-40B4-BE49-F238E27FC236}">
                <a16:creationId xmlns:a16="http://schemas.microsoft.com/office/drawing/2014/main" id="{2AA8DACC-5CB5-AAD6-2D50-D4608EA82EB0}"/>
              </a:ext>
            </a:extLst>
          </p:cNvPr>
          <p:cNvSpPr txBox="1"/>
          <p:nvPr/>
        </p:nvSpPr>
        <p:spPr>
          <a:xfrm>
            <a:off x="71919" y="671315"/>
            <a:ext cx="7448764" cy="523220"/>
          </a:xfrm>
          <a:prstGeom prst="rect">
            <a:avLst/>
          </a:prstGeom>
          <a:noFill/>
        </p:spPr>
        <p:txBody>
          <a:bodyPr wrap="square">
            <a:spAutoFit/>
          </a:bodyPr>
          <a:lstStyle/>
          <a:p>
            <a:r>
              <a:rPr lang="en-US" sz="2800" dirty="0"/>
              <a:t>Overview of Blockchain in a Software System</a:t>
            </a:r>
            <a:endParaRPr lang="en-IN" sz="2800" dirty="0"/>
          </a:p>
        </p:txBody>
      </p:sp>
    </p:spTree>
    <p:extLst>
      <p:ext uri="{BB962C8B-B14F-4D97-AF65-F5344CB8AC3E}">
        <p14:creationId xmlns:p14="http://schemas.microsoft.com/office/powerpoint/2010/main" val="2123554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09D408C-E3CF-8E90-C3F7-B5C625D7D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927D8-EA2F-9B00-50E6-6E58D1DD3B99}"/>
              </a:ext>
            </a:extLst>
          </p:cNvPr>
          <p:cNvSpPr>
            <a:spLocks noGrp="1"/>
          </p:cNvSpPr>
          <p:nvPr>
            <p:ph type="title"/>
          </p:nvPr>
        </p:nvSpPr>
        <p:spPr>
          <a:xfrm>
            <a:off x="0" y="600780"/>
            <a:ext cx="8782493" cy="777600"/>
          </a:xfrm>
        </p:spPr>
        <p:txBody>
          <a:bodyPr>
            <a:normAutofit fontScale="90000"/>
          </a:bodyPr>
          <a:lstStyle/>
          <a:p>
            <a:r>
              <a:rPr lang="en-US" dirty="0"/>
              <a:t>Blockchain in Larger Software System</a:t>
            </a:r>
          </a:p>
        </p:txBody>
      </p:sp>
      <p:sp>
        <p:nvSpPr>
          <p:cNvPr id="4" name="TextBox 3">
            <a:extLst>
              <a:ext uri="{FF2B5EF4-FFF2-40B4-BE49-F238E27FC236}">
                <a16:creationId xmlns:a16="http://schemas.microsoft.com/office/drawing/2014/main" id="{E4EC7F62-181F-9225-8BB3-3927F1FCF109}"/>
              </a:ext>
            </a:extLst>
          </p:cNvPr>
          <p:cNvSpPr txBox="1"/>
          <p:nvPr/>
        </p:nvSpPr>
        <p:spPr>
          <a:xfrm>
            <a:off x="278130" y="1478949"/>
            <a:ext cx="7932474" cy="4401205"/>
          </a:xfrm>
          <a:prstGeom prst="rect">
            <a:avLst/>
          </a:prstGeom>
          <a:noFill/>
        </p:spPr>
        <p:txBody>
          <a:bodyPr wrap="square">
            <a:spAutoFit/>
          </a:bodyPr>
          <a:lstStyle/>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The blockchain stores and shares data, and executes smart contracts. </a:t>
            </a:r>
          </a:p>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The blockchain component might also control digital currency or represent other assets. </a:t>
            </a:r>
          </a:p>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Due to limitations of privacy and scalability, there are also off-chain auxiliary databases used in the system. </a:t>
            </a:r>
          </a:p>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First, private data is stored in an internal database. Second, large data is stored separately, such as in a cloud service. </a:t>
            </a:r>
          </a:p>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There is an API layer between the three data storage mechanisms. </a:t>
            </a:r>
          </a:p>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Key management is an essential component when working with blockchains. </a:t>
            </a:r>
          </a:p>
          <a:p>
            <a:pPr marL="171450" marR="0" indent="-171450" algn="just" defTabSz="914400" rtl="0" eaLnBrk="1" fontAlgn="auto" latinLnBrk="0" hangingPunct="1">
              <a:lnSpc>
                <a:spcPct val="100000"/>
              </a:lnSpc>
              <a:spcBef>
                <a:spcPts val="0"/>
              </a:spcBef>
              <a:spcAft>
                <a:spcPts val="0"/>
              </a:spcAft>
              <a:buClrTx/>
              <a:buSzTx/>
              <a:buFont typeface="Arial"/>
              <a:buChar char="•"/>
              <a:tabLst/>
              <a:defRPr/>
            </a:pPr>
            <a:r>
              <a:rPr lang="en-US" sz="2000" kern="1200" dirty="0">
                <a:solidFill>
                  <a:schemeClr val="tx1"/>
                </a:solidFill>
                <a:effectLst/>
                <a:latin typeface="+mn-lt"/>
                <a:ea typeface="+mn-ea"/>
                <a:cs typeface="+mn-cs"/>
              </a:rPr>
              <a:t>Every participant in a blockchain network has one or more private keys, which are used by the participant to digitally sign its transactions. </a:t>
            </a:r>
            <a:endParaRPr lang="en-US" sz="2000" dirty="0"/>
          </a:p>
        </p:txBody>
      </p:sp>
    </p:spTree>
    <p:extLst>
      <p:ext uri="{BB962C8B-B14F-4D97-AF65-F5344CB8AC3E}">
        <p14:creationId xmlns:p14="http://schemas.microsoft.com/office/powerpoint/2010/main" val="4008429205"/>
      </p:ext>
    </p:extLst>
  </p:cSld>
  <p:clrMapOvr>
    <a:masterClrMapping/>
  </p:clrMapOvr>
  <mc:AlternateContent xmlns:mc="http://schemas.openxmlformats.org/markup-compatibility/2006" xmlns:p14="http://schemas.microsoft.com/office/powerpoint/2010/main">
    <mc:Choice Requires="p14">
      <p:transition spd="slow" p14:dur="2000" advTm="49260"/>
    </mc:Choice>
    <mc:Fallback xmlns="">
      <p:transition spd="slow" advTm="4926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5DE4B6-ABAC-8658-D620-BA95EC61B06A}"/>
              </a:ext>
            </a:extLst>
          </p:cNvPr>
          <p:cNvSpPr>
            <a:spLocks noGrp="1"/>
          </p:cNvSpPr>
          <p:nvPr>
            <p:ph idx="1"/>
          </p:nvPr>
        </p:nvSpPr>
        <p:spPr>
          <a:xfrm>
            <a:off x="380874" y="1330255"/>
            <a:ext cx="8865868" cy="5182146"/>
          </a:xfrm>
        </p:spPr>
        <p:txBody>
          <a:bodyPr>
            <a:normAutofit fontScale="40000" lnSpcReduction="20000"/>
          </a:bodyPr>
          <a:lstStyle/>
          <a:p>
            <a:pPr>
              <a:buNone/>
            </a:pPr>
            <a:r>
              <a:rPr lang="en-US" sz="6000" b="1" dirty="0"/>
              <a:t>1. Shared Data Ledger</a:t>
            </a:r>
          </a:p>
          <a:p>
            <a:pPr>
              <a:buFont typeface="Arial" panose="020B0604020202020204" pitchFamily="34" charset="0"/>
              <a:buChar char="•"/>
            </a:pPr>
            <a:r>
              <a:rPr lang="en-US" sz="6000" dirty="0"/>
              <a:t>Stores shared and immutable transaction records. </a:t>
            </a:r>
          </a:p>
          <a:p>
            <a:pPr>
              <a:buFont typeface="Arial" panose="020B0604020202020204" pitchFamily="34" charset="0"/>
              <a:buChar char="•"/>
            </a:pPr>
            <a:r>
              <a:rPr lang="en-US" sz="6000" dirty="0"/>
              <a:t>Contains transaction metadata and small amounts of business data. </a:t>
            </a:r>
          </a:p>
          <a:p>
            <a:pPr>
              <a:buFont typeface="Arial" panose="020B0604020202020204" pitchFamily="34" charset="0"/>
              <a:buChar char="•"/>
            </a:pPr>
            <a:r>
              <a:rPr lang="en-US" sz="6000" dirty="0"/>
              <a:t>Every participating organization maintains the same copy. </a:t>
            </a:r>
          </a:p>
          <a:p>
            <a:pPr>
              <a:buFont typeface="Arial" panose="020B0604020202020204" pitchFamily="34" charset="0"/>
              <a:buChar char="•"/>
            </a:pPr>
            <a:r>
              <a:rPr lang="en-US" sz="6000" dirty="0"/>
              <a:t>Prevents unauthorized modification of records. </a:t>
            </a:r>
          </a:p>
          <a:p>
            <a:pPr>
              <a:buNone/>
            </a:pPr>
            <a:r>
              <a:rPr lang="en-US" sz="6000" b="1" dirty="0"/>
              <a:t>2. Smart Contracts</a:t>
            </a:r>
          </a:p>
          <a:p>
            <a:pPr>
              <a:buFont typeface="Arial" panose="020B0604020202020204" pitchFamily="34" charset="0"/>
              <a:buChar char="•"/>
            </a:pPr>
            <a:r>
              <a:rPr lang="en-US" sz="6000" dirty="0"/>
              <a:t>Self-executing programs stored on the blockchain. </a:t>
            </a:r>
          </a:p>
          <a:p>
            <a:pPr>
              <a:buFont typeface="Arial" panose="020B0604020202020204" pitchFamily="34" charset="0"/>
              <a:buChar char="•"/>
            </a:pPr>
            <a:r>
              <a:rPr lang="en-US" sz="6000" dirty="0"/>
              <a:t>Automatically enforce business rules. </a:t>
            </a:r>
          </a:p>
          <a:p>
            <a:pPr>
              <a:buFont typeface="Arial" panose="020B0604020202020204" pitchFamily="34" charset="0"/>
              <a:buChar char="•"/>
            </a:pPr>
            <a:r>
              <a:rPr lang="en-US" sz="6000" dirty="0"/>
              <a:t>Eliminate intermediaries and manual processing. </a:t>
            </a:r>
          </a:p>
          <a:p>
            <a:pPr>
              <a:buNone/>
            </a:pPr>
            <a:r>
              <a:rPr lang="en-US" sz="6000" b="1" dirty="0"/>
              <a:t>3. Tokens/Currencies</a:t>
            </a:r>
          </a:p>
          <a:p>
            <a:pPr>
              <a:buFont typeface="Arial" panose="020B0604020202020204" pitchFamily="34" charset="0"/>
              <a:buChar char="•"/>
            </a:pPr>
            <a:r>
              <a:rPr lang="en-US" sz="6000" dirty="0"/>
              <a:t>Represent digital assets or cryptocurrencies. </a:t>
            </a:r>
          </a:p>
          <a:p>
            <a:pPr>
              <a:buFont typeface="Arial" panose="020B0604020202020204" pitchFamily="34" charset="0"/>
              <a:buChar char="•"/>
            </a:pPr>
            <a:r>
              <a:rPr lang="en-US" sz="6000" dirty="0"/>
              <a:t>Enable secure transfer of value between participants. </a:t>
            </a:r>
          </a:p>
          <a:p>
            <a:pPr>
              <a:buFont typeface="Arial" panose="020B0604020202020204" pitchFamily="34" charset="0"/>
              <a:buChar char="•"/>
            </a:pPr>
            <a:r>
              <a:rPr lang="en-US" sz="6000" dirty="0"/>
              <a:t>Can also represent ownership of physical or digital assets. </a:t>
            </a:r>
          </a:p>
          <a:p>
            <a:endParaRPr lang="en-IN" dirty="0"/>
          </a:p>
        </p:txBody>
      </p:sp>
      <p:sp>
        <p:nvSpPr>
          <p:cNvPr id="3" name="Title 2">
            <a:extLst>
              <a:ext uri="{FF2B5EF4-FFF2-40B4-BE49-F238E27FC236}">
                <a16:creationId xmlns:a16="http://schemas.microsoft.com/office/drawing/2014/main" id="{0D9B31F7-71C0-7CEE-8EFE-88993DD48B57}"/>
              </a:ext>
            </a:extLst>
          </p:cNvPr>
          <p:cNvSpPr>
            <a:spLocks noGrp="1"/>
          </p:cNvSpPr>
          <p:nvPr>
            <p:ph type="title"/>
          </p:nvPr>
        </p:nvSpPr>
        <p:spPr>
          <a:xfrm>
            <a:off x="-389691" y="331602"/>
            <a:ext cx="7499407" cy="777600"/>
          </a:xfrm>
        </p:spPr>
        <p:txBody>
          <a:bodyPr>
            <a:normAutofit fontScale="90000"/>
          </a:bodyPr>
          <a:lstStyle/>
          <a:p>
            <a:r>
              <a:rPr lang="en-US" dirty="0"/>
              <a:t>Core Components of the Blockchain Layer</a:t>
            </a:r>
            <a:endParaRPr lang="en-IN" dirty="0"/>
          </a:p>
        </p:txBody>
      </p:sp>
    </p:spTree>
    <p:extLst>
      <p:ext uri="{BB962C8B-B14F-4D97-AF65-F5344CB8AC3E}">
        <p14:creationId xmlns:p14="http://schemas.microsoft.com/office/powerpoint/2010/main" val="4404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A14A1E-B778-3BC3-30EA-A1B47CEEE413}"/>
              </a:ext>
            </a:extLst>
          </p:cNvPr>
          <p:cNvSpPr>
            <a:spLocks noGrp="1"/>
          </p:cNvSpPr>
          <p:nvPr>
            <p:ph idx="1"/>
          </p:nvPr>
        </p:nvSpPr>
        <p:spPr/>
        <p:txBody>
          <a:bodyPr>
            <a:normAutofit fontScale="70000" lnSpcReduction="20000"/>
          </a:bodyPr>
          <a:lstStyle/>
          <a:p>
            <a:pPr>
              <a:buNone/>
            </a:pPr>
            <a:r>
              <a:rPr lang="en-US" b="1" dirty="0"/>
              <a:t>4. Key Management</a:t>
            </a:r>
          </a:p>
          <a:p>
            <a:pPr>
              <a:buFont typeface="Arial" panose="020B0604020202020204" pitchFamily="34" charset="0"/>
              <a:buChar char="•"/>
            </a:pPr>
            <a:r>
              <a:rPr lang="en-US" dirty="0"/>
              <a:t>Generates and manages public/private cryptographic keys. </a:t>
            </a:r>
          </a:p>
          <a:p>
            <a:pPr>
              <a:buFont typeface="Arial" panose="020B0604020202020204" pitchFamily="34" charset="0"/>
              <a:buChar char="•"/>
            </a:pPr>
            <a:r>
              <a:rPr lang="en-US" dirty="0"/>
              <a:t>Ensures secure authentication and digital signatures. </a:t>
            </a:r>
          </a:p>
          <a:p>
            <a:pPr>
              <a:buFont typeface="Arial" panose="020B0604020202020204" pitchFamily="34" charset="0"/>
              <a:buChar char="•"/>
            </a:pPr>
            <a:r>
              <a:rPr lang="en-US" dirty="0"/>
              <a:t>Protects user identity and transaction ownership.</a:t>
            </a:r>
          </a:p>
          <a:p>
            <a:pPr>
              <a:buNone/>
            </a:pPr>
            <a:r>
              <a:rPr lang="en-IN" b="1" dirty="0"/>
              <a:t>5. Auxiliary Database</a:t>
            </a:r>
          </a:p>
          <a:p>
            <a:pPr>
              <a:buNone/>
            </a:pPr>
            <a:r>
              <a:rPr lang="en-IN" dirty="0"/>
              <a:t>Stores</a:t>
            </a:r>
          </a:p>
          <a:p>
            <a:pPr>
              <a:buFont typeface="Arial" panose="020B0604020202020204" pitchFamily="34" charset="0"/>
              <a:buChar char="•"/>
            </a:pPr>
            <a:r>
              <a:rPr lang="en-IN" dirty="0"/>
              <a:t>Private business information </a:t>
            </a:r>
          </a:p>
          <a:p>
            <a:pPr>
              <a:buFont typeface="Arial" panose="020B0604020202020204" pitchFamily="34" charset="0"/>
              <a:buChar char="•"/>
            </a:pPr>
            <a:r>
              <a:rPr lang="en-IN" dirty="0"/>
              <a:t>Large documents </a:t>
            </a:r>
          </a:p>
          <a:p>
            <a:pPr>
              <a:buFont typeface="Arial" panose="020B0604020202020204" pitchFamily="34" charset="0"/>
              <a:buChar char="•"/>
            </a:pPr>
            <a:r>
              <a:rPr lang="en-IN" dirty="0"/>
              <a:t>Images </a:t>
            </a:r>
          </a:p>
          <a:p>
            <a:pPr>
              <a:buFont typeface="Arial" panose="020B0604020202020204" pitchFamily="34" charset="0"/>
              <a:buChar char="•"/>
            </a:pPr>
            <a:r>
              <a:rPr lang="en-IN" dirty="0"/>
              <a:t>Videos </a:t>
            </a:r>
          </a:p>
          <a:p>
            <a:pPr>
              <a:buFont typeface="Arial" panose="020B0604020202020204" pitchFamily="34" charset="0"/>
              <a:buChar char="•"/>
            </a:pPr>
            <a:r>
              <a:rPr lang="en-IN" dirty="0"/>
              <a:t>Analytics data</a:t>
            </a:r>
          </a:p>
          <a:p>
            <a:endParaRPr lang="en-IN" dirty="0"/>
          </a:p>
        </p:txBody>
      </p:sp>
      <p:sp>
        <p:nvSpPr>
          <p:cNvPr id="5" name="Title 2">
            <a:extLst>
              <a:ext uri="{FF2B5EF4-FFF2-40B4-BE49-F238E27FC236}">
                <a16:creationId xmlns:a16="http://schemas.microsoft.com/office/drawing/2014/main" id="{F3004E71-ADB3-D779-A389-5ED1FA323DB2}"/>
              </a:ext>
            </a:extLst>
          </p:cNvPr>
          <p:cNvSpPr>
            <a:spLocks noGrp="1"/>
          </p:cNvSpPr>
          <p:nvPr>
            <p:ph type="title"/>
          </p:nvPr>
        </p:nvSpPr>
        <p:spPr>
          <a:xfrm>
            <a:off x="-132837" y="280231"/>
            <a:ext cx="7499407" cy="777600"/>
          </a:xfrm>
        </p:spPr>
        <p:txBody>
          <a:bodyPr>
            <a:normAutofit fontScale="90000"/>
          </a:bodyPr>
          <a:lstStyle/>
          <a:p>
            <a:r>
              <a:rPr lang="en-US" dirty="0"/>
              <a:t>Core Components of the Blockchain Layer</a:t>
            </a:r>
            <a:endParaRPr lang="en-IN" dirty="0"/>
          </a:p>
        </p:txBody>
      </p:sp>
    </p:spTree>
    <p:extLst>
      <p:ext uri="{BB962C8B-B14F-4D97-AF65-F5344CB8AC3E}">
        <p14:creationId xmlns:p14="http://schemas.microsoft.com/office/powerpoint/2010/main" val="102001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1242" y="304893"/>
            <a:ext cx="6631640" cy="648000"/>
          </a:xfrm>
        </p:spPr>
        <p:txBody>
          <a:bodyPr>
            <a:noAutofit/>
          </a:bodyPr>
          <a:lstStyle/>
          <a:p>
            <a:r>
              <a:rPr lang="en-US" sz="2800" dirty="0"/>
              <a:t>Benefits of Architecture for Blockchain applications</a:t>
            </a:r>
          </a:p>
        </p:txBody>
      </p:sp>
      <p:sp>
        <p:nvSpPr>
          <p:cNvPr id="21" name="Content Placeholder 20"/>
          <p:cNvSpPr>
            <a:spLocks noGrp="1"/>
          </p:cNvSpPr>
          <p:nvPr>
            <p:ph idx="1"/>
          </p:nvPr>
        </p:nvSpPr>
        <p:spPr>
          <a:xfrm>
            <a:off x="81242" y="1525772"/>
            <a:ext cx="8722516" cy="4525963"/>
          </a:xfrm>
        </p:spPr>
        <p:txBody>
          <a:bodyPr>
            <a:normAutofit lnSpcReduction="10000"/>
          </a:bodyPr>
          <a:lstStyle/>
          <a:p>
            <a:r>
              <a:rPr lang="en-US" dirty="0"/>
              <a:t>Understanding important architectural impacts</a:t>
            </a:r>
          </a:p>
          <a:p>
            <a:pPr lvl="1"/>
            <a:r>
              <a:rPr lang="en-US" dirty="0"/>
              <a:t>Performance and other quality attributes </a:t>
            </a:r>
          </a:p>
          <a:p>
            <a:pPr lvl="1"/>
            <a:r>
              <a:rPr lang="en-US" dirty="0"/>
              <a:t>Security, privacy, scalability, sustainability</a:t>
            </a:r>
            <a:r>
              <a:rPr lang="mr-IN" dirty="0"/>
              <a:t>…</a:t>
            </a:r>
            <a:endParaRPr lang="en-AU" dirty="0"/>
          </a:p>
          <a:p>
            <a:r>
              <a:rPr lang="en-AU" dirty="0"/>
              <a:t>Design trade-offs regarding quality attributes</a:t>
            </a:r>
          </a:p>
          <a:p>
            <a:r>
              <a:rPr lang="en-AU" dirty="0"/>
              <a:t>Making informed</a:t>
            </a:r>
            <a:r>
              <a:rPr lang="en-US" dirty="0"/>
              <a:t> architectural</a:t>
            </a:r>
            <a:r>
              <a:rPr lang="en-AU" dirty="0"/>
              <a:t> decisions</a:t>
            </a:r>
          </a:p>
          <a:p>
            <a:pPr lvl="1"/>
            <a:r>
              <a:rPr lang="en-AU" dirty="0"/>
              <a:t>…and documenting them</a:t>
            </a:r>
          </a:p>
          <a:p>
            <a:r>
              <a:rPr lang="en-US" dirty="0"/>
              <a:t>Rationale to support architectural decisions </a:t>
            </a:r>
          </a:p>
          <a:p>
            <a:pPr lvl="1"/>
            <a:r>
              <a:rPr lang="en-US" dirty="0"/>
              <a:t>Whether to employ a blockchain or some conventional components</a:t>
            </a:r>
          </a:p>
        </p:txBody>
      </p:sp>
      <p:sp>
        <p:nvSpPr>
          <p:cNvPr id="4" name="Foliennummernplatzhalter 3">
            <a:extLst>
              <a:ext uri="{FF2B5EF4-FFF2-40B4-BE49-F238E27FC236}">
                <a16:creationId xmlns:a16="http://schemas.microsoft.com/office/drawing/2014/main" id="{58C6F846-DA3A-45DA-89ED-9144A5F744D3}"/>
              </a:ext>
            </a:extLst>
          </p:cNvPr>
          <p:cNvSpPr>
            <a:spLocks noGrp="1"/>
          </p:cNvSpPr>
          <p:nvPr>
            <p:ph type="sldNum" sz="quarter" idx="4"/>
          </p:nvPr>
        </p:nvSpPr>
        <p:spPr/>
        <p:txBody>
          <a:bodyPr/>
          <a:lstStyle/>
          <a:p>
            <a:fld id="{97F98C0B-273E-428A-ABCF-EBED2BA25188}" type="slidenum">
              <a:rPr lang="en-US" smtClean="0"/>
              <a:t>17</a:t>
            </a:fld>
            <a:endParaRPr lang="en-US"/>
          </a:p>
        </p:txBody>
      </p:sp>
    </p:spTree>
    <p:extLst>
      <p:ext uri="{BB962C8B-B14F-4D97-AF65-F5344CB8AC3E}">
        <p14:creationId xmlns:p14="http://schemas.microsoft.com/office/powerpoint/2010/main" val="3515050957"/>
      </p:ext>
    </p:extLst>
  </p:cSld>
  <p:clrMapOvr>
    <a:masterClrMapping/>
  </p:clrMapOvr>
  <mc:AlternateContent xmlns:mc="http://schemas.openxmlformats.org/markup-compatibility/2006" xmlns:p14="http://schemas.microsoft.com/office/powerpoint/2010/main">
    <mc:Choice Requires="p14">
      <p:transition spd="slow" p14:dur="2000" advTm="49260"/>
    </mc:Choice>
    <mc:Fallback xmlns="">
      <p:transition xmlns:p14="http://schemas.microsoft.com/office/powerpoint/2010/main" spd="slow" advTm="492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1143000"/>
          </a:xfrm>
        </p:spPr>
        <p:txBody>
          <a:bodyPr>
            <a:normAutofit fontScale="90000"/>
          </a:bodyPr>
          <a:lstStyle/>
          <a:p>
            <a:r>
              <a:rPr lang="en-US" dirty="0"/>
              <a:t>Blockchain as a Software Component</a:t>
            </a:r>
          </a:p>
        </p:txBody>
      </p:sp>
      <p:sp>
        <p:nvSpPr>
          <p:cNvPr id="21" name="Content Placeholder 20"/>
          <p:cNvSpPr>
            <a:spLocks noGrp="1"/>
          </p:cNvSpPr>
          <p:nvPr>
            <p:ph idx="1"/>
          </p:nvPr>
        </p:nvSpPr>
        <p:spPr>
          <a:xfrm>
            <a:off x="0" y="1417638"/>
            <a:ext cx="9041258" cy="5294252"/>
          </a:xfrm>
        </p:spPr>
        <p:txBody>
          <a:bodyPr>
            <a:normAutofit fontScale="25000" lnSpcReduction="20000"/>
          </a:bodyPr>
          <a:lstStyle/>
          <a:p>
            <a:r>
              <a:rPr lang="en-US" sz="8400" b="1" dirty="0"/>
              <a:t>Complex, network-based software component</a:t>
            </a:r>
          </a:p>
          <a:p>
            <a:pPr indent="-457200" algn="just" defTabSz="914400" eaLnBrk="1" fontAlgn="auto" latinLnBrk="0" hangingPunct="1">
              <a:spcBef>
                <a:spcPts val="0"/>
              </a:spcBef>
              <a:buSzTx/>
              <a:buFont typeface="Wingdings" panose="05000000000000000000" pitchFamily="2" charset="2"/>
              <a:buChar char="ü"/>
              <a:tabLst/>
              <a:defRPr/>
            </a:pPr>
            <a:r>
              <a:rPr lang="en-US" sz="8400" dirty="0"/>
              <a:t>As a component, blockchain has unique properties and limitations. </a:t>
            </a:r>
          </a:p>
          <a:p>
            <a:pPr indent="-457200" algn="just" defTabSz="914400" eaLnBrk="1" fontAlgn="auto" latinLnBrk="0" hangingPunct="1">
              <a:spcBef>
                <a:spcPts val="0"/>
              </a:spcBef>
              <a:buSzTx/>
              <a:buFont typeface="Wingdings" panose="05000000000000000000" pitchFamily="2" charset="2"/>
              <a:buChar char="ü"/>
              <a:tabLst/>
              <a:defRPr/>
            </a:pPr>
            <a:r>
              <a:rPr lang="en-US" sz="8400" dirty="0"/>
              <a:t>Blockchains are complex, network-based software components, which can provide data storage, computation services, and communication services. </a:t>
            </a:r>
          </a:p>
          <a:p>
            <a:pPr indent="-457200" algn="just" defTabSz="914400" eaLnBrk="1" fontAlgn="auto" latinLnBrk="0" hangingPunct="1">
              <a:spcBef>
                <a:spcPts val="0"/>
              </a:spcBef>
              <a:buSzTx/>
              <a:buFont typeface="Wingdings" panose="05000000000000000000" pitchFamily="2" charset="2"/>
              <a:buChar char="ü"/>
              <a:tabLst/>
              <a:defRPr/>
            </a:pPr>
            <a:r>
              <a:rPr lang="en-US" sz="8400" dirty="0"/>
              <a:t>Blockchain features can include cryptographically-secure payment, mining, transaction validation, incentive mechanisms, and permission management. </a:t>
            </a:r>
          </a:p>
          <a:p>
            <a:pPr indent="-457200" algn="just" defTabSz="914400" eaLnBrk="1" fontAlgn="auto" latinLnBrk="0" hangingPunct="1">
              <a:spcBef>
                <a:spcPts val="0"/>
              </a:spcBef>
              <a:buSzTx/>
              <a:buFont typeface="Wingdings" panose="05000000000000000000" pitchFamily="2" charset="2"/>
              <a:buChar char="ü"/>
              <a:tabLst/>
              <a:defRPr/>
            </a:pPr>
            <a:r>
              <a:rPr lang="en-US" sz="8400" dirty="0"/>
              <a:t>A so-called ‘oracle’ may supply information about the external world to the blockchain, usually by adding that information to the blockchain as data in a transaction. </a:t>
            </a:r>
          </a:p>
          <a:p>
            <a:pPr marL="342900" lvl="1" indent="0">
              <a:buNone/>
            </a:pPr>
            <a:endParaRPr lang="en-AU" sz="8400" dirty="0"/>
          </a:p>
          <a:p>
            <a:r>
              <a:rPr lang="en-AU" sz="8400" b="1" dirty="0"/>
              <a:t>Features</a:t>
            </a:r>
          </a:p>
          <a:p>
            <a:pPr lvl="1"/>
            <a:r>
              <a:rPr lang="en-AU" sz="8400" dirty="0"/>
              <a:t>Cryptographically-secure payment</a:t>
            </a:r>
          </a:p>
          <a:p>
            <a:pPr lvl="1"/>
            <a:r>
              <a:rPr lang="en-AU" sz="8400" dirty="0"/>
              <a:t>Mining</a:t>
            </a:r>
          </a:p>
          <a:p>
            <a:pPr lvl="1"/>
            <a:r>
              <a:rPr lang="en-AU" sz="8400" dirty="0"/>
              <a:t>Transaction Validation</a:t>
            </a:r>
          </a:p>
          <a:p>
            <a:pPr lvl="1"/>
            <a:r>
              <a:rPr lang="en-AU" sz="8400" dirty="0"/>
              <a:t>Incentive mechanism</a:t>
            </a:r>
          </a:p>
          <a:p>
            <a:pPr lvl="1"/>
            <a:r>
              <a:rPr lang="en-AU" sz="8400" dirty="0"/>
              <a:t>Permission management</a:t>
            </a:r>
          </a:p>
          <a:p>
            <a:pPr lvl="1"/>
            <a:endParaRPr lang="en-AU" dirty="0"/>
          </a:p>
        </p:txBody>
      </p:sp>
      <p:sp>
        <p:nvSpPr>
          <p:cNvPr id="4" name="Foliennummernplatzhalter 3">
            <a:extLst>
              <a:ext uri="{FF2B5EF4-FFF2-40B4-BE49-F238E27FC236}">
                <a16:creationId xmlns:a16="http://schemas.microsoft.com/office/drawing/2014/main" id="{E7A76A05-ABA1-45D3-A233-F2F17B0839BA}"/>
              </a:ext>
            </a:extLst>
          </p:cNvPr>
          <p:cNvSpPr>
            <a:spLocks noGrp="1"/>
          </p:cNvSpPr>
          <p:nvPr>
            <p:ph type="sldNum" sz="quarter" idx="4"/>
          </p:nvPr>
        </p:nvSpPr>
        <p:spPr/>
        <p:txBody>
          <a:bodyPr/>
          <a:lstStyle/>
          <a:p>
            <a:fld id="{97F98C0B-273E-428A-ABCF-EBED2BA25188}" type="slidenum">
              <a:rPr lang="en-US" smtClean="0"/>
              <a:t>18</a:t>
            </a:fld>
            <a:endParaRPr lang="en-US" dirty="0"/>
          </a:p>
        </p:txBody>
      </p:sp>
    </p:spTree>
    <p:extLst>
      <p:ext uri="{BB962C8B-B14F-4D97-AF65-F5344CB8AC3E}">
        <p14:creationId xmlns:p14="http://schemas.microsoft.com/office/powerpoint/2010/main" val="2487588237"/>
      </p:ext>
    </p:extLst>
  </p:cSld>
  <p:clrMapOvr>
    <a:masterClrMapping/>
  </p:clrMapOvr>
  <mc:AlternateContent xmlns:mc="http://schemas.openxmlformats.org/markup-compatibility/2006" xmlns:p14="http://schemas.microsoft.com/office/powerpoint/2010/main">
    <mc:Choice Requires="p14">
      <p:transition spd="slow" p14:dur="2000" advTm="49260"/>
    </mc:Choice>
    <mc:Fallback xmlns="">
      <p:transition xmlns:p14="http://schemas.microsoft.com/office/powerpoint/2010/main" spd="slow" advTm="49260"/>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0" y="570233"/>
            <a:ext cx="7464127" cy="737129"/>
          </a:xfrm>
        </p:spPr>
        <p:txBody>
          <a:bodyPr>
            <a:noAutofit/>
          </a:bodyPr>
          <a:lstStyle/>
          <a:p>
            <a:r>
              <a:rPr lang="en-AU" sz="2800" b="1" dirty="0"/>
              <a:t>Functions blockchain can provide in an application architecture</a:t>
            </a:r>
          </a:p>
        </p:txBody>
      </p:sp>
      <p:sp>
        <p:nvSpPr>
          <p:cNvPr id="3" name="Content Placeholder 2"/>
          <p:cNvSpPr>
            <a:spLocks noGrp="1"/>
          </p:cNvSpPr>
          <p:nvPr>
            <p:ph idx="1"/>
          </p:nvPr>
        </p:nvSpPr>
        <p:spPr>
          <a:xfrm>
            <a:off x="648000" y="1767484"/>
            <a:ext cx="7920000" cy="3845917"/>
          </a:xfrm>
        </p:spPr>
        <p:txBody>
          <a:bodyPr/>
          <a:lstStyle/>
          <a:p>
            <a:r>
              <a:rPr lang="en-AU" dirty="0"/>
              <a:t>Blockchain as…</a:t>
            </a:r>
          </a:p>
        </p:txBody>
      </p:sp>
      <p:sp>
        <p:nvSpPr>
          <p:cNvPr id="5" name="Slide Number Placeholder 4"/>
          <p:cNvSpPr>
            <a:spLocks noGrp="1"/>
          </p:cNvSpPr>
          <p:nvPr>
            <p:ph type="sldNum" sz="quarter" idx="4"/>
          </p:nvPr>
        </p:nvSpPr>
        <p:spPr>
          <a:prstGeom prst="rect">
            <a:avLst/>
          </a:prstGeom>
        </p:spPr>
        <p:txBody>
          <a:bodyPr spcFirstLastPara="1" vert="horz" wrap="square" lIns="91440" tIns="45720" rIns="91440" bIns="45720" rtlCol="0" anchor="ctr" anchorCtr="0">
            <a:noAutofit/>
          </a:bodyPr>
          <a:lstStyle>
            <a:defPPr>
              <a:defRPr lang="en-US"/>
            </a:defPPr>
            <a:lvl1pPr marL="0" algn="r"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BE124A-B5C5-46E0-B944-45307B126769}" type="slidenum">
              <a:rPr lang="en-AU" sz="1200">
                <a:solidFill>
                  <a:schemeClr val="tx1"/>
                </a:solidFill>
              </a:rPr>
              <a:pPr/>
              <a:t>19</a:t>
            </a:fld>
            <a:r>
              <a:rPr lang="en-AU" sz="1200" dirty="0">
                <a:solidFill>
                  <a:schemeClr val="tx1"/>
                </a:solidFill>
              </a:rPr>
              <a:t>  </a:t>
            </a:r>
          </a:p>
        </p:txBody>
      </p:sp>
      <p:graphicFrame>
        <p:nvGraphicFramePr>
          <p:cNvPr id="14" name="Diagram 13"/>
          <p:cNvGraphicFramePr/>
          <p:nvPr>
            <p:extLst>
              <p:ext uri="{D42A27DB-BD31-4B8C-83A1-F6EECF244321}">
                <p14:modId xmlns:p14="http://schemas.microsoft.com/office/powerpoint/2010/main" val="2387959191"/>
              </p:ext>
            </p:extLst>
          </p:nvPr>
        </p:nvGraphicFramePr>
        <p:xfrm>
          <a:off x="960121" y="1450572"/>
          <a:ext cx="7152006" cy="48634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2221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FA65-601B-3EDC-6F54-6923452BDBC5}"/>
              </a:ext>
            </a:extLst>
          </p:cNvPr>
          <p:cNvSpPr>
            <a:spLocks noGrp="1"/>
          </p:cNvSpPr>
          <p:nvPr>
            <p:ph type="title"/>
          </p:nvPr>
        </p:nvSpPr>
        <p:spPr/>
        <p:txBody>
          <a:bodyPr>
            <a:normAutofit fontScale="90000"/>
          </a:bodyPr>
          <a:lstStyle/>
          <a:p>
            <a:r>
              <a:rPr lang="en-US" b="1" dirty="0"/>
              <a:t>Functions of Blockchain</a:t>
            </a:r>
            <a:br>
              <a:rPr lang="en-US" b="1" dirty="0"/>
            </a:br>
            <a:endParaRPr lang="en-IN" dirty="0"/>
          </a:p>
        </p:txBody>
      </p:sp>
      <p:sp>
        <p:nvSpPr>
          <p:cNvPr id="3" name="Content Placeholder 2">
            <a:extLst>
              <a:ext uri="{FF2B5EF4-FFF2-40B4-BE49-F238E27FC236}">
                <a16:creationId xmlns:a16="http://schemas.microsoft.com/office/drawing/2014/main" id="{ECF4A388-DDDE-CFF2-D9BA-947C795D6D18}"/>
              </a:ext>
            </a:extLst>
          </p:cNvPr>
          <p:cNvSpPr>
            <a:spLocks noGrp="1"/>
          </p:cNvSpPr>
          <p:nvPr>
            <p:ph idx="1"/>
          </p:nvPr>
        </p:nvSpPr>
        <p:spPr>
          <a:xfrm>
            <a:off x="457200" y="1600200"/>
            <a:ext cx="8229600" cy="4983162"/>
          </a:xfrm>
        </p:spPr>
        <p:txBody>
          <a:bodyPr>
            <a:normAutofit fontScale="77500" lnSpcReduction="20000"/>
          </a:bodyPr>
          <a:lstStyle/>
          <a:p>
            <a:pPr algn="just">
              <a:buFont typeface="Arial" panose="020B0604020202020204" pitchFamily="34" charset="0"/>
              <a:buChar char="•"/>
            </a:pPr>
            <a:r>
              <a:rPr lang="en-US" sz="3400" b="1" dirty="0"/>
              <a:t>Computational Element:</a:t>
            </a:r>
            <a:r>
              <a:rPr lang="en-US" sz="3400" dirty="0"/>
              <a:t> Executes business logic through </a:t>
            </a:r>
            <a:r>
              <a:rPr lang="en-US" sz="3400" b="1" dirty="0"/>
              <a:t>smart contracts</a:t>
            </a:r>
            <a:r>
              <a:rPr lang="en-US" sz="3400" dirty="0"/>
              <a:t>, enabling automated and tamper-proof processing. </a:t>
            </a:r>
          </a:p>
          <a:p>
            <a:pPr algn="just">
              <a:buFont typeface="Arial" panose="020B0604020202020204" pitchFamily="34" charset="0"/>
              <a:buChar char="•"/>
            </a:pPr>
            <a:r>
              <a:rPr lang="en-US" sz="3400" b="1" dirty="0"/>
              <a:t>Communication Mechanism:</a:t>
            </a:r>
            <a:r>
              <a:rPr lang="en-US" sz="3400" dirty="0"/>
              <a:t> Facilitates secure and trusted information exchange among multiple organizations without relying on a central authority. </a:t>
            </a:r>
          </a:p>
          <a:p>
            <a:pPr algn="just">
              <a:buFont typeface="Arial" panose="020B0604020202020204" pitchFamily="34" charset="0"/>
              <a:buChar char="•"/>
            </a:pPr>
            <a:r>
              <a:rPr lang="en-US" sz="3400" b="1" dirty="0"/>
              <a:t>Storage Element:</a:t>
            </a:r>
            <a:r>
              <a:rPr lang="en-US" sz="3400" dirty="0"/>
              <a:t> Maintains an immutable </a:t>
            </a:r>
            <a:r>
              <a:rPr lang="en-US" sz="3400" b="1" dirty="0"/>
              <a:t>shared ledger</a:t>
            </a:r>
            <a:r>
              <a:rPr lang="en-US" sz="3400" dirty="0"/>
              <a:t> that securely stores transactions and metadata. </a:t>
            </a:r>
          </a:p>
          <a:p>
            <a:pPr algn="just">
              <a:buFont typeface="Arial" panose="020B0604020202020204" pitchFamily="34" charset="0"/>
              <a:buChar char="•"/>
            </a:pPr>
            <a:r>
              <a:rPr lang="en-US" sz="3400" b="1" dirty="0"/>
              <a:t>Asset Management and Control:</a:t>
            </a:r>
            <a:r>
              <a:rPr lang="en-US" sz="3400" dirty="0"/>
              <a:t> Manages digital assets such as cryptocurrencies, tokens, certificates, and ownership records with transparency. </a:t>
            </a:r>
          </a:p>
          <a:p>
            <a:pPr algn="just">
              <a:buFont typeface="Arial" panose="020B0604020202020204" pitchFamily="34" charset="0"/>
              <a:buChar char="•"/>
            </a:pPr>
            <a:r>
              <a:rPr lang="en-US" sz="3400" b="1" dirty="0"/>
              <a:t>Architectural Element:</a:t>
            </a:r>
            <a:r>
              <a:rPr lang="en-US" sz="3400" dirty="0"/>
              <a:t> Integrates with enterprise applications through APIs to improve security, trust, transparency, and decentralization.</a:t>
            </a:r>
          </a:p>
          <a:p>
            <a:endParaRPr lang="en-IN" dirty="0"/>
          </a:p>
        </p:txBody>
      </p:sp>
      <p:sp>
        <p:nvSpPr>
          <p:cNvPr id="4" name="Slide Number Placeholder 3">
            <a:extLst>
              <a:ext uri="{FF2B5EF4-FFF2-40B4-BE49-F238E27FC236}">
                <a16:creationId xmlns:a16="http://schemas.microsoft.com/office/drawing/2014/main" id="{3FC39F3A-9BD4-5D00-5188-3AD5B2AF5DEE}"/>
              </a:ext>
            </a:extLst>
          </p:cNvPr>
          <p:cNvSpPr>
            <a:spLocks noGrp="1"/>
          </p:cNvSpPr>
          <p:nvPr>
            <p:ph type="sldNum" sz="quarter" idx="4"/>
          </p:nvPr>
        </p:nvSpPr>
        <p:spPr/>
        <p:txBody>
          <a:bodyPr/>
          <a:lstStyle/>
          <a:p>
            <a:fld id="{97F98C0B-273E-428A-ABCF-EBED2BA25188}" type="slidenum">
              <a:rPr lang="en-US" smtClean="0"/>
              <a:t>20</a:t>
            </a:fld>
            <a:endParaRPr lang="en-US"/>
          </a:p>
        </p:txBody>
      </p:sp>
    </p:spTree>
    <p:extLst>
      <p:ext uri="{BB962C8B-B14F-4D97-AF65-F5344CB8AC3E}">
        <p14:creationId xmlns:p14="http://schemas.microsoft.com/office/powerpoint/2010/main" val="1021120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Recap: Properties of Blockchain</a:t>
            </a:r>
          </a:p>
        </p:txBody>
      </p:sp>
      <p:sp>
        <p:nvSpPr>
          <p:cNvPr id="7" name="Content Placeholder 3"/>
          <p:cNvSpPr>
            <a:spLocks noGrp="1"/>
          </p:cNvSpPr>
          <p:nvPr>
            <p:ph idx="1"/>
          </p:nvPr>
        </p:nvSpPr>
        <p:spPr/>
        <p:txBody>
          <a:bodyPr>
            <a:normAutofit fontScale="70000" lnSpcReduction="20000"/>
          </a:bodyPr>
          <a:lstStyle/>
          <a:p>
            <a:r>
              <a:rPr lang="en-AU" altLang="zh-CN" dirty="0"/>
              <a:t>Blockchain cannot meet the requirements of all usage scenarios</a:t>
            </a:r>
          </a:p>
          <a:p>
            <a:pPr lvl="1"/>
            <a:r>
              <a:rPr lang="en-AU" altLang="zh-CN" dirty="0"/>
              <a:t>E.g. those that require real-time processing</a:t>
            </a:r>
            <a:r>
              <a:rPr lang="en-US" altLang="zh-CN" dirty="0"/>
              <a:t> </a:t>
            </a:r>
          </a:p>
          <a:p>
            <a:r>
              <a:rPr lang="en-US" dirty="0"/>
              <a:t>Fundamental Properties </a:t>
            </a:r>
          </a:p>
          <a:p>
            <a:pPr lvl="1"/>
            <a:r>
              <a:rPr lang="en-US" dirty="0"/>
              <a:t>Immutability  </a:t>
            </a:r>
            <a:r>
              <a:rPr lang="en-US" i="1" dirty="0"/>
              <a:t>from committed transaction</a:t>
            </a:r>
          </a:p>
          <a:p>
            <a:pPr lvl="1"/>
            <a:r>
              <a:rPr lang="en-US" dirty="0"/>
              <a:t>Integrity  </a:t>
            </a:r>
            <a:r>
              <a:rPr lang="en-US" i="1" dirty="0"/>
              <a:t>from cryptographic methods</a:t>
            </a:r>
          </a:p>
          <a:p>
            <a:pPr lvl="1"/>
            <a:r>
              <a:rPr lang="en-US" dirty="0"/>
              <a:t>Transparency  </a:t>
            </a:r>
            <a:r>
              <a:rPr lang="en-US" i="1" dirty="0"/>
              <a:t>from public access</a:t>
            </a:r>
          </a:p>
          <a:p>
            <a:pPr lvl="1"/>
            <a:r>
              <a:rPr lang="en-US" dirty="0"/>
              <a:t>Equal rights  </a:t>
            </a:r>
            <a:r>
              <a:rPr lang="en-US" i="1" dirty="0"/>
              <a:t>from consensus and p2p structure</a:t>
            </a:r>
          </a:p>
          <a:p>
            <a:r>
              <a:rPr lang="en-US" dirty="0"/>
              <a:t>Limitation</a:t>
            </a:r>
          </a:p>
          <a:p>
            <a:pPr lvl="1"/>
            <a:r>
              <a:rPr lang="en-US" dirty="0"/>
              <a:t>Data privacy</a:t>
            </a:r>
          </a:p>
          <a:p>
            <a:pPr lvl="1"/>
            <a:r>
              <a:rPr lang="en-US" dirty="0"/>
              <a:t>Scalability </a:t>
            </a:r>
          </a:p>
          <a:p>
            <a:pPr lvl="2"/>
            <a:r>
              <a:rPr lang="en-US" dirty="0"/>
              <a:t>Size of the data on blockchain</a:t>
            </a:r>
          </a:p>
          <a:p>
            <a:pPr lvl="2"/>
            <a:r>
              <a:rPr lang="en-US" dirty="0"/>
              <a:t>Transaction processing rate, throughput</a:t>
            </a:r>
          </a:p>
          <a:p>
            <a:pPr lvl="2"/>
            <a:r>
              <a:rPr lang="en-US" dirty="0"/>
              <a:t>Latency of data transmission and commits</a:t>
            </a:r>
          </a:p>
          <a:p>
            <a:pPr lvl="1"/>
            <a:endParaRPr lang="en-US" dirty="0"/>
          </a:p>
          <a:p>
            <a:pPr lvl="1"/>
            <a:endParaRPr lang="en-US" i="1" dirty="0"/>
          </a:p>
        </p:txBody>
      </p:sp>
      <p:sp>
        <p:nvSpPr>
          <p:cNvPr id="4" name="Foliennummernplatzhalter 3">
            <a:extLst>
              <a:ext uri="{FF2B5EF4-FFF2-40B4-BE49-F238E27FC236}">
                <a16:creationId xmlns:a16="http://schemas.microsoft.com/office/drawing/2014/main" id="{6771EFBF-5447-45F7-B30D-334AE1DD5EBD}"/>
              </a:ext>
            </a:extLst>
          </p:cNvPr>
          <p:cNvSpPr>
            <a:spLocks noGrp="1"/>
          </p:cNvSpPr>
          <p:nvPr>
            <p:ph type="sldNum" sz="quarter" idx="4"/>
          </p:nvPr>
        </p:nvSpPr>
        <p:spPr/>
        <p:txBody>
          <a:bodyPr/>
          <a:lstStyle/>
          <a:p>
            <a:fld id="{97F98C0B-273E-428A-ABCF-EBED2BA25188}" type="slidenum">
              <a:rPr lang="en-US" smtClean="0"/>
              <a:t>21</a:t>
            </a:fld>
            <a:endParaRPr lang="en-US" dirty="0"/>
          </a:p>
        </p:txBody>
      </p:sp>
    </p:spTree>
    <p:extLst>
      <p:ext uri="{BB962C8B-B14F-4D97-AF65-F5344CB8AC3E}">
        <p14:creationId xmlns:p14="http://schemas.microsoft.com/office/powerpoint/2010/main" val="1875265997"/>
      </p:ext>
    </p:extLst>
  </p:cSld>
  <p:clrMapOvr>
    <a:masterClrMapping/>
  </p:clrMapOvr>
  <mc:AlternateContent xmlns:mc="http://schemas.openxmlformats.org/markup-compatibility/2006" xmlns:p14="http://schemas.microsoft.com/office/powerpoint/2010/main">
    <mc:Choice Requires="p14">
      <p:transition spd="slow" p14:dur="2000" advTm="128514"/>
    </mc:Choice>
    <mc:Fallback xmlns="">
      <p:transition xmlns:p14="http://schemas.microsoft.com/office/powerpoint/2010/main" spd="slow" advTm="12851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9BD9A3D6-0B7E-9CB0-3C29-94E8ED28D418}"/>
            </a:ext>
          </a:extLst>
        </p:cNvPr>
        <p:cNvGrpSpPr/>
        <p:nvPr/>
      </p:nvGrpSpPr>
      <p:grpSpPr>
        <a:xfrm>
          <a:off x="0" y="0"/>
          <a:ext cx="0" cy="0"/>
          <a:chOff x="0" y="0"/>
          <a:chExt cx="0" cy="0"/>
        </a:xfrm>
      </p:grpSpPr>
      <p:sp>
        <p:nvSpPr>
          <p:cNvPr id="288" name="Google Shape;288;p2">
            <a:extLst>
              <a:ext uri="{FF2B5EF4-FFF2-40B4-BE49-F238E27FC236}">
                <a16:creationId xmlns:a16="http://schemas.microsoft.com/office/drawing/2014/main" id="{63825C06-0B77-05FC-499A-6C31593CD724}"/>
              </a:ext>
            </a:extLst>
          </p:cNvPr>
          <p:cNvSpPr txBox="1">
            <a:spLocks noGrp="1"/>
          </p:cNvSpPr>
          <p:nvPr>
            <p:ph type="body" idx="1"/>
          </p:nvPr>
        </p:nvSpPr>
        <p:spPr>
          <a:xfrm>
            <a:off x="342900" y="4700581"/>
            <a:ext cx="8458200" cy="1167984"/>
          </a:xfrm>
          <a:prstGeom prst="rect">
            <a:avLst/>
          </a:prstGeom>
          <a:noFill/>
          <a:ln>
            <a:noFill/>
          </a:ln>
        </p:spPr>
        <p:txBody>
          <a:bodyPr spcFirstLastPara="1" wrap="square" lIns="45700" tIns="45700" rIns="45700" bIns="45700" anchor="t" anchorCtr="0">
            <a:normAutofit fontScale="92500" lnSpcReduction="10000"/>
          </a:bodyPr>
          <a:lstStyle/>
          <a:p>
            <a:pPr algn="ctr"/>
            <a:r>
              <a:rPr lang="en-IN" sz="4000" dirty="0">
                <a:solidFill>
                  <a:srgbClr val="000000"/>
                </a:solidFill>
                <a:effectLst/>
                <a:latin typeface="Times New Roman" panose="02020603050405020304" pitchFamily="18" charset="0"/>
                <a:ea typeface="Cambria" panose="02040503050406030204" pitchFamily="18" charset="0"/>
              </a:rPr>
              <a:t>Integrating Blockchain into enterprise applications</a:t>
            </a:r>
            <a:endParaRPr lang="en-IN" sz="4000" dirty="0"/>
          </a:p>
        </p:txBody>
      </p:sp>
    </p:spTree>
    <p:extLst>
      <p:ext uri="{BB962C8B-B14F-4D97-AF65-F5344CB8AC3E}">
        <p14:creationId xmlns:p14="http://schemas.microsoft.com/office/powerpoint/2010/main" val="40147792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23</a:t>
            </a:fld>
            <a:endParaRPr dirty="0"/>
          </a:p>
        </p:txBody>
      </p:sp>
      <p:sp>
        <p:nvSpPr>
          <p:cNvPr id="2" name="Rectangle 1"/>
          <p:cNvSpPr/>
          <p:nvPr/>
        </p:nvSpPr>
        <p:spPr>
          <a:xfrm>
            <a:off x="0" y="846237"/>
            <a:ext cx="2920992" cy="523220"/>
          </a:xfrm>
          <a:prstGeom prst="rect">
            <a:avLst/>
          </a:prstGeom>
        </p:spPr>
        <p:txBody>
          <a:bodyPr wrap="none">
            <a:spAutoFit/>
          </a:bodyPr>
          <a:lstStyle/>
          <a:p>
            <a:r>
              <a:rPr lang="en-US" sz="2800" b="1" dirty="0"/>
              <a:t>In this segment </a:t>
            </a:r>
            <a:endParaRPr lang="en-IN" sz="2800" b="1" dirty="0"/>
          </a:p>
        </p:txBody>
      </p:sp>
      <p:sp>
        <p:nvSpPr>
          <p:cNvPr id="3" name="Rectangle 2"/>
          <p:cNvSpPr/>
          <p:nvPr/>
        </p:nvSpPr>
        <p:spPr>
          <a:xfrm>
            <a:off x="790575" y="2094969"/>
            <a:ext cx="7069155" cy="1668405"/>
          </a:xfrm>
          <a:prstGeom prst="rect">
            <a:avLst/>
          </a:prstGeom>
        </p:spPr>
        <p:txBody>
          <a:bodyPr wrap="square">
            <a:spAutoFit/>
          </a:bodyPr>
          <a:lstStyle/>
          <a:p>
            <a:pPr marL="171450" lvl="0" indent="-171450">
              <a:lnSpc>
                <a:spcPct val="200000"/>
              </a:lnSpc>
              <a:buSzPts val="1800"/>
              <a:buChar char="•"/>
            </a:pPr>
            <a:r>
              <a:rPr lang="en-US" sz="1800" dirty="0"/>
              <a:t>Do we need a </a:t>
            </a:r>
            <a:r>
              <a:rPr lang="en-US" sz="1800" dirty="0" err="1"/>
              <a:t>blockchain</a:t>
            </a:r>
            <a:r>
              <a:rPr lang="en-US" sz="1800" dirty="0"/>
              <a:t> at all?</a:t>
            </a:r>
          </a:p>
          <a:p>
            <a:pPr marL="177800" lvl="0" indent="-177800">
              <a:lnSpc>
                <a:spcPct val="200000"/>
              </a:lnSpc>
              <a:buSzPts val="1800"/>
              <a:buChar char="•"/>
            </a:pPr>
            <a:r>
              <a:rPr lang="en-US" sz="1800" dirty="0"/>
              <a:t>Simple integration</a:t>
            </a:r>
          </a:p>
          <a:p>
            <a:pPr marL="177800" lvl="0" indent="-177800">
              <a:lnSpc>
                <a:spcPct val="200000"/>
              </a:lnSpc>
              <a:buSzPts val="1800"/>
              <a:buChar char="•"/>
            </a:pPr>
            <a:r>
              <a:rPr lang="en-US" sz="1800" dirty="0"/>
              <a:t>Reference integration of </a:t>
            </a:r>
            <a:r>
              <a:rPr lang="en-US" sz="1800" dirty="0" err="1"/>
              <a:t>blockchain</a:t>
            </a:r>
            <a:r>
              <a:rPr lang="en-US" sz="1800" dirty="0"/>
              <a:t> to enterprise applications</a:t>
            </a:r>
          </a:p>
        </p:txBody>
      </p:sp>
      <p:sp>
        <p:nvSpPr>
          <p:cNvPr id="4" name="Rectangle 3"/>
          <p:cNvSpPr/>
          <p:nvPr/>
        </p:nvSpPr>
        <p:spPr>
          <a:xfrm>
            <a:off x="58670" y="1561397"/>
            <a:ext cx="5724644" cy="341632"/>
          </a:xfrm>
          <a:prstGeom prst="rect">
            <a:avLst/>
          </a:prstGeom>
        </p:spPr>
        <p:txBody>
          <a:bodyPr wrap="none">
            <a:spAutoFit/>
          </a:bodyPr>
          <a:lstStyle/>
          <a:p>
            <a:pPr lvl="0">
              <a:lnSpc>
                <a:spcPct val="90000"/>
              </a:lnSpc>
              <a:buClr>
                <a:srgbClr val="1C1573"/>
              </a:buClr>
              <a:buSzPts val="2000"/>
            </a:pPr>
            <a:r>
              <a:rPr lang="en-US" sz="1800" b="1" dirty="0"/>
              <a:t>Integrating </a:t>
            </a:r>
            <a:r>
              <a:rPr lang="en-US" sz="1800" b="1" dirty="0" err="1"/>
              <a:t>blockchain</a:t>
            </a:r>
            <a:r>
              <a:rPr lang="en-US" sz="1800" b="1" dirty="0"/>
              <a:t> into enterprise applications</a:t>
            </a:r>
          </a:p>
        </p:txBody>
      </p:sp>
    </p:spTree>
    <p:extLst>
      <p:ext uri="{BB962C8B-B14F-4D97-AF65-F5344CB8AC3E}">
        <p14:creationId xmlns:p14="http://schemas.microsoft.com/office/powerpoint/2010/main" val="4045677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24</a:t>
            </a:fld>
            <a:endParaRPr dirty="0"/>
          </a:p>
        </p:txBody>
      </p:sp>
      <p:sp>
        <p:nvSpPr>
          <p:cNvPr id="2" name="Rectangle 1"/>
          <p:cNvSpPr/>
          <p:nvPr/>
        </p:nvSpPr>
        <p:spPr>
          <a:xfrm>
            <a:off x="0" y="836712"/>
            <a:ext cx="7895110" cy="523220"/>
          </a:xfrm>
          <a:prstGeom prst="rect">
            <a:avLst/>
          </a:prstGeom>
        </p:spPr>
        <p:txBody>
          <a:bodyPr wrap="none">
            <a:spAutoFit/>
          </a:bodyPr>
          <a:lstStyle/>
          <a:p>
            <a:r>
              <a:rPr lang="en-US" sz="2800" b="1" dirty="0"/>
              <a:t>Integrating </a:t>
            </a:r>
            <a:r>
              <a:rPr lang="en-US" sz="2800" b="1" dirty="0" err="1"/>
              <a:t>Blockchains</a:t>
            </a:r>
            <a:r>
              <a:rPr lang="en-US" sz="2800" b="1" dirty="0"/>
              <a:t> into Enterprise Apps</a:t>
            </a:r>
            <a:endParaRPr lang="en-IN" sz="2800" b="1" dirty="0"/>
          </a:p>
        </p:txBody>
      </p:sp>
      <p:sp>
        <p:nvSpPr>
          <p:cNvPr id="3" name="Rectangle 2"/>
          <p:cNvSpPr/>
          <p:nvPr/>
        </p:nvSpPr>
        <p:spPr>
          <a:xfrm>
            <a:off x="286651" y="1476134"/>
            <a:ext cx="4955203" cy="341632"/>
          </a:xfrm>
          <a:prstGeom prst="rect">
            <a:avLst/>
          </a:prstGeom>
        </p:spPr>
        <p:txBody>
          <a:bodyPr wrap="none">
            <a:spAutoFit/>
          </a:bodyPr>
          <a:lstStyle/>
          <a:p>
            <a:pPr lvl="0">
              <a:lnSpc>
                <a:spcPct val="90000"/>
              </a:lnSpc>
              <a:buSzPts val="2000"/>
            </a:pPr>
            <a:r>
              <a:rPr lang="en-US" sz="1800" b="1" dirty="0" err="1">
                <a:solidFill>
                  <a:schemeClr val="tx1"/>
                </a:solidFill>
                <a:latin typeface="Helvetica Neue"/>
                <a:ea typeface="Helvetica Neue"/>
                <a:cs typeface="Helvetica Neue"/>
                <a:sym typeface="Helvetica Neue"/>
              </a:rPr>
              <a:t>Blockchain</a:t>
            </a:r>
            <a:r>
              <a:rPr lang="en-US" sz="1800" b="1" dirty="0">
                <a:solidFill>
                  <a:schemeClr val="tx1"/>
                </a:solidFill>
                <a:latin typeface="Helvetica Neue"/>
                <a:ea typeface="Helvetica Neue"/>
                <a:cs typeface="Helvetica Neue"/>
                <a:sym typeface="Helvetica Neue"/>
              </a:rPr>
              <a:t> systems reference architecture </a:t>
            </a:r>
          </a:p>
        </p:txBody>
      </p:sp>
      <p:pic>
        <p:nvPicPr>
          <p:cNvPr id="5" name="Google Shape;56;gd63b6283c3_0_16"/>
          <p:cNvPicPr preferRelativeResize="0"/>
          <p:nvPr/>
        </p:nvPicPr>
        <p:blipFill rotWithShape="1">
          <a:blip r:embed="rId3">
            <a:alphaModFix/>
          </a:blip>
          <a:srcRect l="2187" t="7141" r="2187" b="5055"/>
          <a:stretch/>
        </p:blipFill>
        <p:spPr>
          <a:xfrm>
            <a:off x="-1" y="2019300"/>
            <a:ext cx="9144001" cy="3848099"/>
          </a:xfrm>
          <a:prstGeom prst="rect">
            <a:avLst/>
          </a:prstGeom>
          <a:noFill/>
          <a:ln>
            <a:noFill/>
          </a:ln>
        </p:spPr>
      </p:pic>
    </p:spTree>
    <p:extLst>
      <p:ext uri="{BB962C8B-B14F-4D97-AF65-F5344CB8AC3E}">
        <p14:creationId xmlns:p14="http://schemas.microsoft.com/office/powerpoint/2010/main" val="1677905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4">
          <a:extLst>
            <a:ext uri="{FF2B5EF4-FFF2-40B4-BE49-F238E27FC236}">
              <a16:creationId xmlns:a16="http://schemas.microsoft.com/office/drawing/2014/main" id="{0E8D87D6-4F4F-499C-0C92-38FC137BA0B9}"/>
            </a:ext>
          </a:extLst>
        </p:cNvPr>
        <p:cNvGrpSpPr/>
        <p:nvPr/>
      </p:nvGrpSpPr>
      <p:grpSpPr>
        <a:xfrm>
          <a:off x="0" y="0"/>
          <a:ext cx="0" cy="0"/>
          <a:chOff x="0" y="0"/>
          <a:chExt cx="0" cy="0"/>
        </a:xfrm>
      </p:grpSpPr>
      <p:sp>
        <p:nvSpPr>
          <p:cNvPr id="315" name="Google Shape;315;p6">
            <a:extLst>
              <a:ext uri="{FF2B5EF4-FFF2-40B4-BE49-F238E27FC236}">
                <a16:creationId xmlns:a16="http://schemas.microsoft.com/office/drawing/2014/main" id="{BA786A26-4ACD-D0F6-1D54-9A7DCA4B617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25</a:t>
            </a:fld>
            <a:endParaRPr/>
          </a:p>
        </p:txBody>
      </p:sp>
      <p:sp>
        <p:nvSpPr>
          <p:cNvPr id="3" name="TextBox 2">
            <a:extLst>
              <a:ext uri="{FF2B5EF4-FFF2-40B4-BE49-F238E27FC236}">
                <a16:creationId xmlns:a16="http://schemas.microsoft.com/office/drawing/2014/main" id="{63CBDE9F-033C-EE67-DF37-9819554CA44A}"/>
              </a:ext>
            </a:extLst>
          </p:cNvPr>
          <p:cNvSpPr txBox="1"/>
          <p:nvPr/>
        </p:nvSpPr>
        <p:spPr>
          <a:xfrm>
            <a:off x="277402" y="1536174"/>
            <a:ext cx="8589196" cy="4493538"/>
          </a:xfrm>
          <a:prstGeom prst="rect">
            <a:avLst/>
          </a:prstGeom>
          <a:noFill/>
        </p:spPr>
        <p:txBody>
          <a:bodyPr wrap="square">
            <a:spAutoFit/>
          </a:bodyPr>
          <a:lstStyle/>
          <a:p>
            <a:pPr marL="342900" indent="-342900" algn="just">
              <a:buFont typeface="+mj-lt"/>
              <a:buAutoNum type="arabicPeriod"/>
            </a:pPr>
            <a:r>
              <a:rPr lang="en-US" sz="2200" dirty="0"/>
              <a:t>First determine whether the application actually needs a database. </a:t>
            </a:r>
          </a:p>
          <a:p>
            <a:pPr marL="342900" indent="-342900" algn="just">
              <a:buFont typeface="+mj-lt"/>
              <a:buAutoNum type="arabicPeriod"/>
            </a:pPr>
            <a:r>
              <a:rPr lang="en-US" sz="2200" dirty="0"/>
              <a:t>Check whether multiple organizations need to update the same data. </a:t>
            </a:r>
          </a:p>
          <a:p>
            <a:pPr marL="342900" indent="-342900" algn="just">
              <a:buFont typeface="+mj-lt"/>
              <a:buAutoNum type="arabicPeriod"/>
            </a:pPr>
            <a:r>
              <a:rPr lang="en-US" sz="2200" dirty="0"/>
              <a:t>Determine whether these organizations fully trust one another. </a:t>
            </a:r>
          </a:p>
          <a:p>
            <a:pPr marL="342900" indent="-342900" algn="just">
              <a:buFont typeface="+mj-lt"/>
              <a:buAutoNum type="arabicPeriod"/>
            </a:pPr>
            <a:r>
              <a:rPr lang="en-US" sz="2200" dirty="0"/>
              <a:t>If everyone trusts each other, a conventional database is usually sufficient. </a:t>
            </a:r>
          </a:p>
          <a:p>
            <a:pPr marL="342900" indent="-342900" algn="just">
              <a:buFont typeface="+mj-lt"/>
              <a:buAutoNum type="arabicPeriod"/>
            </a:pPr>
            <a:r>
              <a:rPr lang="en-US" sz="2200" dirty="0"/>
              <a:t>If organizations do not trust one another, blockchain becomes valuable. </a:t>
            </a:r>
          </a:p>
          <a:p>
            <a:pPr marL="342900" indent="-342900" algn="just">
              <a:buFont typeface="+mj-lt"/>
              <a:buAutoNum type="arabicPeriod"/>
            </a:pPr>
            <a:r>
              <a:rPr lang="en-US" sz="2200" dirty="0"/>
              <a:t>Blockchain eliminates dependence on a central authority. </a:t>
            </a:r>
          </a:p>
          <a:p>
            <a:pPr marL="342900" indent="-342900" algn="just">
              <a:buFont typeface="+mj-lt"/>
              <a:buAutoNum type="arabicPeriod"/>
            </a:pPr>
            <a:r>
              <a:rPr lang="en-US" sz="2200" dirty="0"/>
              <a:t>Permissioned blockchains are commonly used in enterprise environments. </a:t>
            </a:r>
          </a:p>
          <a:p>
            <a:pPr marL="342900" indent="-342900" algn="just">
              <a:buFont typeface="+mj-lt"/>
              <a:buAutoNum type="arabicPeriod"/>
            </a:pPr>
            <a:r>
              <a:rPr lang="en-US" sz="2200" dirty="0"/>
              <a:t>Use blockchain only when it solves a real trust problem.</a:t>
            </a:r>
          </a:p>
        </p:txBody>
      </p:sp>
      <p:sp>
        <p:nvSpPr>
          <p:cNvPr id="5" name="TextBox 4">
            <a:extLst>
              <a:ext uri="{FF2B5EF4-FFF2-40B4-BE49-F238E27FC236}">
                <a16:creationId xmlns:a16="http://schemas.microsoft.com/office/drawing/2014/main" id="{13D8463C-D1DF-C5E0-0F19-6AE26E5E1157}"/>
              </a:ext>
            </a:extLst>
          </p:cNvPr>
          <p:cNvSpPr txBox="1"/>
          <p:nvPr/>
        </p:nvSpPr>
        <p:spPr>
          <a:xfrm>
            <a:off x="277402" y="714278"/>
            <a:ext cx="5255230" cy="523220"/>
          </a:xfrm>
          <a:prstGeom prst="rect">
            <a:avLst/>
          </a:prstGeom>
          <a:noFill/>
        </p:spPr>
        <p:txBody>
          <a:bodyPr wrap="square">
            <a:spAutoFit/>
          </a:bodyPr>
          <a:lstStyle/>
          <a:p>
            <a:pPr>
              <a:buNone/>
            </a:pPr>
            <a:r>
              <a:rPr lang="en-US" sz="2800" b="1" dirty="0"/>
              <a:t>Decision Framework</a:t>
            </a:r>
          </a:p>
        </p:txBody>
      </p:sp>
    </p:spTree>
    <p:extLst>
      <p:ext uri="{BB962C8B-B14F-4D97-AF65-F5344CB8AC3E}">
        <p14:creationId xmlns:p14="http://schemas.microsoft.com/office/powerpoint/2010/main" val="1821568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26</a:t>
            </a:fld>
            <a:endParaRPr dirty="0"/>
          </a:p>
        </p:txBody>
      </p:sp>
      <p:sp>
        <p:nvSpPr>
          <p:cNvPr id="2" name="Rectangle 1"/>
          <p:cNvSpPr/>
          <p:nvPr/>
        </p:nvSpPr>
        <p:spPr>
          <a:xfrm>
            <a:off x="0" y="855762"/>
            <a:ext cx="7895110" cy="523220"/>
          </a:xfrm>
          <a:prstGeom prst="rect">
            <a:avLst/>
          </a:prstGeom>
        </p:spPr>
        <p:txBody>
          <a:bodyPr wrap="none">
            <a:spAutoFit/>
          </a:bodyPr>
          <a:lstStyle/>
          <a:p>
            <a:r>
              <a:rPr lang="en-US" sz="2800" b="1" dirty="0"/>
              <a:t>Integrating </a:t>
            </a:r>
            <a:r>
              <a:rPr lang="en-US" sz="2800" b="1" dirty="0" err="1"/>
              <a:t>Blockchains</a:t>
            </a:r>
            <a:r>
              <a:rPr lang="en-US" sz="2800" b="1" dirty="0"/>
              <a:t> into Enterprise Apps</a:t>
            </a:r>
            <a:endParaRPr lang="en-IN" sz="2800" b="1" dirty="0"/>
          </a:p>
        </p:txBody>
      </p:sp>
      <p:sp>
        <p:nvSpPr>
          <p:cNvPr id="3" name="Rectangle 2"/>
          <p:cNvSpPr/>
          <p:nvPr/>
        </p:nvSpPr>
        <p:spPr>
          <a:xfrm>
            <a:off x="174706" y="1495184"/>
            <a:ext cx="5194051" cy="313932"/>
          </a:xfrm>
          <a:prstGeom prst="rect">
            <a:avLst/>
          </a:prstGeom>
        </p:spPr>
        <p:txBody>
          <a:bodyPr wrap="none">
            <a:spAutoFit/>
          </a:bodyPr>
          <a:lstStyle/>
          <a:p>
            <a:pPr lvl="0">
              <a:lnSpc>
                <a:spcPct val="90000"/>
              </a:lnSpc>
              <a:buSzPts val="2000"/>
            </a:pPr>
            <a:r>
              <a:rPr lang="en-US" sz="1600" b="1" dirty="0">
                <a:solidFill>
                  <a:schemeClr val="tx1"/>
                </a:solidFill>
                <a:latin typeface="+mn-lt"/>
                <a:ea typeface="Helvetica Neue"/>
                <a:cs typeface="Helvetica Neue"/>
                <a:sym typeface="Helvetica Neue"/>
              </a:rPr>
              <a:t>Simple integration of </a:t>
            </a:r>
            <a:r>
              <a:rPr lang="en-US" sz="1600" b="1" dirty="0" err="1">
                <a:solidFill>
                  <a:schemeClr val="tx1"/>
                </a:solidFill>
                <a:latin typeface="+mn-lt"/>
                <a:ea typeface="Helvetica Neue"/>
                <a:cs typeface="Helvetica Neue"/>
                <a:sym typeface="Helvetica Neue"/>
              </a:rPr>
              <a:t>blockchain</a:t>
            </a:r>
            <a:r>
              <a:rPr lang="en-US" sz="1600" b="1" dirty="0">
                <a:solidFill>
                  <a:schemeClr val="tx1"/>
                </a:solidFill>
                <a:latin typeface="+mn-lt"/>
                <a:ea typeface="Helvetica Neue"/>
                <a:cs typeface="Helvetica Neue"/>
                <a:sym typeface="Helvetica Neue"/>
              </a:rPr>
              <a:t> to enterprise apps</a:t>
            </a:r>
          </a:p>
        </p:txBody>
      </p:sp>
      <p:sp>
        <p:nvSpPr>
          <p:cNvPr id="5" name="Google Shape;63;gd8ee4bd241_0_677"/>
          <p:cNvSpPr txBox="1"/>
          <p:nvPr/>
        </p:nvSpPr>
        <p:spPr>
          <a:xfrm>
            <a:off x="1457150" y="6311681"/>
            <a:ext cx="58773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000" b="0" i="0" u="none" strike="noStrike" cap="none" dirty="0">
                <a:solidFill>
                  <a:srgbClr val="000000"/>
                </a:solidFill>
                <a:latin typeface="Helvetica Neue"/>
                <a:ea typeface="Helvetica Neue"/>
                <a:cs typeface="Helvetica Neue"/>
                <a:sym typeface="Helvetica Neue"/>
              </a:rPr>
              <a:t>© Techcrunch</a:t>
            </a:r>
            <a:endParaRPr sz="900" b="0" i="0" u="sng" strike="noStrike" cap="none" dirty="0">
              <a:solidFill>
                <a:srgbClr val="0563C1"/>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endParaRPr sz="1000" b="0" i="0" u="none" strike="noStrike" cap="none" dirty="0">
              <a:solidFill>
                <a:srgbClr val="000000"/>
              </a:solidFill>
              <a:latin typeface="Helvetica Neue"/>
              <a:ea typeface="Helvetica Neue"/>
              <a:cs typeface="Helvetica Neue"/>
              <a:sym typeface="Helvetica Neue"/>
            </a:endParaRPr>
          </a:p>
        </p:txBody>
      </p:sp>
      <p:pic>
        <p:nvPicPr>
          <p:cNvPr id="6" name="Google Shape;64;gd8ee4bd241_0_677"/>
          <p:cNvPicPr preferRelativeResize="0"/>
          <p:nvPr/>
        </p:nvPicPr>
        <p:blipFill rotWithShape="1">
          <a:blip r:embed="rId3">
            <a:alphaModFix/>
          </a:blip>
          <a:srcRect/>
          <a:stretch/>
        </p:blipFill>
        <p:spPr>
          <a:xfrm>
            <a:off x="0" y="1734127"/>
            <a:ext cx="9136953" cy="4622223"/>
          </a:xfrm>
          <a:prstGeom prst="rect">
            <a:avLst/>
          </a:prstGeom>
          <a:noFill/>
          <a:ln>
            <a:noFill/>
          </a:ln>
        </p:spPr>
      </p:pic>
      <p:sp>
        <p:nvSpPr>
          <p:cNvPr id="7" name="Google Shape;65;gd8ee4bd241_0_677"/>
          <p:cNvSpPr/>
          <p:nvPr/>
        </p:nvSpPr>
        <p:spPr>
          <a:xfrm>
            <a:off x="6879150" y="1385051"/>
            <a:ext cx="2257800" cy="3705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 name="Google Shape;66;gd8ee4bd241_0_677"/>
          <p:cNvSpPr/>
          <p:nvPr/>
        </p:nvSpPr>
        <p:spPr>
          <a:xfrm>
            <a:off x="4750600" y="1385051"/>
            <a:ext cx="2257800" cy="3705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92302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27</a:t>
            </a:fld>
            <a:endParaRPr dirty="0"/>
          </a:p>
        </p:txBody>
      </p:sp>
      <p:sp>
        <p:nvSpPr>
          <p:cNvPr id="2" name="Rectangle 1"/>
          <p:cNvSpPr/>
          <p:nvPr/>
        </p:nvSpPr>
        <p:spPr>
          <a:xfrm>
            <a:off x="0" y="855762"/>
            <a:ext cx="7895110" cy="523220"/>
          </a:xfrm>
          <a:prstGeom prst="rect">
            <a:avLst/>
          </a:prstGeom>
        </p:spPr>
        <p:txBody>
          <a:bodyPr wrap="none">
            <a:spAutoFit/>
          </a:bodyPr>
          <a:lstStyle/>
          <a:p>
            <a:r>
              <a:rPr lang="en-US" sz="2800" b="1" dirty="0"/>
              <a:t>Integrating </a:t>
            </a:r>
            <a:r>
              <a:rPr lang="en-US" sz="2800" b="1" dirty="0" err="1"/>
              <a:t>Blockchains</a:t>
            </a:r>
            <a:r>
              <a:rPr lang="en-US" sz="2800" b="1" dirty="0"/>
              <a:t> into Enterprise Apps</a:t>
            </a:r>
            <a:endParaRPr lang="en-IN" sz="2800" b="1" dirty="0"/>
          </a:p>
        </p:txBody>
      </p:sp>
      <p:sp>
        <p:nvSpPr>
          <p:cNvPr id="4" name="Rectangle 3"/>
          <p:cNvSpPr/>
          <p:nvPr/>
        </p:nvSpPr>
        <p:spPr>
          <a:xfrm>
            <a:off x="0" y="1378982"/>
            <a:ext cx="5248275" cy="286232"/>
          </a:xfrm>
          <a:prstGeom prst="rect">
            <a:avLst/>
          </a:prstGeom>
        </p:spPr>
        <p:txBody>
          <a:bodyPr wrap="square">
            <a:spAutoFit/>
          </a:bodyPr>
          <a:lstStyle/>
          <a:p>
            <a:pPr lvl="0">
              <a:lnSpc>
                <a:spcPct val="90000"/>
              </a:lnSpc>
              <a:buSzPts val="2000"/>
            </a:pPr>
            <a:r>
              <a:rPr lang="en-US" b="1" dirty="0">
                <a:solidFill>
                  <a:schemeClr val="tx1"/>
                </a:solidFill>
                <a:latin typeface="Helvetica Neue"/>
                <a:ea typeface="Helvetica Neue"/>
                <a:cs typeface="Helvetica Neue"/>
                <a:sym typeface="Helvetica Neue"/>
              </a:rPr>
              <a:t>Reference integration of </a:t>
            </a:r>
            <a:r>
              <a:rPr lang="en-US" b="1" dirty="0" err="1">
                <a:solidFill>
                  <a:schemeClr val="tx1"/>
                </a:solidFill>
                <a:latin typeface="Helvetica Neue"/>
                <a:ea typeface="Helvetica Neue"/>
                <a:cs typeface="Helvetica Neue"/>
                <a:sym typeface="Helvetica Neue"/>
              </a:rPr>
              <a:t>blockchain</a:t>
            </a:r>
            <a:r>
              <a:rPr lang="en-US" b="1" dirty="0">
                <a:solidFill>
                  <a:schemeClr val="tx1"/>
                </a:solidFill>
                <a:latin typeface="Helvetica Neue"/>
                <a:ea typeface="Helvetica Neue"/>
                <a:cs typeface="Helvetica Neue"/>
                <a:sym typeface="Helvetica Neue"/>
              </a:rPr>
              <a:t> to enterprise apps </a:t>
            </a:r>
          </a:p>
        </p:txBody>
      </p:sp>
      <p:pic>
        <p:nvPicPr>
          <p:cNvPr id="10" name="Google Shape;71;gd63b6283c3_0_4"/>
          <p:cNvPicPr preferRelativeResize="0"/>
          <p:nvPr/>
        </p:nvPicPr>
        <p:blipFill rotWithShape="1">
          <a:blip r:embed="rId3">
            <a:alphaModFix/>
          </a:blip>
          <a:srcRect/>
          <a:stretch/>
        </p:blipFill>
        <p:spPr>
          <a:xfrm>
            <a:off x="0" y="1982368"/>
            <a:ext cx="8230592" cy="4622224"/>
          </a:xfrm>
          <a:prstGeom prst="rect">
            <a:avLst/>
          </a:prstGeom>
          <a:noFill/>
          <a:ln>
            <a:noFill/>
          </a:ln>
        </p:spPr>
      </p:pic>
      <p:sp>
        <p:nvSpPr>
          <p:cNvPr id="11" name="Google Shape;74;gd63b6283c3_0_4"/>
          <p:cNvSpPr txBox="1"/>
          <p:nvPr/>
        </p:nvSpPr>
        <p:spPr>
          <a:xfrm>
            <a:off x="-629025" y="6587130"/>
            <a:ext cx="5877300" cy="4617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1800"/>
              <a:buFont typeface="Arial"/>
              <a:buNone/>
            </a:pPr>
            <a:r>
              <a:rPr lang="en-US" sz="1000" b="0" i="0" u="none" strike="noStrike" cap="none" dirty="0">
                <a:solidFill>
                  <a:srgbClr val="000000"/>
                </a:solidFill>
                <a:latin typeface="Helvetica Neue"/>
                <a:ea typeface="Helvetica Neue"/>
                <a:cs typeface="Helvetica Neue"/>
                <a:sym typeface="Helvetica Neue"/>
              </a:rPr>
              <a:t>© IBM Developer</a:t>
            </a:r>
            <a:endParaRPr sz="900" b="0" i="0" u="sng" strike="noStrike" cap="none" dirty="0">
              <a:solidFill>
                <a:srgbClr val="0563C1"/>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1800"/>
              <a:buFont typeface="Arial"/>
              <a:buNone/>
            </a:pPr>
            <a:endParaRPr sz="1000" b="0" i="0" u="none" strike="noStrike" cap="none" dirty="0">
              <a:solidFill>
                <a:srgbClr val="000000"/>
              </a:solidFill>
              <a:latin typeface="Helvetica Neue"/>
              <a:ea typeface="Helvetica Neue"/>
              <a:cs typeface="Helvetica Neue"/>
              <a:sym typeface="Helvetica Neue"/>
            </a:endParaRPr>
          </a:p>
        </p:txBody>
      </p:sp>
      <p:sp>
        <p:nvSpPr>
          <p:cNvPr id="12" name="Google Shape;75;gd63b6283c3_0_4"/>
          <p:cNvSpPr/>
          <p:nvPr/>
        </p:nvSpPr>
        <p:spPr>
          <a:xfrm>
            <a:off x="7953375" y="4293480"/>
            <a:ext cx="1466850" cy="480608"/>
          </a:xfrm>
          <a:prstGeom prst="leftArrow">
            <a:avLst>
              <a:gd name="adj1" fmla="val 50000"/>
              <a:gd name="adj2" fmla="val 50000"/>
            </a:avLst>
          </a:prstGeom>
          <a:solidFill>
            <a:srgbClr val="E7E6E6"/>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0" i="0" u="none" strike="noStrike" cap="none" dirty="0">
                <a:solidFill>
                  <a:srgbClr val="000000"/>
                </a:solidFill>
                <a:latin typeface="Arial"/>
                <a:ea typeface="Arial"/>
                <a:cs typeface="Arial"/>
                <a:sym typeface="Arial"/>
              </a:rPr>
              <a:t>Blockchain nodes</a:t>
            </a:r>
            <a:endParaRPr sz="1200" b="0" i="0" u="none" strike="noStrike" cap="none" dirty="0">
              <a:solidFill>
                <a:srgbClr val="000000"/>
              </a:solidFill>
              <a:latin typeface="Arial"/>
              <a:ea typeface="Arial"/>
              <a:cs typeface="Arial"/>
              <a:sym typeface="Arial"/>
            </a:endParaRPr>
          </a:p>
        </p:txBody>
      </p:sp>
      <p:sp>
        <p:nvSpPr>
          <p:cNvPr id="13" name="Google Shape;76;gd63b6283c3_0_4"/>
          <p:cNvSpPr/>
          <p:nvPr/>
        </p:nvSpPr>
        <p:spPr>
          <a:xfrm rot="-970244">
            <a:off x="6660748" y="1817099"/>
            <a:ext cx="1844162" cy="299544"/>
          </a:xfrm>
          <a:prstGeom prst="leftArrow">
            <a:avLst>
              <a:gd name="adj1" fmla="val 50000"/>
              <a:gd name="adj2" fmla="val 50000"/>
            </a:avLst>
          </a:prstGeom>
          <a:solidFill>
            <a:srgbClr val="E7E6E6"/>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Enterprise DB</a:t>
            </a:r>
            <a:endParaRPr sz="1400" b="0" i="0" u="none" strike="noStrike" cap="none" dirty="0">
              <a:solidFill>
                <a:srgbClr val="000000"/>
              </a:solidFill>
              <a:latin typeface="Arial"/>
              <a:ea typeface="Arial"/>
              <a:cs typeface="Arial"/>
              <a:sym typeface="Arial"/>
            </a:endParaRPr>
          </a:p>
        </p:txBody>
      </p:sp>
      <p:sp>
        <p:nvSpPr>
          <p:cNvPr id="14" name="Google Shape;77;gd63b6283c3_0_4"/>
          <p:cNvSpPr/>
          <p:nvPr/>
        </p:nvSpPr>
        <p:spPr>
          <a:xfrm rot="-1470195">
            <a:off x="5208679" y="1604931"/>
            <a:ext cx="1439439" cy="299776"/>
          </a:xfrm>
          <a:prstGeom prst="leftArrow">
            <a:avLst>
              <a:gd name="adj1" fmla="val 50000"/>
              <a:gd name="adj2" fmla="val 50000"/>
            </a:avLst>
          </a:prstGeom>
          <a:solidFill>
            <a:srgbClr val="E7E6E6"/>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Middleware</a:t>
            </a:r>
            <a:endParaRPr sz="1400" b="0" i="0" u="none" strike="noStrike" cap="none" dirty="0">
              <a:solidFill>
                <a:srgbClr val="000000"/>
              </a:solidFill>
              <a:latin typeface="Arial"/>
              <a:ea typeface="Arial"/>
              <a:cs typeface="Arial"/>
              <a:sym typeface="Arial"/>
            </a:endParaRPr>
          </a:p>
        </p:txBody>
      </p:sp>
      <p:sp>
        <p:nvSpPr>
          <p:cNvPr id="15" name="Google Shape;78;gd63b6283c3_0_4"/>
          <p:cNvSpPr/>
          <p:nvPr/>
        </p:nvSpPr>
        <p:spPr>
          <a:xfrm>
            <a:off x="4190975" y="1768980"/>
            <a:ext cx="2257800" cy="5049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6" name="Google Shape;79;gd63b6283c3_0_4"/>
          <p:cNvSpPr/>
          <p:nvPr/>
        </p:nvSpPr>
        <p:spPr>
          <a:xfrm>
            <a:off x="1008800" y="2297882"/>
            <a:ext cx="2257800" cy="11565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273038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4">
          <a:extLst>
            <a:ext uri="{FF2B5EF4-FFF2-40B4-BE49-F238E27FC236}">
              <a16:creationId xmlns:a16="http://schemas.microsoft.com/office/drawing/2014/main" id="{DF046421-1E25-4BBB-29CA-A258DD5DD5CB}"/>
            </a:ext>
          </a:extLst>
        </p:cNvPr>
        <p:cNvGrpSpPr/>
        <p:nvPr/>
      </p:nvGrpSpPr>
      <p:grpSpPr>
        <a:xfrm>
          <a:off x="0" y="0"/>
          <a:ext cx="0" cy="0"/>
          <a:chOff x="0" y="0"/>
          <a:chExt cx="0" cy="0"/>
        </a:xfrm>
      </p:grpSpPr>
      <p:sp>
        <p:nvSpPr>
          <p:cNvPr id="315" name="Google Shape;315;p6">
            <a:extLst>
              <a:ext uri="{FF2B5EF4-FFF2-40B4-BE49-F238E27FC236}">
                <a16:creationId xmlns:a16="http://schemas.microsoft.com/office/drawing/2014/main" id="{E2443A87-1ED1-7286-7A5C-87FDF998B2EF}"/>
              </a:ext>
            </a:extLst>
          </p:cNvPr>
          <p:cNvSpPr txBox="1">
            <a:spLocks noGrp="1"/>
          </p:cNvSpPr>
          <p:nvPr>
            <p:ph type="sldNum" idx="12"/>
          </p:nvPr>
        </p:nvSpPr>
        <p:spPr>
          <a:xfrm>
            <a:off x="5227833" y="5889241"/>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28</a:t>
            </a:fld>
            <a:endParaRPr/>
          </a:p>
        </p:txBody>
      </p:sp>
      <p:pic>
        <p:nvPicPr>
          <p:cNvPr id="3" name="Picture 2">
            <a:extLst>
              <a:ext uri="{FF2B5EF4-FFF2-40B4-BE49-F238E27FC236}">
                <a16:creationId xmlns:a16="http://schemas.microsoft.com/office/drawing/2014/main" id="{144A4702-BAFD-48D8-0363-D32FA380178C}"/>
              </a:ext>
            </a:extLst>
          </p:cNvPr>
          <p:cNvPicPr>
            <a:picLocks noChangeAspect="1"/>
          </p:cNvPicPr>
          <p:nvPr/>
        </p:nvPicPr>
        <p:blipFill>
          <a:blip r:embed="rId3"/>
          <a:stretch>
            <a:fillRect/>
          </a:stretch>
        </p:blipFill>
        <p:spPr>
          <a:xfrm>
            <a:off x="151528" y="1782957"/>
            <a:ext cx="8992472" cy="4073313"/>
          </a:xfrm>
          <a:prstGeom prst="rect">
            <a:avLst/>
          </a:prstGeom>
        </p:spPr>
      </p:pic>
      <p:sp>
        <p:nvSpPr>
          <p:cNvPr id="2" name="TextBox 1">
            <a:extLst>
              <a:ext uri="{FF2B5EF4-FFF2-40B4-BE49-F238E27FC236}">
                <a16:creationId xmlns:a16="http://schemas.microsoft.com/office/drawing/2014/main" id="{D566576C-583B-0FB4-7A8A-0C92F061FEEF}"/>
              </a:ext>
            </a:extLst>
          </p:cNvPr>
          <p:cNvSpPr txBox="1"/>
          <p:nvPr/>
        </p:nvSpPr>
        <p:spPr>
          <a:xfrm>
            <a:off x="89898" y="786196"/>
            <a:ext cx="8817795" cy="461665"/>
          </a:xfrm>
          <a:prstGeom prst="rect">
            <a:avLst/>
          </a:prstGeom>
          <a:noFill/>
        </p:spPr>
        <p:txBody>
          <a:bodyPr wrap="square">
            <a:spAutoFit/>
          </a:bodyPr>
          <a:lstStyle/>
          <a:p>
            <a:r>
              <a:rPr lang="en-US" sz="2400" dirty="0"/>
              <a:t>Integration of Blockchain to Enterprise Applications</a:t>
            </a:r>
            <a:endParaRPr lang="en-IN" sz="2400" dirty="0"/>
          </a:p>
        </p:txBody>
      </p:sp>
    </p:spTree>
    <p:extLst>
      <p:ext uri="{BB962C8B-B14F-4D97-AF65-F5344CB8AC3E}">
        <p14:creationId xmlns:p14="http://schemas.microsoft.com/office/powerpoint/2010/main" val="677490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A8E21EB0-6479-7397-C247-32FAF570C15D}"/>
            </a:ext>
          </a:extLst>
        </p:cNvPr>
        <p:cNvGrpSpPr/>
        <p:nvPr/>
      </p:nvGrpSpPr>
      <p:grpSpPr>
        <a:xfrm>
          <a:off x="0" y="0"/>
          <a:ext cx="0" cy="0"/>
          <a:chOff x="0" y="0"/>
          <a:chExt cx="0" cy="0"/>
        </a:xfrm>
      </p:grpSpPr>
      <p:sp>
        <p:nvSpPr>
          <p:cNvPr id="288" name="Google Shape;288;p2">
            <a:extLst>
              <a:ext uri="{FF2B5EF4-FFF2-40B4-BE49-F238E27FC236}">
                <a16:creationId xmlns:a16="http://schemas.microsoft.com/office/drawing/2014/main" id="{7867D2B1-696D-228C-3A3D-CEC883D4C4F1}"/>
              </a:ext>
            </a:extLst>
          </p:cNvPr>
          <p:cNvSpPr txBox="1">
            <a:spLocks noGrp="1"/>
          </p:cNvSpPr>
          <p:nvPr>
            <p:ph type="body" idx="1"/>
          </p:nvPr>
        </p:nvSpPr>
        <p:spPr>
          <a:xfrm>
            <a:off x="342900" y="4700581"/>
            <a:ext cx="8458200" cy="1167984"/>
          </a:xfrm>
          <a:prstGeom prst="rect">
            <a:avLst/>
          </a:prstGeom>
          <a:noFill/>
          <a:ln>
            <a:noFill/>
          </a:ln>
        </p:spPr>
        <p:txBody>
          <a:bodyPr spcFirstLastPara="1" wrap="square" lIns="45700" tIns="45700" rIns="45700" bIns="45700" anchor="t" anchorCtr="0">
            <a:normAutofit fontScale="92500" lnSpcReduction="10000"/>
          </a:bodyPr>
          <a:lstStyle/>
          <a:p>
            <a:pPr algn="ctr">
              <a:buNone/>
            </a:pPr>
            <a:r>
              <a:rPr lang="en-IN" sz="4000" dirty="0"/>
              <a:t>Blockchain – Smart Contract Vulnerabilities</a:t>
            </a:r>
          </a:p>
        </p:txBody>
      </p:sp>
    </p:spTree>
    <p:extLst>
      <p:ext uri="{BB962C8B-B14F-4D97-AF65-F5344CB8AC3E}">
        <p14:creationId xmlns:p14="http://schemas.microsoft.com/office/powerpoint/2010/main" val="721528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9457171-0457-2323-349C-2F09470DDDF6}"/>
              </a:ext>
            </a:extLst>
          </p:cNvPr>
          <p:cNvSpPr txBox="1"/>
          <p:nvPr/>
        </p:nvSpPr>
        <p:spPr>
          <a:xfrm>
            <a:off x="375007" y="761051"/>
            <a:ext cx="7392256" cy="523220"/>
          </a:xfrm>
          <a:prstGeom prst="rect">
            <a:avLst/>
          </a:prstGeom>
          <a:noFill/>
        </p:spPr>
        <p:txBody>
          <a:bodyPr wrap="square">
            <a:spAutoFit/>
          </a:bodyPr>
          <a:lstStyle/>
          <a:p>
            <a:r>
              <a:rPr lang="en-IN" sz="2800" dirty="0">
                <a:solidFill>
                  <a:srgbClr val="000000"/>
                </a:solidFill>
                <a:effectLst/>
                <a:latin typeface="+mj-lt"/>
                <a:ea typeface="Cambria" panose="02040503050406030204" pitchFamily="18" charset="0"/>
              </a:rPr>
              <a:t>Blockchain and Smart contract vulnerabilities</a:t>
            </a:r>
            <a:endParaRPr lang="en-IN" sz="2800" dirty="0">
              <a:latin typeface="+mj-lt"/>
            </a:endParaRPr>
          </a:p>
        </p:txBody>
      </p:sp>
      <p:pic>
        <p:nvPicPr>
          <p:cNvPr id="3" name="Picture 2">
            <a:extLst>
              <a:ext uri="{FF2B5EF4-FFF2-40B4-BE49-F238E27FC236}">
                <a16:creationId xmlns:a16="http://schemas.microsoft.com/office/drawing/2014/main" id="{84E9EEC8-BAC2-B358-BBAF-1DC458CA5EE2}"/>
              </a:ext>
            </a:extLst>
          </p:cNvPr>
          <p:cNvPicPr>
            <a:picLocks noChangeAspect="1"/>
          </p:cNvPicPr>
          <p:nvPr/>
        </p:nvPicPr>
        <p:blipFill>
          <a:blip r:embed="rId2"/>
          <a:stretch>
            <a:fillRect/>
          </a:stretch>
        </p:blipFill>
        <p:spPr>
          <a:xfrm>
            <a:off x="0" y="1408324"/>
            <a:ext cx="9144000" cy="5177411"/>
          </a:xfrm>
          <a:prstGeom prst="rect">
            <a:avLst/>
          </a:prstGeom>
        </p:spPr>
      </p:pic>
    </p:spTree>
    <p:extLst>
      <p:ext uri="{BB962C8B-B14F-4D97-AF65-F5344CB8AC3E}">
        <p14:creationId xmlns:p14="http://schemas.microsoft.com/office/powerpoint/2010/main" val="1920927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94C4B2B-264E-205B-2E9A-B5A9456ED55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546603C-E811-986E-2598-8640E16F443A}"/>
              </a:ext>
            </a:extLst>
          </p:cNvPr>
          <p:cNvPicPr>
            <a:picLocks noChangeAspect="1"/>
          </p:cNvPicPr>
          <p:nvPr/>
        </p:nvPicPr>
        <p:blipFill>
          <a:blip r:embed="rId2"/>
          <a:stretch>
            <a:fillRect/>
          </a:stretch>
        </p:blipFill>
        <p:spPr>
          <a:xfrm>
            <a:off x="0" y="1397286"/>
            <a:ext cx="9144000" cy="5157626"/>
          </a:xfrm>
          <a:prstGeom prst="rect">
            <a:avLst/>
          </a:prstGeom>
        </p:spPr>
      </p:pic>
      <p:sp>
        <p:nvSpPr>
          <p:cNvPr id="8" name="TextBox 7">
            <a:extLst>
              <a:ext uri="{FF2B5EF4-FFF2-40B4-BE49-F238E27FC236}">
                <a16:creationId xmlns:a16="http://schemas.microsoft.com/office/drawing/2014/main" id="{8781A3FB-39F4-354F-4C22-B5626A21CC6F}"/>
              </a:ext>
            </a:extLst>
          </p:cNvPr>
          <p:cNvSpPr txBox="1"/>
          <p:nvPr/>
        </p:nvSpPr>
        <p:spPr>
          <a:xfrm>
            <a:off x="148975" y="200727"/>
            <a:ext cx="6981290" cy="954107"/>
          </a:xfrm>
          <a:prstGeom prst="rect">
            <a:avLst/>
          </a:prstGeom>
          <a:noFill/>
        </p:spPr>
        <p:txBody>
          <a:bodyPr wrap="square">
            <a:spAutoFit/>
          </a:bodyPr>
          <a:lstStyle/>
          <a:p>
            <a:r>
              <a:rPr lang="en-IN" sz="2800" dirty="0"/>
              <a:t>Smart contract vulnerabilities – An Ethereum perspective</a:t>
            </a:r>
          </a:p>
        </p:txBody>
      </p:sp>
    </p:spTree>
    <p:extLst>
      <p:ext uri="{BB962C8B-B14F-4D97-AF65-F5344CB8AC3E}">
        <p14:creationId xmlns:p14="http://schemas.microsoft.com/office/powerpoint/2010/main" val="381197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6C54504-A74A-47F1-B1A4-217F6731B122}"/>
              </a:ext>
            </a:extLst>
          </p:cNvPr>
          <p:cNvSpPr>
            <a:spLocks noGrp="1"/>
          </p:cNvSpPr>
          <p:nvPr>
            <p:ph type="ctrTitle"/>
          </p:nvPr>
        </p:nvSpPr>
        <p:spPr>
          <a:xfrm>
            <a:off x="1232828" y="1645757"/>
            <a:ext cx="5763396" cy="1783243"/>
          </a:xfrm>
        </p:spPr>
        <p:txBody>
          <a:bodyPr>
            <a:noAutofit/>
          </a:bodyPr>
          <a:lstStyle/>
          <a:p>
            <a:r>
              <a:rPr lang="en-AU" sz="3200" b="1" dirty="0">
                <a:latin typeface="+mn-lt"/>
              </a:rPr>
              <a:t>Functionality of Blockchain</a:t>
            </a:r>
            <a:br>
              <a:rPr lang="en-AU" sz="3200" b="1" dirty="0">
                <a:latin typeface="+mn-lt"/>
              </a:rPr>
            </a:br>
            <a:br>
              <a:rPr lang="en-AU" sz="3200" b="1" dirty="0">
                <a:latin typeface="+mn-lt"/>
              </a:rPr>
            </a:br>
            <a:r>
              <a:rPr lang="en-AU" sz="3200" b="1" dirty="0">
                <a:solidFill>
                  <a:srgbClr val="000000"/>
                </a:solidFill>
                <a:latin typeface="+mn-lt"/>
              </a:rPr>
              <a:t>Data Storage</a:t>
            </a:r>
            <a:br>
              <a:rPr lang="en-AU" sz="3200" b="1" dirty="0">
                <a:solidFill>
                  <a:srgbClr val="000000"/>
                </a:solidFill>
                <a:latin typeface="+mn-lt"/>
              </a:rPr>
            </a:br>
            <a:r>
              <a:rPr lang="en-AU" sz="3200" dirty="0">
                <a:latin typeface="+mn-lt"/>
              </a:rPr>
              <a:t>Computation</a:t>
            </a:r>
            <a:br>
              <a:rPr lang="en-AU" sz="3200" dirty="0">
                <a:latin typeface="+mn-lt"/>
              </a:rPr>
            </a:br>
            <a:r>
              <a:rPr lang="en-AU" sz="3200" dirty="0">
                <a:latin typeface="Calibri" panose="020F0502020204030204" pitchFamily="34" charset="0"/>
                <a:ea typeface="Calibri" panose="020F0502020204030204" pitchFamily="34" charset="0"/>
                <a:cs typeface="Calibri" panose="020F0502020204030204" pitchFamily="34" charset="0"/>
              </a:rPr>
              <a:t>Communication</a:t>
            </a:r>
            <a:br>
              <a:rPr lang="en-AU" sz="3200" dirty="0">
                <a:latin typeface="+mn-lt"/>
              </a:rPr>
            </a:br>
            <a:r>
              <a:rPr lang="en-AU" sz="3200" dirty="0">
                <a:latin typeface="+mn-lt"/>
              </a:rPr>
              <a:t>Asset Management</a:t>
            </a:r>
            <a:br>
              <a:rPr lang="en-AU" sz="3200" b="1" dirty="0">
                <a:latin typeface="+mn-lt"/>
              </a:rPr>
            </a:br>
            <a:endParaRPr lang="en-US" sz="3200" dirty="0">
              <a:latin typeface="+mn-lt"/>
            </a:endParaRPr>
          </a:p>
        </p:txBody>
      </p:sp>
    </p:spTree>
    <p:extLst>
      <p:ext uri="{BB962C8B-B14F-4D97-AF65-F5344CB8AC3E}">
        <p14:creationId xmlns:p14="http://schemas.microsoft.com/office/powerpoint/2010/main" val="10387429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621143"/>
            <a:ext cx="5709684" cy="3845917"/>
          </a:xfrm>
        </p:spPr>
        <p:txBody>
          <a:bodyPr>
            <a:noAutofit/>
          </a:bodyPr>
          <a:lstStyle/>
          <a:p>
            <a:r>
              <a:rPr lang="en-US" sz="1800" noProof="0" dirty="0"/>
              <a:t>Append only data store – prevent tampering of data</a:t>
            </a:r>
          </a:p>
          <a:p>
            <a:pPr lvl="1"/>
            <a:r>
              <a:rPr lang="en-US" sz="1800" dirty="0"/>
              <a:t>An ordered list of blocks, where each block contains a small (possibly empty) list of transactions. </a:t>
            </a:r>
          </a:p>
          <a:p>
            <a:pPr lvl="1"/>
            <a:r>
              <a:rPr lang="en-US" sz="1800" dirty="0"/>
              <a:t>Each block in is “chained” back to the previous block, by containing a hash of the previous block</a:t>
            </a:r>
          </a:p>
          <a:p>
            <a:r>
              <a:rPr lang="en-US" sz="1800" noProof="0" dirty="0"/>
              <a:t>Transactions</a:t>
            </a:r>
          </a:p>
          <a:p>
            <a:pPr lvl="1"/>
            <a:r>
              <a:rPr lang="en-US" sz="1800" dirty="0"/>
              <a:t>Information is recorded within the transactions </a:t>
            </a:r>
          </a:p>
          <a:p>
            <a:pPr lvl="1"/>
            <a:r>
              <a:rPr lang="en-US" sz="1800" dirty="0"/>
              <a:t>Update blockchain states</a:t>
            </a:r>
          </a:p>
          <a:p>
            <a:pPr lvl="1"/>
            <a:r>
              <a:rPr lang="en-US" sz="1800" dirty="0"/>
              <a:t>Store code, variables, and results of function call results</a:t>
            </a:r>
          </a:p>
          <a:p>
            <a:pPr lvl="1"/>
            <a:r>
              <a:rPr lang="en-US" sz="1800" dirty="0"/>
              <a:t>Public key and digital signatures are normally used to identify accounts and to ensure integrity and authorization of transactions</a:t>
            </a:r>
          </a:p>
        </p:txBody>
      </p:sp>
      <p:sp>
        <p:nvSpPr>
          <p:cNvPr id="5" name="Textplatzhalter 4">
            <a:extLst>
              <a:ext uri="{FF2B5EF4-FFF2-40B4-BE49-F238E27FC236}">
                <a16:creationId xmlns:a16="http://schemas.microsoft.com/office/drawing/2014/main" id="{ED0A84D0-4CA3-46BE-8E5F-E6DA841141DA}"/>
              </a:ext>
            </a:extLst>
          </p:cNvPr>
          <p:cNvSpPr>
            <a:spLocks noGrp="1"/>
          </p:cNvSpPr>
          <p:nvPr>
            <p:ph type="body" sz="quarter" idx="10"/>
          </p:nvPr>
        </p:nvSpPr>
        <p:spPr>
          <a:xfrm>
            <a:off x="307758" y="735344"/>
            <a:ext cx="6631640" cy="365126"/>
          </a:xfrm>
        </p:spPr>
        <p:txBody>
          <a:bodyPr>
            <a:noAutofit/>
          </a:bodyPr>
          <a:lstStyle/>
          <a:p>
            <a:r>
              <a:rPr lang="en-US" sz="2400" b="1" dirty="0"/>
              <a:t>Blockchain as Storage Element</a:t>
            </a:r>
          </a:p>
        </p:txBody>
      </p:sp>
      <p:sp>
        <p:nvSpPr>
          <p:cNvPr id="2" name="Title 1"/>
          <p:cNvSpPr>
            <a:spLocks noGrp="1"/>
          </p:cNvSpPr>
          <p:nvPr>
            <p:ph type="title"/>
          </p:nvPr>
        </p:nvSpPr>
        <p:spPr>
          <a:xfrm>
            <a:off x="307758" y="133089"/>
            <a:ext cx="6631640" cy="526130"/>
          </a:xfrm>
        </p:spPr>
        <p:txBody>
          <a:bodyPr>
            <a:normAutofit fontScale="90000"/>
          </a:bodyPr>
          <a:lstStyle/>
          <a:p>
            <a:r>
              <a:rPr lang="en-US" noProof="0" dirty="0"/>
              <a:t>Blockchain Functionality</a:t>
            </a:r>
          </a:p>
        </p:txBody>
      </p:sp>
      <p:pic>
        <p:nvPicPr>
          <p:cNvPr id="6" name="Picture 5"/>
          <p:cNvPicPr>
            <a:picLocks noChangeAspect="1"/>
          </p:cNvPicPr>
          <p:nvPr/>
        </p:nvPicPr>
        <p:blipFill>
          <a:blip r:embed="rId3"/>
          <a:stretch>
            <a:fillRect/>
          </a:stretch>
        </p:blipFill>
        <p:spPr>
          <a:xfrm>
            <a:off x="5858540" y="1541721"/>
            <a:ext cx="3136604" cy="4657060"/>
          </a:xfrm>
          <a:prstGeom prst="rect">
            <a:avLst/>
          </a:prstGeom>
        </p:spPr>
      </p:pic>
    </p:spTree>
    <p:extLst>
      <p:ext uri="{BB962C8B-B14F-4D97-AF65-F5344CB8AC3E}">
        <p14:creationId xmlns:p14="http://schemas.microsoft.com/office/powerpoint/2010/main" val="337609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72140" y="420748"/>
            <a:ext cx="8229600" cy="1143000"/>
          </a:xfrm>
        </p:spPr>
        <p:txBody>
          <a:bodyPr>
            <a:normAutofit/>
          </a:bodyPr>
          <a:lstStyle/>
          <a:p>
            <a:r>
              <a:rPr lang="en-US" dirty="0"/>
              <a:t>Blockchain as Storage Element</a:t>
            </a:r>
          </a:p>
        </p:txBody>
      </p:sp>
      <p:sp>
        <p:nvSpPr>
          <p:cNvPr id="26" name="Content Placeholder 2"/>
          <p:cNvSpPr>
            <a:spLocks noGrp="1"/>
          </p:cNvSpPr>
          <p:nvPr>
            <p:ph idx="1"/>
          </p:nvPr>
        </p:nvSpPr>
        <p:spPr>
          <a:xfrm>
            <a:off x="2055745" y="1360918"/>
            <a:ext cx="6299368" cy="3845917"/>
          </a:xfrm>
        </p:spPr>
        <p:txBody>
          <a:bodyPr>
            <a:normAutofit/>
          </a:bodyPr>
          <a:lstStyle/>
          <a:p>
            <a:r>
              <a:rPr lang="en-US" dirty="0"/>
              <a:t>Blockchain data structure</a:t>
            </a:r>
          </a:p>
          <a:p>
            <a:pPr lvl="1"/>
            <a:r>
              <a:rPr lang="en-US" dirty="0"/>
              <a:t>Linked list with hash pointers</a:t>
            </a:r>
          </a:p>
          <a:p>
            <a:r>
              <a:rPr lang="en-US" dirty="0"/>
              <a:t>Tamper-proof</a:t>
            </a:r>
          </a:p>
          <a:p>
            <a:pPr lvl="1"/>
            <a:r>
              <a:rPr lang="en-US" dirty="0"/>
              <a:t>Computational constraints</a:t>
            </a:r>
          </a:p>
          <a:p>
            <a:pPr lvl="1"/>
            <a:r>
              <a:rPr lang="en-US" dirty="0"/>
              <a:t>Incentive scheme</a:t>
            </a:r>
          </a:p>
        </p:txBody>
      </p:sp>
      <p:sp>
        <p:nvSpPr>
          <p:cNvPr id="27" name="Foliennummernplatzhalter 26">
            <a:extLst>
              <a:ext uri="{FF2B5EF4-FFF2-40B4-BE49-F238E27FC236}">
                <a16:creationId xmlns:a16="http://schemas.microsoft.com/office/drawing/2014/main" id="{98EC93C8-DD96-4CE4-B227-C1EC3D28B5FE}"/>
              </a:ext>
            </a:extLst>
          </p:cNvPr>
          <p:cNvSpPr>
            <a:spLocks noGrp="1"/>
          </p:cNvSpPr>
          <p:nvPr>
            <p:ph type="sldNum" sz="quarter" idx="4"/>
          </p:nvPr>
        </p:nvSpPr>
        <p:spPr>
          <a:xfrm>
            <a:off x="6627822" y="6588197"/>
            <a:ext cx="1855118" cy="269803"/>
          </a:xfrm>
        </p:spPr>
        <p:txBody>
          <a:bodyPr/>
          <a:lstStyle/>
          <a:p>
            <a:fld id="{97F98C0B-273E-428A-ABCF-EBED2BA25188}" type="slidenum">
              <a:rPr lang="en-US" smtClean="0"/>
              <a:t>34</a:t>
            </a:fld>
            <a:endParaRPr lang="en-US"/>
          </a:p>
        </p:txBody>
      </p:sp>
      <p:sp>
        <p:nvSpPr>
          <p:cNvPr id="5" name="Rectangle 4"/>
          <p:cNvSpPr/>
          <p:nvPr/>
        </p:nvSpPr>
        <p:spPr>
          <a:xfrm>
            <a:off x="1029630" y="4328434"/>
            <a:ext cx="1890210" cy="1500167"/>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kern="1200"/>
          </a:p>
        </p:txBody>
      </p:sp>
      <p:sp>
        <p:nvSpPr>
          <p:cNvPr id="6" name="Rectangle 5"/>
          <p:cNvSpPr/>
          <p:nvPr/>
        </p:nvSpPr>
        <p:spPr>
          <a:xfrm>
            <a:off x="1157456" y="4928501"/>
            <a:ext cx="1654372" cy="780087"/>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kern="1200" dirty="0">
                <a:solidFill>
                  <a:schemeClr val="tx1"/>
                </a:solidFill>
              </a:rPr>
              <a:t>Transactions</a:t>
            </a:r>
          </a:p>
          <a:p>
            <a:pPr algn="ctr"/>
            <a:r>
              <a:rPr lang="en-AU" sz="1600" dirty="0">
                <a:solidFill>
                  <a:schemeClr val="tx1"/>
                </a:solidFill>
              </a:rPr>
              <a:t>⁞</a:t>
            </a:r>
          </a:p>
        </p:txBody>
      </p:sp>
      <p:sp>
        <p:nvSpPr>
          <p:cNvPr id="7" name="Rectangle 6"/>
          <p:cNvSpPr/>
          <p:nvPr/>
        </p:nvSpPr>
        <p:spPr>
          <a:xfrm>
            <a:off x="1157457" y="4489562"/>
            <a:ext cx="1654371" cy="43893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b="1" kern="1200" dirty="0">
                <a:solidFill>
                  <a:schemeClr val="tx1"/>
                </a:solidFill>
              </a:rPr>
              <a:t>      </a:t>
            </a:r>
            <a:r>
              <a:rPr lang="en-AU" kern="1200" dirty="0">
                <a:solidFill>
                  <a:schemeClr val="tx1"/>
                </a:solidFill>
              </a:rPr>
              <a:t>of previous block</a:t>
            </a:r>
          </a:p>
        </p:txBody>
      </p:sp>
      <p:sp>
        <p:nvSpPr>
          <p:cNvPr id="8" name="TextBox 7"/>
          <p:cNvSpPr txBox="1"/>
          <p:nvPr/>
        </p:nvSpPr>
        <p:spPr>
          <a:xfrm>
            <a:off x="6808272" y="3507232"/>
            <a:ext cx="486054" cy="318242"/>
          </a:xfrm>
          <a:prstGeom prst="rect">
            <a:avLst/>
          </a:prstGeom>
          <a:noFill/>
        </p:spPr>
        <p:txBody>
          <a:bodyPr wrap="square" lIns="71323" tIns="35662" rIns="71323" bIns="35662" rtlCol="0">
            <a:spAutoFit/>
          </a:bodyPr>
          <a:lstStyle/>
          <a:p>
            <a:r>
              <a:rPr lang="en-US" sz="1600" b="1" dirty="0"/>
              <a:t>H( )</a:t>
            </a:r>
          </a:p>
        </p:txBody>
      </p:sp>
      <p:sp>
        <p:nvSpPr>
          <p:cNvPr id="9" name="Rectangle 8"/>
          <p:cNvSpPr/>
          <p:nvPr/>
        </p:nvSpPr>
        <p:spPr>
          <a:xfrm>
            <a:off x="3189870" y="4328434"/>
            <a:ext cx="1890210" cy="1500167"/>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kern="1200"/>
          </a:p>
        </p:txBody>
      </p:sp>
      <p:sp>
        <p:nvSpPr>
          <p:cNvPr id="10" name="Rectangle 9"/>
          <p:cNvSpPr/>
          <p:nvPr/>
        </p:nvSpPr>
        <p:spPr>
          <a:xfrm>
            <a:off x="3317696" y="4928501"/>
            <a:ext cx="1654372" cy="780087"/>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kern="1200" dirty="0">
                <a:solidFill>
                  <a:schemeClr val="tx1"/>
                </a:solidFill>
              </a:rPr>
              <a:t>Transactions</a:t>
            </a:r>
          </a:p>
          <a:p>
            <a:pPr algn="ctr"/>
            <a:r>
              <a:rPr lang="en-AU" sz="1600" dirty="0">
                <a:solidFill>
                  <a:schemeClr val="tx1"/>
                </a:solidFill>
              </a:rPr>
              <a:t>⁞</a:t>
            </a:r>
          </a:p>
        </p:txBody>
      </p:sp>
      <p:sp>
        <p:nvSpPr>
          <p:cNvPr id="11" name="Rectangle 10"/>
          <p:cNvSpPr/>
          <p:nvPr/>
        </p:nvSpPr>
        <p:spPr>
          <a:xfrm>
            <a:off x="3317697" y="4489562"/>
            <a:ext cx="1654371" cy="43893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b="1" kern="1200" dirty="0">
                <a:solidFill>
                  <a:schemeClr val="tx1"/>
                </a:solidFill>
              </a:rPr>
              <a:t>     </a:t>
            </a:r>
            <a:r>
              <a:rPr lang="en-AU" kern="1200" dirty="0">
                <a:solidFill>
                  <a:schemeClr val="tx1"/>
                </a:solidFill>
              </a:rPr>
              <a:t>of previous block</a:t>
            </a:r>
          </a:p>
        </p:txBody>
      </p:sp>
      <p:sp>
        <p:nvSpPr>
          <p:cNvPr id="12" name="Rectangle 11"/>
          <p:cNvSpPr/>
          <p:nvPr/>
        </p:nvSpPr>
        <p:spPr>
          <a:xfrm>
            <a:off x="5330296" y="4347326"/>
            <a:ext cx="1890210" cy="1500167"/>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AU" kern="1200"/>
          </a:p>
        </p:txBody>
      </p:sp>
      <p:sp>
        <p:nvSpPr>
          <p:cNvPr id="13" name="Rectangle 12"/>
          <p:cNvSpPr/>
          <p:nvPr/>
        </p:nvSpPr>
        <p:spPr>
          <a:xfrm>
            <a:off x="5458122" y="4947393"/>
            <a:ext cx="1654372" cy="780087"/>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kern="1200" dirty="0">
                <a:solidFill>
                  <a:schemeClr val="tx1"/>
                </a:solidFill>
              </a:rPr>
              <a:t>Transactions</a:t>
            </a:r>
          </a:p>
          <a:p>
            <a:pPr algn="ctr"/>
            <a:r>
              <a:rPr lang="en-AU" sz="1600" dirty="0">
                <a:solidFill>
                  <a:schemeClr val="tx1"/>
                </a:solidFill>
              </a:rPr>
              <a:t>⁞</a:t>
            </a:r>
          </a:p>
        </p:txBody>
      </p:sp>
      <p:sp>
        <p:nvSpPr>
          <p:cNvPr id="14" name="Rectangle 13"/>
          <p:cNvSpPr/>
          <p:nvPr/>
        </p:nvSpPr>
        <p:spPr>
          <a:xfrm>
            <a:off x="5458123" y="4508454"/>
            <a:ext cx="1654371" cy="43893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kern="1200" dirty="0">
                <a:solidFill>
                  <a:schemeClr val="tx1"/>
                </a:solidFill>
              </a:rPr>
              <a:t>      of previous block</a:t>
            </a:r>
          </a:p>
        </p:txBody>
      </p:sp>
      <p:sp>
        <p:nvSpPr>
          <p:cNvPr id="15" name="Rectangle 14"/>
          <p:cNvSpPr/>
          <p:nvPr/>
        </p:nvSpPr>
        <p:spPr>
          <a:xfrm>
            <a:off x="813606" y="3387220"/>
            <a:ext cx="1404156" cy="48005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lIns="71323" tIns="35662" rIns="71323" bIns="35662"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AU" b="1" kern="1200" dirty="0"/>
              <a:t>Genesis Block</a:t>
            </a:r>
          </a:p>
        </p:txBody>
      </p:sp>
      <p:cxnSp>
        <p:nvCxnSpPr>
          <p:cNvPr id="16" name="Elbow Connector 15"/>
          <p:cNvCxnSpPr>
            <a:stCxn id="8" idx="2"/>
            <a:endCxn id="12" idx="3"/>
          </p:cNvCxnSpPr>
          <p:nvPr/>
        </p:nvCxnSpPr>
        <p:spPr>
          <a:xfrm rot="16200000" flipH="1">
            <a:off x="6499936" y="4376838"/>
            <a:ext cx="1271935" cy="169207"/>
          </a:xfrm>
          <a:prstGeom prst="bentConnector4">
            <a:avLst>
              <a:gd name="adj1" fmla="val 20514"/>
              <a:gd name="adj2" fmla="val 278728"/>
            </a:avLst>
          </a:prstGeom>
          <a:ln w="38100" cmpd="sng">
            <a:tailEnd type="arrow"/>
          </a:ln>
        </p:spPr>
        <p:style>
          <a:lnRef idx="2">
            <a:schemeClr val="accent2">
              <a:shade val="50000"/>
            </a:schemeClr>
          </a:lnRef>
          <a:fillRef idx="1">
            <a:schemeClr val="accent2"/>
          </a:fillRef>
          <a:effectRef idx="0">
            <a:schemeClr val="accent2"/>
          </a:effectRef>
          <a:fontRef idx="minor">
            <a:schemeClr val="lt1"/>
          </a:fontRef>
        </p:style>
      </p:cxnSp>
      <p:cxnSp>
        <p:nvCxnSpPr>
          <p:cNvPr id="17" name="Elbow Connector 16"/>
          <p:cNvCxnSpPr>
            <a:stCxn id="18" idx="0"/>
            <a:endCxn id="9" idx="3"/>
          </p:cNvCxnSpPr>
          <p:nvPr/>
        </p:nvCxnSpPr>
        <p:spPr>
          <a:xfrm rot="16200000" flipH="1" flipV="1">
            <a:off x="5141161" y="4518528"/>
            <a:ext cx="498909" cy="621069"/>
          </a:xfrm>
          <a:prstGeom prst="bentConnector4">
            <a:avLst>
              <a:gd name="adj1" fmla="val -45820"/>
              <a:gd name="adj2" fmla="val 69565"/>
            </a:avLst>
          </a:prstGeom>
          <a:ln w="38100" cmpd="sng">
            <a:tailEnd type="arrow"/>
          </a:ln>
        </p:spPr>
        <p:style>
          <a:lnRef idx="2">
            <a:schemeClr val="accent2">
              <a:shade val="50000"/>
            </a:schemeClr>
          </a:lnRef>
          <a:fillRef idx="1">
            <a:schemeClr val="accent2"/>
          </a:fillRef>
          <a:effectRef idx="0">
            <a:schemeClr val="accent2"/>
          </a:effectRef>
          <a:fontRef idx="minor">
            <a:schemeClr val="lt1"/>
          </a:fontRef>
        </p:style>
      </p:cxnSp>
      <p:sp>
        <p:nvSpPr>
          <p:cNvPr id="18" name="TextBox 17"/>
          <p:cNvSpPr txBox="1"/>
          <p:nvPr/>
        </p:nvSpPr>
        <p:spPr>
          <a:xfrm>
            <a:off x="5458122" y="4579608"/>
            <a:ext cx="486054" cy="287464"/>
          </a:xfrm>
          <a:prstGeom prst="rect">
            <a:avLst/>
          </a:prstGeom>
          <a:noFill/>
        </p:spPr>
        <p:txBody>
          <a:bodyPr wrap="square" lIns="71323" tIns="35662" rIns="71323" bIns="35662" rtlCol="0">
            <a:spAutoFit/>
          </a:bodyPr>
          <a:lstStyle/>
          <a:p>
            <a:r>
              <a:rPr lang="en-US" b="1" dirty="0"/>
              <a:t>H( )</a:t>
            </a:r>
          </a:p>
        </p:txBody>
      </p:sp>
      <p:sp>
        <p:nvSpPr>
          <p:cNvPr id="19" name="TextBox 18"/>
          <p:cNvSpPr txBox="1"/>
          <p:nvPr/>
        </p:nvSpPr>
        <p:spPr>
          <a:xfrm>
            <a:off x="3297882" y="4579608"/>
            <a:ext cx="432048" cy="287464"/>
          </a:xfrm>
          <a:prstGeom prst="rect">
            <a:avLst/>
          </a:prstGeom>
          <a:noFill/>
        </p:spPr>
        <p:txBody>
          <a:bodyPr wrap="square" lIns="71323" tIns="35662" rIns="71323" bIns="35662" rtlCol="0">
            <a:spAutoFit/>
          </a:bodyPr>
          <a:lstStyle/>
          <a:p>
            <a:r>
              <a:rPr lang="en-US" b="1" dirty="0"/>
              <a:t>H()</a:t>
            </a:r>
          </a:p>
        </p:txBody>
      </p:sp>
      <p:cxnSp>
        <p:nvCxnSpPr>
          <p:cNvPr id="20" name="Elbow Connector 19"/>
          <p:cNvCxnSpPr>
            <a:stCxn id="19" idx="0"/>
            <a:endCxn id="5" idx="3"/>
          </p:cNvCxnSpPr>
          <p:nvPr/>
        </p:nvCxnSpPr>
        <p:spPr>
          <a:xfrm rot="16200000" flipH="1" flipV="1">
            <a:off x="2967418" y="4532030"/>
            <a:ext cx="498910" cy="594066"/>
          </a:xfrm>
          <a:prstGeom prst="bentConnector4">
            <a:avLst>
              <a:gd name="adj1" fmla="val -45820"/>
              <a:gd name="adj2" fmla="val 68182"/>
            </a:avLst>
          </a:prstGeom>
          <a:ln w="38100" cmpd="sng">
            <a:tailEnd type="arrow"/>
          </a:ln>
        </p:spPr>
        <p:style>
          <a:lnRef idx="2">
            <a:schemeClr val="accent2">
              <a:shade val="50000"/>
            </a:schemeClr>
          </a:lnRef>
          <a:fillRef idx="1">
            <a:schemeClr val="accent2"/>
          </a:fillRef>
          <a:effectRef idx="0">
            <a:schemeClr val="accent2"/>
          </a:effectRef>
          <a:fontRef idx="minor">
            <a:schemeClr val="lt1"/>
          </a:fontRef>
        </p:style>
      </p:cxnSp>
      <p:sp>
        <p:nvSpPr>
          <p:cNvPr id="21" name="TextBox 20"/>
          <p:cNvSpPr txBox="1"/>
          <p:nvPr/>
        </p:nvSpPr>
        <p:spPr>
          <a:xfrm>
            <a:off x="1137642" y="4579608"/>
            <a:ext cx="432048" cy="287464"/>
          </a:xfrm>
          <a:prstGeom prst="rect">
            <a:avLst/>
          </a:prstGeom>
          <a:noFill/>
        </p:spPr>
        <p:txBody>
          <a:bodyPr wrap="square" lIns="71323" tIns="35662" rIns="71323" bIns="35662" rtlCol="0">
            <a:spAutoFit/>
          </a:bodyPr>
          <a:lstStyle/>
          <a:p>
            <a:r>
              <a:rPr lang="en-US" b="1" dirty="0"/>
              <a:t>H()</a:t>
            </a:r>
          </a:p>
        </p:txBody>
      </p:sp>
      <p:cxnSp>
        <p:nvCxnSpPr>
          <p:cNvPr id="22" name="Elbow Connector 21"/>
          <p:cNvCxnSpPr>
            <a:stCxn id="21" idx="0"/>
            <a:endCxn id="15" idx="2"/>
          </p:cNvCxnSpPr>
          <p:nvPr/>
        </p:nvCxnSpPr>
        <p:spPr>
          <a:xfrm rot="5400000" flipH="1" flipV="1">
            <a:off x="1078508" y="4142432"/>
            <a:ext cx="712335" cy="162018"/>
          </a:xfrm>
          <a:prstGeom prst="bentConnector3">
            <a:avLst>
              <a:gd name="adj1" fmla="val 50000"/>
            </a:avLst>
          </a:prstGeom>
          <a:ln w="38100" cmpd="sng">
            <a:tailEnd type="arrow"/>
          </a:ln>
        </p:spPr>
        <p:style>
          <a:lnRef idx="2">
            <a:schemeClr val="accent2">
              <a:shade val="50000"/>
            </a:schemeClr>
          </a:lnRef>
          <a:fillRef idx="1">
            <a:schemeClr val="accent2"/>
          </a:fillRef>
          <a:effectRef idx="0">
            <a:schemeClr val="accent2"/>
          </a:effectRef>
          <a:fontRef idx="minor">
            <a:schemeClr val="lt1"/>
          </a:fontRef>
        </p:style>
      </p:cxnSp>
      <p:pic>
        <p:nvPicPr>
          <p:cNvPr id="23" name="Picture 22" descr="1432215848.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7702" y="5007399"/>
            <a:ext cx="573900" cy="637667"/>
          </a:xfrm>
          <a:prstGeom prst="rect">
            <a:avLst/>
          </a:prstGeom>
        </p:spPr>
      </p:pic>
      <p:pic>
        <p:nvPicPr>
          <p:cNvPr id="24" name="Picture 23" descr="1432215848.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7090" y="4990860"/>
            <a:ext cx="573900" cy="637667"/>
          </a:xfrm>
          <a:prstGeom prst="rect">
            <a:avLst/>
          </a:prstGeom>
        </p:spPr>
      </p:pic>
      <p:pic>
        <p:nvPicPr>
          <p:cNvPr id="25" name="Picture 24" descr="1432215848.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50110" y="4527346"/>
            <a:ext cx="573900" cy="637667"/>
          </a:xfrm>
          <a:prstGeom prst="rect">
            <a:avLst/>
          </a:prstGeom>
        </p:spPr>
      </p:pic>
    </p:spTree>
    <p:extLst>
      <p:ext uri="{BB962C8B-B14F-4D97-AF65-F5344CB8AC3E}">
        <p14:creationId xmlns:p14="http://schemas.microsoft.com/office/powerpoint/2010/main" val="106724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Content Placeholder 2"/>
          <p:cNvSpPr>
            <a:spLocks noGrp="1"/>
          </p:cNvSpPr>
          <p:nvPr>
            <p:ph idx="1"/>
          </p:nvPr>
        </p:nvSpPr>
        <p:spPr>
          <a:xfrm>
            <a:off x="648000" y="1573619"/>
            <a:ext cx="7920000" cy="4167587"/>
          </a:xfrm>
        </p:spPr>
        <p:txBody>
          <a:bodyPr>
            <a:normAutofit fontScale="85000" lnSpcReduction="10000"/>
          </a:bodyPr>
          <a:lstStyle/>
          <a:p>
            <a:r>
              <a:rPr lang="en-US" dirty="0"/>
              <a:t>Transactions represent authorized state transitions</a:t>
            </a:r>
          </a:p>
          <a:p>
            <a:endParaRPr lang="en-US" dirty="0"/>
          </a:p>
          <a:p>
            <a:endParaRPr lang="de-DE" dirty="0"/>
          </a:p>
          <a:p>
            <a:endParaRPr lang="de-DE" dirty="0"/>
          </a:p>
          <a:p>
            <a:endParaRPr lang="en-US" dirty="0"/>
          </a:p>
          <a:p>
            <a:r>
              <a:rPr lang="en-US" dirty="0"/>
              <a:t>Transactions can record data </a:t>
            </a:r>
          </a:p>
          <a:p>
            <a:r>
              <a:rPr lang="en-US" dirty="0"/>
              <a:t>Transaction can transfer control of digital assets among participants</a:t>
            </a:r>
          </a:p>
          <a:p>
            <a:pPr lvl="1"/>
            <a:r>
              <a:rPr lang="en-US" dirty="0"/>
              <a:t>Crypto-currencies </a:t>
            </a:r>
          </a:p>
          <a:p>
            <a:pPr lvl="1"/>
            <a:r>
              <a:rPr lang="en-US" dirty="0"/>
              <a:t>Smart contract-based digital assets</a:t>
            </a:r>
          </a:p>
        </p:txBody>
      </p:sp>
      <p:sp>
        <p:nvSpPr>
          <p:cNvPr id="49" name="Text Placeholder 3"/>
          <p:cNvSpPr>
            <a:spLocks noGrp="1"/>
          </p:cNvSpPr>
          <p:nvPr>
            <p:ph type="body" sz="quarter" idx="10"/>
          </p:nvPr>
        </p:nvSpPr>
        <p:spPr>
          <a:xfrm>
            <a:off x="403451" y="733832"/>
            <a:ext cx="6631640" cy="365126"/>
          </a:xfrm>
        </p:spPr>
        <p:txBody>
          <a:bodyPr>
            <a:noAutofit/>
          </a:bodyPr>
          <a:lstStyle/>
          <a:p>
            <a:r>
              <a:rPr lang="en-US" sz="2800" dirty="0"/>
              <a:t>Transactions</a:t>
            </a:r>
          </a:p>
        </p:txBody>
      </p:sp>
      <p:sp>
        <p:nvSpPr>
          <p:cNvPr id="2" name="Title 1"/>
          <p:cNvSpPr>
            <a:spLocks noGrp="1"/>
          </p:cNvSpPr>
          <p:nvPr>
            <p:ph type="title"/>
          </p:nvPr>
        </p:nvSpPr>
        <p:spPr>
          <a:xfrm>
            <a:off x="0" y="127200"/>
            <a:ext cx="7709191" cy="526130"/>
          </a:xfrm>
        </p:spPr>
        <p:txBody>
          <a:bodyPr>
            <a:normAutofit fontScale="90000"/>
          </a:bodyPr>
          <a:lstStyle/>
          <a:p>
            <a:r>
              <a:rPr lang="en-US" dirty="0"/>
              <a:t>Blockchain as Storage Element</a:t>
            </a:r>
          </a:p>
        </p:txBody>
      </p:sp>
      <p:sp>
        <p:nvSpPr>
          <p:cNvPr id="27" name="Rectangle 26"/>
          <p:cNvSpPr/>
          <p:nvPr/>
        </p:nvSpPr>
        <p:spPr>
          <a:xfrm>
            <a:off x="2391649" y="2230348"/>
            <a:ext cx="1095375" cy="440973"/>
          </a:xfrm>
          <a:prstGeom prst="rect">
            <a:avLst/>
          </a:prstGeom>
        </p:spPr>
        <p:style>
          <a:lnRef idx="1">
            <a:schemeClr val="accent1"/>
          </a:lnRef>
          <a:fillRef idx="3">
            <a:schemeClr val="accent1"/>
          </a:fillRef>
          <a:effectRef idx="2">
            <a:schemeClr val="accent1"/>
          </a:effectRef>
          <a:fontRef idx="minor">
            <a:schemeClr val="lt1"/>
          </a:fontRef>
        </p:style>
        <p:txBody>
          <a:bodyPr lIns="71323" tIns="35662" rIns="71323" bIns="35662" rtlCol="0" anchor="ctr"/>
          <a:lstStyle/>
          <a:p>
            <a:pPr algn="ctr"/>
            <a:r>
              <a:rPr lang="en-US" dirty="0"/>
              <a:t>State</a:t>
            </a:r>
            <a:r>
              <a:rPr lang="en-US" baseline="-25000" dirty="0"/>
              <a:t>n</a:t>
            </a:r>
          </a:p>
        </p:txBody>
      </p:sp>
      <p:sp>
        <p:nvSpPr>
          <p:cNvPr id="28" name="Rectangle 27"/>
          <p:cNvSpPr/>
          <p:nvPr/>
        </p:nvSpPr>
        <p:spPr>
          <a:xfrm>
            <a:off x="2394823" y="3084953"/>
            <a:ext cx="1076325" cy="455083"/>
          </a:xfrm>
          <a:prstGeom prst="rect">
            <a:avLst/>
          </a:prstGeom>
        </p:spPr>
        <p:style>
          <a:lnRef idx="1">
            <a:schemeClr val="accent1"/>
          </a:lnRef>
          <a:fillRef idx="3">
            <a:schemeClr val="accent1"/>
          </a:fillRef>
          <a:effectRef idx="2">
            <a:schemeClr val="accent1"/>
          </a:effectRef>
          <a:fontRef idx="minor">
            <a:schemeClr val="lt1"/>
          </a:fontRef>
        </p:style>
        <p:txBody>
          <a:bodyPr lIns="71323" tIns="35662" rIns="71323" bIns="35662" rtlCol="0" anchor="ctr"/>
          <a:lstStyle/>
          <a:p>
            <a:pPr algn="ctr"/>
            <a:r>
              <a:rPr lang="en-US" dirty="0"/>
              <a:t>State</a:t>
            </a:r>
            <a:r>
              <a:rPr lang="en-US" baseline="-25000" dirty="0"/>
              <a:t>n+1</a:t>
            </a:r>
          </a:p>
        </p:txBody>
      </p:sp>
      <p:cxnSp>
        <p:nvCxnSpPr>
          <p:cNvPr id="40" name="Straight Arrow Connector 39"/>
          <p:cNvCxnSpPr>
            <a:stCxn id="27" idx="2"/>
            <a:endCxn id="28" idx="0"/>
          </p:cNvCxnSpPr>
          <p:nvPr/>
        </p:nvCxnSpPr>
        <p:spPr>
          <a:xfrm flipH="1">
            <a:off x="2932986" y="2671321"/>
            <a:ext cx="6350" cy="413633"/>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cxnSpLocks/>
          </p:cNvCxnSpPr>
          <p:nvPr/>
        </p:nvCxnSpPr>
        <p:spPr>
          <a:xfrm flipV="1">
            <a:off x="1651749" y="2888068"/>
            <a:ext cx="1282127" cy="6448"/>
          </a:xfrm>
          <a:prstGeom prst="straightConnector1">
            <a:avLst/>
          </a:prstGeom>
          <a:ln w="19050">
            <a:prstDash val="dash"/>
            <a:tailEnd type="arrow"/>
          </a:ln>
        </p:spPr>
        <p:style>
          <a:lnRef idx="2">
            <a:schemeClr val="accent1"/>
          </a:lnRef>
          <a:fillRef idx="0">
            <a:schemeClr val="accent1"/>
          </a:fillRef>
          <a:effectRef idx="1">
            <a:schemeClr val="accent1"/>
          </a:effectRef>
          <a:fontRef idx="minor">
            <a:schemeClr val="tx1"/>
          </a:fontRef>
        </p:style>
      </p:cxnSp>
      <p:sp>
        <p:nvSpPr>
          <p:cNvPr id="4" name="Textfeld 3">
            <a:extLst>
              <a:ext uri="{FF2B5EF4-FFF2-40B4-BE49-F238E27FC236}">
                <a16:creationId xmlns:a16="http://schemas.microsoft.com/office/drawing/2014/main" id="{498498FC-5F74-45A3-B386-B22E791ADFDC}"/>
              </a:ext>
            </a:extLst>
          </p:cNvPr>
          <p:cNvSpPr txBox="1"/>
          <p:nvPr/>
        </p:nvSpPr>
        <p:spPr>
          <a:xfrm>
            <a:off x="1302795" y="2733860"/>
            <a:ext cx="383438" cy="307777"/>
          </a:xfrm>
          <a:prstGeom prst="rect">
            <a:avLst/>
          </a:prstGeom>
          <a:noFill/>
        </p:spPr>
        <p:txBody>
          <a:bodyPr wrap="none" rtlCol="0">
            <a:spAutoFit/>
          </a:bodyPr>
          <a:lstStyle/>
          <a:p>
            <a:r>
              <a:rPr lang="de-DE" dirty="0" err="1"/>
              <a:t>Tx</a:t>
            </a:r>
            <a:endParaRPr lang="en-US" dirty="0"/>
          </a:p>
        </p:txBody>
      </p:sp>
    </p:spTree>
    <p:extLst>
      <p:ext uri="{BB962C8B-B14F-4D97-AF65-F5344CB8AC3E}">
        <p14:creationId xmlns:p14="http://schemas.microsoft.com/office/powerpoint/2010/main" val="26261708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72140" y="299238"/>
            <a:ext cx="8229600" cy="1143000"/>
          </a:xfrm>
        </p:spPr>
        <p:txBody>
          <a:bodyPr>
            <a:noAutofit/>
          </a:bodyPr>
          <a:lstStyle/>
          <a:p>
            <a:r>
              <a:rPr lang="en-US" sz="2800" dirty="0"/>
              <a:t>Representation of Crypto-currency Holdings</a:t>
            </a:r>
          </a:p>
        </p:txBody>
      </p:sp>
      <p:sp>
        <p:nvSpPr>
          <p:cNvPr id="3" name="Content Placeholder 2"/>
          <p:cNvSpPr>
            <a:spLocks noGrp="1"/>
          </p:cNvSpPr>
          <p:nvPr>
            <p:ph idx="1"/>
          </p:nvPr>
        </p:nvSpPr>
        <p:spPr/>
        <p:txBody>
          <a:bodyPr>
            <a:normAutofit fontScale="92500" lnSpcReduction="10000"/>
          </a:bodyPr>
          <a:lstStyle/>
          <a:p>
            <a:r>
              <a:rPr lang="en-US" dirty="0"/>
              <a:t>Bitcoin</a:t>
            </a:r>
          </a:p>
          <a:p>
            <a:pPr lvl="1"/>
            <a:r>
              <a:rPr lang="en-US" dirty="0"/>
              <a:t>Collection of unspent transaction outputs (UTXO) from all previous transactions to that address</a:t>
            </a:r>
          </a:p>
          <a:p>
            <a:pPr lvl="1"/>
            <a:endParaRPr lang="en-US" dirty="0"/>
          </a:p>
          <a:p>
            <a:r>
              <a:rPr lang="en-US" dirty="0"/>
              <a:t>Ethereum</a:t>
            </a:r>
          </a:p>
          <a:p>
            <a:pPr lvl="1"/>
            <a:r>
              <a:rPr lang="en-US" dirty="0"/>
              <a:t>Represented in a global system state</a:t>
            </a:r>
          </a:p>
          <a:p>
            <a:pPr lvl="2"/>
            <a:r>
              <a:rPr lang="en-US" dirty="0"/>
              <a:t>Smart contract has its own storage: key-value data store</a:t>
            </a:r>
          </a:p>
          <a:p>
            <a:pPr lvl="2"/>
            <a:r>
              <a:rPr lang="en-US" dirty="0"/>
              <a:t>Updates to contract variables do not change the historical data</a:t>
            </a:r>
          </a:p>
          <a:p>
            <a:pPr lvl="2"/>
            <a:r>
              <a:rPr lang="en-US" dirty="0"/>
              <a:t>But: transactions update the latest view of those variables in the contract data store</a:t>
            </a:r>
          </a:p>
          <a:p>
            <a:pPr lvl="2"/>
            <a:endParaRPr lang="en-US" dirty="0"/>
          </a:p>
        </p:txBody>
      </p:sp>
      <p:sp>
        <p:nvSpPr>
          <p:cNvPr id="6" name="Foliennummernplatzhalter 5">
            <a:extLst>
              <a:ext uri="{FF2B5EF4-FFF2-40B4-BE49-F238E27FC236}">
                <a16:creationId xmlns:a16="http://schemas.microsoft.com/office/drawing/2014/main" id="{D32AA2FE-3D14-4569-962E-54456B5F349D}"/>
              </a:ext>
            </a:extLst>
          </p:cNvPr>
          <p:cNvSpPr>
            <a:spLocks noGrp="1"/>
          </p:cNvSpPr>
          <p:nvPr>
            <p:ph type="sldNum" sz="quarter" idx="4"/>
          </p:nvPr>
        </p:nvSpPr>
        <p:spPr/>
        <p:txBody>
          <a:bodyPr/>
          <a:lstStyle/>
          <a:p>
            <a:fld id="{97F98C0B-273E-428A-ABCF-EBED2BA25188}" type="slidenum">
              <a:rPr lang="en-US" smtClean="0"/>
              <a:t>36</a:t>
            </a:fld>
            <a:endParaRPr lang="en-US"/>
          </a:p>
        </p:txBody>
      </p:sp>
    </p:spTree>
    <p:extLst>
      <p:ext uri="{BB962C8B-B14F-4D97-AF65-F5344CB8AC3E}">
        <p14:creationId xmlns:p14="http://schemas.microsoft.com/office/powerpoint/2010/main" val="17803234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Storing Arbitrary Data on Blockchain</a:t>
            </a:r>
          </a:p>
        </p:txBody>
      </p:sp>
      <p:sp>
        <p:nvSpPr>
          <p:cNvPr id="3" name="Content Placeholder 2"/>
          <p:cNvSpPr>
            <a:spLocks noGrp="1"/>
          </p:cNvSpPr>
          <p:nvPr>
            <p:ph idx="1"/>
          </p:nvPr>
        </p:nvSpPr>
        <p:spPr/>
        <p:txBody>
          <a:bodyPr>
            <a:normAutofit fontScale="70000" lnSpcReduction="20000"/>
          </a:bodyPr>
          <a:lstStyle/>
          <a:p>
            <a:r>
              <a:rPr lang="en-US" dirty="0"/>
              <a:t>“Arbitrary”: not structured in a way defined by the protocol</a:t>
            </a:r>
          </a:p>
          <a:p>
            <a:r>
              <a:rPr lang="en-US" dirty="0"/>
              <a:t>Two ways of storing data on blockchain</a:t>
            </a:r>
          </a:p>
          <a:p>
            <a:pPr lvl="1"/>
            <a:r>
              <a:rPr lang="en-US" dirty="0"/>
              <a:t>Adding data into transaction</a:t>
            </a:r>
          </a:p>
          <a:p>
            <a:pPr lvl="2"/>
            <a:r>
              <a:rPr lang="en-US" dirty="0"/>
              <a:t>Bitcoin</a:t>
            </a:r>
          </a:p>
          <a:p>
            <a:pPr lvl="2"/>
            <a:r>
              <a:rPr lang="en-US" dirty="0"/>
              <a:t>Ethereum</a:t>
            </a:r>
          </a:p>
          <a:p>
            <a:pPr lvl="1"/>
            <a:r>
              <a:rPr lang="en-US" dirty="0"/>
              <a:t>Adding data into contract storage</a:t>
            </a:r>
          </a:p>
          <a:p>
            <a:pPr lvl="2"/>
            <a:r>
              <a:rPr lang="en-US" dirty="0"/>
              <a:t>Smart contract on Ethereum </a:t>
            </a:r>
          </a:p>
          <a:p>
            <a:pPr lvl="2"/>
            <a:r>
              <a:rPr lang="en-US" dirty="0"/>
              <a:t>Smart contracts have an address, which is used to invoke the contract</a:t>
            </a:r>
          </a:p>
          <a:p>
            <a:pPr lvl="2"/>
            <a:r>
              <a:rPr lang="en-US" dirty="0"/>
              <a:t>Smart contract can only directly update its own storage</a:t>
            </a:r>
          </a:p>
          <a:p>
            <a:pPr lvl="3"/>
            <a:r>
              <a:rPr lang="en-US" dirty="0"/>
              <a:t>But can also call other smart contracts, which might update their storage</a:t>
            </a:r>
          </a:p>
          <a:p>
            <a:pPr lvl="2"/>
            <a:r>
              <a:rPr lang="en-US" b="1" dirty="0"/>
              <a:t>Note: anything in a transaction will be part of the ledger </a:t>
            </a:r>
          </a:p>
          <a:p>
            <a:pPr lvl="3"/>
            <a:r>
              <a:rPr lang="en-US" dirty="0"/>
              <a:t>Even if you do not store it in a contract variable</a:t>
            </a:r>
          </a:p>
          <a:p>
            <a:r>
              <a:rPr lang="en-US" dirty="0"/>
              <a:t>Both ways store data through submitting transactions</a:t>
            </a:r>
          </a:p>
          <a:p>
            <a:pPr lvl="1"/>
            <a:r>
              <a:rPr lang="en-US" dirty="0"/>
              <a:t>Amount of cryptocurrency transferred (can be 0)</a:t>
            </a:r>
          </a:p>
          <a:p>
            <a:pPr lvl="1"/>
            <a:r>
              <a:rPr lang="en-US" dirty="0"/>
              <a:t>Additional other data (also optional)</a:t>
            </a:r>
          </a:p>
        </p:txBody>
      </p:sp>
      <p:sp>
        <p:nvSpPr>
          <p:cNvPr id="6" name="Foliennummernplatzhalter 5">
            <a:extLst>
              <a:ext uri="{FF2B5EF4-FFF2-40B4-BE49-F238E27FC236}">
                <a16:creationId xmlns:a16="http://schemas.microsoft.com/office/drawing/2014/main" id="{74805C4B-D31D-4413-8680-0962C4CAB779}"/>
              </a:ext>
            </a:extLst>
          </p:cNvPr>
          <p:cNvSpPr>
            <a:spLocks noGrp="1"/>
          </p:cNvSpPr>
          <p:nvPr>
            <p:ph type="sldNum" sz="quarter" idx="4"/>
          </p:nvPr>
        </p:nvSpPr>
        <p:spPr/>
        <p:txBody>
          <a:bodyPr/>
          <a:lstStyle/>
          <a:p>
            <a:fld id="{97F98C0B-273E-428A-ABCF-EBED2BA25188}" type="slidenum">
              <a:rPr lang="en-US" smtClean="0"/>
              <a:t>37</a:t>
            </a:fld>
            <a:endParaRPr lang="en-US"/>
          </a:p>
        </p:txBody>
      </p:sp>
    </p:spTree>
    <p:extLst>
      <p:ext uri="{BB962C8B-B14F-4D97-AF65-F5344CB8AC3E}">
        <p14:creationId xmlns:p14="http://schemas.microsoft.com/office/powerpoint/2010/main" val="1048769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12651" y="457200"/>
            <a:ext cx="9027042" cy="1143000"/>
          </a:xfrm>
        </p:spPr>
        <p:txBody>
          <a:bodyPr>
            <a:normAutofit fontScale="90000"/>
          </a:bodyPr>
          <a:lstStyle/>
          <a:p>
            <a:r>
              <a:rPr lang="en-US" dirty="0"/>
              <a:t>Comparison with Other Data Storage</a:t>
            </a:r>
          </a:p>
        </p:txBody>
      </p:sp>
      <p:sp>
        <p:nvSpPr>
          <p:cNvPr id="3" name="Content Placeholder 2"/>
          <p:cNvSpPr>
            <a:spLocks noGrp="1"/>
          </p:cNvSpPr>
          <p:nvPr>
            <p:ph idx="1"/>
          </p:nvPr>
        </p:nvSpPr>
        <p:spPr/>
        <p:txBody>
          <a:bodyPr>
            <a:normAutofit lnSpcReduction="10000"/>
          </a:bodyPr>
          <a:lstStyle/>
          <a:p>
            <a:r>
              <a:rPr lang="en-AU" dirty="0"/>
              <a:t>Comparison with Shared Centralised Database</a:t>
            </a:r>
          </a:p>
          <a:p>
            <a:endParaRPr lang="en-AU" dirty="0"/>
          </a:p>
          <a:p>
            <a:r>
              <a:rPr lang="en-AU" dirty="0"/>
              <a:t>Comparison with Cloud Storage</a:t>
            </a:r>
          </a:p>
          <a:p>
            <a:endParaRPr lang="en-AU" dirty="0"/>
          </a:p>
          <a:p>
            <a:r>
              <a:rPr lang="en-AU" dirty="0"/>
              <a:t>Comparison with Peer-to-Peer Data Storage</a:t>
            </a:r>
          </a:p>
          <a:p>
            <a:endParaRPr lang="en-AU" dirty="0"/>
          </a:p>
          <a:p>
            <a:r>
              <a:rPr lang="en-AU" dirty="0"/>
              <a:t>Comparison with Replicated State Machines</a:t>
            </a:r>
          </a:p>
        </p:txBody>
      </p:sp>
      <p:sp>
        <p:nvSpPr>
          <p:cNvPr id="6" name="Foliennummernplatzhalter 5">
            <a:extLst>
              <a:ext uri="{FF2B5EF4-FFF2-40B4-BE49-F238E27FC236}">
                <a16:creationId xmlns:a16="http://schemas.microsoft.com/office/drawing/2014/main" id="{1A46128F-07D3-4B50-819F-D0179C576E1C}"/>
              </a:ext>
            </a:extLst>
          </p:cNvPr>
          <p:cNvSpPr>
            <a:spLocks noGrp="1"/>
          </p:cNvSpPr>
          <p:nvPr>
            <p:ph type="sldNum" sz="quarter" idx="4"/>
          </p:nvPr>
        </p:nvSpPr>
        <p:spPr/>
        <p:txBody>
          <a:bodyPr/>
          <a:lstStyle/>
          <a:p>
            <a:fld id="{97F98C0B-273E-428A-ABCF-EBED2BA25188}" type="slidenum">
              <a:rPr lang="en-US" smtClean="0"/>
              <a:t>38</a:t>
            </a:fld>
            <a:endParaRPr lang="en-US"/>
          </a:p>
        </p:txBody>
      </p:sp>
    </p:spTree>
    <p:extLst>
      <p:ext uri="{BB962C8B-B14F-4D97-AF65-F5344CB8AC3E}">
        <p14:creationId xmlns:p14="http://schemas.microsoft.com/office/powerpoint/2010/main" val="2496282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Blockchain vs. Shared DB: </a:t>
            </a:r>
            <a:r>
              <a:rPr lang="en-US" i="1" dirty="0"/>
              <a:t>Operations</a:t>
            </a:r>
          </a:p>
        </p:txBody>
      </p:sp>
      <p:sp>
        <p:nvSpPr>
          <p:cNvPr id="3" name="Content Placeholder 2"/>
          <p:cNvSpPr>
            <a:spLocks noGrp="1"/>
          </p:cNvSpPr>
          <p:nvPr>
            <p:ph sz="half" idx="1"/>
          </p:nvPr>
        </p:nvSpPr>
        <p:spPr>
          <a:xfrm>
            <a:off x="648001" y="3429000"/>
            <a:ext cx="3923215" cy="2051156"/>
          </a:xfrm>
        </p:spPr>
        <p:txBody>
          <a:bodyPr>
            <a:normAutofit fontScale="92500" lnSpcReduction="10000"/>
          </a:bodyPr>
          <a:lstStyle/>
          <a:p>
            <a:r>
              <a:rPr lang="en-US" sz="1900" dirty="0"/>
              <a:t>Insert Transaction (Append Only)</a:t>
            </a:r>
          </a:p>
          <a:p>
            <a:pPr lvl="1"/>
            <a:r>
              <a:rPr lang="en-US" altLang="zh-CN" sz="1600" dirty="0"/>
              <a:t>Current view of smart contract variable values can mimic database</a:t>
            </a:r>
          </a:p>
          <a:p>
            <a:pPr lvl="1"/>
            <a:endParaRPr lang="en-US" altLang="zh-CN" sz="1600" dirty="0"/>
          </a:p>
          <a:p>
            <a:r>
              <a:rPr lang="en-US" altLang="zh-CN" sz="2000" dirty="0"/>
              <a:t>Analogy: log </a:t>
            </a:r>
          </a:p>
          <a:p>
            <a:pPr lvl="1"/>
            <a:r>
              <a:rPr lang="en-US" altLang="zh-CN" sz="1600" dirty="0"/>
              <a:t>Data items get appended </a:t>
            </a:r>
          </a:p>
          <a:p>
            <a:pPr lvl="1"/>
            <a:r>
              <a:rPr lang="en-US" altLang="zh-CN" sz="1600" dirty="0"/>
              <a:t>Never deleted or updated</a:t>
            </a:r>
          </a:p>
        </p:txBody>
      </p:sp>
      <p:sp>
        <p:nvSpPr>
          <p:cNvPr id="4" name="Content Placeholder 3"/>
          <p:cNvSpPr>
            <a:spLocks noGrp="1"/>
          </p:cNvSpPr>
          <p:nvPr>
            <p:ph sz="half" idx="2"/>
          </p:nvPr>
        </p:nvSpPr>
        <p:spPr>
          <a:xfrm>
            <a:off x="5583661" y="3429000"/>
            <a:ext cx="2823797" cy="2051156"/>
          </a:xfrm>
        </p:spPr>
        <p:txBody>
          <a:bodyPr>
            <a:normAutofit fontScale="92500" lnSpcReduction="10000"/>
          </a:bodyPr>
          <a:lstStyle/>
          <a:p>
            <a:r>
              <a:rPr lang="en-US" sz="1900" dirty="0"/>
              <a:t>Create</a:t>
            </a:r>
          </a:p>
          <a:p>
            <a:r>
              <a:rPr lang="en-US" sz="1900" dirty="0"/>
              <a:t>Read</a:t>
            </a:r>
          </a:p>
          <a:p>
            <a:r>
              <a:rPr lang="en-US" sz="1900" dirty="0"/>
              <a:t>Update</a:t>
            </a:r>
          </a:p>
          <a:p>
            <a:r>
              <a:rPr lang="en-US" sz="1900" dirty="0"/>
              <a:t>Delete</a:t>
            </a:r>
          </a:p>
        </p:txBody>
      </p:sp>
      <p:sp>
        <p:nvSpPr>
          <p:cNvPr id="6" name="Foliennummernplatzhalter 5">
            <a:extLst>
              <a:ext uri="{FF2B5EF4-FFF2-40B4-BE49-F238E27FC236}">
                <a16:creationId xmlns:a16="http://schemas.microsoft.com/office/drawing/2014/main" id="{7468FE2F-96D9-4142-BD1B-9B02250FF8E3}"/>
              </a:ext>
            </a:extLst>
          </p:cNvPr>
          <p:cNvSpPr>
            <a:spLocks noGrp="1"/>
          </p:cNvSpPr>
          <p:nvPr>
            <p:ph type="sldNum" sz="quarter" idx="4"/>
          </p:nvPr>
        </p:nvSpPr>
        <p:spPr>
          <a:xfrm>
            <a:off x="6712882" y="5368406"/>
            <a:ext cx="1855118" cy="224836"/>
          </a:xfrm>
          <a:prstGeom prst="rect">
            <a:avLst/>
          </a:prstGeom>
        </p:spPr>
        <p:txBody>
          <a:bodyPr vert="horz" lIns="91440" tIns="45720" rIns="91440" bIns="45720" rtlCol="0" anchor="ctr"/>
          <a:lstStyle>
            <a:defPPr>
              <a:defRPr lang="en-US"/>
            </a:defPPr>
            <a:lvl1pPr marL="0" algn="r" defTabSz="713232" rtl="0" eaLnBrk="1" latinLnBrk="0" hangingPunct="1">
              <a:defRPr sz="1200" kern="1200">
                <a:solidFill>
                  <a:schemeClr val="tx1">
                    <a:tint val="75000"/>
                  </a:schemeClr>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a:lstStyle>
          <a:p>
            <a:fld id="{97F98C0B-273E-428A-ABCF-EBED2BA25188}" type="slidenum">
              <a:rPr lang="en-US" smtClean="0"/>
              <a:pPr/>
              <a:t>39</a:t>
            </a:fld>
            <a:endParaRPr lang="en-US"/>
          </a:p>
        </p:txBody>
      </p:sp>
      <p:pic>
        <p:nvPicPr>
          <p:cNvPr id="10" name="Picture 7">
            <a:extLst>
              <a:ext uri="{FF2B5EF4-FFF2-40B4-BE49-F238E27FC236}">
                <a16:creationId xmlns:a16="http://schemas.microsoft.com/office/drawing/2014/main" id="{B567FE01-BC23-47C2-9678-23885F4B9F3C}"/>
              </a:ext>
            </a:extLst>
          </p:cNvPr>
          <p:cNvPicPr>
            <a:picLocks noChangeAspect="1"/>
          </p:cNvPicPr>
          <p:nvPr/>
        </p:nvPicPr>
        <p:blipFill>
          <a:blip r:embed="rId3"/>
          <a:stretch>
            <a:fillRect/>
          </a:stretch>
        </p:blipFill>
        <p:spPr>
          <a:xfrm>
            <a:off x="5236750" y="1693830"/>
            <a:ext cx="2200850" cy="1780463"/>
          </a:xfrm>
          <a:prstGeom prst="rect">
            <a:avLst/>
          </a:prstGeom>
        </p:spPr>
      </p:pic>
      <p:pic>
        <p:nvPicPr>
          <p:cNvPr id="11" name="Picture 8">
            <a:extLst>
              <a:ext uri="{FF2B5EF4-FFF2-40B4-BE49-F238E27FC236}">
                <a16:creationId xmlns:a16="http://schemas.microsoft.com/office/drawing/2014/main" id="{B54492E0-41FD-4B4D-A565-908F07D6CD67}"/>
              </a:ext>
            </a:extLst>
          </p:cNvPr>
          <p:cNvPicPr>
            <a:picLocks noChangeAspect="1"/>
          </p:cNvPicPr>
          <p:nvPr/>
        </p:nvPicPr>
        <p:blipFill>
          <a:blip r:embed="rId4"/>
          <a:stretch>
            <a:fillRect/>
          </a:stretch>
        </p:blipFill>
        <p:spPr>
          <a:xfrm>
            <a:off x="745456" y="1688754"/>
            <a:ext cx="2592288" cy="1785538"/>
          </a:xfrm>
          <a:prstGeom prst="rect">
            <a:avLst/>
          </a:prstGeom>
        </p:spPr>
      </p:pic>
    </p:spTree>
    <p:extLst>
      <p:ext uri="{BB962C8B-B14F-4D97-AF65-F5344CB8AC3E}">
        <p14:creationId xmlns:p14="http://schemas.microsoft.com/office/powerpoint/2010/main" val="1248776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Blockchain vs. Shared DB: </a:t>
            </a:r>
            <a:r>
              <a:rPr lang="en-US" i="1" dirty="0"/>
              <a:t>Consensus</a:t>
            </a:r>
          </a:p>
        </p:txBody>
      </p:sp>
      <p:sp>
        <p:nvSpPr>
          <p:cNvPr id="3" name="Content Placeholder 2"/>
          <p:cNvSpPr>
            <a:spLocks noGrp="1"/>
          </p:cNvSpPr>
          <p:nvPr>
            <p:ph sz="half" idx="1"/>
          </p:nvPr>
        </p:nvSpPr>
        <p:spPr>
          <a:xfrm>
            <a:off x="648000" y="3474292"/>
            <a:ext cx="4038600" cy="2051156"/>
          </a:xfrm>
        </p:spPr>
        <p:txBody>
          <a:bodyPr>
            <a:normAutofit/>
          </a:bodyPr>
          <a:lstStyle/>
          <a:p>
            <a:r>
              <a:rPr lang="en-US" altLang="zh-CN" sz="1900" dirty="0"/>
              <a:t>Majority of peers agree on the outcome of transactions</a:t>
            </a:r>
          </a:p>
          <a:p>
            <a:r>
              <a:rPr lang="en-US" altLang="zh-CN" sz="1900" dirty="0"/>
              <a:t>Assumption</a:t>
            </a:r>
          </a:p>
          <a:p>
            <a:pPr lvl="1"/>
            <a:r>
              <a:rPr lang="en-AU" altLang="zh-CN" sz="1500" dirty="0"/>
              <a:t>No leader</a:t>
            </a:r>
          </a:p>
          <a:p>
            <a:pPr lvl="1"/>
            <a:r>
              <a:rPr lang="en-AU" altLang="zh-CN" sz="1500" dirty="0"/>
              <a:t>No trustworthy node</a:t>
            </a:r>
            <a:endParaRPr lang="en-US" altLang="zh-CN" sz="1500" dirty="0"/>
          </a:p>
          <a:p>
            <a:endParaRPr lang="en-US" altLang="zh-CN" sz="1900" dirty="0"/>
          </a:p>
        </p:txBody>
      </p:sp>
      <p:sp>
        <p:nvSpPr>
          <p:cNvPr id="4" name="Content Placeholder 3"/>
          <p:cNvSpPr>
            <a:spLocks noGrp="1"/>
          </p:cNvSpPr>
          <p:nvPr>
            <p:ph sz="half" idx="2"/>
          </p:nvPr>
        </p:nvSpPr>
        <p:spPr>
          <a:xfrm>
            <a:off x="5070775" y="3474292"/>
            <a:ext cx="4038600" cy="2051156"/>
          </a:xfrm>
        </p:spPr>
        <p:txBody>
          <a:bodyPr>
            <a:normAutofit/>
          </a:bodyPr>
          <a:lstStyle/>
          <a:p>
            <a:r>
              <a:rPr lang="en-US" sz="1900" dirty="0"/>
              <a:t>Distributed Transactions </a:t>
            </a:r>
            <a:br>
              <a:rPr lang="en-US" sz="1900" dirty="0"/>
            </a:br>
            <a:r>
              <a:rPr lang="en-US" sz="1900" dirty="0"/>
              <a:t>(2 Phase Commit, </a:t>
            </a:r>
            <a:r>
              <a:rPr lang="en-US" sz="1900" dirty="0" err="1"/>
              <a:t>Paxos</a:t>
            </a:r>
            <a:r>
              <a:rPr lang="en-US" sz="1900" dirty="0"/>
              <a:t>, …)</a:t>
            </a:r>
          </a:p>
          <a:p>
            <a:r>
              <a:rPr lang="en-US" sz="1900" dirty="0"/>
              <a:t>Synchronization</a:t>
            </a:r>
          </a:p>
        </p:txBody>
      </p:sp>
      <p:sp>
        <p:nvSpPr>
          <p:cNvPr id="6" name="Foliennummernplatzhalter 5">
            <a:extLst>
              <a:ext uri="{FF2B5EF4-FFF2-40B4-BE49-F238E27FC236}">
                <a16:creationId xmlns:a16="http://schemas.microsoft.com/office/drawing/2014/main" id="{9123F0C6-A971-49B4-A345-7D111B9B7209}"/>
              </a:ext>
            </a:extLst>
          </p:cNvPr>
          <p:cNvSpPr>
            <a:spLocks noGrp="1"/>
          </p:cNvSpPr>
          <p:nvPr>
            <p:ph type="sldNum" sz="quarter" idx="4"/>
          </p:nvPr>
        </p:nvSpPr>
        <p:spPr>
          <a:xfrm>
            <a:off x="6712882" y="5368406"/>
            <a:ext cx="1855118" cy="224836"/>
          </a:xfrm>
          <a:prstGeom prst="rect">
            <a:avLst/>
          </a:prstGeom>
        </p:spPr>
        <p:txBody>
          <a:bodyPr vert="horz" lIns="91440" tIns="45720" rIns="91440" bIns="45720" rtlCol="0" anchor="ctr"/>
          <a:lstStyle>
            <a:defPPr>
              <a:defRPr lang="en-US"/>
            </a:defPPr>
            <a:lvl1pPr marL="0" algn="r" defTabSz="713232" rtl="0" eaLnBrk="1" latinLnBrk="0" hangingPunct="1">
              <a:defRPr sz="1200" kern="1200">
                <a:solidFill>
                  <a:schemeClr val="tx1">
                    <a:tint val="75000"/>
                  </a:schemeClr>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a:lstStyle>
          <a:p>
            <a:fld id="{97F98C0B-273E-428A-ABCF-EBED2BA25188}" type="slidenum">
              <a:rPr lang="en-US" smtClean="0"/>
              <a:pPr/>
              <a:t>40</a:t>
            </a:fld>
            <a:endParaRPr lang="en-US"/>
          </a:p>
        </p:txBody>
      </p:sp>
      <p:pic>
        <p:nvPicPr>
          <p:cNvPr id="10" name="Picture 7">
            <a:extLst>
              <a:ext uri="{FF2B5EF4-FFF2-40B4-BE49-F238E27FC236}">
                <a16:creationId xmlns:a16="http://schemas.microsoft.com/office/drawing/2014/main" id="{EF4AACFE-833F-4376-BBD3-B50F49156162}"/>
              </a:ext>
            </a:extLst>
          </p:cNvPr>
          <p:cNvPicPr>
            <a:picLocks noChangeAspect="1"/>
          </p:cNvPicPr>
          <p:nvPr/>
        </p:nvPicPr>
        <p:blipFill>
          <a:blip r:embed="rId3"/>
          <a:stretch>
            <a:fillRect/>
          </a:stretch>
        </p:blipFill>
        <p:spPr>
          <a:xfrm>
            <a:off x="5236750" y="1693830"/>
            <a:ext cx="2200850" cy="1780463"/>
          </a:xfrm>
          <a:prstGeom prst="rect">
            <a:avLst/>
          </a:prstGeom>
        </p:spPr>
      </p:pic>
      <p:pic>
        <p:nvPicPr>
          <p:cNvPr id="11" name="Picture 8">
            <a:extLst>
              <a:ext uri="{FF2B5EF4-FFF2-40B4-BE49-F238E27FC236}">
                <a16:creationId xmlns:a16="http://schemas.microsoft.com/office/drawing/2014/main" id="{CE1C0BA4-7BE9-4EE0-A36D-2A5C9965DA93}"/>
              </a:ext>
            </a:extLst>
          </p:cNvPr>
          <p:cNvPicPr>
            <a:picLocks noChangeAspect="1"/>
          </p:cNvPicPr>
          <p:nvPr/>
        </p:nvPicPr>
        <p:blipFill>
          <a:blip r:embed="rId4"/>
          <a:stretch>
            <a:fillRect/>
          </a:stretch>
        </p:blipFill>
        <p:spPr>
          <a:xfrm>
            <a:off x="745456" y="1688754"/>
            <a:ext cx="2592288" cy="1785538"/>
          </a:xfrm>
          <a:prstGeom prst="rect">
            <a:avLst/>
          </a:prstGeom>
        </p:spPr>
      </p:pic>
    </p:spTree>
    <p:extLst>
      <p:ext uri="{BB962C8B-B14F-4D97-AF65-F5344CB8AC3E}">
        <p14:creationId xmlns:p14="http://schemas.microsoft.com/office/powerpoint/2010/main" val="763024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Blockchain vs. Shared DB: </a:t>
            </a:r>
            <a:r>
              <a:rPr lang="en-US" i="1" dirty="0"/>
              <a:t>Replication</a:t>
            </a:r>
          </a:p>
        </p:txBody>
      </p:sp>
      <p:sp>
        <p:nvSpPr>
          <p:cNvPr id="3" name="Content Placeholder 2"/>
          <p:cNvSpPr>
            <a:spLocks noGrp="1"/>
          </p:cNvSpPr>
          <p:nvPr>
            <p:ph sz="half" idx="1"/>
          </p:nvPr>
        </p:nvSpPr>
        <p:spPr>
          <a:xfrm>
            <a:off x="648000" y="3429000"/>
            <a:ext cx="4038600" cy="2051156"/>
          </a:xfrm>
        </p:spPr>
        <p:txBody>
          <a:bodyPr>
            <a:normAutofit/>
          </a:bodyPr>
          <a:lstStyle/>
          <a:p>
            <a:r>
              <a:rPr lang="en-US" sz="1900" dirty="0"/>
              <a:t>Complete replication on every peer (full node)</a:t>
            </a:r>
            <a:endParaRPr lang="en-US" altLang="zh-CN" sz="1900" dirty="0"/>
          </a:p>
        </p:txBody>
      </p:sp>
      <p:sp>
        <p:nvSpPr>
          <p:cNvPr id="4" name="Content Placeholder 3"/>
          <p:cNvSpPr>
            <a:spLocks noGrp="1"/>
          </p:cNvSpPr>
          <p:nvPr>
            <p:ph sz="half" idx="2"/>
          </p:nvPr>
        </p:nvSpPr>
        <p:spPr>
          <a:xfrm>
            <a:off x="5070776" y="3429000"/>
            <a:ext cx="3497225" cy="2051156"/>
          </a:xfrm>
        </p:spPr>
        <p:txBody>
          <a:bodyPr>
            <a:normAutofit/>
          </a:bodyPr>
          <a:lstStyle/>
          <a:p>
            <a:r>
              <a:rPr lang="en-US" sz="1900" dirty="0"/>
              <a:t>Leader-Follower </a:t>
            </a:r>
          </a:p>
          <a:p>
            <a:pPr lvl="1"/>
            <a:r>
              <a:rPr lang="en-US" sz="1600" dirty="0"/>
              <a:t>(used to be called “Master-Slave”, but no longer seen as politically correct term)</a:t>
            </a:r>
          </a:p>
          <a:p>
            <a:r>
              <a:rPr lang="en-US" sz="1900" dirty="0"/>
              <a:t>Multi-Leader</a:t>
            </a:r>
          </a:p>
        </p:txBody>
      </p:sp>
      <p:sp>
        <p:nvSpPr>
          <p:cNvPr id="12" name="Foliennummernplatzhalter 11">
            <a:extLst>
              <a:ext uri="{FF2B5EF4-FFF2-40B4-BE49-F238E27FC236}">
                <a16:creationId xmlns:a16="http://schemas.microsoft.com/office/drawing/2014/main" id="{FE39A47C-6873-4D54-9ED2-C88AFD367E9C}"/>
              </a:ext>
            </a:extLst>
          </p:cNvPr>
          <p:cNvSpPr>
            <a:spLocks noGrp="1"/>
          </p:cNvSpPr>
          <p:nvPr>
            <p:ph type="sldNum" sz="quarter" idx="4"/>
          </p:nvPr>
        </p:nvSpPr>
        <p:spPr>
          <a:xfrm>
            <a:off x="6712882" y="5368406"/>
            <a:ext cx="1855118" cy="224836"/>
          </a:xfrm>
          <a:prstGeom prst="rect">
            <a:avLst/>
          </a:prstGeom>
        </p:spPr>
        <p:txBody>
          <a:bodyPr vert="horz" lIns="91440" tIns="45720" rIns="91440" bIns="45720" rtlCol="0" anchor="ctr"/>
          <a:lstStyle>
            <a:defPPr>
              <a:defRPr lang="en-US"/>
            </a:defPPr>
            <a:lvl1pPr marL="0" algn="r" defTabSz="713232" rtl="0" eaLnBrk="1" latinLnBrk="0" hangingPunct="1">
              <a:defRPr sz="1200" kern="1200">
                <a:solidFill>
                  <a:schemeClr val="tx1">
                    <a:tint val="75000"/>
                  </a:schemeClr>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a:lstStyle>
          <a:p>
            <a:fld id="{97F98C0B-273E-428A-ABCF-EBED2BA25188}" type="slidenum">
              <a:rPr lang="en-US" smtClean="0"/>
              <a:pPr/>
              <a:t>41</a:t>
            </a:fld>
            <a:endParaRPr lang="en-US"/>
          </a:p>
        </p:txBody>
      </p:sp>
      <p:pic>
        <p:nvPicPr>
          <p:cNvPr id="8" name="Picture 7"/>
          <p:cNvPicPr>
            <a:picLocks noChangeAspect="1"/>
          </p:cNvPicPr>
          <p:nvPr/>
        </p:nvPicPr>
        <p:blipFill>
          <a:blip r:embed="rId3"/>
          <a:stretch>
            <a:fillRect/>
          </a:stretch>
        </p:blipFill>
        <p:spPr>
          <a:xfrm>
            <a:off x="5236750" y="1693830"/>
            <a:ext cx="2200850" cy="1780463"/>
          </a:xfrm>
          <a:prstGeom prst="rect">
            <a:avLst/>
          </a:prstGeom>
        </p:spPr>
      </p:pic>
      <p:pic>
        <p:nvPicPr>
          <p:cNvPr id="9" name="Picture 8"/>
          <p:cNvPicPr>
            <a:picLocks noChangeAspect="1"/>
          </p:cNvPicPr>
          <p:nvPr/>
        </p:nvPicPr>
        <p:blipFill>
          <a:blip r:embed="rId4"/>
          <a:stretch>
            <a:fillRect/>
          </a:stretch>
        </p:blipFill>
        <p:spPr>
          <a:xfrm>
            <a:off x="745456" y="1688754"/>
            <a:ext cx="2592288" cy="1785538"/>
          </a:xfrm>
          <a:prstGeom prst="rect">
            <a:avLst/>
          </a:prstGeom>
        </p:spPr>
      </p:pic>
    </p:spTree>
    <p:extLst>
      <p:ext uri="{BB962C8B-B14F-4D97-AF65-F5344CB8AC3E}">
        <p14:creationId xmlns:p14="http://schemas.microsoft.com/office/powerpoint/2010/main" val="2049467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Blockchain vs. Shared DB: </a:t>
            </a:r>
            <a:r>
              <a:rPr lang="en-US" i="1" dirty="0"/>
              <a:t>Consistency</a:t>
            </a:r>
          </a:p>
        </p:txBody>
      </p:sp>
      <p:sp>
        <p:nvSpPr>
          <p:cNvPr id="3" name="Content Placeholder 2"/>
          <p:cNvSpPr>
            <a:spLocks noGrp="1"/>
          </p:cNvSpPr>
          <p:nvPr>
            <p:ph sz="half" idx="1"/>
          </p:nvPr>
        </p:nvSpPr>
        <p:spPr>
          <a:xfrm>
            <a:off x="648000" y="3434805"/>
            <a:ext cx="4038600" cy="2051156"/>
          </a:xfrm>
        </p:spPr>
        <p:txBody>
          <a:bodyPr>
            <a:normAutofit fontScale="77500" lnSpcReduction="20000"/>
          </a:bodyPr>
          <a:lstStyle/>
          <a:p>
            <a:r>
              <a:rPr lang="en-US" sz="1900" dirty="0"/>
              <a:t>Transactions validated everywhere</a:t>
            </a:r>
          </a:p>
          <a:p>
            <a:r>
              <a:rPr lang="en-US" sz="1900" dirty="0"/>
              <a:t>Global rules enforced on the whole blockchain</a:t>
            </a:r>
          </a:p>
          <a:p>
            <a:pPr lvl="1">
              <a:defRPr/>
            </a:pPr>
            <a:r>
              <a:rPr lang="en-US" sz="1600" dirty="0">
                <a:ea typeface="ＭＳ Ｐゴシック" charset="0"/>
              </a:rPr>
              <a:t>No extra money created during a normal transaction </a:t>
            </a:r>
          </a:p>
          <a:p>
            <a:pPr lvl="2">
              <a:defRPr/>
            </a:pPr>
            <a:r>
              <a:rPr lang="en-US" sz="1600" dirty="0">
                <a:ea typeface="ＭＳ Ｐゴシック" charset="0"/>
              </a:rPr>
              <a:t>Bitcoin </a:t>
            </a:r>
            <a:r>
              <a:rPr lang="en-US" sz="1600" dirty="0" err="1">
                <a:ea typeface="ＭＳ Ｐゴシック" charset="0"/>
              </a:rPr>
              <a:t>coinbase</a:t>
            </a:r>
            <a:r>
              <a:rPr lang="en-US" sz="1600" dirty="0">
                <a:ea typeface="ＭＳ Ｐゴシック" charset="0"/>
              </a:rPr>
              <a:t> Tx is exception</a:t>
            </a:r>
          </a:p>
          <a:p>
            <a:pPr lvl="1">
              <a:defRPr/>
            </a:pPr>
            <a:r>
              <a:rPr lang="en-US" sz="1600" dirty="0">
                <a:ea typeface="ＭＳ Ｐゴシック" charset="0"/>
              </a:rPr>
              <a:t>No money transfer without authorization </a:t>
            </a:r>
          </a:p>
          <a:p>
            <a:pPr>
              <a:defRPr/>
            </a:pPr>
            <a:r>
              <a:rPr lang="en-US" altLang="zh-CN" sz="2000" dirty="0">
                <a:ea typeface="ＭＳ Ｐゴシック" charset="0"/>
              </a:rPr>
              <a:t>Application-specific rules </a:t>
            </a:r>
          </a:p>
          <a:p>
            <a:pPr lvl="1">
              <a:defRPr/>
            </a:pPr>
            <a:r>
              <a:rPr lang="en-US" altLang="zh-CN" sz="1600" dirty="0">
                <a:ea typeface="ＭＳ Ｐゴシック" charset="0"/>
              </a:rPr>
              <a:t>implemented in smart contracts</a:t>
            </a:r>
            <a:endParaRPr lang="en-US" altLang="zh-CN" sz="1600" dirty="0"/>
          </a:p>
        </p:txBody>
      </p:sp>
      <p:sp>
        <p:nvSpPr>
          <p:cNvPr id="4" name="Content Placeholder 3"/>
          <p:cNvSpPr>
            <a:spLocks noGrp="1"/>
          </p:cNvSpPr>
          <p:nvPr>
            <p:ph sz="half" idx="2"/>
          </p:nvPr>
        </p:nvSpPr>
        <p:spPr>
          <a:xfrm>
            <a:off x="5053614" y="3429001"/>
            <a:ext cx="3514387" cy="1926877"/>
          </a:xfrm>
        </p:spPr>
        <p:txBody>
          <a:bodyPr>
            <a:noAutofit/>
          </a:bodyPr>
          <a:lstStyle/>
          <a:p>
            <a:r>
              <a:rPr lang="en-US" sz="1800" dirty="0"/>
              <a:t>Integrity Constraints</a:t>
            </a:r>
          </a:p>
          <a:p>
            <a:r>
              <a:rPr lang="en-US" sz="1800" dirty="0"/>
              <a:t>Stored procedures</a:t>
            </a:r>
          </a:p>
        </p:txBody>
      </p:sp>
      <p:sp>
        <p:nvSpPr>
          <p:cNvPr id="6" name="Foliennummernplatzhalter 5">
            <a:extLst>
              <a:ext uri="{FF2B5EF4-FFF2-40B4-BE49-F238E27FC236}">
                <a16:creationId xmlns:a16="http://schemas.microsoft.com/office/drawing/2014/main" id="{670EBEBE-3ED6-475B-9422-794F0EAEAB25}"/>
              </a:ext>
            </a:extLst>
          </p:cNvPr>
          <p:cNvSpPr>
            <a:spLocks noGrp="1"/>
          </p:cNvSpPr>
          <p:nvPr>
            <p:ph type="sldNum" sz="quarter" idx="4"/>
          </p:nvPr>
        </p:nvSpPr>
        <p:spPr>
          <a:xfrm>
            <a:off x="6712882" y="5368406"/>
            <a:ext cx="1855118" cy="224836"/>
          </a:xfrm>
          <a:prstGeom prst="rect">
            <a:avLst/>
          </a:prstGeom>
        </p:spPr>
        <p:txBody>
          <a:bodyPr vert="horz" lIns="91440" tIns="45720" rIns="91440" bIns="45720" rtlCol="0" anchor="ctr"/>
          <a:lstStyle>
            <a:defPPr>
              <a:defRPr lang="en-US"/>
            </a:defPPr>
            <a:lvl1pPr marL="0" algn="r" defTabSz="713232" rtl="0" eaLnBrk="1" latinLnBrk="0" hangingPunct="1">
              <a:defRPr sz="1200" kern="1200">
                <a:solidFill>
                  <a:schemeClr val="tx1">
                    <a:tint val="75000"/>
                  </a:schemeClr>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a:lstStyle>
          <a:p>
            <a:fld id="{97F98C0B-273E-428A-ABCF-EBED2BA25188}" type="slidenum">
              <a:rPr lang="en-US" smtClean="0"/>
              <a:pPr/>
              <a:t>42</a:t>
            </a:fld>
            <a:endParaRPr lang="en-US"/>
          </a:p>
        </p:txBody>
      </p:sp>
      <p:pic>
        <p:nvPicPr>
          <p:cNvPr id="11" name="Picture 7">
            <a:extLst>
              <a:ext uri="{FF2B5EF4-FFF2-40B4-BE49-F238E27FC236}">
                <a16:creationId xmlns:a16="http://schemas.microsoft.com/office/drawing/2014/main" id="{AE34AF71-20CB-4C7D-8433-83FC746A2E3B}"/>
              </a:ext>
            </a:extLst>
          </p:cNvPr>
          <p:cNvPicPr>
            <a:picLocks noChangeAspect="1"/>
          </p:cNvPicPr>
          <p:nvPr/>
        </p:nvPicPr>
        <p:blipFill>
          <a:blip r:embed="rId3"/>
          <a:stretch>
            <a:fillRect/>
          </a:stretch>
        </p:blipFill>
        <p:spPr>
          <a:xfrm>
            <a:off x="5236750" y="1693830"/>
            <a:ext cx="2200850" cy="1780463"/>
          </a:xfrm>
          <a:prstGeom prst="rect">
            <a:avLst/>
          </a:prstGeom>
        </p:spPr>
      </p:pic>
      <p:pic>
        <p:nvPicPr>
          <p:cNvPr id="12" name="Picture 8">
            <a:extLst>
              <a:ext uri="{FF2B5EF4-FFF2-40B4-BE49-F238E27FC236}">
                <a16:creationId xmlns:a16="http://schemas.microsoft.com/office/drawing/2014/main" id="{84770CAC-04A3-4CF0-A70E-108528185C4E}"/>
              </a:ext>
            </a:extLst>
          </p:cNvPr>
          <p:cNvPicPr>
            <a:picLocks noChangeAspect="1"/>
          </p:cNvPicPr>
          <p:nvPr/>
        </p:nvPicPr>
        <p:blipFill>
          <a:blip r:embed="rId4"/>
          <a:stretch>
            <a:fillRect/>
          </a:stretch>
        </p:blipFill>
        <p:spPr>
          <a:xfrm>
            <a:off x="745456" y="1688754"/>
            <a:ext cx="2592288" cy="1785538"/>
          </a:xfrm>
          <a:prstGeom prst="rect">
            <a:avLst/>
          </a:prstGeom>
        </p:spPr>
      </p:pic>
    </p:spTree>
    <p:extLst>
      <p:ext uri="{BB962C8B-B14F-4D97-AF65-F5344CB8AC3E}">
        <p14:creationId xmlns:p14="http://schemas.microsoft.com/office/powerpoint/2010/main" val="3745610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Blockchain vs. Cloud </a:t>
            </a:r>
          </a:p>
        </p:txBody>
      </p:sp>
      <p:sp>
        <p:nvSpPr>
          <p:cNvPr id="9" name="Foliennummernplatzhalter 8">
            <a:extLst>
              <a:ext uri="{FF2B5EF4-FFF2-40B4-BE49-F238E27FC236}">
                <a16:creationId xmlns:a16="http://schemas.microsoft.com/office/drawing/2014/main" id="{E3DD2CAE-A680-49B9-8A01-230E7E8A6A70}"/>
              </a:ext>
            </a:extLst>
          </p:cNvPr>
          <p:cNvSpPr>
            <a:spLocks noGrp="1"/>
          </p:cNvSpPr>
          <p:nvPr>
            <p:ph type="sldNum" sz="quarter" idx="4"/>
          </p:nvPr>
        </p:nvSpPr>
        <p:spPr/>
        <p:txBody>
          <a:bodyPr/>
          <a:lstStyle/>
          <a:p>
            <a:fld id="{97F98C0B-273E-428A-ABCF-EBED2BA25188}" type="slidenum">
              <a:rPr lang="en-US" smtClean="0"/>
              <a:t>43</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280272019"/>
              </p:ext>
            </p:extLst>
          </p:nvPr>
        </p:nvGraphicFramePr>
        <p:xfrm>
          <a:off x="900672" y="1395976"/>
          <a:ext cx="7151270" cy="5187386"/>
        </p:xfrm>
        <a:graphic>
          <a:graphicData uri="http://schemas.openxmlformats.org/drawingml/2006/table">
            <a:tbl>
              <a:tblPr firstRow="1" bandRow="1">
                <a:tableStyleId>{3C2FFA5D-87B4-456A-9821-1D502468CF0F}</a:tableStyleId>
              </a:tblPr>
              <a:tblGrid>
                <a:gridCol w="3575635">
                  <a:extLst>
                    <a:ext uri="{9D8B030D-6E8A-4147-A177-3AD203B41FA5}">
                      <a16:colId xmlns:a16="http://schemas.microsoft.com/office/drawing/2014/main" val="20000"/>
                    </a:ext>
                  </a:extLst>
                </a:gridCol>
                <a:gridCol w="3575635">
                  <a:extLst>
                    <a:ext uri="{9D8B030D-6E8A-4147-A177-3AD203B41FA5}">
                      <a16:colId xmlns:a16="http://schemas.microsoft.com/office/drawing/2014/main" val="20001"/>
                    </a:ext>
                  </a:extLst>
                </a:gridCol>
              </a:tblGrid>
              <a:tr h="467713">
                <a:tc>
                  <a:txBody>
                    <a:bodyPr/>
                    <a:lstStyle/>
                    <a:p>
                      <a:pPr algn="ctr"/>
                      <a:r>
                        <a:rPr lang="en-US" sz="2400" dirty="0"/>
                        <a:t>Blockchain</a:t>
                      </a:r>
                    </a:p>
                  </a:txBody>
                  <a:tcPr marL="68580" marR="68580" marT="38100" marB="38100"/>
                </a:tc>
                <a:tc>
                  <a:txBody>
                    <a:bodyPr/>
                    <a:lstStyle/>
                    <a:p>
                      <a:pPr algn="ctr"/>
                      <a:r>
                        <a:rPr lang="en-US" sz="2400" dirty="0"/>
                        <a:t>Cloud</a:t>
                      </a:r>
                    </a:p>
                  </a:txBody>
                  <a:tcPr marL="68580" marR="68580" marT="38100" marB="38100"/>
                </a:tc>
                <a:extLst>
                  <a:ext uri="{0D108BD9-81ED-4DB2-BD59-A6C34878D82A}">
                    <a16:rowId xmlns:a16="http://schemas.microsoft.com/office/drawing/2014/main" val="10000"/>
                  </a:ext>
                </a:extLst>
              </a:tr>
              <a:tr h="467713">
                <a:tc>
                  <a:txBody>
                    <a:bodyPr/>
                    <a:lstStyle/>
                    <a:p>
                      <a:r>
                        <a:rPr lang="en-US" sz="2400" dirty="0">
                          <a:solidFill>
                            <a:schemeClr val="bg1"/>
                          </a:solidFill>
                        </a:rPr>
                        <a:t>No trusted</a:t>
                      </a:r>
                      <a:r>
                        <a:rPr lang="en-US" sz="2400" baseline="0" dirty="0">
                          <a:solidFill>
                            <a:schemeClr val="bg1"/>
                          </a:solidFill>
                        </a:rPr>
                        <a:t> single party</a:t>
                      </a:r>
                      <a:endParaRPr lang="en-US" sz="2400" dirty="0">
                        <a:solidFill>
                          <a:schemeClr val="bg1"/>
                        </a:solidFill>
                      </a:endParaRPr>
                    </a:p>
                  </a:txBody>
                  <a:tcPr marL="68580" marR="68580" marT="38100" marB="38100"/>
                </a:tc>
                <a:tc>
                  <a:txBody>
                    <a:bodyPr/>
                    <a:lstStyle/>
                    <a:p>
                      <a:r>
                        <a:rPr lang="en-US" sz="2400" dirty="0">
                          <a:solidFill>
                            <a:schemeClr val="bg1"/>
                          </a:solidFill>
                        </a:rPr>
                        <a:t>Cloud provider</a:t>
                      </a:r>
                      <a:r>
                        <a:rPr lang="en-US" sz="2400" baseline="0" dirty="0">
                          <a:solidFill>
                            <a:schemeClr val="bg1"/>
                          </a:solidFill>
                        </a:rPr>
                        <a:t> is trusted</a:t>
                      </a:r>
                      <a:endParaRPr lang="en-US" sz="2400" dirty="0">
                        <a:solidFill>
                          <a:schemeClr val="bg1"/>
                        </a:solidFill>
                      </a:endParaRPr>
                    </a:p>
                  </a:txBody>
                  <a:tcPr marL="68580" marR="68580" marT="38100" marB="38100"/>
                </a:tc>
                <a:extLst>
                  <a:ext uri="{0D108BD9-81ED-4DB2-BD59-A6C34878D82A}">
                    <a16:rowId xmlns:a16="http://schemas.microsoft.com/office/drawing/2014/main" val="10001"/>
                  </a:ext>
                </a:extLst>
              </a:tr>
              <a:tr h="807283">
                <a:tc>
                  <a:txBody>
                    <a:bodyPr/>
                    <a:lstStyle/>
                    <a:p>
                      <a:r>
                        <a:rPr lang="en-US" sz="2400" dirty="0"/>
                        <a:t>Users can monitor</a:t>
                      </a:r>
                      <a:r>
                        <a:rPr lang="en-US" sz="2400" baseline="0" dirty="0"/>
                        <a:t> or participate themselves as nodes that store the blockchain</a:t>
                      </a:r>
                      <a:endParaRPr lang="en-US" sz="2400" dirty="0"/>
                    </a:p>
                  </a:txBody>
                  <a:tcPr marL="68580" marR="68580" marT="38100" marB="38100"/>
                </a:tc>
                <a:tc>
                  <a:txBody>
                    <a:bodyPr/>
                    <a:lstStyle/>
                    <a:p>
                      <a:r>
                        <a:rPr lang="en-US" sz="2400" dirty="0"/>
                        <a:t>Cloud provider store user data and provide access to the data</a:t>
                      </a:r>
                    </a:p>
                  </a:txBody>
                  <a:tcPr marL="68580" marR="68580" marT="38100" marB="38100"/>
                </a:tc>
                <a:extLst>
                  <a:ext uri="{0D108BD9-81ED-4DB2-BD59-A6C34878D82A}">
                    <a16:rowId xmlns:a16="http://schemas.microsoft.com/office/drawing/2014/main" val="10002"/>
                  </a:ext>
                </a:extLst>
              </a:tr>
              <a:tr h="807283">
                <a:tc>
                  <a:txBody>
                    <a:bodyPr/>
                    <a:lstStyle/>
                    <a:p>
                      <a:r>
                        <a:rPr lang="en-US" sz="2400" dirty="0">
                          <a:solidFill>
                            <a:schemeClr val="bg1"/>
                          </a:solidFill>
                        </a:rPr>
                        <a:t>Data integrity is guaranteed</a:t>
                      </a:r>
                      <a:r>
                        <a:rPr lang="en-US" sz="2400" baseline="0" dirty="0">
                          <a:solidFill>
                            <a:schemeClr val="bg1"/>
                          </a:solidFill>
                        </a:rPr>
                        <a:t> (probabilistically)</a:t>
                      </a:r>
                      <a:endParaRPr lang="en-US" sz="2400" dirty="0">
                        <a:solidFill>
                          <a:schemeClr val="bg1"/>
                        </a:solidFill>
                      </a:endParaRPr>
                    </a:p>
                  </a:txBody>
                  <a:tcPr marL="68580" marR="68580" marT="38100" marB="38100"/>
                </a:tc>
                <a:tc>
                  <a:txBody>
                    <a:bodyPr/>
                    <a:lstStyle/>
                    <a:p>
                      <a:r>
                        <a:rPr lang="en-US" sz="2400" dirty="0">
                          <a:solidFill>
                            <a:schemeClr val="bg1"/>
                          </a:solidFill>
                        </a:rPr>
                        <a:t>Data integrity and access availability may not be guaranteed</a:t>
                      </a:r>
                    </a:p>
                  </a:txBody>
                  <a:tcPr marL="68580" marR="68580" marT="38100" marB="38100"/>
                </a:tc>
                <a:extLst>
                  <a:ext uri="{0D108BD9-81ED-4DB2-BD59-A6C34878D82A}">
                    <a16:rowId xmlns:a16="http://schemas.microsoft.com/office/drawing/2014/main" val="10003"/>
                  </a:ext>
                </a:extLst>
              </a:tr>
              <a:tr h="807283">
                <a:tc>
                  <a:txBody>
                    <a:bodyPr/>
                    <a:lstStyle/>
                    <a:p>
                      <a:r>
                        <a:rPr lang="en-US" sz="2400" dirty="0"/>
                        <a:t>No defined</a:t>
                      </a:r>
                      <a:r>
                        <a:rPr lang="en-US" sz="2400" baseline="0" dirty="0"/>
                        <a:t> SLAs (service-level agreement) provided by public blockchain</a:t>
                      </a:r>
                      <a:endParaRPr lang="en-US" sz="2400" dirty="0"/>
                    </a:p>
                  </a:txBody>
                  <a:tcPr marL="68580" marR="68580" marT="38100" marB="38100"/>
                </a:tc>
                <a:tc>
                  <a:txBody>
                    <a:bodyPr/>
                    <a:lstStyle/>
                    <a:p>
                      <a:r>
                        <a:rPr lang="en-US" sz="2400" dirty="0"/>
                        <a:t>Clearly</a:t>
                      </a:r>
                      <a:r>
                        <a:rPr lang="en-US" sz="2400" baseline="0" dirty="0"/>
                        <a:t> defined SLAs</a:t>
                      </a:r>
                      <a:endParaRPr lang="en-US" sz="2400" dirty="0"/>
                    </a:p>
                  </a:txBody>
                  <a:tcPr marL="68580" marR="68580" marT="38100" marB="3810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79219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Blockchain vs. Peer-to-Peer Data Storage </a:t>
            </a:r>
          </a:p>
        </p:txBody>
      </p:sp>
      <p:sp>
        <p:nvSpPr>
          <p:cNvPr id="3" name="Content Placeholder 2"/>
          <p:cNvSpPr>
            <a:spLocks noGrp="1"/>
          </p:cNvSpPr>
          <p:nvPr>
            <p:ph idx="1"/>
          </p:nvPr>
        </p:nvSpPr>
        <p:spPr/>
        <p:txBody>
          <a:bodyPr>
            <a:normAutofit/>
          </a:bodyPr>
          <a:lstStyle/>
          <a:p>
            <a:pPr marL="0" indent="0">
              <a:buNone/>
            </a:pPr>
            <a:endParaRPr lang="en-US" dirty="0"/>
          </a:p>
          <a:p>
            <a:pPr lvl="1"/>
            <a:endParaRPr lang="en-US" dirty="0"/>
          </a:p>
        </p:txBody>
      </p:sp>
      <p:sp>
        <p:nvSpPr>
          <p:cNvPr id="8" name="Foliennummernplatzhalter 7">
            <a:extLst>
              <a:ext uri="{FF2B5EF4-FFF2-40B4-BE49-F238E27FC236}">
                <a16:creationId xmlns:a16="http://schemas.microsoft.com/office/drawing/2014/main" id="{98C90264-836E-4C04-97AA-A798FD4E059F}"/>
              </a:ext>
            </a:extLst>
          </p:cNvPr>
          <p:cNvSpPr>
            <a:spLocks noGrp="1"/>
          </p:cNvSpPr>
          <p:nvPr>
            <p:ph type="sldNum" sz="quarter" idx="4"/>
          </p:nvPr>
        </p:nvSpPr>
        <p:spPr/>
        <p:txBody>
          <a:bodyPr/>
          <a:lstStyle/>
          <a:p>
            <a:fld id="{97F98C0B-273E-428A-ABCF-EBED2BA25188}" type="slidenum">
              <a:rPr lang="en-US" smtClean="0"/>
              <a:t>44</a:t>
            </a:fld>
            <a:endParaRPr lang="en-US"/>
          </a:p>
        </p:txBody>
      </p:sp>
      <p:graphicFrame>
        <p:nvGraphicFramePr>
          <p:cNvPr id="4" name="Table 3"/>
          <p:cNvGraphicFramePr>
            <a:graphicFrameLocks noGrp="1"/>
          </p:cNvGraphicFramePr>
          <p:nvPr/>
        </p:nvGraphicFramePr>
        <p:xfrm>
          <a:off x="1101289" y="3139456"/>
          <a:ext cx="7189672" cy="2670363"/>
        </p:xfrm>
        <a:graphic>
          <a:graphicData uri="http://schemas.openxmlformats.org/drawingml/2006/table">
            <a:tbl>
              <a:tblPr firstRow="1" bandRow="1">
                <a:tableStyleId>{3C2FFA5D-87B4-456A-9821-1D502468CF0F}</a:tableStyleId>
              </a:tblPr>
              <a:tblGrid>
                <a:gridCol w="3594836">
                  <a:extLst>
                    <a:ext uri="{9D8B030D-6E8A-4147-A177-3AD203B41FA5}">
                      <a16:colId xmlns:a16="http://schemas.microsoft.com/office/drawing/2014/main" val="20000"/>
                    </a:ext>
                  </a:extLst>
                </a:gridCol>
                <a:gridCol w="3594836">
                  <a:extLst>
                    <a:ext uri="{9D8B030D-6E8A-4147-A177-3AD203B41FA5}">
                      <a16:colId xmlns:a16="http://schemas.microsoft.com/office/drawing/2014/main" val="20001"/>
                    </a:ext>
                  </a:extLst>
                </a:gridCol>
              </a:tblGrid>
              <a:tr h="381000">
                <a:tc>
                  <a:txBody>
                    <a:bodyPr/>
                    <a:lstStyle/>
                    <a:p>
                      <a:pPr algn="ctr"/>
                      <a:r>
                        <a:rPr lang="en-US" sz="2000" dirty="0"/>
                        <a:t>Blockchain</a:t>
                      </a:r>
                    </a:p>
                  </a:txBody>
                  <a:tcPr marL="68580" marR="68580" marT="38100" marB="38100"/>
                </a:tc>
                <a:tc>
                  <a:txBody>
                    <a:bodyPr/>
                    <a:lstStyle/>
                    <a:p>
                      <a:pPr algn="ctr"/>
                      <a:r>
                        <a:rPr lang="en-US" sz="2000" dirty="0"/>
                        <a:t>Peer-to-Peer Data Storage</a:t>
                      </a:r>
                    </a:p>
                  </a:txBody>
                  <a:tcPr marL="68580" marR="68580" marT="38100" marB="38100"/>
                </a:tc>
                <a:extLst>
                  <a:ext uri="{0D108BD9-81ED-4DB2-BD59-A6C34878D82A}">
                    <a16:rowId xmlns:a16="http://schemas.microsoft.com/office/drawing/2014/main" val="10000"/>
                  </a:ext>
                </a:extLst>
              </a:tr>
              <a:tr h="787400">
                <a:tc>
                  <a:txBody>
                    <a:bodyPr/>
                    <a:lstStyle/>
                    <a:p>
                      <a:r>
                        <a:rPr lang="en-US" sz="1700" dirty="0">
                          <a:solidFill>
                            <a:schemeClr val="bg1"/>
                          </a:solidFill>
                        </a:rPr>
                        <a:t>Very high read availability</a:t>
                      </a:r>
                      <a:r>
                        <a:rPr lang="en-US" sz="1700" baseline="0" dirty="0">
                          <a:solidFill>
                            <a:schemeClr val="bg1"/>
                          </a:solidFill>
                        </a:rPr>
                        <a:t> </a:t>
                      </a:r>
                      <a:endParaRPr lang="en-US" sz="1700" dirty="0">
                        <a:solidFill>
                          <a:schemeClr val="bg1"/>
                        </a:solidFill>
                      </a:endParaRPr>
                    </a:p>
                    <a:p>
                      <a:pPr marL="800100" lvl="1" indent="-342900">
                        <a:buFont typeface="Arial"/>
                        <a:buChar char="•"/>
                      </a:pPr>
                      <a:r>
                        <a:rPr lang="en-US" sz="1500" dirty="0">
                          <a:solidFill>
                            <a:schemeClr val="bg1"/>
                          </a:solidFill>
                        </a:rPr>
                        <a:t>All</a:t>
                      </a:r>
                      <a:r>
                        <a:rPr lang="en-US" sz="1500" baseline="0" dirty="0">
                          <a:solidFill>
                            <a:schemeClr val="bg1"/>
                          </a:solidFill>
                        </a:rPr>
                        <a:t> nodes have the same shared copy of the blockchain data</a:t>
                      </a:r>
                    </a:p>
                  </a:txBody>
                  <a:tcPr marL="68580" marR="68580" marT="38100" marB="38100"/>
                </a:tc>
                <a:tc>
                  <a:txBody>
                    <a:bodyPr/>
                    <a:lstStyle/>
                    <a:p>
                      <a:r>
                        <a:rPr lang="en-US" sz="1700" dirty="0">
                          <a:solidFill>
                            <a:schemeClr val="bg1"/>
                          </a:solidFill>
                        </a:rPr>
                        <a:t>Low read availability for unpopular data</a:t>
                      </a:r>
                    </a:p>
                  </a:txBody>
                  <a:tcPr marL="68580" marR="68580" marT="38100" marB="38100"/>
                </a:tc>
                <a:extLst>
                  <a:ext uri="{0D108BD9-81ED-4DB2-BD59-A6C34878D82A}">
                    <a16:rowId xmlns:a16="http://schemas.microsoft.com/office/drawing/2014/main" val="10001"/>
                  </a:ext>
                </a:extLst>
              </a:tr>
              <a:tr h="584200">
                <a:tc>
                  <a:txBody>
                    <a:bodyPr/>
                    <a:lstStyle/>
                    <a:p>
                      <a:r>
                        <a:rPr lang="en-US" sz="1700" dirty="0"/>
                        <a:t>Not suitable for storing large</a:t>
                      </a:r>
                      <a:r>
                        <a:rPr lang="en-US" sz="1700" baseline="0" dirty="0"/>
                        <a:t> data</a:t>
                      </a:r>
                      <a:endParaRPr lang="en-US" sz="1700" dirty="0"/>
                    </a:p>
                  </a:txBody>
                  <a:tcPr marL="68580" marR="68580" marT="38100" marB="38100"/>
                </a:tc>
                <a:tc>
                  <a:txBody>
                    <a:bodyPr/>
                    <a:lstStyle/>
                    <a:p>
                      <a:r>
                        <a:rPr lang="en-US" sz="1700" dirty="0"/>
                        <a:t>Only store or distribute</a:t>
                      </a:r>
                      <a:r>
                        <a:rPr lang="en-US" sz="1700" baseline="0" dirty="0"/>
                        <a:t> content the user wants to store or distribute</a:t>
                      </a:r>
                      <a:endParaRPr lang="en-US" sz="1700" dirty="0"/>
                    </a:p>
                  </a:txBody>
                  <a:tcPr marL="68580" marR="68580" marT="38100" marB="38100"/>
                </a:tc>
                <a:extLst>
                  <a:ext uri="{0D108BD9-81ED-4DB2-BD59-A6C34878D82A}">
                    <a16:rowId xmlns:a16="http://schemas.microsoft.com/office/drawing/2014/main" val="10002"/>
                  </a:ext>
                </a:extLst>
              </a:tr>
              <a:tr h="673923">
                <a:tc>
                  <a:txBody>
                    <a:bodyPr/>
                    <a:lstStyle/>
                    <a:p>
                      <a:r>
                        <a:rPr lang="en-US" sz="1700" dirty="0">
                          <a:solidFill>
                            <a:schemeClr val="bg1"/>
                          </a:solidFill>
                        </a:rPr>
                        <a:t>Strong</a:t>
                      </a:r>
                      <a:r>
                        <a:rPr lang="en-US" sz="1700" baseline="0" dirty="0">
                          <a:solidFill>
                            <a:schemeClr val="bg1"/>
                          </a:solidFill>
                        </a:rPr>
                        <a:t> data integrity</a:t>
                      </a:r>
                      <a:endParaRPr lang="en-US" sz="1700" dirty="0">
                        <a:solidFill>
                          <a:schemeClr val="bg1"/>
                        </a:solidFill>
                      </a:endParaRPr>
                    </a:p>
                  </a:txBody>
                  <a:tcPr marL="68580" marR="68580" marT="38100" marB="38100"/>
                </a:tc>
                <a:tc>
                  <a:txBody>
                    <a:bodyPr/>
                    <a:lstStyle/>
                    <a:p>
                      <a:r>
                        <a:rPr lang="en-US" sz="1700" dirty="0">
                          <a:solidFill>
                            <a:schemeClr val="bg1"/>
                          </a:solidFill>
                        </a:rPr>
                        <a:t>Hash pointer,</a:t>
                      </a:r>
                      <a:r>
                        <a:rPr lang="en-US" sz="1700" baseline="0" dirty="0">
                          <a:solidFill>
                            <a:schemeClr val="bg1"/>
                          </a:solidFill>
                        </a:rPr>
                        <a:t> checksum </a:t>
                      </a:r>
                      <a:endParaRPr lang="en-US" sz="1700" dirty="0">
                        <a:solidFill>
                          <a:schemeClr val="bg1"/>
                        </a:solidFill>
                      </a:endParaRPr>
                    </a:p>
                  </a:txBody>
                  <a:tcPr marL="68580" marR="68580" marT="38100" marB="38100"/>
                </a:tc>
                <a:extLst>
                  <a:ext uri="{0D108BD9-81ED-4DB2-BD59-A6C34878D82A}">
                    <a16:rowId xmlns:a16="http://schemas.microsoft.com/office/drawing/2014/main" val="10003"/>
                  </a:ext>
                </a:extLst>
              </a:tr>
            </a:tbl>
          </a:graphicData>
        </a:graphic>
      </p:graphicFrame>
      <p:sp>
        <p:nvSpPr>
          <p:cNvPr id="5" name="Content Placeholder 2"/>
          <p:cNvSpPr txBox="1">
            <a:spLocks/>
          </p:cNvSpPr>
          <p:nvPr/>
        </p:nvSpPr>
        <p:spPr>
          <a:xfrm>
            <a:off x="648000" y="1600200"/>
            <a:ext cx="8096250" cy="1124296"/>
          </a:xfrm>
          <a:prstGeom prst="rect">
            <a:avLst/>
          </a:prstGeom>
        </p:spPr>
        <p:txBody>
          <a:bodyPr vert="horz" lIns="71323" tIns="35662" rIns="71323" bIns="35662" rtlCol="0">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1"/>
                </a:solidFill>
                <a:latin typeface="+mn-lt"/>
                <a:ea typeface="+mn-ea"/>
                <a:cs typeface="+mn-cs"/>
              </a:defRPr>
            </a:lvl1pPr>
            <a:lvl2pPr marL="266700" indent="-266700" algn="l" defTabSz="914400" rtl="0" eaLnBrk="1" latinLnBrk="0" hangingPunct="1">
              <a:lnSpc>
                <a:spcPct val="90000"/>
              </a:lnSpc>
              <a:spcBef>
                <a:spcPts val="500"/>
              </a:spcBef>
              <a:buClr>
                <a:schemeClr val="accent1"/>
              </a:buClr>
              <a:buFont typeface="TheSansB W3 Light" panose="020B0302050302020203" pitchFamily="34" charset="0"/>
              <a:buChar char="-"/>
              <a:defRPr sz="2000" kern="1200">
                <a:solidFill>
                  <a:schemeClr val="tx1"/>
                </a:solidFill>
                <a:latin typeface="+mn-lt"/>
                <a:ea typeface="+mn-ea"/>
                <a:cs typeface="+mn-cs"/>
              </a:defRPr>
            </a:lvl2pPr>
            <a:lvl3pPr marL="723900" indent="-2794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3pPr>
            <a:lvl4pPr marL="990600" indent="-2667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1257300" indent="-2667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Peer-to-peer Data Storage allow users to access data that is stored in other computers connected to the same peer-to-peer network</a:t>
            </a:r>
          </a:p>
          <a:p>
            <a:pPr lvl="1"/>
            <a:r>
              <a:rPr lang="en-US" dirty="0" err="1"/>
              <a:t>BitTorrent</a:t>
            </a:r>
            <a:r>
              <a:rPr lang="en-US" dirty="0"/>
              <a:t>, IPFS (</a:t>
            </a:r>
            <a:r>
              <a:rPr lang="en-US" dirty="0" err="1"/>
              <a:t>InterPlanetary</a:t>
            </a:r>
            <a:r>
              <a:rPr lang="en-US" dirty="0"/>
              <a:t> File System)</a:t>
            </a:r>
          </a:p>
        </p:txBody>
      </p:sp>
    </p:spTree>
    <p:extLst>
      <p:ext uri="{BB962C8B-B14F-4D97-AF65-F5344CB8AC3E}">
        <p14:creationId xmlns:p14="http://schemas.microsoft.com/office/powerpoint/2010/main" val="26660435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Blockchain vs. Replicated State Machines</a:t>
            </a:r>
            <a:endParaRPr lang="en-US" i="1" dirty="0"/>
          </a:p>
        </p:txBody>
      </p:sp>
      <p:sp>
        <p:nvSpPr>
          <p:cNvPr id="3" name="Inhaltsplatzhalter 2">
            <a:extLst>
              <a:ext uri="{FF2B5EF4-FFF2-40B4-BE49-F238E27FC236}">
                <a16:creationId xmlns:a16="http://schemas.microsoft.com/office/drawing/2014/main" id="{29578297-8393-45FC-9952-13BCB6C873C6}"/>
              </a:ext>
            </a:extLst>
          </p:cNvPr>
          <p:cNvSpPr>
            <a:spLocks noGrp="1"/>
          </p:cNvSpPr>
          <p:nvPr>
            <p:ph idx="1"/>
          </p:nvPr>
        </p:nvSpPr>
        <p:spPr/>
        <p:txBody>
          <a:bodyPr/>
          <a:lstStyle/>
          <a:p>
            <a:endParaRPr lang="en-US"/>
          </a:p>
        </p:txBody>
      </p:sp>
      <p:sp>
        <p:nvSpPr>
          <p:cNvPr id="4" name="Foliennummernplatzhalter 3">
            <a:extLst>
              <a:ext uri="{FF2B5EF4-FFF2-40B4-BE49-F238E27FC236}">
                <a16:creationId xmlns:a16="http://schemas.microsoft.com/office/drawing/2014/main" id="{24F27A58-9304-43E1-A90F-BDAF40B09A80}"/>
              </a:ext>
            </a:extLst>
          </p:cNvPr>
          <p:cNvSpPr>
            <a:spLocks noGrp="1"/>
          </p:cNvSpPr>
          <p:nvPr>
            <p:ph type="sldNum" sz="quarter" idx="4"/>
          </p:nvPr>
        </p:nvSpPr>
        <p:spPr/>
        <p:txBody>
          <a:bodyPr/>
          <a:lstStyle/>
          <a:p>
            <a:fld id="{97F98C0B-273E-428A-ABCF-EBED2BA25188}" type="slidenum">
              <a:rPr lang="en-US" smtClean="0"/>
              <a:t>45</a:t>
            </a:fld>
            <a:endParaRPr lang="en-US"/>
          </a:p>
        </p:txBody>
      </p:sp>
      <p:graphicFrame>
        <p:nvGraphicFramePr>
          <p:cNvPr id="11" name="Table 10"/>
          <p:cNvGraphicFramePr>
            <a:graphicFrameLocks noGrp="1"/>
          </p:cNvGraphicFramePr>
          <p:nvPr/>
        </p:nvGraphicFramePr>
        <p:xfrm>
          <a:off x="648000" y="1697988"/>
          <a:ext cx="8412840" cy="4727763"/>
        </p:xfrm>
        <a:graphic>
          <a:graphicData uri="http://schemas.openxmlformats.org/drawingml/2006/table">
            <a:tbl>
              <a:tblPr firstRow="1" bandRow="1">
                <a:tableStyleId>{3C2FFA5D-87B4-456A-9821-1D502468CF0F}</a:tableStyleId>
              </a:tblPr>
              <a:tblGrid>
                <a:gridCol w="1555330">
                  <a:extLst>
                    <a:ext uri="{9D8B030D-6E8A-4147-A177-3AD203B41FA5}">
                      <a16:colId xmlns:a16="http://schemas.microsoft.com/office/drawing/2014/main" val="20000"/>
                    </a:ext>
                  </a:extLst>
                </a:gridCol>
                <a:gridCol w="2806938">
                  <a:extLst>
                    <a:ext uri="{9D8B030D-6E8A-4147-A177-3AD203B41FA5}">
                      <a16:colId xmlns:a16="http://schemas.microsoft.com/office/drawing/2014/main" val="20001"/>
                    </a:ext>
                  </a:extLst>
                </a:gridCol>
                <a:gridCol w="4050572">
                  <a:extLst>
                    <a:ext uri="{9D8B030D-6E8A-4147-A177-3AD203B41FA5}">
                      <a16:colId xmlns:a16="http://schemas.microsoft.com/office/drawing/2014/main" val="20002"/>
                    </a:ext>
                  </a:extLst>
                </a:gridCol>
              </a:tblGrid>
              <a:tr h="381000">
                <a:tc>
                  <a:txBody>
                    <a:bodyPr/>
                    <a:lstStyle/>
                    <a:p>
                      <a:pPr algn="ctr"/>
                      <a:endParaRPr lang="en-US" sz="2000" dirty="0"/>
                    </a:p>
                  </a:txBody>
                  <a:tcPr marL="68580" marR="68580" marT="38100" marB="38100"/>
                </a:tc>
                <a:tc>
                  <a:txBody>
                    <a:bodyPr/>
                    <a:lstStyle/>
                    <a:p>
                      <a:pPr algn="ctr"/>
                      <a:r>
                        <a:rPr lang="en-US" sz="2000" dirty="0"/>
                        <a:t>Blockchain</a:t>
                      </a:r>
                    </a:p>
                  </a:txBody>
                  <a:tcPr marL="68580" marR="68580" marT="38100" marB="38100"/>
                </a:tc>
                <a:tc>
                  <a:txBody>
                    <a:bodyPr/>
                    <a:lstStyle/>
                    <a:p>
                      <a:pPr algn="ctr"/>
                      <a:r>
                        <a:rPr lang="en-US" sz="2000" dirty="0"/>
                        <a:t>Replicated State Machines</a:t>
                      </a:r>
                    </a:p>
                  </a:txBody>
                  <a:tcPr marL="68580" marR="68580" marT="38100" marB="38100"/>
                </a:tc>
                <a:extLst>
                  <a:ext uri="{0D108BD9-81ED-4DB2-BD59-A6C34878D82A}">
                    <a16:rowId xmlns:a16="http://schemas.microsoft.com/office/drawing/2014/main" val="10000"/>
                  </a:ext>
                </a:extLst>
              </a:tr>
              <a:tr h="717287">
                <a:tc>
                  <a:txBody>
                    <a:bodyPr/>
                    <a:lstStyle/>
                    <a:p>
                      <a:pPr marL="0" lvl="0" indent="0" algn="ctr">
                        <a:buFont typeface="Arial"/>
                        <a:buNone/>
                      </a:pPr>
                      <a:r>
                        <a:rPr lang="en-US" sz="1700" b="1" baseline="0" dirty="0"/>
                        <a:t>Fault Tolerance</a:t>
                      </a:r>
                    </a:p>
                  </a:txBody>
                  <a:tcPr marL="68580" marR="68580" marT="38100" marB="38100"/>
                </a:tc>
                <a:tc>
                  <a:txBody>
                    <a:bodyPr/>
                    <a:lstStyle/>
                    <a:p>
                      <a:r>
                        <a:rPr lang="en-US" sz="1700" baseline="0" dirty="0">
                          <a:solidFill>
                            <a:schemeClr val="bg1"/>
                          </a:solidFill>
                        </a:rPr>
                        <a:t>Use distribution to not depend on any single entity</a:t>
                      </a:r>
                    </a:p>
                  </a:txBody>
                  <a:tcPr marL="68580" marR="68580" marT="38100" marB="38100"/>
                </a:tc>
                <a:tc>
                  <a:txBody>
                    <a:bodyPr/>
                    <a:lstStyle/>
                    <a:p>
                      <a:pPr marL="342900" indent="-342900">
                        <a:buFont typeface="Arial"/>
                        <a:buChar char="•"/>
                      </a:pPr>
                      <a:r>
                        <a:rPr lang="en-US" sz="1700" dirty="0">
                          <a:solidFill>
                            <a:schemeClr val="bg1"/>
                          </a:solidFill>
                        </a:rPr>
                        <a:t>Replicate state at multiple</a:t>
                      </a:r>
                      <a:r>
                        <a:rPr lang="en-US" sz="1700" baseline="0" dirty="0">
                          <a:solidFill>
                            <a:schemeClr val="bg1"/>
                          </a:solidFill>
                        </a:rPr>
                        <a:t> servers</a:t>
                      </a:r>
                    </a:p>
                    <a:p>
                      <a:pPr marL="342900" indent="-342900">
                        <a:buFont typeface="Arial"/>
                        <a:buChar char="•"/>
                      </a:pPr>
                      <a:r>
                        <a:rPr lang="en-US" sz="1700" baseline="0" dirty="0">
                          <a:solidFill>
                            <a:schemeClr val="bg1"/>
                          </a:solidFill>
                        </a:rPr>
                        <a:t>Coordinate service requests from clients</a:t>
                      </a:r>
                      <a:endParaRPr lang="en-US" sz="1700" dirty="0">
                        <a:solidFill>
                          <a:schemeClr val="bg1"/>
                        </a:solidFill>
                      </a:endParaRPr>
                    </a:p>
                  </a:txBody>
                  <a:tcPr marL="68580" marR="68580" marT="38100" marB="38100"/>
                </a:tc>
                <a:extLst>
                  <a:ext uri="{0D108BD9-81ED-4DB2-BD59-A6C34878D82A}">
                    <a16:rowId xmlns:a16="http://schemas.microsoft.com/office/drawing/2014/main" val="10001"/>
                  </a:ext>
                </a:extLst>
              </a:tr>
              <a:tr h="838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b="1" baseline="0" dirty="0"/>
                        <a:t>Consensus</a:t>
                      </a:r>
                    </a:p>
                    <a:p>
                      <a:pPr algn="ctr"/>
                      <a:endParaRPr lang="en-US" sz="1700" dirty="0"/>
                    </a:p>
                  </a:txBody>
                  <a:tcPr marL="68580" marR="68580" marT="38100" marB="38100"/>
                </a:tc>
                <a:tc>
                  <a:txBody>
                    <a:bodyPr/>
                    <a:lstStyle/>
                    <a:p>
                      <a:r>
                        <a:rPr lang="en-US" sz="1700" dirty="0"/>
                        <a:t>Ensure only one among</a:t>
                      </a:r>
                      <a:r>
                        <a:rPr lang="en-US" sz="1700" baseline="0" dirty="0"/>
                        <a:t> multiple conflicting proposed transaction is included</a:t>
                      </a:r>
                      <a:endParaRPr lang="en-US" sz="1700" dirty="0"/>
                    </a:p>
                  </a:txBody>
                  <a:tcPr marL="68580" marR="68580" marT="38100" marB="38100"/>
                </a:tc>
                <a:tc>
                  <a:txBody>
                    <a:bodyPr/>
                    <a:lstStyle/>
                    <a:p>
                      <a:r>
                        <a:rPr lang="en-US" sz="1700" dirty="0"/>
                        <a:t>Decide upon receiving update requests from components</a:t>
                      </a:r>
                    </a:p>
                    <a:p>
                      <a:pPr marL="285750" lvl="0" indent="-285750">
                        <a:buFont typeface="Arial"/>
                        <a:buChar char="•"/>
                      </a:pPr>
                      <a:r>
                        <a:rPr lang="en-US" sz="1700" dirty="0"/>
                        <a:t>Ensure only one client acquires</a:t>
                      </a:r>
                      <a:r>
                        <a:rPr lang="en-US" sz="1700" baseline="0" dirty="0"/>
                        <a:t> a lock</a:t>
                      </a:r>
                      <a:endParaRPr lang="en-US" sz="1700" dirty="0"/>
                    </a:p>
                  </a:txBody>
                  <a:tcPr marL="68580" marR="68580" marT="38100" marB="38100"/>
                </a:tc>
                <a:extLst>
                  <a:ext uri="{0D108BD9-81ED-4DB2-BD59-A6C34878D82A}">
                    <a16:rowId xmlns:a16="http://schemas.microsoft.com/office/drawing/2014/main" val="10002"/>
                  </a:ext>
                </a:extLst>
              </a:tr>
              <a:tr h="673923">
                <a:tc>
                  <a:txBody>
                    <a:bodyPr/>
                    <a:lstStyle/>
                    <a:p>
                      <a:pPr algn="ctr"/>
                      <a:r>
                        <a:rPr lang="en-US" sz="1700" b="1" dirty="0"/>
                        <a:t>Voting</a:t>
                      </a:r>
                    </a:p>
                  </a:txBody>
                  <a:tcPr marL="68580" marR="68580" marT="38100" marB="38100"/>
                </a:tc>
                <a:tc>
                  <a:txBody>
                    <a:bodyPr/>
                    <a:lstStyle/>
                    <a:p>
                      <a:pPr marL="0" marR="0" indent="0" algn="l" defTabSz="713232" rtl="0" eaLnBrk="1" fontAlgn="auto" latinLnBrk="0" hangingPunct="1">
                        <a:lnSpc>
                          <a:spcPct val="100000"/>
                        </a:lnSpc>
                        <a:spcBef>
                          <a:spcPts val="0"/>
                        </a:spcBef>
                        <a:spcAft>
                          <a:spcPts val="0"/>
                        </a:spcAft>
                        <a:buClrTx/>
                        <a:buSzTx/>
                        <a:buFontTx/>
                        <a:buNone/>
                        <a:tabLst/>
                        <a:defRPr/>
                      </a:pPr>
                      <a:r>
                        <a:rPr lang="en-US" sz="1700" dirty="0">
                          <a:solidFill>
                            <a:schemeClr val="bg1"/>
                          </a:solidFill>
                        </a:rPr>
                        <a:t>large</a:t>
                      </a:r>
                      <a:r>
                        <a:rPr lang="en-US" sz="1700" baseline="0" dirty="0">
                          <a:solidFill>
                            <a:schemeClr val="bg1"/>
                          </a:solidFill>
                        </a:rPr>
                        <a:t> portion of the community to agree to achieve consensus</a:t>
                      </a:r>
                      <a:endParaRPr lang="en-US" sz="1700" dirty="0">
                        <a:solidFill>
                          <a:schemeClr val="bg1"/>
                        </a:solidFill>
                      </a:endParaRPr>
                    </a:p>
                  </a:txBody>
                  <a:tcPr marL="68580" marR="68580" marT="38100" marB="38100"/>
                </a:tc>
                <a:tc>
                  <a:txBody>
                    <a:bodyPr/>
                    <a:lstStyle/>
                    <a:p>
                      <a:pPr marL="0" marR="0" indent="0" algn="l" defTabSz="713232" rtl="0" eaLnBrk="1" fontAlgn="auto" latinLnBrk="0" hangingPunct="1">
                        <a:lnSpc>
                          <a:spcPct val="100000"/>
                        </a:lnSpc>
                        <a:spcBef>
                          <a:spcPts val="0"/>
                        </a:spcBef>
                        <a:spcAft>
                          <a:spcPts val="0"/>
                        </a:spcAft>
                        <a:buClrTx/>
                        <a:buSzTx/>
                        <a:buFontTx/>
                        <a:buNone/>
                        <a:tabLst/>
                        <a:defRPr/>
                      </a:pPr>
                      <a:r>
                        <a:rPr lang="en-US" sz="1700" dirty="0">
                          <a:solidFill>
                            <a:schemeClr val="bg1"/>
                          </a:solidFill>
                        </a:rPr>
                        <a:t>A quorum of voters with weighted votes</a:t>
                      </a:r>
                    </a:p>
                    <a:p>
                      <a:endParaRPr lang="en-US" sz="1700" dirty="0">
                        <a:solidFill>
                          <a:schemeClr val="bg1"/>
                        </a:solidFill>
                      </a:endParaRPr>
                    </a:p>
                  </a:txBody>
                  <a:tcPr marL="68580" marR="68580" marT="38100" marB="38100"/>
                </a:tc>
                <a:extLst>
                  <a:ext uri="{0D108BD9-81ED-4DB2-BD59-A6C34878D82A}">
                    <a16:rowId xmlns:a16="http://schemas.microsoft.com/office/drawing/2014/main" val="10003"/>
                  </a:ext>
                </a:extLst>
              </a:tr>
              <a:tr h="838200">
                <a:tc>
                  <a:txBody>
                    <a:bodyPr/>
                    <a:lstStyle/>
                    <a:p>
                      <a:pPr algn="ctr"/>
                      <a:r>
                        <a:rPr lang="en-US" sz="1700" b="1" dirty="0" err="1"/>
                        <a:t>Communi</a:t>
                      </a:r>
                      <a:r>
                        <a:rPr lang="en-US" sz="1700" b="1" dirty="0"/>
                        <a:t>-cation</a:t>
                      </a:r>
                    </a:p>
                  </a:txBody>
                  <a:tcPr marL="68580" marR="68580" marT="38100" marB="38100"/>
                </a:tc>
                <a:tc>
                  <a:txBody>
                    <a:bodyPr/>
                    <a:lstStyle/>
                    <a:p>
                      <a:r>
                        <a:rPr lang="en-US" sz="1700" dirty="0"/>
                        <a:t>Transactions</a:t>
                      </a:r>
                      <a:r>
                        <a:rPr lang="en-US" sz="1700" baseline="0" dirty="0"/>
                        <a:t> are replicated and persisted after it is included </a:t>
                      </a:r>
                      <a:endParaRPr lang="en-US" sz="1700" dirty="0"/>
                    </a:p>
                  </a:txBody>
                  <a:tcPr marL="68580" marR="68580" marT="38100" marB="38100"/>
                </a:tc>
                <a:tc>
                  <a:txBody>
                    <a:bodyPr/>
                    <a:lstStyle/>
                    <a:p>
                      <a:pPr marL="342900" indent="-342900">
                        <a:buFont typeface="Arial"/>
                        <a:buChar char="•"/>
                      </a:pPr>
                      <a:r>
                        <a:rPr lang="en-US" sz="1700" dirty="0"/>
                        <a:t>Transmitting state update data among components</a:t>
                      </a:r>
                    </a:p>
                    <a:p>
                      <a:pPr marL="342900" indent="-342900">
                        <a:buFont typeface="Arial"/>
                        <a:buChar char="•"/>
                      </a:pPr>
                      <a:r>
                        <a:rPr lang="en-US" sz="1700" baseline="0" dirty="0"/>
                        <a:t>Information is replicated</a:t>
                      </a:r>
                      <a:endParaRPr lang="en-US" sz="1700" dirty="0"/>
                    </a:p>
                  </a:txBody>
                  <a:tcPr marL="68580" marR="68580" marT="38100" marB="38100"/>
                </a:tc>
                <a:extLst>
                  <a:ext uri="{0D108BD9-81ED-4DB2-BD59-A6C34878D82A}">
                    <a16:rowId xmlns:a16="http://schemas.microsoft.com/office/drawing/2014/main" val="10004"/>
                  </a:ext>
                </a:extLst>
              </a:tr>
              <a:tr h="673923">
                <a:tc>
                  <a:txBody>
                    <a:bodyPr/>
                    <a:lstStyle/>
                    <a:p>
                      <a:pPr algn="ctr"/>
                      <a:r>
                        <a:rPr lang="en-US" sz="1700" b="1" kern="1200" dirty="0">
                          <a:solidFill>
                            <a:schemeClr val="tx1"/>
                          </a:solidFill>
                          <a:effectLst/>
                          <a:latin typeface="+mn-lt"/>
                          <a:ea typeface="+mn-ea"/>
                          <a:cs typeface="+mn-cs"/>
                        </a:rPr>
                        <a:t>Facilitation</a:t>
                      </a:r>
                      <a:endParaRPr lang="en-US" sz="1700" dirty="0"/>
                    </a:p>
                  </a:txBody>
                  <a:tcPr marL="68580" marR="68580" marT="38100" marB="38100"/>
                </a:tc>
                <a:tc>
                  <a:txBody>
                    <a:bodyPr/>
                    <a:lstStyle/>
                    <a:p>
                      <a:r>
                        <a:rPr lang="en-US" sz="1700" dirty="0">
                          <a:solidFill>
                            <a:schemeClr val="bg1"/>
                          </a:solidFill>
                        </a:rPr>
                        <a:t>Blocks</a:t>
                      </a:r>
                      <a:r>
                        <a:rPr lang="en-US" sz="1700" baseline="0" dirty="0">
                          <a:solidFill>
                            <a:schemeClr val="bg1"/>
                          </a:solidFill>
                        </a:rPr>
                        <a:t> and transactions are totally ordered</a:t>
                      </a:r>
                      <a:endParaRPr lang="en-US" sz="1700" dirty="0">
                        <a:solidFill>
                          <a:schemeClr val="bg1"/>
                        </a:solidFill>
                      </a:endParaRPr>
                    </a:p>
                  </a:txBody>
                  <a:tcPr marL="68580" marR="68580" marT="38100" marB="38100"/>
                </a:tc>
                <a:tc>
                  <a:txBody>
                    <a:bodyPr/>
                    <a:lstStyle/>
                    <a:p>
                      <a:r>
                        <a:rPr lang="en-US" sz="1700" dirty="0">
                          <a:solidFill>
                            <a:schemeClr val="bg1"/>
                          </a:solidFill>
                        </a:rPr>
                        <a:t>Requests</a:t>
                      </a:r>
                      <a:r>
                        <a:rPr lang="en-US" sz="1700" baseline="0" dirty="0">
                          <a:solidFill>
                            <a:schemeClr val="bg1"/>
                          </a:solidFill>
                        </a:rPr>
                        <a:t> are ordered</a:t>
                      </a:r>
                      <a:endParaRPr lang="en-US" sz="1700" dirty="0">
                        <a:solidFill>
                          <a:schemeClr val="bg1"/>
                        </a:solidFill>
                      </a:endParaRPr>
                    </a:p>
                  </a:txBody>
                  <a:tcPr marL="68580" marR="68580" marT="38100" marB="3810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617721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6C54504-A74A-47F1-B1A4-217F6731B122}"/>
              </a:ext>
            </a:extLst>
          </p:cNvPr>
          <p:cNvSpPr>
            <a:spLocks noGrp="1"/>
          </p:cNvSpPr>
          <p:nvPr>
            <p:ph type="ctrTitle"/>
          </p:nvPr>
        </p:nvSpPr>
        <p:spPr>
          <a:xfrm>
            <a:off x="1307255" y="1901032"/>
            <a:ext cx="5052378" cy="1783243"/>
          </a:xfrm>
        </p:spPr>
        <p:txBody>
          <a:bodyPr>
            <a:noAutofit/>
          </a:bodyPr>
          <a:lstStyle/>
          <a:p>
            <a:r>
              <a:rPr lang="en-AU" sz="3200" b="1" dirty="0"/>
              <a:t>Functionality of Blockchain</a:t>
            </a:r>
            <a:br>
              <a:rPr lang="en-AU" sz="3200" b="1" dirty="0"/>
            </a:br>
            <a:br>
              <a:rPr lang="en-AU" sz="3200" b="1" dirty="0"/>
            </a:br>
            <a:r>
              <a:rPr lang="en-AU" sz="3200" dirty="0">
                <a:solidFill>
                  <a:srgbClr val="000000"/>
                </a:solidFill>
              </a:rPr>
              <a:t>Data Storage</a:t>
            </a:r>
            <a:br>
              <a:rPr lang="en-AU" sz="3200" dirty="0">
                <a:solidFill>
                  <a:srgbClr val="000000"/>
                </a:solidFill>
              </a:rPr>
            </a:br>
            <a:r>
              <a:rPr lang="en-AU" sz="3200" b="1" dirty="0"/>
              <a:t>Computation</a:t>
            </a:r>
            <a:br>
              <a:rPr lang="en-AU" sz="3200" b="1" dirty="0"/>
            </a:br>
            <a:r>
              <a:rPr lang="en-AU" sz="3200" dirty="0"/>
              <a:t>Communication</a:t>
            </a:r>
            <a:br>
              <a:rPr lang="en-AU" sz="3200" dirty="0"/>
            </a:br>
            <a:r>
              <a:rPr lang="en-AU" sz="3200" dirty="0"/>
              <a:t>Asset Management</a:t>
            </a:r>
            <a:br>
              <a:rPr lang="en-AU" sz="1800" b="1" dirty="0"/>
            </a:br>
            <a:endParaRPr lang="en-US" sz="1800" dirty="0"/>
          </a:p>
        </p:txBody>
      </p:sp>
    </p:spTree>
    <p:extLst>
      <p:ext uri="{BB962C8B-B14F-4D97-AF65-F5344CB8AC3E}">
        <p14:creationId xmlns:p14="http://schemas.microsoft.com/office/powerpoint/2010/main" val="2578912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noProof="0" dirty="0"/>
              <a:t>Architectural decision</a:t>
            </a:r>
          </a:p>
          <a:p>
            <a:pPr lvl="1"/>
            <a:r>
              <a:rPr lang="en-US" sz="1514" dirty="0"/>
              <a:t>Which parts of data and computation should </a:t>
            </a:r>
            <a:r>
              <a:rPr lang="en-US" sz="1514" b="1" dirty="0"/>
              <a:t>be placed on-chain or kept off-chain</a:t>
            </a:r>
            <a:r>
              <a:rPr lang="en-US" sz="1514" dirty="0"/>
              <a:t>?</a:t>
            </a:r>
          </a:p>
          <a:p>
            <a:pPr lvl="2"/>
            <a:r>
              <a:rPr lang="en-US" sz="1375" dirty="0"/>
              <a:t>The amount computational power, data storage space and control of read accesses on a blockchain can be limited</a:t>
            </a:r>
          </a:p>
          <a:p>
            <a:pPr lvl="1"/>
            <a:r>
              <a:rPr lang="en-US" sz="1514" dirty="0"/>
              <a:t>A common practice: store hashed data, meta-data and small-sized public data on-chain and keep large and private data off-chain</a:t>
            </a:r>
          </a:p>
          <a:p>
            <a:r>
              <a:rPr lang="en-US" noProof="0" dirty="0"/>
              <a:t>Other platforms (e.g. IPFS) </a:t>
            </a:r>
            <a:r>
              <a:rPr lang="en-US" dirty="0"/>
              <a:t>can be used for </a:t>
            </a:r>
            <a:r>
              <a:rPr lang="en-US" noProof="0" dirty="0"/>
              <a:t>providing a data layer on top of blockchain</a:t>
            </a:r>
          </a:p>
          <a:p>
            <a:r>
              <a:rPr lang="en-US" noProof="0" dirty="0"/>
              <a:t>Oracles: interacting with the external world</a:t>
            </a:r>
          </a:p>
        </p:txBody>
      </p:sp>
      <p:sp>
        <p:nvSpPr>
          <p:cNvPr id="4" name="Text Placeholder 3"/>
          <p:cNvSpPr>
            <a:spLocks noGrp="1"/>
          </p:cNvSpPr>
          <p:nvPr>
            <p:ph type="body" sz="quarter" idx="10"/>
          </p:nvPr>
        </p:nvSpPr>
        <p:spPr/>
        <p:txBody>
          <a:bodyPr>
            <a:normAutofit fontScale="47500" lnSpcReduction="20000"/>
          </a:bodyPr>
          <a:lstStyle/>
          <a:p>
            <a:r>
              <a:rPr lang="en-US" b="1" noProof="0" dirty="0"/>
              <a:t>Blockchain as a Computational Infrastructure</a:t>
            </a:r>
          </a:p>
        </p:txBody>
      </p:sp>
      <p:sp>
        <p:nvSpPr>
          <p:cNvPr id="2" name="Title 1"/>
          <p:cNvSpPr>
            <a:spLocks noGrp="1"/>
          </p:cNvSpPr>
          <p:nvPr>
            <p:ph type="title"/>
          </p:nvPr>
        </p:nvSpPr>
        <p:spPr/>
        <p:txBody>
          <a:bodyPr>
            <a:normAutofit fontScale="90000"/>
          </a:bodyPr>
          <a:lstStyle/>
          <a:p>
            <a:r>
              <a:rPr lang="en-US" noProof="0" dirty="0"/>
              <a:t>Blockchain Functionality</a:t>
            </a:r>
          </a:p>
        </p:txBody>
      </p:sp>
    </p:spTree>
    <p:extLst>
      <p:ext uri="{BB962C8B-B14F-4D97-AF65-F5344CB8AC3E}">
        <p14:creationId xmlns:p14="http://schemas.microsoft.com/office/powerpoint/2010/main" val="15004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and Computational Platform</a:t>
            </a:r>
          </a:p>
        </p:txBody>
      </p:sp>
      <p:sp>
        <p:nvSpPr>
          <p:cNvPr id="19" name="Content Placeholder 2"/>
          <p:cNvSpPr>
            <a:spLocks noGrp="1"/>
          </p:cNvSpPr>
          <p:nvPr>
            <p:ph idx="1"/>
          </p:nvPr>
        </p:nvSpPr>
        <p:spPr>
          <a:xfrm>
            <a:off x="648000" y="1867500"/>
            <a:ext cx="6064882" cy="3845917"/>
          </a:xfrm>
        </p:spPr>
        <p:txBody>
          <a:bodyPr>
            <a:normAutofit fontScale="70000" lnSpcReduction="20000"/>
          </a:bodyPr>
          <a:lstStyle/>
          <a:p>
            <a:r>
              <a:rPr lang="en-US" b="1" dirty="0"/>
              <a:t>Blockchain 1</a:t>
            </a:r>
            <a:r>
              <a:rPr lang="en-US" b="1" baseline="30000" dirty="0"/>
              <a:t>st</a:t>
            </a:r>
            <a:r>
              <a:rPr lang="en-US" b="1" dirty="0"/>
              <a:t> gen. </a:t>
            </a:r>
            <a:br>
              <a:rPr lang="en-US" b="1" dirty="0"/>
            </a:br>
            <a:r>
              <a:rPr lang="en-US" b="1" dirty="0"/>
              <a:t>     </a:t>
            </a:r>
            <a:r>
              <a:rPr lang="en-US" dirty="0"/>
              <a:t>– Cryptocurrency</a:t>
            </a:r>
          </a:p>
          <a:p>
            <a:endParaRPr lang="en-US" dirty="0"/>
          </a:p>
          <a:p>
            <a:r>
              <a:rPr lang="en-US" b="1" dirty="0"/>
              <a:t>Blockchain 2</a:t>
            </a:r>
            <a:r>
              <a:rPr lang="en-US" b="1" baseline="30000" dirty="0"/>
              <a:t>nd</a:t>
            </a:r>
            <a:r>
              <a:rPr lang="en-US" b="1" dirty="0"/>
              <a:t> gen. </a:t>
            </a:r>
            <a:r>
              <a:rPr lang="en-US" dirty="0"/>
              <a:t>– crypto-economic State Machine </a:t>
            </a:r>
          </a:p>
          <a:p>
            <a:pPr lvl="1"/>
            <a:r>
              <a:rPr lang="en-US" dirty="0"/>
              <a:t>Smart contract: event-driven program (with state) that runs on a  blockchain</a:t>
            </a:r>
          </a:p>
          <a:p>
            <a:pPr lvl="2"/>
            <a:r>
              <a:rPr lang="en-US" dirty="0"/>
              <a:t>Can realize potentially complex business logic </a:t>
            </a:r>
          </a:p>
          <a:p>
            <a:pPr lvl="3"/>
            <a:r>
              <a:rPr lang="en-US" i="1" dirty="0"/>
              <a:t>More than simple currency/token-based value transfer</a:t>
            </a:r>
          </a:p>
          <a:p>
            <a:pPr lvl="2"/>
            <a:r>
              <a:rPr lang="en-US" dirty="0"/>
              <a:t>Can take custody over assets on the ledger</a:t>
            </a:r>
          </a:p>
          <a:p>
            <a:pPr lvl="1"/>
            <a:r>
              <a:rPr lang="en-US" dirty="0"/>
              <a:t>Computational result is stored on the public ledger</a:t>
            </a:r>
          </a:p>
        </p:txBody>
      </p:sp>
      <p:sp>
        <p:nvSpPr>
          <p:cNvPr id="5" name="Foliennummernplatzhalter 4">
            <a:extLst>
              <a:ext uri="{FF2B5EF4-FFF2-40B4-BE49-F238E27FC236}">
                <a16:creationId xmlns:a16="http://schemas.microsoft.com/office/drawing/2014/main" id="{A81E6E36-EA78-44A1-AE92-552C7298B864}"/>
              </a:ext>
            </a:extLst>
          </p:cNvPr>
          <p:cNvSpPr>
            <a:spLocks noGrp="1"/>
          </p:cNvSpPr>
          <p:nvPr>
            <p:ph type="sldNum" sz="quarter" idx="4"/>
          </p:nvPr>
        </p:nvSpPr>
        <p:spPr/>
        <p:txBody>
          <a:bodyPr/>
          <a:lstStyle/>
          <a:p>
            <a:fld id="{97F98C0B-273E-428A-ABCF-EBED2BA25188}" type="slidenum">
              <a:rPr lang="en-US" smtClean="0"/>
              <a:t>48</a:t>
            </a:fld>
            <a:endParaRPr lang="en-US"/>
          </a:p>
        </p:txBody>
      </p:sp>
      <p:pic>
        <p:nvPicPr>
          <p:cNvPr id="20" name="Picture 19" descr="bitcoin-logo-3d.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305" y="1873315"/>
            <a:ext cx="577106" cy="606384"/>
          </a:xfrm>
          <a:prstGeom prst="rect">
            <a:avLst/>
          </a:prstGeom>
        </p:spPr>
      </p:pic>
      <p:pic>
        <p:nvPicPr>
          <p:cNvPr id="21" name="Picture 20"/>
          <p:cNvPicPr>
            <a:picLocks noChangeAspect="1"/>
          </p:cNvPicPr>
          <p:nvPr/>
        </p:nvPicPr>
        <p:blipFill>
          <a:blip r:embed="rId4"/>
          <a:stretch>
            <a:fillRect/>
          </a:stretch>
        </p:blipFill>
        <p:spPr>
          <a:xfrm>
            <a:off x="5201860" y="1873316"/>
            <a:ext cx="577106" cy="624460"/>
          </a:xfrm>
          <a:prstGeom prst="rect">
            <a:avLst/>
          </a:prstGeom>
        </p:spPr>
      </p:pic>
      <p:pic>
        <p:nvPicPr>
          <p:cNvPr id="22" name="Picture 21"/>
          <p:cNvPicPr>
            <a:picLocks noChangeAspect="1"/>
          </p:cNvPicPr>
          <p:nvPr/>
        </p:nvPicPr>
        <p:blipFill>
          <a:blip r:embed="rId5"/>
          <a:stretch>
            <a:fillRect/>
          </a:stretch>
        </p:blipFill>
        <p:spPr>
          <a:xfrm>
            <a:off x="5830789" y="1873315"/>
            <a:ext cx="577106" cy="606384"/>
          </a:xfrm>
          <a:prstGeom prst="rect">
            <a:avLst/>
          </a:prstGeom>
        </p:spPr>
      </p:pic>
      <p:pic>
        <p:nvPicPr>
          <p:cNvPr id="23" name="Picture 22" descr="ethereum-logo-1.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35347" y="3469449"/>
            <a:ext cx="1731790" cy="473109"/>
          </a:xfrm>
          <a:prstGeom prst="rect">
            <a:avLst/>
          </a:prstGeom>
        </p:spPr>
      </p:pic>
      <p:pic>
        <p:nvPicPr>
          <p:cNvPr id="24" name="Picture 23" descr="logo_hl_new.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97452" y="2985937"/>
            <a:ext cx="2054088" cy="490699"/>
          </a:xfrm>
          <a:prstGeom prst="rect">
            <a:avLst/>
          </a:prstGeom>
        </p:spPr>
      </p:pic>
      <p:pic>
        <p:nvPicPr>
          <p:cNvPr id="25" name="Picture 24" descr="corda.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4396" y="3875316"/>
            <a:ext cx="1131428" cy="512913"/>
          </a:xfrm>
          <a:prstGeom prst="rect">
            <a:avLst/>
          </a:prstGeom>
        </p:spPr>
      </p:pic>
    </p:spTree>
    <p:extLst>
      <p:ext uri="{BB962C8B-B14F-4D97-AF65-F5344CB8AC3E}">
        <p14:creationId xmlns:p14="http://schemas.microsoft.com/office/powerpoint/2010/main" val="240923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1242" y="515001"/>
            <a:ext cx="6631640" cy="648000"/>
          </a:xfrm>
        </p:spPr>
        <p:txBody>
          <a:bodyPr>
            <a:noAutofit/>
          </a:bodyPr>
          <a:lstStyle/>
          <a:p>
            <a:r>
              <a:rPr lang="en-US" sz="2800" dirty="0"/>
              <a:t>Limited Computational Power of 1</a:t>
            </a:r>
            <a:r>
              <a:rPr lang="en-US" sz="2800" baseline="30000" dirty="0"/>
              <a:t>st</a:t>
            </a:r>
            <a:r>
              <a:rPr lang="en-US" sz="2800" dirty="0"/>
              <a:t> Generation Blockchains</a:t>
            </a:r>
          </a:p>
        </p:txBody>
      </p:sp>
      <p:sp>
        <p:nvSpPr>
          <p:cNvPr id="12" name="Content Placeholder 2"/>
          <p:cNvSpPr>
            <a:spLocks noGrp="1"/>
          </p:cNvSpPr>
          <p:nvPr>
            <p:ph idx="1"/>
          </p:nvPr>
        </p:nvSpPr>
        <p:spPr/>
        <p:txBody>
          <a:bodyPr>
            <a:normAutofit fontScale="85000" lnSpcReduction="20000"/>
          </a:bodyPr>
          <a:lstStyle/>
          <a:p>
            <a:r>
              <a:rPr lang="en-US" dirty="0"/>
              <a:t>Native smart contracts on Bitcoin do not support complex control flow definition</a:t>
            </a:r>
          </a:p>
          <a:p>
            <a:endParaRPr lang="en-US" dirty="0"/>
          </a:p>
          <a:p>
            <a:endParaRPr lang="en-US" dirty="0"/>
          </a:p>
          <a:p>
            <a:endParaRPr lang="en-US" dirty="0"/>
          </a:p>
          <a:p>
            <a:endParaRPr lang="en-US" dirty="0"/>
          </a:p>
          <a:p>
            <a:endParaRPr lang="en-US" dirty="0"/>
          </a:p>
          <a:p>
            <a:r>
              <a:rPr lang="en-US" dirty="0"/>
              <a:t>External services allow end users to build self-executing contracts connected to (but outside) Bitcoin</a:t>
            </a:r>
          </a:p>
          <a:p>
            <a:pPr lvl="1"/>
            <a:r>
              <a:rPr lang="en-US" dirty="0"/>
              <a:t>Executed by external Oracle </a:t>
            </a:r>
          </a:p>
          <a:p>
            <a:pPr lvl="1"/>
            <a:r>
              <a:rPr lang="en-US" dirty="0"/>
              <a:t>Integrity of execution is not guaranteed </a:t>
            </a:r>
          </a:p>
          <a:p>
            <a:pPr lvl="1"/>
            <a:endParaRPr lang="en-US" dirty="0"/>
          </a:p>
        </p:txBody>
      </p:sp>
      <p:sp>
        <p:nvSpPr>
          <p:cNvPr id="5" name="Foliennummernplatzhalter 4">
            <a:extLst>
              <a:ext uri="{FF2B5EF4-FFF2-40B4-BE49-F238E27FC236}">
                <a16:creationId xmlns:a16="http://schemas.microsoft.com/office/drawing/2014/main" id="{48277B7A-7AE4-439F-9672-B5A25B828F4A}"/>
              </a:ext>
            </a:extLst>
          </p:cNvPr>
          <p:cNvSpPr>
            <a:spLocks noGrp="1"/>
          </p:cNvSpPr>
          <p:nvPr>
            <p:ph type="sldNum" sz="quarter" idx="4"/>
          </p:nvPr>
        </p:nvSpPr>
        <p:spPr/>
        <p:txBody>
          <a:bodyPr/>
          <a:lstStyle/>
          <a:p>
            <a:fld id="{97F98C0B-273E-428A-ABCF-EBED2BA25188}" type="slidenum">
              <a:rPr lang="en-US" smtClean="0"/>
              <a:t>49</a:t>
            </a:fld>
            <a:endParaRPr lang="en-US"/>
          </a:p>
        </p:txBody>
      </p:sp>
      <p:pic>
        <p:nvPicPr>
          <p:cNvPr id="13" name="Picture 1" descr="Screen Shot 2015-06-26 at 9.57.12 a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17550" y="2474599"/>
            <a:ext cx="5562600" cy="17356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5085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Turing-complete Programming of 2</a:t>
            </a:r>
            <a:r>
              <a:rPr lang="en-US" sz="2800" baseline="30000" dirty="0"/>
              <a:t>nd</a:t>
            </a:r>
            <a:r>
              <a:rPr lang="en-US" sz="2800" dirty="0"/>
              <a:t> Generation Blockchains</a:t>
            </a:r>
          </a:p>
        </p:txBody>
      </p:sp>
      <p:sp>
        <p:nvSpPr>
          <p:cNvPr id="12" name="Content Placeholder 2"/>
          <p:cNvSpPr>
            <a:spLocks noGrp="1"/>
          </p:cNvSpPr>
          <p:nvPr>
            <p:ph idx="1"/>
          </p:nvPr>
        </p:nvSpPr>
        <p:spPr>
          <a:xfrm>
            <a:off x="648000" y="1867500"/>
            <a:ext cx="3673184" cy="3845917"/>
          </a:xfrm>
        </p:spPr>
        <p:txBody>
          <a:bodyPr>
            <a:normAutofit fontScale="70000" lnSpcReduction="20000"/>
          </a:bodyPr>
          <a:lstStyle/>
          <a:p>
            <a:r>
              <a:rPr lang="en-US" dirty="0"/>
              <a:t>Ethereum is a general computational platform</a:t>
            </a:r>
          </a:p>
          <a:p>
            <a:pPr lvl="1"/>
            <a:r>
              <a:rPr lang="en-US" dirty="0"/>
              <a:t>Turing complete programming language</a:t>
            </a:r>
          </a:p>
          <a:p>
            <a:pPr lvl="1"/>
            <a:r>
              <a:rPr lang="en-US" dirty="0"/>
              <a:t>As expressive as any other general-purpose programming language</a:t>
            </a:r>
          </a:p>
          <a:p>
            <a:pPr lvl="1"/>
            <a:r>
              <a:rPr lang="en-US" dirty="0"/>
              <a:t>Practical limitations on computational complexity </a:t>
            </a:r>
          </a:p>
          <a:p>
            <a:pPr lvl="2"/>
            <a:r>
              <a:rPr lang="en-US" dirty="0"/>
              <a:t>E.g. implemented via Gas limit in Ethereum</a:t>
            </a:r>
          </a:p>
          <a:p>
            <a:endParaRPr lang="en-US" dirty="0"/>
          </a:p>
          <a:p>
            <a:endParaRPr lang="en-US" dirty="0"/>
          </a:p>
        </p:txBody>
      </p:sp>
      <p:sp>
        <p:nvSpPr>
          <p:cNvPr id="3" name="Foliennummernplatzhalter 2">
            <a:extLst>
              <a:ext uri="{FF2B5EF4-FFF2-40B4-BE49-F238E27FC236}">
                <a16:creationId xmlns:a16="http://schemas.microsoft.com/office/drawing/2014/main" id="{5A3802C5-7EC8-4106-9DEB-CD65F56E192D}"/>
              </a:ext>
            </a:extLst>
          </p:cNvPr>
          <p:cNvSpPr>
            <a:spLocks noGrp="1"/>
          </p:cNvSpPr>
          <p:nvPr>
            <p:ph type="sldNum" sz="quarter" idx="4"/>
          </p:nvPr>
        </p:nvSpPr>
        <p:spPr/>
        <p:txBody>
          <a:bodyPr/>
          <a:lstStyle/>
          <a:p>
            <a:fld id="{97F98C0B-273E-428A-ABCF-EBED2BA25188}" type="slidenum">
              <a:rPr lang="en-US" smtClean="0"/>
              <a:t>50</a:t>
            </a:fld>
            <a:endParaRPr lang="en-US"/>
          </a:p>
        </p:txBody>
      </p:sp>
      <p:sp>
        <p:nvSpPr>
          <p:cNvPr id="6" name="Rectangle 5"/>
          <p:cNvSpPr/>
          <p:nvPr/>
        </p:nvSpPr>
        <p:spPr>
          <a:xfrm>
            <a:off x="648001" y="5559528"/>
            <a:ext cx="5378395" cy="307777"/>
          </a:xfrm>
          <a:prstGeom prst="rect">
            <a:avLst/>
          </a:prstGeom>
        </p:spPr>
        <p:txBody>
          <a:bodyPr wrap="none">
            <a:spAutoFit/>
          </a:bodyPr>
          <a:lstStyle/>
          <a:p>
            <a:r>
              <a:rPr lang="en-US" i="1" dirty="0"/>
              <a:t>Video source: </a:t>
            </a:r>
            <a:r>
              <a:rPr lang="en-US" i="1" dirty="0">
                <a:hlinkClick r:id="rId4"/>
              </a:rPr>
              <a:t>https://www.youtube.com/watch?v=U1XOPIqyP7A</a:t>
            </a:r>
            <a:r>
              <a:rPr lang="en-US" i="1" dirty="0"/>
              <a:t> </a:t>
            </a:r>
          </a:p>
        </p:txBody>
      </p:sp>
      <p:pic>
        <p:nvPicPr>
          <p:cNvPr id="4" name="Online Media 3" title="IBM &amp; Samsung live demo of ADEPT | TheProtocol.TV">
            <a:hlinkClick r:id="" action="ppaction://media"/>
            <a:extLst>
              <a:ext uri="{FF2B5EF4-FFF2-40B4-BE49-F238E27FC236}">
                <a16:creationId xmlns:a16="http://schemas.microsoft.com/office/drawing/2014/main" id="{7CDC3171-26D6-4DAF-BDE9-553118C3B9D4}"/>
              </a:ext>
            </a:extLst>
          </p:cNvPr>
          <p:cNvPicPr>
            <a:picLocks noRot="1" noChangeAspect="1"/>
          </p:cNvPicPr>
          <p:nvPr>
            <a:videoFile r:link="rId1"/>
          </p:nvPr>
        </p:nvPicPr>
        <p:blipFill>
          <a:blip r:embed="rId5"/>
          <a:stretch>
            <a:fillRect/>
          </a:stretch>
        </p:blipFill>
        <p:spPr>
          <a:xfrm>
            <a:off x="4258764" y="1867499"/>
            <a:ext cx="4309237" cy="2423946"/>
          </a:xfrm>
          <a:prstGeom prst="rect">
            <a:avLst/>
          </a:prstGeom>
        </p:spPr>
      </p:pic>
    </p:spTree>
    <p:extLst>
      <p:ext uri="{BB962C8B-B14F-4D97-AF65-F5344CB8AC3E}">
        <p14:creationId xmlns:p14="http://schemas.microsoft.com/office/powerpoint/2010/main" val="372787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6C54504-A74A-47F1-B1A4-217F6731B122}"/>
              </a:ext>
            </a:extLst>
          </p:cNvPr>
          <p:cNvSpPr>
            <a:spLocks noGrp="1"/>
          </p:cNvSpPr>
          <p:nvPr>
            <p:ph type="ctrTitle"/>
          </p:nvPr>
        </p:nvSpPr>
        <p:spPr/>
        <p:txBody>
          <a:bodyPr>
            <a:noAutofit/>
          </a:bodyPr>
          <a:lstStyle/>
          <a:p>
            <a:r>
              <a:rPr lang="en-AU" sz="2800" b="1" dirty="0"/>
              <a:t>Functionality of Blockchain</a:t>
            </a:r>
            <a:br>
              <a:rPr lang="en-AU" sz="2800" b="1" dirty="0"/>
            </a:br>
            <a:br>
              <a:rPr lang="en-AU" sz="1800" b="1" dirty="0"/>
            </a:br>
            <a:r>
              <a:rPr lang="en-AU" sz="2000" dirty="0">
                <a:solidFill>
                  <a:srgbClr val="000000"/>
                </a:solidFill>
              </a:rPr>
              <a:t>Data Storage</a:t>
            </a:r>
            <a:br>
              <a:rPr lang="en-AU" sz="2000" dirty="0">
                <a:solidFill>
                  <a:srgbClr val="000000"/>
                </a:solidFill>
              </a:rPr>
            </a:br>
            <a:r>
              <a:rPr lang="en-AU" sz="2000" dirty="0"/>
              <a:t>Computation</a:t>
            </a:r>
            <a:br>
              <a:rPr lang="en-AU" sz="2000" dirty="0"/>
            </a:br>
            <a:r>
              <a:rPr lang="en-AU" sz="2000" b="1" dirty="0"/>
              <a:t>Communication</a:t>
            </a:r>
            <a:br>
              <a:rPr lang="en-AU" sz="2000" b="1" dirty="0"/>
            </a:br>
            <a:r>
              <a:rPr lang="en-AU" sz="2000" dirty="0"/>
              <a:t>Asset Management</a:t>
            </a:r>
            <a:br>
              <a:rPr lang="en-AU" sz="1800" b="1" dirty="0"/>
            </a:br>
            <a:endParaRPr lang="en-US" sz="1800" dirty="0"/>
          </a:p>
        </p:txBody>
      </p:sp>
    </p:spTree>
    <p:extLst>
      <p:ext uri="{BB962C8B-B14F-4D97-AF65-F5344CB8AC3E}">
        <p14:creationId xmlns:p14="http://schemas.microsoft.com/office/powerpoint/2010/main" val="14552230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A043BD-7EA3-48AB-B2EC-9CE15BA535EF}"/>
              </a:ext>
            </a:extLst>
          </p:cNvPr>
          <p:cNvSpPr>
            <a:spLocks noGrp="1"/>
          </p:cNvSpPr>
          <p:nvPr>
            <p:ph idx="1"/>
          </p:nvPr>
        </p:nvSpPr>
        <p:spPr/>
        <p:txBody>
          <a:bodyPr>
            <a:normAutofit/>
          </a:bodyPr>
          <a:lstStyle/>
          <a:p>
            <a:r>
              <a:rPr lang="en-US" dirty="0"/>
              <a:t>Transactions that are announced get broadcast across the network</a:t>
            </a:r>
          </a:p>
          <a:p>
            <a:r>
              <a:rPr lang="en-US" dirty="0"/>
              <a:t>Committing a transaction to the data structure may be required before regarding the transaction as final</a:t>
            </a:r>
          </a:p>
          <a:p>
            <a:pPr lvl="1"/>
            <a:r>
              <a:rPr lang="en-US" sz="1800" dirty="0"/>
              <a:t>…or the receiver can already act based on the announcement</a:t>
            </a:r>
          </a:p>
          <a:p>
            <a:pPr lvl="1"/>
            <a:r>
              <a:rPr lang="en-US" sz="1800" dirty="0"/>
              <a:t>Threshold for viewing a transaction as committed: user-defined</a:t>
            </a:r>
          </a:p>
          <a:p>
            <a:endParaRPr lang="en-US" dirty="0"/>
          </a:p>
        </p:txBody>
      </p:sp>
      <p:sp>
        <p:nvSpPr>
          <p:cNvPr id="4" name="Text Placeholder 3">
            <a:extLst>
              <a:ext uri="{FF2B5EF4-FFF2-40B4-BE49-F238E27FC236}">
                <a16:creationId xmlns:a16="http://schemas.microsoft.com/office/drawing/2014/main" id="{6A5ADC04-A139-4279-BDB2-21C47EC202D4}"/>
              </a:ext>
            </a:extLst>
          </p:cNvPr>
          <p:cNvSpPr>
            <a:spLocks noGrp="1"/>
          </p:cNvSpPr>
          <p:nvPr>
            <p:ph type="body" sz="quarter" idx="10"/>
          </p:nvPr>
        </p:nvSpPr>
        <p:spPr/>
        <p:txBody>
          <a:bodyPr>
            <a:normAutofit fontScale="47500" lnSpcReduction="20000"/>
          </a:bodyPr>
          <a:lstStyle/>
          <a:p>
            <a:r>
              <a:rPr lang="en-US" b="1" dirty="0"/>
              <a:t>Blockchain as a Communication Mechanism</a:t>
            </a:r>
          </a:p>
        </p:txBody>
      </p:sp>
      <p:sp>
        <p:nvSpPr>
          <p:cNvPr id="2" name="Title 1">
            <a:extLst>
              <a:ext uri="{FF2B5EF4-FFF2-40B4-BE49-F238E27FC236}">
                <a16:creationId xmlns:a16="http://schemas.microsoft.com/office/drawing/2014/main" id="{616E6545-B36E-4096-9827-5D6F07587313}"/>
              </a:ext>
            </a:extLst>
          </p:cNvPr>
          <p:cNvSpPr>
            <a:spLocks noGrp="1"/>
          </p:cNvSpPr>
          <p:nvPr>
            <p:ph type="title"/>
          </p:nvPr>
        </p:nvSpPr>
        <p:spPr/>
        <p:txBody>
          <a:bodyPr>
            <a:normAutofit fontScale="90000"/>
          </a:bodyPr>
          <a:lstStyle/>
          <a:p>
            <a:r>
              <a:rPr lang="en-US" dirty="0"/>
              <a:t>Blockchain Functionality</a:t>
            </a:r>
          </a:p>
        </p:txBody>
      </p:sp>
    </p:spTree>
    <p:extLst>
      <p:ext uri="{BB962C8B-B14F-4D97-AF65-F5344CB8AC3E}">
        <p14:creationId xmlns:p14="http://schemas.microsoft.com/office/powerpoint/2010/main" val="24348678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Communication</a:t>
            </a:r>
          </a:p>
        </p:txBody>
      </p:sp>
      <p:sp>
        <p:nvSpPr>
          <p:cNvPr id="7" name="Content Placeholder 2"/>
          <p:cNvSpPr>
            <a:spLocks noGrp="1"/>
          </p:cNvSpPr>
          <p:nvPr>
            <p:ph idx="1"/>
          </p:nvPr>
        </p:nvSpPr>
        <p:spPr>
          <a:xfrm>
            <a:off x="648001" y="1867500"/>
            <a:ext cx="3957565" cy="3845917"/>
          </a:xfrm>
        </p:spPr>
        <p:txBody>
          <a:bodyPr>
            <a:normAutofit fontScale="55000" lnSpcReduction="20000"/>
          </a:bodyPr>
          <a:lstStyle/>
          <a:p>
            <a:r>
              <a:rPr lang="en-US" dirty="0"/>
              <a:t>Components on application layer use blockchain as a mediator to transfer data</a:t>
            </a:r>
          </a:p>
          <a:p>
            <a:pPr lvl="1"/>
            <a:r>
              <a:rPr lang="en-US" dirty="0"/>
              <a:t>Sending data to blockchain using transactions</a:t>
            </a:r>
          </a:p>
          <a:p>
            <a:pPr lvl="1"/>
            <a:r>
              <a:rPr lang="en-US" dirty="0"/>
              <a:t>Query blockchain to retrieve data</a:t>
            </a:r>
          </a:p>
          <a:p>
            <a:r>
              <a:rPr lang="en-US" dirty="0"/>
              <a:t>Blockchain provides data API</a:t>
            </a:r>
          </a:p>
          <a:p>
            <a:pPr lvl="1"/>
            <a:r>
              <a:rPr lang="en-US" dirty="0"/>
              <a:t>Access historical transactions</a:t>
            </a:r>
          </a:p>
          <a:p>
            <a:pPr lvl="1"/>
            <a:r>
              <a:rPr lang="en-US" dirty="0"/>
              <a:t>Filter historical transactions</a:t>
            </a:r>
          </a:p>
          <a:p>
            <a:r>
              <a:rPr lang="en-US" dirty="0"/>
              <a:t>Local component monitors update from new blocks</a:t>
            </a:r>
          </a:p>
          <a:p>
            <a:pPr lvl="1"/>
            <a:r>
              <a:rPr lang="en-US" dirty="0"/>
              <a:t>…and stores relevant data in a local database or triggers other action</a:t>
            </a:r>
          </a:p>
        </p:txBody>
      </p:sp>
      <p:sp>
        <p:nvSpPr>
          <p:cNvPr id="6" name="Foliennummernplatzhalter 5">
            <a:extLst>
              <a:ext uri="{FF2B5EF4-FFF2-40B4-BE49-F238E27FC236}">
                <a16:creationId xmlns:a16="http://schemas.microsoft.com/office/drawing/2014/main" id="{0BE473E1-DADF-4661-ABFB-5372C543E7A1}"/>
              </a:ext>
            </a:extLst>
          </p:cNvPr>
          <p:cNvSpPr>
            <a:spLocks noGrp="1"/>
          </p:cNvSpPr>
          <p:nvPr>
            <p:ph type="sldNum" sz="quarter" idx="4"/>
          </p:nvPr>
        </p:nvSpPr>
        <p:spPr/>
        <p:txBody>
          <a:bodyPr/>
          <a:lstStyle/>
          <a:p>
            <a:fld id="{97F98C0B-273E-428A-ABCF-EBED2BA25188}" type="slidenum">
              <a:rPr lang="en-US" smtClean="0"/>
              <a:t>53</a:t>
            </a:fld>
            <a:endParaRPr lang="en-US"/>
          </a:p>
        </p:txBody>
      </p:sp>
      <p:pic>
        <p:nvPicPr>
          <p:cNvPr id="4" name="Picture 3" descr="Screen Shot 2018-12-13 at 12.55.2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5566" y="1812982"/>
            <a:ext cx="4538435" cy="3900435"/>
          </a:xfrm>
          <a:prstGeom prst="rect">
            <a:avLst/>
          </a:prstGeom>
        </p:spPr>
      </p:pic>
    </p:spTree>
    <p:extLst>
      <p:ext uri="{BB962C8B-B14F-4D97-AF65-F5344CB8AC3E}">
        <p14:creationId xmlns:p14="http://schemas.microsoft.com/office/powerpoint/2010/main" val="296434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Computation Communication 1/2</a:t>
            </a:r>
          </a:p>
        </p:txBody>
      </p:sp>
      <p:sp>
        <p:nvSpPr>
          <p:cNvPr id="7" name="Content Placeholder 2"/>
          <p:cNvSpPr>
            <a:spLocks noGrp="1"/>
          </p:cNvSpPr>
          <p:nvPr>
            <p:ph idx="1"/>
          </p:nvPr>
        </p:nvSpPr>
        <p:spPr>
          <a:xfrm>
            <a:off x="63603" y="1321671"/>
            <a:ext cx="8876793" cy="5120416"/>
          </a:xfrm>
        </p:spPr>
        <p:txBody>
          <a:bodyPr>
            <a:normAutofit fontScale="77500" lnSpcReduction="20000"/>
          </a:bodyPr>
          <a:lstStyle/>
          <a:p>
            <a:r>
              <a:rPr lang="en-US" dirty="0"/>
              <a:t>Components use blockchain to coordinate computation</a:t>
            </a:r>
          </a:p>
          <a:p>
            <a:pPr lvl="1"/>
            <a:r>
              <a:rPr lang="en-US" dirty="0"/>
              <a:t>Submitting transactions to smart contracts to invoke their function</a:t>
            </a:r>
          </a:p>
          <a:p>
            <a:pPr lvl="1"/>
            <a:r>
              <a:rPr lang="en-US" dirty="0"/>
              <a:t>Using oracle to sign transactions depending on external state</a:t>
            </a:r>
          </a:p>
          <a:p>
            <a:r>
              <a:rPr lang="en-US" dirty="0"/>
              <a:t>Typical control flow</a:t>
            </a:r>
          </a:p>
          <a:p>
            <a:pPr lvl="1"/>
            <a:r>
              <a:rPr lang="en-US" dirty="0"/>
              <a:t>Initiated from externally owned accounts</a:t>
            </a:r>
          </a:p>
          <a:p>
            <a:pPr lvl="1"/>
            <a:r>
              <a:rPr lang="en-US" dirty="0"/>
              <a:t>Transferred among contract accounts</a:t>
            </a:r>
          </a:p>
          <a:p>
            <a:endParaRPr lang="en-US" dirty="0"/>
          </a:p>
          <a:p>
            <a:endParaRPr lang="en-US" dirty="0"/>
          </a:p>
          <a:p>
            <a:endParaRPr lang="en-US" dirty="0"/>
          </a:p>
          <a:p>
            <a:endParaRPr lang="en-US" dirty="0"/>
          </a:p>
          <a:p>
            <a:r>
              <a:rPr lang="en-US" dirty="0"/>
              <a:t>Contract termination</a:t>
            </a:r>
          </a:p>
          <a:p>
            <a:pPr lvl="1"/>
            <a:r>
              <a:rPr lang="en-US" dirty="0"/>
              <a:t>Cannot respond to transactions</a:t>
            </a:r>
          </a:p>
          <a:p>
            <a:pPr lvl="1"/>
            <a:r>
              <a:rPr lang="en-US" dirty="0"/>
              <a:t>Contract code remains on the blockchain</a:t>
            </a:r>
          </a:p>
          <a:p>
            <a:pPr lvl="2"/>
            <a:r>
              <a:rPr lang="en-US" dirty="0"/>
              <a:t>Permanently stored in the creation transaction</a:t>
            </a:r>
          </a:p>
        </p:txBody>
      </p:sp>
      <p:sp>
        <p:nvSpPr>
          <p:cNvPr id="6" name="Foliennummernplatzhalter 5">
            <a:extLst>
              <a:ext uri="{FF2B5EF4-FFF2-40B4-BE49-F238E27FC236}">
                <a16:creationId xmlns:a16="http://schemas.microsoft.com/office/drawing/2014/main" id="{CE10B10D-EC7C-451C-B8B2-D37FF869135D}"/>
              </a:ext>
            </a:extLst>
          </p:cNvPr>
          <p:cNvSpPr>
            <a:spLocks noGrp="1"/>
          </p:cNvSpPr>
          <p:nvPr>
            <p:ph type="sldNum" sz="quarter" idx="4"/>
          </p:nvPr>
        </p:nvSpPr>
        <p:spPr/>
        <p:txBody>
          <a:bodyPr/>
          <a:lstStyle/>
          <a:p>
            <a:fld id="{97F98C0B-273E-428A-ABCF-EBED2BA25188}" type="slidenum">
              <a:rPr lang="en-US" smtClean="0"/>
              <a:t>54</a:t>
            </a:fld>
            <a:endParaRPr lang="en-US"/>
          </a:p>
        </p:txBody>
      </p:sp>
      <p:sp>
        <p:nvSpPr>
          <p:cNvPr id="3" name="Rectangle 2"/>
          <p:cNvSpPr/>
          <p:nvPr/>
        </p:nvSpPr>
        <p:spPr>
          <a:xfrm>
            <a:off x="3461440" y="3596187"/>
            <a:ext cx="920750" cy="585612"/>
          </a:xfrm>
          <a:prstGeom prst="rect">
            <a:avLst/>
          </a:prstGeom>
        </p:spPr>
        <p:style>
          <a:lnRef idx="1">
            <a:schemeClr val="accent1"/>
          </a:lnRef>
          <a:fillRef idx="3">
            <a:schemeClr val="accent1"/>
          </a:fillRef>
          <a:effectRef idx="2">
            <a:schemeClr val="accent1"/>
          </a:effectRef>
          <a:fontRef idx="minor">
            <a:schemeClr val="lt1"/>
          </a:fontRef>
        </p:style>
        <p:txBody>
          <a:bodyPr lIns="71323" tIns="35662" rIns="71323" bIns="35662" rtlCol="0" anchor="ctr"/>
          <a:lstStyle/>
          <a:p>
            <a:pPr algn="ctr"/>
            <a:r>
              <a:rPr lang="en-US" dirty="0"/>
              <a:t>External account</a:t>
            </a:r>
          </a:p>
        </p:txBody>
      </p:sp>
      <p:sp>
        <p:nvSpPr>
          <p:cNvPr id="8" name="Rectangle 7"/>
          <p:cNvSpPr/>
          <p:nvPr/>
        </p:nvSpPr>
        <p:spPr>
          <a:xfrm>
            <a:off x="6264687" y="3592016"/>
            <a:ext cx="920750" cy="585612"/>
          </a:xfrm>
          <a:prstGeom prst="rect">
            <a:avLst/>
          </a:prstGeom>
          <a:noFill/>
          <a:ln>
            <a:prstDash val="dash"/>
          </a:ln>
        </p:spPr>
        <p:style>
          <a:lnRef idx="1">
            <a:schemeClr val="accent1"/>
          </a:lnRef>
          <a:fillRef idx="3">
            <a:schemeClr val="accent1"/>
          </a:fillRef>
          <a:effectRef idx="2">
            <a:schemeClr val="accent1"/>
          </a:effectRef>
          <a:fontRef idx="minor">
            <a:schemeClr val="lt1"/>
          </a:fontRef>
        </p:style>
        <p:txBody>
          <a:bodyPr lIns="71323" tIns="35662" rIns="71323" bIns="35662" rtlCol="0" anchor="ctr"/>
          <a:lstStyle/>
          <a:p>
            <a:pPr algn="ctr"/>
            <a:r>
              <a:rPr lang="en-US" dirty="0">
                <a:solidFill>
                  <a:schemeClr val="tx1"/>
                </a:solidFill>
              </a:rPr>
              <a:t>Smart contract</a:t>
            </a:r>
          </a:p>
        </p:txBody>
      </p:sp>
      <p:cxnSp>
        <p:nvCxnSpPr>
          <p:cNvPr id="9" name="Straight Arrow Connector 8"/>
          <p:cNvCxnSpPr>
            <a:stCxn id="3" idx="3"/>
            <a:endCxn id="8" idx="1"/>
          </p:cNvCxnSpPr>
          <p:nvPr/>
        </p:nvCxnSpPr>
        <p:spPr>
          <a:xfrm flipV="1">
            <a:off x="4382190" y="3884822"/>
            <a:ext cx="1882497" cy="4171"/>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450005" y="4350414"/>
            <a:ext cx="920750" cy="585612"/>
          </a:xfrm>
          <a:prstGeom prst="rect">
            <a:avLst/>
          </a:prstGeom>
        </p:spPr>
        <p:style>
          <a:lnRef idx="1">
            <a:schemeClr val="accent1"/>
          </a:lnRef>
          <a:fillRef idx="3">
            <a:schemeClr val="accent1"/>
          </a:fillRef>
          <a:effectRef idx="2">
            <a:schemeClr val="accent1"/>
          </a:effectRef>
          <a:fontRef idx="minor">
            <a:schemeClr val="lt1"/>
          </a:fontRef>
        </p:style>
        <p:txBody>
          <a:bodyPr lIns="71323" tIns="35662" rIns="71323" bIns="35662" rtlCol="0" anchor="ctr"/>
          <a:lstStyle/>
          <a:p>
            <a:pPr algn="ctr"/>
            <a:r>
              <a:rPr lang="en-US" dirty="0"/>
              <a:t>External account</a:t>
            </a:r>
          </a:p>
        </p:txBody>
      </p:sp>
      <p:sp>
        <p:nvSpPr>
          <p:cNvPr id="13" name="Rectangle 12"/>
          <p:cNvSpPr/>
          <p:nvPr/>
        </p:nvSpPr>
        <p:spPr>
          <a:xfrm>
            <a:off x="6243399" y="4346243"/>
            <a:ext cx="920750" cy="585612"/>
          </a:xfrm>
          <a:prstGeom prst="rect">
            <a:avLst/>
          </a:prstGeom>
        </p:spPr>
        <p:style>
          <a:lnRef idx="1">
            <a:schemeClr val="accent1"/>
          </a:lnRef>
          <a:fillRef idx="3">
            <a:schemeClr val="accent1"/>
          </a:fillRef>
          <a:effectRef idx="2">
            <a:schemeClr val="accent1"/>
          </a:effectRef>
          <a:fontRef idx="minor">
            <a:schemeClr val="lt1"/>
          </a:fontRef>
        </p:style>
        <p:txBody>
          <a:bodyPr lIns="71323" tIns="35662" rIns="71323" bIns="35662" rtlCol="0" anchor="ctr"/>
          <a:lstStyle/>
          <a:p>
            <a:pPr algn="ctr"/>
            <a:r>
              <a:rPr lang="en-US" dirty="0"/>
              <a:t>Smart contract</a:t>
            </a:r>
          </a:p>
        </p:txBody>
      </p:sp>
      <p:cxnSp>
        <p:nvCxnSpPr>
          <p:cNvPr id="14" name="Straight Arrow Connector 13"/>
          <p:cNvCxnSpPr>
            <a:stCxn id="12" idx="3"/>
            <a:endCxn id="13" idx="1"/>
          </p:cNvCxnSpPr>
          <p:nvPr/>
        </p:nvCxnSpPr>
        <p:spPr>
          <a:xfrm flipV="1">
            <a:off x="4370755" y="4639049"/>
            <a:ext cx="1872644" cy="4171"/>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70755" y="3582231"/>
            <a:ext cx="1883464" cy="502908"/>
          </a:xfrm>
          <a:prstGeom prst="rect">
            <a:avLst/>
          </a:prstGeom>
          <a:noFill/>
        </p:spPr>
        <p:txBody>
          <a:bodyPr wrap="square" lIns="71323" tIns="35662" rIns="71323" bIns="35662" rtlCol="0">
            <a:spAutoFit/>
          </a:bodyPr>
          <a:lstStyle/>
          <a:p>
            <a:pPr algn="ctr"/>
            <a:r>
              <a:rPr lang="en-US" dirty="0"/>
              <a:t>Deploy via Transaction</a:t>
            </a:r>
          </a:p>
        </p:txBody>
      </p:sp>
      <p:sp>
        <p:nvSpPr>
          <p:cNvPr id="16" name="TextBox 15"/>
          <p:cNvSpPr txBox="1"/>
          <p:nvPr/>
        </p:nvSpPr>
        <p:spPr>
          <a:xfrm>
            <a:off x="4349467" y="4336458"/>
            <a:ext cx="1877409" cy="502908"/>
          </a:xfrm>
          <a:prstGeom prst="rect">
            <a:avLst/>
          </a:prstGeom>
          <a:noFill/>
        </p:spPr>
        <p:txBody>
          <a:bodyPr wrap="square" lIns="71323" tIns="35662" rIns="71323" bIns="35662" rtlCol="0">
            <a:spAutoFit/>
          </a:bodyPr>
          <a:lstStyle/>
          <a:p>
            <a:pPr algn="ctr"/>
            <a:r>
              <a:rPr lang="en-US" dirty="0"/>
              <a:t>Invoke via Transaction</a:t>
            </a:r>
          </a:p>
        </p:txBody>
      </p:sp>
      <p:sp>
        <p:nvSpPr>
          <p:cNvPr id="17" name="Content Placeholder 2"/>
          <p:cNvSpPr txBox="1">
            <a:spLocks/>
          </p:cNvSpPr>
          <p:nvPr/>
        </p:nvSpPr>
        <p:spPr>
          <a:xfrm>
            <a:off x="5365847" y="4971599"/>
            <a:ext cx="2150156" cy="344744"/>
          </a:xfrm>
          <a:prstGeom prst="rect">
            <a:avLst/>
          </a:prstGeom>
        </p:spPr>
        <p:txBody>
          <a:bodyPr vert="horz" lIns="71323" tIns="35662" rIns="71323" bIns="35662" rtlCol="0">
            <a:normAutofit fontScale="62500" lnSpcReduction="20000"/>
          </a:bodyPr>
          <a:lstStyle>
            <a:lvl1pPr marL="178308" indent="-178308" algn="l" defTabSz="713232" rtl="0" eaLnBrk="1" latinLnBrk="0" hangingPunct="1">
              <a:lnSpc>
                <a:spcPct val="90000"/>
              </a:lnSpc>
              <a:spcBef>
                <a:spcPts val="780"/>
              </a:spcBef>
              <a:buClr>
                <a:schemeClr val="accent1"/>
              </a:buClr>
              <a:buFont typeface="Arial" panose="020B0604020202020204" pitchFamily="34" charset="0"/>
              <a:buChar char="•"/>
              <a:defRPr sz="1900" kern="1200">
                <a:solidFill>
                  <a:schemeClr val="tx1"/>
                </a:solidFill>
                <a:latin typeface="+mn-lt"/>
                <a:ea typeface="+mn-ea"/>
                <a:cs typeface="+mn-cs"/>
              </a:defRPr>
            </a:lvl1pPr>
            <a:lvl2pPr marL="208026" indent="-208026" algn="l" defTabSz="713232" rtl="0" eaLnBrk="1" latinLnBrk="0" hangingPunct="1">
              <a:lnSpc>
                <a:spcPct val="90000"/>
              </a:lnSpc>
              <a:spcBef>
                <a:spcPts val="390"/>
              </a:spcBef>
              <a:buClr>
                <a:schemeClr val="accent1"/>
              </a:buClr>
              <a:buFont typeface="TheSansB W3 Light" panose="020B0302050302020203" pitchFamily="34" charset="0"/>
              <a:buChar char="-"/>
              <a:defRPr sz="1600" kern="1200">
                <a:solidFill>
                  <a:schemeClr val="tx1"/>
                </a:solidFill>
                <a:latin typeface="+mn-lt"/>
                <a:ea typeface="+mn-ea"/>
                <a:cs typeface="+mn-cs"/>
              </a:defRPr>
            </a:lvl2pPr>
            <a:lvl3pPr marL="564642" indent="-217932" algn="l" defTabSz="713232" rtl="0" eaLnBrk="1" latinLnBrk="0" hangingPunct="1">
              <a:lnSpc>
                <a:spcPct val="90000"/>
              </a:lnSpc>
              <a:spcBef>
                <a:spcPts val="390"/>
              </a:spcBef>
              <a:buClr>
                <a:schemeClr val="accent1"/>
              </a:buClr>
              <a:buFont typeface="Arial" panose="020B0604020202020204" pitchFamily="34" charset="0"/>
              <a:buChar char="•"/>
              <a:defRPr sz="1400" kern="1200">
                <a:solidFill>
                  <a:schemeClr val="tx1"/>
                </a:solidFill>
                <a:latin typeface="+mn-lt"/>
                <a:ea typeface="+mn-ea"/>
                <a:cs typeface="+mn-cs"/>
              </a:defRPr>
            </a:lvl3pPr>
            <a:lvl4pPr marL="772668" indent="-208026" algn="l" defTabSz="713232" rtl="0" eaLnBrk="1" latinLnBrk="0" hangingPunct="1">
              <a:lnSpc>
                <a:spcPct val="90000"/>
              </a:lnSpc>
              <a:spcBef>
                <a:spcPts val="390"/>
              </a:spcBef>
              <a:buClr>
                <a:schemeClr val="accent1"/>
              </a:buClr>
              <a:buFont typeface="Arial" panose="020B0604020202020204" pitchFamily="34" charset="0"/>
              <a:buChar char="•"/>
              <a:defRPr sz="1400" kern="1200">
                <a:solidFill>
                  <a:schemeClr val="tx1"/>
                </a:solidFill>
                <a:latin typeface="+mn-lt"/>
                <a:ea typeface="+mn-ea"/>
                <a:cs typeface="+mn-cs"/>
              </a:defRPr>
            </a:lvl4pPr>
            <a:lvl5pPr marL="980694" indent="-208026" algn="l" defTabSz="713232" rtl="0" eaLnBrk="1" latinLnBrk="0" hangingPunct="1">
              <a:lnSpc>
                <a:spcPct val="90000"/>
              </a:lnSpc>
              <a:spcBef>
                <a:spcPts val="390"/>
              </a:spcBef>
              <a:buClr>
                <a:schemeClr val="accent1"/>
              </a:buClr>
              <a:buFont typeface="Arial" panose="020B0604020202020204" pitchFamily="34" charset="0"/>
              <a:buChar char="•"/>
              <a:defRPr sz="1400" kern="1200">
                <a:solidFill>
                  <a:schemeClr val="tx1"/>
                </a:solidFill>
                <a:latin typeface="+mn-lt"/>
                <a:ea typeface="+mn-ea"/>
                <a:cs typeface="+mn-cs"/>
              </a:defRPr>
            </a:lvl5pPr>
            <a:lvl6pPr marL="1961388" indent="-178308" algn="l" defTabSz="713232" rtl="0" eaLnBrk="1" latinLnBrk="0" hangingPunct="1">
              <a:lnSpc>
                <a:spcPct val="90000"/>
              </a:lnSpc>
              <a:spcBef>
                <a:spcPts val="390"/>
              </a:spcBef>
              <a:buFont typeface="Arial" panose="020B0604020202020204" pitchFamily="34" charset="0"/>
              <a:buChar char="•"/>
              <a:defRPr sz="1400" kern="1200">
                <a:solidFill>
                  <a:schemeClr val="tx1"/>
                </a:solidFill>
                <a:latin typeface="+mn-lt"/>
                <a:ea typeface="+mn-ea"/>
                <a:cs typeface="+mn-cs"/>
              </a:defRPr>
            </a:lvl6pPr>
            <a:lvl7pPr marL="2318004" indent="-178308" algn="l" defTabSz="713232" rtl="0" eaLnBrk="1" latinLnBrk="0" hangingPunct="1">
              <a:lnSpc>
                <a:spcPct val="90000"/>
              </a:lnSpc>
              <a:spcBef>
                <a:spcPts val="390"/>
              </a:spcBef>
              <a:buFont typeface="Arial" panose="020B0604020202020204" pitchFamily="34" charset="0"/>
              <a:buChar char="•"/>
              <a:defRPr sz="1400" kern="1200">
                <a:solidFill>
                  <a:schemeClr val="tx1"/>
                </a:solidFill>
                <a:latin typeface="+mn-lt"/>
                <a:ea typeface="+mn-ea"/>
                <a:cs typeface="+mn-cs"/>
              </a:defRPr>
            </a:lvl7pPr>
            <a:lvl8pPr marL="2674620" indent="-178308" algn="l" defTabSz="713232" rtl="0" eaLnBrk="1" latinLnBrk="0" hangingPunct="1">
              <a:lnSpc>
                <a:spcPct val="90000"/>
              </a:lnSpc>
              <a:spcBef>
                <a:spcPts val="390"/>
              </a:spcBef>
              <a:buFont typeface="Arial" panose="020B0604020202020204" pitchFamily="34" charset="0"/>
              <a:buChar char="•"/>
              <a:defRPr sz="1400" kern="1200">
                <a:solidFill>
                  <a:schemeClr val="tx1"/>
                </a:solidFill>
                <a:latin typeface="+mn-lt"/>
                <a:ea typeface="+mn-ea"/>
                <a:cs typeface="+mn-cs"/>
              </a:defRPr>
            </a:lvl8pPr>
            <a:lvl9pPr marL="3031236" indent="-178308" algn="l" defTabSz="713232" rtl="0" eaLnBrk="1" latinLnBrk="0" hangingPunct="1">
              <a:lnSpc>
                <a:spcPct val="90000"/>
              </a:lnSpc>
              <a:spcBef>
                <a:spcPts val="390"/>
              </a:spcBef>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t>Run the function with the supplied parameters</a:t>
            </a:r>
          </a:p>
          <a:p>
            <a:pPr algn="ctr"/>
            <a:endParaRPr lang="en-US" dirty="0"/>
          </a:p>
        </p:txBody>
      </p:sp>
    </p:spTree>
    <p:extLst>
      <p:ext uri="{BB962C8B-B14F-4D97-AF65-F5344CB8AC3E}">
        <p14:creationId xmlns:p14="http://schemas.microsoft.com/office/powerpoint/2010/main" val="129993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2" grpId="0" animBg="1"/>
      <p:bldP spid="13" grpId="0" animBg="1"/>
      <p:bldP spid="15" grpId="0"/>
      <p:bldP spid="16" grpId="0"/>
      <p:bldP spid="17"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Computation Communication 2/2</a:t>
            </a:r>
          </a:p>
        </p:txBody>
      </p:sp>
      <p:sp>
        <p:nvSpPr>
          <p:cNvPr id="7" name="Content Placeholder 2"/>
          <p:cNvSpPr>
            <a:spLocks noGrp="1"/>
          </p:cNvSpPr>
          <p:nvPr>
            <p:ph idx="1"/>
          </p:nvPr>
        </p:nvSpPr>
        <p:spPr/>
        <p:txBody>
          <a:bodyPr>
            <a:normAutofit fontScale="70000" lnSpcReduction="20000"/>
          </a:bodyPr>
          <a:lstStyle/>
          <a:p>
            <a:r>
              <a:rPr lang="en-US" dirty="0"/>
              <a:t>Oracles facilitate component coordination with external state</a:t>
            </a:r>
          </a:p>
          <a:p>
            <a:pPr lvl="1"/>
            <a:r>
              <a:rPr lang="en-US" dirty="0"/>
              <a:t>Some blockchains have direct support for oracles</a:t>
            </a:r>
          </a:p>
          <a:p>
            <a:pPr lvl="1"/>
            <a:r>
              <a:rPr lang="en-US" dirty="0"/>
              <a:t>Others use oracles as external services</a:t>
            </a:r>
          </a:p>
          <a:p>
            <a:pPr lvl="2"/>
            <a:r>
              <a:rPr lang="en-US" dirty="0"/>
              <a:t>Interacting with blockchain through normal transactions</a:t>
            </a:r>
          </a:p>
          <a:p>
            <a:r>
              <a:rPr lang="en-US" dirty="0"/>
              <a:t>Validation of transactions can be made depended on external state</a:t>
            </a:r>
          </a:p>
          <a:p>
            <a:pPr lvl="1"/>
            <a:r>
              <a:rPr lang="en-US" dirty="0"/>
              <a:t>Platform-supported oracle can validate and sign transaction </a:t>
            </a:r>
          </a:p>
          <a:p>
            <a:pPr lvl="2"/>
            <a:r>
              <a:rPr lang="en-US" dirty="0"/>
              <a:t>Transaction progress paused until the oracle completes</a:t>
            </a:r>
          </a:p>
          <a:p>
            <a:pPr lvl="1"/>
            <a:r>
              <a:rPr lang="en-US" dirty="0"/>
              <a:t>Oracle can be an external service injecting data into blockchain</a:t>
            </a:r>
          </a:p>
          <a:p>
            <a:pPr lvl="2"/>
            <a:r>
              <a:rPr lang="en-US" dirty="0"/>
              <a:t>Smart contracts use that data to validate transaction, e.g., by requesting latest data from an oracle smart contract</a:t>
            </a:r>
          </a:p>
          <a:p>
            <a:pPr lvl="2"/>
            <a:r>
              <a:rPr lang="en-US" dirty="0"/>
              <a:t>Delay is between the external state changes and time when this is recorded into blockchain</a:t>
            </a:r>
          </a:p>
          <a:p>
            <a:r>
              <a:rPr lang="en-US" dirty="0"/>
              <a:t>Automated vs. human oracle</a:t>
            </a:r>
          </a:p>
        </p:txBody>
      </p:sp>
      <p:sp>
        <p:nvSpPr>
          <p:cNvPr id="5" name="Foliennummernplatzhalter 4">
            <a:extLst>
              <a:ext uri="{FF2B5EF4-FFF2-40B4-BE49-F238E27FC236}">
                <a16:creationId xmlns:a16="http://schemas.microsoft.com/office/drawing/2014/main" id="{0660172B-5572-4B2A-966D-F438268E69B3}"/>
              </a:ext>
            </a:extLst>
          </p:cNvPr>
          <p:cNvSpPr>
            <a:spLocks noGrp="1"/>
          </p:cNvSpPr>
          <p:nvPr>
            <p:ph type="sldNum" sz="quarter" idx="4"/>
          </p:nvPr>
        </p:nvSpPr>
        <p:spPr/>
        <p:txBody>
          <a:bodyPr/>
          <a:lstStyle/>
          <a:p>
            <a:fld id="{97F98C0B-273E-428A-ABCF-EBED2BA25188}" type="slidenum">
              <a:rPr lang="en-US" smtClean="0"/>
              <a:t>55</a:t>
            </a:fld>
            <a:endParaRPr lang="en-US"/>
          </a:p>
        </p:txBody>
      </p:sp>
    </p:spTree>
    <p:extLst>
      <p:ext uri="{BB962C8B-B14F-4D97-AF65-F5344CB8AC3E}">
        <p14:creationId xmlns:p14="http://schemas.microsoft.com/office/powerpoint/2010/main" val="56195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6C54504-A74A-47F1-B1A4-217F6731B122}"/>
              </a:ext>
            </a:extLst>
          </p:cNvPr>
          <p:cNvSpPr>
            <a:spLocks noGrp="1"/>
          </p:cNvSpPr>
          <p:nvPr>
            <p:ph type="ctrTitle"/>
          </p:nvPr>
        </p:nvSpPr>
        <p:spPr>
          <a:xfrm>
            <a:off x="720314" y="2319525"/>
            <a:ext cx="5052378" cy="1783243"/>
          </a:xfrm>
        </p:spPr>
        <p:txBody>
          <a:bodyPr>
            <a:noAutofit/>
          </a:bodyPr>
          <a:lstStyle/>
          <a:p>
            <a:r>
              <a:rPr lang="en-AU" sz="2800" b="1" dirty="0"/>
              <a:t>Functionality of Blockchain</a:t>
            </a:r>
            <a:br>
              <a:rPr lang="en-AU" sz="2800" b="1" dirty="0"/>
            </a:br>
            <a:br>
              <a:rPr lang="en-AU" sz="1800" b="1" dirty="0"/>
            </a:br>
            <a:r>
              <a:rPr lang="en-AU" sz="2000" dirty="0">
                <a:solidFill>
                  <a:srgbClr val="000000"/>
                </a:solidFill>
              </a:rPr>
              <a:t>Data Storage</a:t>
            </a:r>
            <a:br>
              <a:rPr lang="en-AU" sz="2000" dirty="0">
                <a:solidFill>
                  <a:srgbClr val="000000"/>
                </a:solidFill>
              </a:rPr>
            </a:br>
            <a:r>
              <a:rPr lang="en-AU" sz="2000" dirty="0"/>
              <a:t>Computation</a:t>
            </a:r>
            <a:br>
              <a:rPr lang="en-AU" sz="2000" dirty="0"/>
            </a:br>
            <a:r>
              <a:rPr lang="en-AU" sz="2000" dirty="0"/>
              <a:t>Communication</a:t>
            </a:r>
            <a:br>
              <a:rPr lang="en-AU" sz="2000" dirty="0"/>
            </a:br>
            <a:r>
              <a:rPr lang="en-AU" sz="2000" b="1" dirty="0"/>
              <a:t>Asset Management</a:t>
            </a:r>
            <a:br>
              <a:rPr lang="en-AU" sz="1800" b="1" dirty="0"/>
            </a:br>
            <a:endParaRPr lang="en-US" sz="1800" b="1" dirty="0"/>
          </a:p>
        </p:txBody>
      </p:sp>
    </p:spTree>
    <p:extLst>
      <p:ext uri="{BB962C8B-B14F-4D97-AF65-F5344CB8AC3E}">
        <p14:creationId xmlns:p14="http://schemas.microsoft.com/office/powerpoint/2010/main" val="8586502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A043BD-7EA3-48AB-B2EC-9CE15BA535EF}"/>
              </a:ext>
            </a:extLst>
          </p:cNvPr>
          <p:cNvSpPr>
            <a:spLocks noGrp="1"/>
          </p:cNvSpPr>
          <p:nvPr>
            <p:ph idx="1"/>
          </p:nvPr>
        </p:nvSpPr>
        <p:spPr/>
        <p:txBody>
          <a:bodyPr>
            <a:normAutofit/>
          </a:bodyPr>
          <a:lstStyle/>
          <a:p>
            <a:r>
              <a:rPr lang="en-US" dirty="0"/>
              <a:t>Cryptocurrency and tokens are virtual assets</a:t>
            </a:r>
          </a:p>
          <a:p>
            <a:r>
              <a:rPr lang="en-US" dirty="0"/>
              <a:t>Typically, only the owner can control them</a:t>
            </a:r>
          </a:p>
          <a:p>
            <a:r>
              <a:rPr lang="en-US" dirty="0"/>
              <a:t>More complex models can be implemented, e.g.:</a:t>
            </a:r>
          </a:p>
          <a:p>
            <a:pPr lvl="1"/>
            <a:r>
              <a:rPr lang="en-US" sz="1600" dirty="0"/>
              <a:t>Multi-signature or threshold voting (more than one account controls an asset)</a:t>
            </a:r>
          </a:p>
          <a:p>
            <a:pPr lvl="1"/>
            <a:r>
              <a:rPr lang="en-US" sz="1600" dirty="0"/>
              <a:t>Escrow: smart contract code controls an asset</a:t>
            </a:r>
          </a:p>
          <a:p>
            <a:r>
              <a:rPr lang="en-US" dirty="0"/>
              <a:t>Highly customizable through smart contracts</a:t>
            </a:r>
          </a:p>
          <a:p>
            <a:pPr marL="150806" lvl="1" indent="0">
              <a:buNone/>
            </a:pPr>
            <a:endParaRPr lang="en-US" dirty="0"/>
          </a:p>
        </p:txBody>
      </p:sp>
      <p:sp>
        <p:nvSpPr>
          <p:cNvPr id="4" name="Text Placeholder 3">
            <a:extLst>
              <a:ext uri="{FF2B5EF4-FFF2-40B4-BE49-F238E27FC236}">
                <a16:creationId xmlns:a16="http://schemas.microsoft.com/office/drawing/2014/main" id="{6A5ADC04-A139-4279-BDB2-21C47EC202D4}"/>
              </a:ext>
            </a:extLst>
          </p:cNvPr>
          <p:cNvSpPr>
            <a:spLocks noGrp="1"/>
          </p:cNvSpPr>
          <p:nvPr>
            <p:ph type="body" sz="quarter" idx="10"/>
          </p:nvPr>
        </p:nvSpPr>
        <p:spPr/>
        <p:txBody>
          <a:bodyPr>
            <a:noAutofit/>
          </a:bodyPr>
          <a:lstStyle/>
          <a:p>
            <a:r>
              <a:rPr lang="en-US" sz="2000" b="1" dirty="0"/>
              <a:t>Blockchain as an Asset Management and Control Mechanism</a:t>
            </a:r>
          </a:p>
        </p:txBody>
      </p:sp>
      <p:sp>
        <p:nvSpPr>
          <p:cNvPr id="2" name="Title 1">
            <a:extLst>
              <a:ext uri="{FF2B5EF4-FFF2-40B4-BE49-F238E27FC236}">
                <a16:creationId xmlns:a16="http://schemas.microsoft.com/office/drawing/2014/main" id="{616E6545-B36E-4096-9827-5D6F07587313}"/>
              </a:ext>
            </a:extLst>
          </p:cNvPr>
          <p:cNvSpPr>
            <a:spLocks noGrp="1"/>
          </p:cNvSpPr>
          <p:nvPr>
            <p:ph type="title"/>
          </p:nvPr>
        </p:nvSpPr>
        <p:spPr/>
        <p:txBody>
          <a:bodyPr>
            <a:normAutofit fontScale="90000"/>
          </a:bodyPr>
          <a:lstStyle/>
          <a:p>
            <a:r>
              <a:rPr lang="en-US" dirty="0"/>
              <a:t>Blockchain Functionality</a:t>
            </a:r>
          </a:p>
        </p:txBody>
      </p:sp>
    </p:spTree>
    <p:extLst>
      <p:ext uri="{BB962C8B-B14F-4D97-AF65-F5344CB8AC3E}">
        <p14:creationId xmlns:p14="http://schemas.microsoft.com/office/powerpoint/2010/main" val="4236569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Asset Management and Control Mechanism</a:t>
            </a:r>
          </a:p>
        </p:txBody>
      </p:sp>
      <p:sp>
        <p:nvSpPr>
          <p:cNvPr id="7" name="Content Placeholder 2"/>
          <p:cNvSpPr>
            <a:spLocks noGrp="1"/>
          </p:cNvSpPr>
          <p:nvPr>
            <p:ph idx="1"/>
          </p:nvPr>
        </p:nvSpPr>
        <p:spPr/>
        <p:txBody>
          <a:bodyPr>
            <a:normAutofit fontScale="62500" lnSpcReduction="20000"/>
          </a:bodyPr>
          <a:lstStyle/>
          <a:p>
            <a:r>
              <a:rPr lang="en-US" dirty="0"/>
              <a:t>Tokenization enables asset management</a:t>
            </a:r>
          </a:p>
          <a:p>
            <a:pPr lvl="1"/>
            <a:r>
              <a:rPr lang="en-US" dirty="0"/>
              <a:t>Represent digital assets or physical assets</a:t>
            </a:r>
          </a:p>
          <a:p>
            <a:pPr lvl="1"/>
            <a:r>
              <a:rPr lang="en-US" i="1" dirty="0"/>
              <a:t>Fungible:</a:t>
            </a:r>
            <a:r>
              <a:rPr lang="en-US" dirty="0"/>
              <a:t> interchangeable, like cryptocurrencies, 1 liter of gasoline</a:t>
            </a:r>
          </a:p>
          <a:p>
            <a:pPr lvl="1"/>
            <a:r>
              <a:rPr lang="en-US" i="1" dirty="0"/>
              <a:t>Non-fungible: </a:t>
            </a:r>
            <a:r>
              <a:rPr lang="en-US" dirty="0"/>
              <a:t>Unique and cannot be interchanged, like </a:t>
            </a:r>
            <a:r>
              <a:rPr lang="en-US" dirty="0" err="1"/>
              <a:t>cryptokitties</a:t>
            </a:r>
            <a:r>
              <a:rPr lang="en-US" dirty="0"/>
              <a:t>, artwork and land (NFTs: non-fungible tokens, e.g., "</a:t>
            </a:r>
            <a:r>
              <a:rPr lang="en-US" dirty="0" err="1"/>
              <a:t>Everydays</a:t>
            </a:r>
            <a:r>
              <a:rPr lang="en-US" dirty="0"/>
              <a:t> – The First 5000 Days" sold for US$69.3 million in 2021.)</a:t>
            </a:r>
          </a:p>
          <a:p>
            <a:pPr marL="0" indent="0">
              <a:buNone/>
            </a:pPr>
            <a:endParaRPr lang="en-US" dirty="0"/>
          </a:p>
          <a:p>
            <a:r>
              <a:rPr lang="en-US" dirty="0"/>
              <a:t>Tokenization </a:t>
            </a:r>
          </a:p>
          <a:p>
            <a:pPr lvl="1"/>
            <a:r>
              <a:rPr lang="en-US" dirty="0"/>
              <a:t>Starts when an asset under custody is represented using a cryptographic token</a:t>
            </a:r>
          </a:p>
          <a:p>
            <a:pPr lvl="1"/>
            <a:r>
              <a:rPr lang="en-US" dirty="0"/>
              <a:t>The control of this token aligns with the ownership of the asset</a:t>
            </a:r>
          </a:p>
          <a:p>
            <a:pPr lvl="1"/>
            <a:r>
              <a:rPr lang="en-US" dirty="0"/>
              <a:t>The reverse process takes place if the user redeems the token to recover the asset (if possible)</a:t>
            </a:r>
          </a:p>
          <a:p>
            <a:pPr lvl="1"/>
            <a:r>
              <a:rPr lang="en-US" dirty="0"/>
              <a:t>Using smart contract to associate conditions with the transfer of ownership</a:t>
            </a:r>
          </a:p>
        </p:txBody>
      </p:sp>
      <p:sp>
        <p:nvSpPr>
          <p:cNvPr id="5" name="Foliennummernplatzhalter 4">
            <a:extLst>
              <a:ext uri="{FF2B5EF4-FFF2-40B4-BE49-F238E27FC236}">
                <a16:creationId xmlns:a16="http://schemas.microsoft.com/office/drawing/2014/main" id="{8ABD6126-DA63-41F7-8FCA-7A12B9C7F33F}"/>
              </a:ext>
            </a:extLst>
          </p:cNvPr>
          <p:cNvSpPr>
            <a:spLocks noGrp="1"/>
          </p:cNvSpPr>
          <p:nvPr>
            <p:ph type="sldNum" sz="quarter" idx="4"/>
          </p:nvPr>
        </p:nvSpPr>
        <p:spPr/>
        <p:txBody>
          <a:bodyPr/>
          <a:lstStyle/>
          <a:p>
            <a:fld id="{97F98C0B-273E-428A-ABCF-EBED2BA25188}" type="slidenum">
              <a:rPr lang="en-US" smtClean="0"/>
              <a:t>58</a:t>
            </a:fld>
            <a:endParaRPr lang="en-US"/>
          </a:p>
        </p:txBody>
      </p:sp>
      <p:pic>
        <p:nvPicPr>
          <p:cNvPr id="4" name="Picture 3">
            <a:extLst>
              <a:ext uri="{FF2B5EF4-FFF2-40B4-BE49-F238E27FC236}">
                <a16:creationId xmlns:a16="http://schemas.microsoft.com/office/drawing/2014/main" id="{07A3D67F-7BDF-4D21-8E40-C500B38253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190" y="3232109"/>
            <a:ext cx="725621" cy="725621"/>
          </a:xfrm>
          <a:prstGeom prst="rect">
            <a:avLst/>
          </a:prstGeom>
        </p:spPr>
      </p:pic>
    </p:spTree>
    <p:extLst>
      <p:ext uri="{BB962C8B-B14F-4D97-AF65-F5344CB8AC3E}">
        <p14:creationId xmlns:p14="http://schemas.microsoft.com/office/powerpoint/2010/main" val="340848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US" sz="2800" dirty="0"/>
              <a:t>Asset Management and Control Mechanism</a:t>
            </a:r>
          </a:p>
        </p:txBody>
      </p:sp>
      <p:sp>
        <p:nvSpPr>
          <p:cNvPr id="3" name="Content Placeholder 2"/>
          <p:cNvSpPr>
            <a:spLocks noGrp="1"/>
          </p:cNvSpPr>
          <p:nvPr>
            <p:ph idx="1"/>
          </p:nvPr>
        </p:nvSpPr>
        <p:spPr/>
        <p:txBody>
          <a:bodyPr>
            <a:normAutofit fontScale="77500" lnSpcReduction="20000"/>
          </a:bodyPr>
          <a:lstStyle/>
          <a:p>
            <a:r>
              <a:rPr lang="en-US" dirty="0"/>
              <a:t>Native token of 1</a:t>
            </a:r>
            <a:r>
              <a:rPr lang="en-US" baseline="30000" dirty="0"/>
              <a:t>st</a:t>
            </a:r>
            <a:r>
              <a:rPr lang="en-US" dirty="0"/>
              <a:t> generation blockchains</a:t>
            </a:r>
          </a:p>
          <a:p>
            <a:pPr lvl="1"/>
            <a:r>
              <a:rPr lang="en-US" dirty="0"/>
              <a:t>Cryptocurrency is the native asset</a:t>
            </a:r>
          </a:p>
          <a:p>
            <a:pPr lvl="1"/>
            <a:r>
              <a:rPr lang="en-US" dirty="0"/>
              <a:t>Identity of the cryptocurrency or associated data can represent other assets</a:t>
            </a:r>
          </a:p>
          <a:p>
            <a:pPr lvl="2"/>
            <a:r>
              <a:rPr lang="en-US" dirty="0"/>
              <a:t>Track claims of title over physical assets</a:t>
            </a:r>
          </a:p>
          <a:p>
            <a:pPr lvl="2"/>
            <a:r>
              <a:rPr lang="en-US" dirty="0"/>
              <a:t>Transactions record the transfer of title from one user to another</a:t>
            </a:r>
          </a:p>
          <a:p>
            <a:pPr lvl="1"/>
            <a:r>
              <a:rPr lang="en-US" dirty="0"/>
              <a:t>Limited due to small size of arbitrary data</a:t>
            </a:r>
          </a:p>
          <a:p>
            <a:pPr lvl="2"/>
            <a:r>
              <a:rPr lang="en-US" dirty="0"/>
              <a:t>Bitcoin overlay network: colored coin</a:t>
            </a:r>
          </a:p>
          <a:p>
            <a:pPr lvl="3"/>
            <a:r>
              <a:rPr lang="en-US" dirty="0"/>
              <a:t>Taint a subset of Bitcoin to represent and manage real-world assets</a:t>
            </a:r>
          </a:p>
          <a:p>
            <a:pPr lvl="3"/>
            <a:r>
              <a:rPr lang="en-US" dirty="0"/>
              <a:t>Few attributes can be recorded and few conditions can be checked within blockchain</a:t>
            </a:r>
          </a:p>
          <a:p>
            <a:r>
              <a:rPr lang="en-US" dirty="0"/>
              <a:t>Smart contract in 2</a:t>
            </a:r>
            <a:r>
              <a:rPr lang="en-US" baseline="30000" dirty="0"/>
              <a:t>nd</a:t>
            </a:r>
            <a:r>
              <a:rPr lang="en-US" dirty="0"/>
              <a:t> generation blockchains</a:t>
            </a:r>
          </a:p>
          <a:p>
            <a:pPr lvl="1"/>
            <a:r>
              <a:rPr lang="en-US" dirty="0"/>
              <a:t>Enable more expressive data structure</a:t>
            </a:r>
          </a:p>
          <a:p>
            <a:pPr lvl="1"/>
            <a:r>
              <a:rPr lang="en-US" dirty="0"/>
              <a:t>Flexibility for tokenizing a wider variety of assets</a:t>
            </a:r>
          </a:p>
          <a:p>
            <a:pPr lvl="1"/>
            <a:endParaRPr lang="en-US" dirty="0"/>
          </a:p>
          <a:p>
            <a:pPr lvl="1"/>
            <a:endParaRPr lang="en-US" dirty="0"/>
          </a:p>
          <a:p>
            <a:endParaRPr lang="en-US" dirty="0"/>
          </a:p>
          <a:p>
            <a:endParaRPr lang="en-US" dirty="0"/>
          </a:p>
        </p:txBody>
      </p:sp>
      <p:sp>
        <p:nvSpPr>
          <p:cNvPr id="7" name="Foliennummernplatzhalter 6">
            <a:extLst>
              <a:ext uri="{FF2B5EF4-FFF2-40B4-BE49-F238E27FC236}">
                <a16:creationId xmlns:a16="http://schemas.microsoft.com/office/drawing/2014/main" id="{271A6799-784A-423A-94AE-7454686B4129}"/>
              </a:ext>
            </a:extLst>
          </p:cNvPr>
          <p:cNvSpPr>
            <a:spLocks noGrp="1"/>
          </p:cNvSpPr>
          <p:nvPr>
            <p:ph type="sldNum" sz="quarter" idx="4"/>
          </p:nvPr>
        </p:nvSpPr>
        <p:spPr/>
        <p:txBody>
          <a:bodyPr/>
          <a:lstStyle/>
          <a:p>
            <a:fld id="{97F98C0B-273E-428A-ABCF-EBED2BA25188}" type="slidenum">
              <a:rPr lang="en-US" smtClean="0"/>
              <a:t>59</a:t>
            </a:fld>
            <a:endParaRPr lang="en-US"/>
          </a:p>
        </p:txBody>
      </p:sp>
      <p:pic>
        <p:nvPicPr>
          <p:cNvPr id="6" name="Picture 5" descr="Colored-coin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9641" y="2777802"/>
            <a:ext cx="1556113" cy="1330011"/>
          </a:xfrm>
          <a:prstGeom prst="rect">
            <a:avLst/>
          </a:prstGeom>
        </p:spPr>
      </p:pic>
    </p:spTree>
    <p:extLst>
      <p:ext uri="{BB962C8B-B14F-4D97-AF65-F5344CB8AC3E}">
        <p14:creationId xmlns:p14="http://schemas.microsoft.com/office/powerpoint/2010/main" val="44957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US" sz="2800" dirty="0"/>
              <a:t>Asset Management and Control Mechanism</a:t>
            </a:r>
          </a:p>
        </p:txBody>
      </p:sp>
      <p:sp>
        <p:nvSpPr>
          <p:cNvPr id="3" name="Content Placeholder 2"/>
          <p:cNvSpPr>
            <a:spLocks noGrp="1"/>
          </p:cNvSpPr>
          <p:nvPr>
            <p:ph idx="1"/>
          </p:nvPr>
        </p:nvSpPr>
        <p:spPr>
          <a:xfrm>
            <a:off x="648000" y="1867500"/>
            <a:ext cx="7920000" cy="1157269"/>
          </a:xfrm>
        </p:spPr>
        <p:txBody>
          <a:bodyPr>
            <a:normAutofit fontScale="47500" lnSpcReduction="20000"/>
          </a:bodyPr>
          <a:lstStyle/>
          <a:p>
            <a:r>
              <a:rPr lang="en-US" dirty="0"/>
              <a:t>Token Standards</a:t>
            </a:r>
          </a:p>
          <a:p>
            <a:pPr lvl="1"/>
            <a:r>
              <a:rPr lang="en-US" dirty="0"/>
              <a:t>ERC-20 for Ethereum-based fungible token</a:t>
            </a:r>
          </a:p>
          <a:p>
            <a:pPr lvl="1"/>
            <a:r>
              <a:rPr lang="en-US" dirty="0"/>
              <a:t>ERC-721 for Ethereum-based non-fungible tokens</a:t>
            </a:r>
          </a:p>
          <a:p>
            <a:pPr lvl="1"/>
            <a:r>
              <a:rPr lang="en-US" dirty="0"/>
              <a:t>Since June 2019 (final): ERC-1155 for both (</a:t>
            </a:r>
            <a:r>
              <a:rPr lang="en-US" dirty="0">
                <a:hlinkClick r:id="rId3"/>
              </a:rPr>
              <a:t>https://eips.ethereum.org/EIPS/eip-1155</a:t>
            </a:r>
            <a:r>
              <a:rPr lang="en-US" dirty="0"/>
              <a:t>)</a:t>
            </a:r>
          </a:p>
          <a:p>
            <a:pPr lvl="1"/>
            <a:endParaRPr lang="en-US" dirty="0"/>
          </a:p>
          <a:p>
            <a:pPr lvl="1"/>
            <a:endParaRPr lang="en-US" dirty="0"/>
          </a:p>
          <a:p>
            <a:endParaRPr lang="en-US" dirty="0"/>
          </a:p>
          <a:p>
            <a:endParaRPr lang="en-US" dirty="0"/>
          </a:p>
        </p:txBody>
      </p:sp>
      <p:sp>
        <p:nvSpPr>
          <p:cNvPr id="7" name="Foliennummernplatzhalter 6">
            <a:extLst>
              <a:ext uri="{FF2B5EF4-FFF2-40B4-BE49-F238E27FC236}">
                <a16:creationId xmlns:a16="http://schemas.microsoft.com/office/drawing/2014/main" id="{652A839C-B57C-4569-8046-1504FA8BCE6E}"/>
              </a:ext>
            </a:extLst>
          </p:cNvPr>
          <p:cNvSpPr>
            <a:spLocks noGrp="1"/>
          </p:cNvSpPr>
          <p:nvPr>
            <p:ph type="sldNum" sz="quarter" idx="4"/>
          </p:nvPr>
        </p:nvSpPr>
        <p:spPr/>
        <p:txBody>
          <a:bodyPr/>
          <a:lstStyle/>
          <a:p>
            <a:fld id="{97F98C0B-273E-428A-ABCF-EBED2BA25188}" type="slidenum">
              <a:rPr lang="en-US" smtClean="0"/>
              <a:t>60</a:t>
            </a:fld>
            <a:endParaRPr lang="en-US"/>
          </a:p>
        </p:txBody>
      </p:sp>
      <p:pic>
        <p:nvPicPr>
          <p:cNvPr id="2" name="Picture 1" descr="Screen Shot 2018-12-13 at 13.41.2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255" y="2909046"/>
            <a:ext cx="8220075" cy="2973917"/>
          </a:xfrm>
          <a:prstGeom prst="rect">
            <a:avLst/>
          </a:prstGeom>
        </p:spPr>
      </p:pic>
    </p:spTree>
    <p:extLst>
      <p:ext uri="{BB962C8B-B14F-4D97-AF65-F5344CB8AC3E}">
        <p14:creationId xmlns:p14="http://schemas.microsoft.com/office/powerpoint/2010/main" val="15173896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695"/>
        <p:cNvGrpSpPr/>
        <p:nvPr/>
      </p:nvGrpSpPr>
      <p:grpSpPr>
        <a:xfrm>
          <a:off x="0" y="0"/>
          <a:ext cx="0" cy="0"/>
          <a:chOff x="0" y="0"/>
          <a:chExt cx="0" cy="0"/>
        </a:xfrm>
      </p:grpSpPr>
      <p:pic>
        <p:nvPicPr>
          <p:cNvPr id="696" name="Google Shape;696;p60"/>
          <p:cNvPicPr preferRelativeResize="0"/>
          <p:nvPr/>
        </p:nvPicPr>
        <p:blipFill rotWithShape="1">
          <a:blip r:embed="rId3">
            <a:alphaModFix/>
          </a:blip>
          <a:srcRect/>
          <a:stretch/>
        </p:blipFill>
        <p:spPr>
          <a:xfrm>
            <a:off x="323528" y="404664"/>
            <a:ext cx="8496944" cy="6206082"/>
          </a:xfrm>
          <a:prstGeom prst="rect">
            <a:avLst/>
          </a:prstGeom>
          <a:noFill/>
          <a:ln>
            <a:noFill/>
          </a:ln>
        </p:spPr>
      </p:pic>
      <p:sp>
        <p:nvSpPr>
          <p:cNvPr id="697" name="Google Shape;697;p60"/>
          <p:cNvSpPr txBox="1">
            <a:spLocks noGrp="1"/>
          </p:cNvSpPr>
          <p:nvPr>
            <p:ph type="ftr" idx="11"/>
          </p:nvPr>
        </p:nvSpPr>
        <p:spPr>
          <a:xfrm>
            <a:off x="0" y="63563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400"/>
              <a:buFont typeface="Arial"/>
              <a:buNone/>
            </a:pPr>
            <a:r>
              <a:rPr lang="en-US" sz="1200" b="0" i="0" u="none" strike="noStrike" cap="none">
                <a:solidFill>
                  <a:srgbClr val="888888"/>
                </a:solidFill>
                <a:latin typeface="Calibri"/>
                <a:ea typeface="Calibri"/>
                <a:cs typeface="Calibri"/>
                <a:sym typeface="Calibri"/>
              </a:rPr>
              <a:t> </a:t>
            </a:r>
            <a:endParaRPr sz="1200" b="0" i="0" u="none" strike="noStrike" cap="none">
              <a:solidFill>
                <a:srgbClr val="888888"/>
              </a:solidFill>
              <a:latin typeface="Calibri"/>
              <a:ea typeface="Calibri"/>
              <a:cs typeface="Calibri"/>
              <a:sym typeface="Calibri"/>
            </a:endParaRPr>
          </a:p>
        </p:txBody>
      </p:sp>
      <p:sp>
        <p:nvSpPr>
          <p:cNvPr id="698" name="Google Shape;698;p60"/>
          <p:cNvSpPr txBox="1">
            <a:spLocks noGrp="1"/>
          </p:cNvSpPr>
          <p:nvPr>
            <p:ph type="sldNum" idx="4294967295"/>
          </p:nvPr>
        </p:nvSpPr>
        <p:spPr>
          <a:xfrm>
            <a:off x="70104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888888"/>
                </a:solidFill>
                <a:latin typeface="Calibri"/>
                <a:ea typeface="Calibri"/>
                <a:cs typeface="Calibri"/>
                <a:sym typeface="Calibri"/>
              </a:rPr>
              <a:t>61</a:t>
            </a:fld>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YaMkvLq5LE6J6OdVhrKBNw"/>
</p:tagLst>
</file>

<file path=ppt/tags/tag2.xml><?xml version="1.0" encoding="utf-8"?>
<p:tagLst xmlns:a="http://schemas.openxmlformats.org/drawingml/2006/main" xmlns:r="http://schemas.openxmlformats.org/officeDocument/2006/relationships" xmlns:p="http://schemas.openxmlformats.org/presentationml/2006/main">
  <p:tag name="TIMING" val="|0.4"/>
</p:tagLst>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E0785F-1CA2-414E-891F-647D3281D526}"/>
</file>

<file path=customXml/itemProps2.xml><?xml version="1.0" encoding="utf-8"?>
<ds:datastoreItem xmlns:ds="http://schemas.openxmlformats.org/officeDocument/2006/customXml" ds:itemID="{2D82C65C-67AC-4682-8CB7-987447D25E7F}"/>
</file>

<file path=customXml/itemProps3.xml><?xml version="1.0" encoding="utf-8"?>
<ds:datastoreItem xmlns:ds="http://schemas.openxmlformats.org/officeDocument/2006/customXml" ds:itemID="{F49331DE-8AC2-45CF-883E-97BC3A8DD2E4}"/>
</file>

<file path=docProps/app.xml><?xml version="1.0" encoding="utf-8"?>
<Properties xmlns="http://schemas.openxmlformats.org/officeDocument/2006/extended-properties" xmlns:vt="http://schemas.openxmlformats.org/officeDocument/2006/docPropsVTypes">
  <TotalTime>635</TotalTime>
  <Words>5557</Words>
  <Application>Microsoft Macintosh PowerPoint</Application>
  <PresentationFormat>On-screen Show (4:3)</PresentationFormat>
  <Paragraphs>721</Paragraphs>
  <Slides>61</Slides>
  <Notes>44</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61</vt:i4>
      </vt:variant>
    </vt:vector>
  </HeadingPairs>
  <TitlesOfParts>
    <vt:vector size="71" baseType="lpstr">
      <vt:lpstr>Helvetica Neue</vt:lpstr>
      <vt:lpstr>MS PGothic</vt:lpstr>
      <vt:lpstr>Calibri</vt:lpstr>
      <vt:lpstr>Helvetica</vt:lpstr>
      <vt:lpstr>Arial Rounded</vt:lpstr>
      <vt:lpstr>Arial</vt:lpstr>
      <vt:lpstr>Wingdings</vt:lpstr>
      <vt:lpstr>Times New Roman</vt:lpstr>
      <vt:lpstr>Office Theme</vt:lpstr>
      <vt:lpstr>1_Office Theme</vt:lpstr>
      <vt:lpstr>Blockchain Technologies &amp; Systems</vt:lpstr>
      <vt:lpstr>PowerPoint Presentation</vt:lpstr>
      <vt:lpstr>PowerPoint Presentation</vt:lpstr>
      <vt:lpstr>What will we learn today?</vt:lpstr>
      <vt:lpstr>PowerPoint Presentation</vt:lpstr>
      <vt:lpstr>Software Architecture’s Elements</vt:lpstr>
      <vt:lpstr>Software Component</vt:lpstr>
      <vt:lpstr>Software Connectors</vt:lpstr>
      <vt:lpstr>Example Software Connectors</vt:lpstr>
      <vt:lpstr>Software Configuration</vt:lpstr>
      <vt:lpstr>Non-Functional Properties</vt:lpstr>
      <vt:lpstr>Blockchain in Larger Software System</vt:lpstr>
      <vt:lpstr>PowerPoint Presentation</vt:lpstr>
      <vt:lpstr>Blockchain in Larger Software System</vt:lpstr>
      <vt:lpstr>Core Components of the Blockchain Layer</vt:lpstr>
      <vt:lpstr>Core Components of the Blockchain Layer</vt:lpstr>
      <vt:lpstr>Benefits of Architecture for Blockchain applications</vt:lpstr>
      <vt:lpstr>Blockchain as a Software Component</vt:lpstr>
      <vt:lpstr>Functions blockchain can provide in an application architecture</vt:lpstr>
      <vt:lpstr>Functions of Blockchain </vt:lpstr>
      <vt:lpstr>Recap: Properties of Blockchain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Functionality of Blockchain  Data Storage Computation Communication Asset Management </vt:lpstr>
      <vt:lpstr>Blockchain Functionality</vt:lpstr>
      <vt:lpstr>Blockchain as Storage Element</vt:lpstr>
      <vt:lpstr>Blockchain as Storage Element</vt:lpstr>
      <vt:lpstr>Representation of Crypto-currency Holdings</vt:lpstr>
      <vt:lpstr>Storing Arbitrary Data on Blockchain</vt:lpstr>
      <vt:lpstr>Comparison with Other Data Storage</vt:lpstr>
      <vt:lpstr>Blockchain vs. Shared DB: Operations</vt:lpstr>
      <vt:lpstr>Blockchain vs. Shared DB: Consensus</vt:lpstr>
      <vt:lpstr>Blockchain vs. Shared DB: Replication</vt:lpstr>
      <vt:lpstr>Blockchain vs. Shared DB: Consistency</vt:lpstr>
      <vt:lpstr>Blockchain vs. Cloud </vt:lpstr>
      <vt:lpstr>Blockchain vs. Peer-to-Peer Data Storage </vt:lpstr>
      <vt:lpstr>Blockchain vs. Replicated State Machines</vt:lpstr>
      <vt:lpstr>Functionality of Blockchain  Data Storage Computation Communication Asset Management </vt:lpstr>
      <vt:lpstr>Blockchain Functionality</vt:lpstr>
      <vt:lpstr>Data and Computational Platform</vt:lpstr>
      <vt:lpstr>Limited Computational Power of 1st Generation Blockchains</vt:lpstr>
      <vt:lpstr>Turing-complete Programming of 2nd Generation Blockchains</vt:lpstr>
      <vt:lpstr>Functionality of Blockchain  Data Storage Computation Communication Asset Management </vt:lpstr>
      <vt:lpstr>Blockchain Functionality</vt:lpstr>
      <vt:lpstr>Data Communication</vt:lpstr>
      <vt:lpstr>Computation Communication 1/2</vt:lpstr>
      <vt:lpstr>Computation Communication 2/2</vt:lpstr>
      <vt:lpstr>Functionality of Blockchain  Data Storage Computation Communication Asset Management </vt:lpstr>
      <vt:lpstr>Blockchain Functionality</vt:lpstr>
      <vt:lpstr>Asset Management and Control Mechanism</vt:lpstr>
      <vt:lpstr>Asset Management and Control Mechanism</vt:lpstr>
      <vt:lpstr>Asset Management and Control Mechanism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Technologies &amp; Systems</dc:title>
  <dc:creator>Rohit WILP</dc:creator>
  <cp:lastModifiedBy>Prof Animesh Giri</cp:lastModifiedBy>
  <cp:revision>89</cp:revision>
  <dcterms:modified xsi:type="dcterms:W3CDTF">2026-08-22T07:44:50Z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