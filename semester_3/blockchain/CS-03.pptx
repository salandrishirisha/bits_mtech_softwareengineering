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entation.xml" ContentType="application/vnd.openxmlformats-officedocument.presentationml.presentation.main+xml"/>
  <Override PartName="/ppt/notesSlides/notesSlide15.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29.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52"/>
  </p:notesMasterIdLst>
  <p:sldIdLst>
    <p:sldId id="256" r:id="rId3"/>
    <p:sldId id="257" r:id="rId4"/>
    <p:sldId id="351" r:id="rId5"/>
    <p:sldId id="389" r:id="rId6"/>
    <p:sldId id="261" r:id="rId7"/>
    <p:sldId id="390" r:id="rId8"/>
    <p:sldId id="391" r:id="rId9"/>
    <p:sldId id="392" r:id="rId10"/>
    <p:sldId id="393" r:id="rId11"/>
    <p:sldId id="999" r:id="rId12"/>
    <p:sldId id="263" r:id="rId13"/>
    <p:sldId id="264" r:id="rId14"/>
    <p:sldId id="1021" r:id="rId15"/>
    <p:sldId id="267" r:id="rId16"/>
    <p:sldId id="1000" r:id="rId17"/>
    <p:sldId id="1019" r:id="rId18"/>
    <p:sldId id="1020" r:id="rId19"/>
    <p:sldId id="998" r:id="rId20"/>
    <p:sldId id="272" r:id="rId21"/>
    <p:sldId id="274" r:id="rId22"/>
    <p:sldId id="273" r:id="rId23"/>
    <p:sldId id="289" r:id="rId24"/>
    <p:sldId id="1001" r:id="rId25"/>
    <p:sldId id="275" r:id="rId26"/>
    <p:sldId id="276" r:id="rId27"/>
    <p:sldId id="278" r:id="rId28"/>
    <p:sldId id="277" r:id="rId29"/>
    <p:sldId id="279" r:id="rId30"/>
    <p:sldId id="1009" r:id="rId31"/>
    <p:sldId id="1002" r:id="rId32"/>
    <p:sldId id="280" r:id="rId33"/>
    <p:sldId id="282" r:id="rId34"/>
    <p:sldId id="1003" r:id="rId35"/>
    <p:sldId id="1006" r:id="rId36"/>
    <p:sldId id="281" r:id="rId37"/>
    <p:sldId id="1004" r:id="rId38"/>
    <p:sldId id="262" r:id="rId39"/>
    <p:sldId id="1010" r:id="rId40"/>
    <p:sldId id="1011" r:id="rId41"/>
    <p:sldId id="1012" r:id="rId42"/>
    <p:sldId id="266" r:id="rId43"/>
    <p:sldId id="1013" r:id="rId44"/>
    <p:sldId id="268" r:id="rId45"/>
    <p:sldId id="269" r:id="rId46"/>
    <p:sldId id="1014" r:id="rId47"/>
    <p:sldId id="1015" r:id="rId48"/>
    <p:sldId id="1016" r:id="rId49"/>
    <p:sldId id="1018" r:id="rId50"/>
    <p:sldId id="315" r:id="rId51"/>
  </p:sldIdLst>
  <p:sldSz cx="9144000" cy="6858000" type="screen4x3"/>
  <p:notesSz cx="6858000" cy="9144000"/>
  <p:embeddedFontLst>
    <p:embeddedFont>
      <p:font typeface="Cambria" panose="02040503050406030204" pitchFamily="18" charset="0"/>
      <p:regular r:id="rId53"/>
      <p:bold r:id="rId54"/>
      <p:italic r:id="rId55"/>
      <p:boldItalic r:id="rId56"/>
    </p:embeddedFont>
    <p:embeddedFont>
      <p:font typeface="Nunito" pitchFamily="2" charset="77"/>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EAA4C75-4FB5-4408-A9F4-940FEEBAE718}">
          <p14:sldIdLst>
            <p14:sldId id="256"/>
            <p14:sldId id="257"/>
            <p14:sldId id="351"/>
            <p14:sldId id="389"/>
            <p14:sldId id="261"/>
            <p14:sldId id="390"/>
            <p14:sldId id="391"/>
            <p14:sldId id="392"/>
            <p14:sldId id="393"/>
            <p14:sldId id="999"/>
            <p14:sldId id="263"/>
            <p14:sldId id="264"/>
            <p14:sldId id="1021"/>
            <p14:sldId id="267"/>
            <p14:sldId id="1000"/>
            <p14:sldId id="1019"/>
            <p14:sldId id="1020"/>
            <p14:sldId id="998"/>
            <p14:sldId id="272"/>
            <p14:sldId id="274"/>
            <p14:sldId id="273"/>
            <p14:sldId id="289"/>
            <p14:sldId id="1001"/>
            <p14:sldId id="275"/>
            <p14:sldId id="276"/>
            <p14:sldId id="278"/>
            <p14:sldId id="277"/>
            <p14:sldId id="279"/>
            <p14:sldId id="1009"/>
            <p14:sldId id="1002"/>
            <p14:sldId id="280"/>
            <p14:sldId id="282"/>
            <p14:sldId id="1003"/>
            <p14:sldId id="1006"/>
            <p14:sldId id="281"/>
            <p14:sldId id="1004"/>
            <p14:sldId id="262"/>
            <p14:sldId id="1010"/>
            <p14:sldId id="1011"/>
            <p14:sldId id="1012"/>
            <p14:sldId id="266"/>
            <p14:sldId id="1013"/>
            <p14:sldId id="268"/>
            <p14:sldId id="269"/>
            <p14:sldId id="1014"/>
            <p14:sldId id="1015"/>
            <p14:sldId id="1016"/>
            <p14:sldId id="1018"/>
            <p14:sldId id="315"/>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iuSeqmg832KJR4TrulSr/XVuIC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7"/>
  </p:normalViewPr>
  <p:slideViewPr>
    <p:cSldViewPr snapToGrid="0">
      <p:cViewPr varScale="1">
        <p:scale>
          <a:sx n="101" d="100"/>
          <a:sy n="101" d="100"/>
        </p:scale>
        <p:origin x="1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3.fntdata"/><Relationship Id="rId84" Type="http://schemas.openxmlformats.org/officeDocument/2006/relationships/viewProps" Target="viewProps.xml"/><Relationship Id="rId89"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font" Target="fonts/font6.fntdata"/><Relationship Id="rId87" Type="http://schemas.openxmlformats.org/officeDocument/2006/relationships/customXml" Target="../customXml/item1.xml"/><Relationship Id="rId5" Type="http://schemas.openxmlformats.org/officeDocument/2006/relationships/slide" Target="slides/slide3.xml"/><Relationship Id="rId82" Type="http://customschemas.google.com/relationships/presentationmetadata" Target="meta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83" Type="http://schemas.openxmlformats.org/officeDocument/2006/relationships/presProps" Target="presProps.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8.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9375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chapter. Let students know all three concepts are deeply linked — tokens live on blockchains, blockchains need nodes to function.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header. A blockchain is often misunderstood — start by asking students what they think it means before explaining.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definition from Chapter 1. Emphasize the 'chain of blocks' metaphor. Ask: What problems does this solve compared to a regular database?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slowly. Draw the chain on the board if helpful. Emphasize: once a block is added, it cannot be changed without invalidating all subsequent blocks.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Laurence covers all four types. Key difference: who can READ and WRITE to the chain. Public = most decentralized but slower. Private = faster but centralized.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174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808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457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6427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9039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8823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3559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6315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645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0614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3157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29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7675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05809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1871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7584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0983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4986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7492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nodes. Ask: If no one is in charge, who keeps the blockchain running? Nodes!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because thousands of nodes each hold a copy, there is no single point of failure. If one node goes down, the network keeps running. This is the heart of decentralization.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consensus: imagine a classroom vote where everyone must agree before a new rule is written in the class logbook. No one teacher decides alone.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Before revealing, ask: What do you think a 'token' is? Let students guess — then explain.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a 'coin' (like Bitcoin) is native to its blockchain. A 'token' (like an ERC-20 token) is built ON TOP of an existing blockchain. Both are types of tokens in common usage.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student confusion: all coins are tokens, but not all tokens are coins. The word 'token' is umbrella; 'coin' is specific. Analogy: all squares are rectangles, not all rectangles are squares.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slide. Spend time here. Ask: Can you have tokens without a blockchain? (No.) Can you have a blockchain without nodes? (No.) They are interdependent.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grounds abstract concepts in reality. Ask students: Which application surprises you the most? Which seems most impactful for society?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Busting myths is engaging! Turn this into a quick True/False quiz — read the myth and ask students to vote before revealing the truth.</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copy these terms into their notes. Can become a flashcard exercise or short quiz in next class.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slide. Ask students to close their notes and recall as many of these points as they can. Then reveal one by one.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the 3Blue1Brown video as home viewing — it dramatically increases comprehension. The Bitcoin whitepaper is optional enrichment for advanced students.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Font typeface="Arial"/>
              <a:buNone/>
            </a:pPr>
            <a:endParaRPr/>
          </a:p>
        </p:txBody>
      </p:sp>
      <p:sp>
        <p:nvSpPr>
          <p:cNvPr id="694" name="Google Shape;69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type="tx">
  <p:cSld name="TITLE_AND_BODY">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62"/>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 name="Google Shape;11;p62"/>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12;p62"/>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13;p62"/>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4" name="Google Shape;14;p62" descr="Picture 10"/>
          <p:cNvPicPr preferRelativeResize="0"/>
          <p:nvPr/>
        </p:nvPicPr>
        <p:blipFill rotWithShape="1">
          <a:blip r:embed="rId3">
            <a:alphaModFix/>
          </a:blip>
          <a:srcRect t="2" b="28592"/>
          <a:stretch/>
        </p:blipFill>
        <p:spPr>
          <a:xfrm>
            <a:off x="76200" y="3352800"/>
            <a:ext cx="2057400" cy="1979614"/>
          </a:xfrm>
          <a:prstGeom prst="rect">
            <a:avLst/>
          </a:prstGeom>
          <a:noFill/>
          <a:ln>
            <a:noFill/>
          </a:ln>
        </p:spPr>
      </p:pic>
      <p:sp>
        <p:nvSpPr>
          <p:cNvPr id="15" name="Google Shape;15;p62"/>
          <p:cNvSpPr txBox="1"/>
          <p:nvPr/>
        </p:nvSpPr>
        <p:spPr>
          <a:xfrm>
            <a:off x="-30481" y="52578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800" b="0" i="0" u="none" strike="noStrike" cap="none">
              <a:solidFill>
                <a:srgbClr val="000000"/>
              </a:solidFill>
              <a:latin typeface="Calibri"/>
              <a:ea typeface="Calibri"/>
              <a:cs typeface="Calibri"/>
              <a:sym typeface="Calibri"/>
            </a:endParaRPr>
          </a:p>
        </p:txBody>
      </p:sp>
      <p:sp>
        <p:nvSpPr>
          <p:cNvPr id="16" name="Google Shape;16;p62"/>
          <p:cNvSpPr txBox="1">
            <a:spLocks noGrp="1"/>
          </p:cNvSpPr>
          <p:nvPr>
            <p:ph type="body" idx="1"/>
          </p:nvPr>
        </p:nvSpPr>
        <p:spPr>
          <a:xfrm>
            <a:off x="2514600" y="5410200"/>
            <a:ext cx="6019800" cy="533400"/>
          </a:xfrm>
          <a:prstGeom prst="rect">
            <a:avLst/>
          </a:prstGeom>
          <a:noFill/>
          <a:ln>
            <a:noFill/>
          </a:ln>
        </p:spPr>
        <p:txBody>
          <a:bodyPr spcFirstLastPara="1" wrap="square" lIns="45700" tIns="45700" rIns="45700" bIns="45700" anchor="b" anchorCtr="0">
            <a:normAutofit/>
          </a:bodyPr>
          <a:lstStyle>
            <a:lvl1pPr marL="457200" lvl="0" indent="-228600" algn="r">
              <a:lnSpc>
                <a:spcPct val="100000"/>
              </a:lnSpc>
              <a:spcBef>
                <a:spcPts val="0"/>
              </a:spcBef>
              <a:spcAft>
                <a:spcPts val="0"/>
              </a:spcAft>
              <a:buClr>
                <a:srgbClr val="FFFFFF"/>
              </a:buClr>
              <a:buSzPts val="1800"/>
              <a:buFont typeface="Arial"/>
              <a:buNone/>
              <a:defRPr sz="1800">
                <a:solidFill>
                  <a:srgbClr val="FFFFFF"/>
                </a:solidFill>
              </a:defRPr>
            </a:lvl1pPr>
            <a:lvl2pPr marL="914400" lvl="1" indent="-342900" algn="r">
              <a:lnSpc>
                <a:spcPct val="100000"/>
              </a:lnSpc>
              <a:spcBef>
                <a:spcPts val="0"/>
              </a:spcBef>
              <a:spcAft>
                <a:spcPts val="0"/>
              </a:spcAft>
              <a:buClr>
                <a:srgbClr val="FFFFFF"/>
              </a:buClr>
              <a:buSzPts val="1800"/>
              <a:buFont typeface="Arial"/>
              <a:buChar char="–"/>
              <a:defRPr sz="1800">
                <a:solidFill>
                  <a:srgbClr val="FFFFFF"/>
                </a:solidFill>
              </a:defRPr>
            </a:lvl2pPr>
            <a:lvl3pPr marL="1371600" lvl="2" indent="-342900" algn="r">
              <a:lnSpc>
                <a:spcPct val="100000"/>
              </a:lnSpc>
              <a:spcBef>
                <a:spcPts val="0"/>
              </a:spcBef>
              <a:spcAft>
                <a:spcPts val="0"/>
              </a:spcAft>
              <a:buClr>
                <a:srgbClr val="FFFFFF"/>
              </a:buClr>
              <a:buSzPts val="1800"/>
              <a:buFont typeface="Arial"/>
              <a:buChar char="•"/>
              <a:defRPr sz="1800">
                <a:solidFill>
                  <a:srgbClr val="FFFFFF"/>
                </a:solidFill>
              </a:defRPr>
            </a:lvl3pPr>
            <a:lvl4pPr marL="1828800" lvl="3" indent="-342900" algn="r">
              <a:lnSpc>
                <a:spcPct val="100000"/>
              </a:lnSpc>
              <a:spcBef>
                <a:spcPts val="0"/>
              </a:spcBef>
              <a:spcAft>
                <a:spcPts val="0"/>
              </a:spcAft>
              <a:buClr>
                <a:srgbClr val="FFFFFF"/>
              </a:buClr>
              <a:buSzPts val="1800"/>
              <a:buFont typeface="Arial"/>
              <a:buChar char="–"/>
              <a:defRPr sz="1800">
                <a:solidFill>
                  <a:srgbClr val="FFFFFF"/>
                </a:solidFill>
              </a:defRPr>
            </a:lvl4pPr>
            <a:lvl5pPr marL="2286000" lvl="4" indent="-342900" algn="r">
              <a:lnSpc>
                <a:spcPct val="100000"/>
              </a:lnSpc>
              <a:spcBef>
                <a:spcPts val="0"/>
              </a:spcBef>
              <a:spcAft>
                <a:spcPts val="0"/>
              </a:spcAft>
              <a:buClr>
                <a:srgbClr val="FFFFFF"/>
              </a:buClr>
              <a:buSzPts val="1800"/>
              <a:buFont typeface="Arial"/>
              <a:buChar char="»"/>
              <a:defRPr sz="1800">
                <a:solidFill>
                  <a:srgbClr val="FFFFFF"/>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7" name="Google Shape;17;p6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8" name="Google Shape;18;p6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Shape 19"/>
        <p:cNvGrpSpPr/>
        <p:nvPr/>
      </p:nvGrpSpPr>
      <p:grpSpPr>
        <a:xfrm>
          <a:off x="0" y="0"/>
          <a:ext cx="0" cy="0"/>
          <a:chOff x="0" y="0"/>
          <a:chExt cx="0" cy="0"/>
        </a:xfrm>
      </p:grpSpPr>
      <p:pic>
        <p:nvPicPr>
          <p:cNvPr id="20" name="Google Shape;20;p63" descr="Picture 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1" name="Google Shape;21;p63"/>
          <p:cNvSpPr/>
          <p:nvPr/>
        </p:nvSpPr>
        <p:spPr>
          <a:xfrm>
            <a:off x="0" y="4281488"/>
            <a:ext cx="9144000" cy="2576512"/>
          </a:xfrm>
          <a:prstGeom prst="rect">
            <a:avLst/>
          </a:prstGeom>
          <a:solidFill>
            <a:srgbClr val="FFFFFF"/>
          </a:solidFill>
          <a:ln w="9525" cap="flat" cmpd="sng">
            <a:solidFill>
              <a:srgbClr val="4A7EBB"/>
            </a:solidFill>
            <a:prstDash val="solid"/>
            <a:round/>
            <a:headEnd type="none" w="sm" len="sm"/>
            <a:tailEnd type="none" w="sm" len="sm"/>
          </a:ln>
          <a:effectLst>
            <a:outerShdw blurRad="38100" dist="23000" dir="5400000" rotWithShape="0">
              <a:srgbClr val="000000">
                <a:alpha val="34901"/>
              </a:srgbClr>
            </a:outerShdw>
          </a:effectLst>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2" name="Google Shape;22;p63" descr="Picture 8"/>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23" name="Google Shape;23;p63"/>
          <p:cNvSpPr/>
          <p:nvPr/>
        </p:nvSpPr>
        <p:spPr>
          <a:xfrm>
            <a:off x="2882900" y="677545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24;p63"/>
          <p:cNvSpPr/>
          <p:nvPr/>
        </p:nvSpPr>
        <p:spPr>
          <a:xfrm>
            <a:off x="-12700" y="677545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25;p63"/>
          <p:cNvSpPr/>
          <p:nvPr/>
        </p:nvSpPr>
        <p:spPr>
          <a:xfrm>
            <a:off x="5778500" y="677545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26;p63"/>
          <p:cNvSpPr txBox="1"/>
          <p:nvPr/>
        </p:nvSpPr>
        <p:spPr>
          <a:xfrm>
            <a:off x="6903719" y="7620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7" name="Google Shape;27;p63"/>
          <p:cNvSpPr txBox="1">
            <a:spLocks noGrp="1"/>
          </p:cNvSpPr>
          <p:nvPr>
            <p:ph type="body" idx="1"/>
          </p:nvPr>
        </p:nvSpPr>
        <p:spPr>
          <a:xfrm>
            <a:off x="304800" y="4648200"/>
            <a:ext cx="8458200" cy="1600200"/>
          </a:xfrm>
          <a:prstGeom prst="rect">
            <a:avLst/>
          </a:prstGeom>
          <a:noFill/>
          <a:ln>
            <a:noFill/>
          </a:ln>
        </p:spPr>
        <p:txBody>
          <a:bodyPr spcFirstLastPara="1" wrap="square" lIns="45700" tIns="45700" rIns="45700" bIns="45700" anchor="t" anchorCtr="0">
            <a:normAutofit/>
          </a:bodyPr>
          <a:lstStyle>
            <a:lvl1pPr marL="457200" lvl="0" indent="-228600" algn="l">
              <a:lnSpc>
                <a:spcPct val="104999"/>
              </a:lnSpc>
              <a:spcBef>
                <a:spcPts val="0"/>
              </a:spcBef>
              <a:spcAft>
                <a:spcPts val="0"/>
              </a:spcAft>
              <a:buClr>
                <a:srgbClr val="000000"/>
              </a:buClr>
              <a:buSzPts val="4000"/>
              <a:buFont typeface="Arial"/>
              <a:buNone/>
              <a:defRPr sz="4000" b="1"/>
            </a:lvl1pPr>
            <a:lvl2pPr marL="914400" lvl="1" indent="-482600" algn="l">
              <a:lnSpc>
                <a:spcPct val="104999"/>
              </a:lnSpc>
              <a:spcBef>
                <a:spcPts val="0"/>
              </a:spcBef>
              <a:spcAft>
                <a:spcPts val="0"/>
              </a:spcAft>
              <a:buClr>
                <a:srgbClr val="000000"/>
              </a:buClr>
              <a:buSzPts val="4000"/>
              <a:buFont typeface="Arial"/>
              <a:buChar char="–"/>
              <a:defRPr sz="4000" b="1"/>
            </a:lvl2pPr>
            <a:lvl3pPr marL="1371600" lvl="2" indent="-482600" algn="l">
              <a:lnSpc>
                <a:spcPct val="104999"/>
              </a:lnSpc>
              <a:spcBef>
                <a:spcPts val="0"/>
              </a:spcBef>
              <a:spcAft>
                <a:spcPts val="0"/>
              </a:spcAft>
              <a:buClr>
                <a:srgbClr val="000000"/>
              </a:buClr>
              <a:buSzPts val="4000"/>
              <a:buFont typeface="Arial"/>
              <a:buChar char="•"/>
              <a:defRPr sz="4000" b="1"/>
            </a:lvl3pPr>
            <a:lvl4pPr marL="1828800" lvl="3" indent="-482600" algn="l">
              <a:lnSpc>
                <a:spcPct val="104999"/>
              </a:lnSpc>
              <a:spcBef>
                <a:spcPts val="0"/>
              </a:spcBef>
              <a:spcAft>
                <a:spcPts val="0"/>
              </a:spcAft>
              <a:buClr>
                <a:srgbClr val="000000"/>
              </a:buClr>
              <a:buSzPts val="4000"/>
              <a:buFont typeface="Arial"/>
              <a:buChar char="–"/>
              <a:defRPr sz="4000" b="1"/>
            </a:lvl4pPr>
            <a:lvl5pPr marL="2286000" lvl="4" indent="-482600" algn="l">
              <a:lnSpc>
                <a:spcPct val="104999"/>
              </a:lnSpc>
              <a:spcBef>
                <a:spcPts val="0"/>
              </a:spcBef>
              <a:spcAft>
                <a:spcPts val="0"/>
              </a:spcAft>
              <a:buClr>
                <a:srgbClr val="000000"/>
              </a:buClr>
              <a:buSzPts val="4000"/>
              <a:buFont typeface="Arial"/>
              <a:buChar char="»"/>
              <a:defRPr sz="40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8" name="Google Shape;28;p63"/>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Picture with Caption">
  <p:cSld name="3_Picture with Caption">
    <p:bg>
      <p:bgPr>
        <a:solidFill>
          <a:srgbClr val="FFFFFF"/>
        </a:solidFill>
        <a:effectLst/>
      </p:bgPr>
    </p:bg>
    <p:spTree>
      <p:nvGrpSpPr>
        <p:cNvPr id="1" name="Shape 29"/>
        <p:cNvGrpSpPr/>
        <p:nvPr/>
      </p:nvGrpSpPr>
      <p:grpSpPr>
        <a:xfrm>
          <a:off x="0" y="0"/>
          <a:ext cx="0" cy="0"/>
          <a:chOff x="0" y="0"/>
          <a:chExt cx="0" cy="0"/>
        </a:xfrm>
      </p:grpSpPr>
      <p:grpSp>
        <p:nvGrpSpPr>
          <p:cNvPr id="30" name="Google Shape;30;p66"/>
          <p:cNvGrpSpPr/>
          <p:nvPr/>
        </p:nvGrpSpPr>
        <p:grpSpPr>
          <a:xfrm>
            <a:off x="-702671" y="-883443"/>
            <a:ext cx="10499751" cy="9147815"/>
            <a:chOff x="-702671" y="-883443"/>
            <a:chExt cx="10499751" cy="9147815"/>
          </a:xfrm>
        </p:grpSpPr>
        <p:pic>
          <p:nvPicPr>
            <p:cNvPr id="31" name="Google Shape;31;p66"/>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32" name="Google Shape;32;p66"/>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33" name="Google Shape;33;p66"/>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34" name="Google Shape;34;p66"/>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35" name="Google Shape;35;p66"/>
            <p:cNvGrpSpPr/>
            <p:nvPr/>
          </p:nvGrpSpPr>
          <p:grpSpPr>
            <a:xfrm>
              <a:off x="-1" y="0"/>
              <a:ext cx="9144003" cy="6857673"/>
              <a:chOff x="-1" y="0"/>
              <a:chExt cx="9144003" cy="6857673"/>
            </a:xfrm>
          </p:grpSpPr>
          <p:grpSp>
            <p:nvGrpSpPr>
              <p:cNvPr id="36" name="Google Shape;36;p66"/>
              <p:cNvGrpSpPr/>
              <p:nvPr/>
            </p:nvGrpSpPr>
            <p:grpSpPr>
              <a:xfrm>
                <a:off x="-1" y="1295400"/>
                <a:ext cx="7010403" cy="46039"/>
                <a:chOff x="-1" y="0"/>
                <a:chExt cx="7010402" cy="46038"/>
              </a:xfrm>
            </p:grpSpPr>
            <p:sp>
              <p:nvSpPr>
                <p:cNvPr id="37" name="Google Shape;37;p66"/>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38;p66"/>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66"/>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40" name="Google Shape;40;p66"/>
              <p:cNvGrpSpPr/>
              <p:nvPr/>
            </p:nvGrpSpPr>
            <p:grpSpPr>
              <a:xfrm>
                <a:off x="2133599" y="6553200"/>
                <a:ext cx="7010403" cy="46039"/>
                <a:chOff x="-1" y="0"/>
                <a:chExt cx="7010402" cy="46038"/>
              </a:xfrm>
            </p:grpSpPr>
            <p:sp>
              <p:nvSpPr>
                <p:cNvPr id="41" name="Google Shape;41;p66"/>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2" name="Google Shape;42;p66"/>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66"/>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44" name="Google Shape;44;p66"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45" name="Google Shape;45;p66"/>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46" name="Google Shape;46;p66"/>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47" name="Google Shape;47;p66"/>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8"/>
        <p:cNvGrpSpPr/>
        <p:nvPr/>
      </p:nvGrpSpPr>
      <p:grpSpPr>
        <a:xfrm>
          <a:off x="0" y="0"/>
          <a:ext cx="0" cy="0"/>
          <a:chOff x="0" y="0"/>
          <a:chExt cx="0" cy="0"/>
        </a:xfrm>
      </p:grpSpPr>
      <p:sp>
        <p:nvSpPr>
          <p:cNvPr id="49" name="Google Shape;49;p67"/>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67"/>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67"/>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67"/>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 name="Google Shape;53;p67"/>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54" name="Google Shape;54;p67" descr="Picture 10"/>
          <p:cNvPicPr preferRelativeResize="0"/>
          <p:nvPr/>
        </p:nvPicPr>
        <p:blipFill rotWithShape="1">
          <a:blip r:embed="rId2">
            <a:alphaModFix/>
          </a:blip>
          <a:srcRect t="2" b="28592"/>
          <a:stretch/>
        </p:blipFill>
        <p:spPr>
          <a:xfrm>
            <a:off x="76200" y="3352800"/>
            <a:ext cx="2057400" cy="1979614"/>
          </a:xfrm>
          <a:prstGeom prst="rect">
            <a:avLst/>
          </a:prstGeom>
          <a:noFill/>
          <a:ln>
            <a:noFill/>
          </a:ln>
        </p:spPr>
      </p:pic>
      <p:sp>
        <p:nvSpPr>
          <p:cNvPr id="55" name="Google Shape;55;p67"/>
          <p:cNvSpPr txBox="1"/>
          <p:nvPr/>
        </p:nvSpPr>
        <p:spPr>
          <a:xfrm>
            <a:off x="-30481" y="52578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800" b="0" i="0" u="none" strike="noStrike" cap="none">
              <a:solidFill>
                <a:srgbClr val="000000"/>
              </a:solidFill>
              <a:latin typeface="Calibri"/>
              <a:ea typeface="Calibri"/>
              <a:cs typeface="Calibri"/>
              <a:sym typeface="Calibri"/>
            </a:endParaRPr>
          </a:p>
        </p:txBody>
      </p:sp>
      <p:sp>
        <p:nvSpPr>
          <p:cNvPr id="56" name="Google Shape;56;p67"/>
          <p:cNvSpPr txBox="1">
            <a:spLocks noGrp="1"/>
          </p:cNvSpPr>
          <p:nvPr>
            <p:ph type="title"/>
          </p:nvPr>
        </p:nvSpPr>
        <p:spPr>
          <a:xfrm>
            <a:off x="2667000" y="3898061"/>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FFFFFF"/>
        </a:solidFill>
        <a:effectLst/>
      </p:bgPr>
    </p:bg>
    <p:spTree>
      <p:nvGrpSpPr>
        <p:cNvPr id="1" name="Shape 57"/>
        <p:cNvGrpSpPr/>
        <p:nvPr/>
      </p:nvGrpSpPr>
      <p:grpSpPr>
        <a:xfrm>
          <a:off x="0" y="0"/>
          <a:ext cx="0" cy="0"/>
          <a:chOff x="0" y="0"/>
          <a:chExt cx="0" cy="0"/>
        </a:xfrm>
      </p:grpSpPr>
      <p:grpSp>
        <p:nvGrpSpPr>
          <p:cNvPr id="58" name="Google Shape;58;p68"/>
          <p:cNvGrpSpPr/>
          <p:nvPr/>
        </p:nvGrpSpPr>
        <p:grpSpPr>
          <a:xfrm>
            <a:off x="-702671" y="-883443"/>
            <a:ext cx="10499751" cy="9147815"/>
            <a:chOff x="-702671" y="-883443"/>
            <a:chExt cx="10499751" cy="9147815"/>
          </a:xfrm>
        </p:grpSpPr>
        <p:pic>
          <p:nvPicPr>
            <p:cNvPr id="59" name="Google Shape;59;p68"/>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60" name="Google Shape;60;p68"/>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61" name="Google Shape;61;p68"/>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62" name="Google Shape;62;p68"/>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63" name="Google Shape;63;p68"/>
            <p:cNvGrpSpPr/>
            <p:nvPr/>
          </p:nvGrpSpPr>
          <p:grpSpPr>
            <a:xfrm>
              <a:off x="-1" y="0"/>
              <a:ext cx="9144003" cy="6857673"/>
              <a:chOff x="-1" y="0"/>
              <a:chExt cx="9144003" cy="6857673"/>
            </a:xfrm>
          </p:grpSpPr>
          <p:grpSp>
            <p:nvGrpSpPr>
              <p:cNvPr id="64" name="Google Shape;64;p68"/>
              <p:cNvGrpSpPr/>
              <p:nvPr/>
            </p:nvGrpSpPr>
            <p:grpSpPr>
              <a:xfrm>
                <a:off x="-1" y="1295400"/>
                <a:ext cx="7010403" cy="46039"/>
                <a:chOff x="-1" y="0"/>
                <a:chExt cx="7010402" cy="46038"/>
              </a:xfrm>
            </p:grpSpPr>
            <p:sp>
              <p:nvSpPr>
                <p:cNvPr id="65" name="Google Shape;65;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6" name="Google Shape;66;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7" name="Google Shape;67;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68" name="Google Shape;68;p68"/>
              <p:cNvGrpSpPr/>
              <p:nvPr/>
            </p:nvGrpSpPr>
            <p:grpSpPr>
              <a:xfrm>
                <a:off x="2133599" y="6553200"/>
                <a:ext cx="7010403" cy="46039"/>
                <a:chOff x="-1" y="0"/>
                <a:chExt cx="7010402" cy="46038"/>
              </a:xfrm>
            </p:grpSpPr>
            <p:sp>
              <p:nvSpPr>
                <p:cNvPr id="69" name="Google Shape;69;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0" name="Google Shape;70;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1" name="Google Shape;71;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72" name="Google Shape;72;p68"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73" name="Google Shape;73;p68"/>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74" name="Google Shape;74;p68"/>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75" name="Google Shape;75;p68"/>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76" name="Google Shape;76;p68"/>
          <p:cNvSpPr txBox="1">
            <a:spLocks noGrp="1"/>
          </p:cNvSpPr>
          <p:nvPr>
            <p:ph type="body" idx="1"/>
          </p:nvPr>
        </p:nvSpPr>
        <p:spPr>
          <a:xfrm>
            <a:off x="4953000" y="1600200"/>
            <a:ext cx="4038600" cy="45259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600"/>
              </a:spcBef>
              <a:spcAft>
                <a:spcPts val="0"/>
              </a:spcAft>
              <a:buClr>
                <a:srgbClr val="000000"/>
              </a:buClr>
              <a:buSzPts val="2800"/>
              <a:buFont typeface="Arial"/>
              <a:buNone/>
              <a:defRPr sz="2800"/>
            </a:lvl1pPr>
            <a:lvl2pPr marL="914400" lvl="1" indent="-406400" algn="l">
              <a:lnSpc>
                <a:spcPct val="100000"/>
              </a:lnSpc>
              <a:spcBef>
                <a:spcPts val="600"/>
              </a:spcBef>
              <a:spcAft>
                <a:spcPts val="0"/>
              </a:spcAft>
              <a:buClr>
                <a:srgbClr val="000000"/>
              </a:buClr>
              <a:buSzPts val="2800"/>
              <a:buFont typeface="Arial"/>
              <a:buChar char="–"/>
              <a:defRPr sz="2800"/>
            </a:lvl2pPr>
            <a:lvl3pPr marL="1371600" lvl="2" indent="-406400" algn="l">
              <a:lnSpc>
                <a:spcPct val="100000"/>
              </a:lnSpc>
              <a:spcBef>
                <a:spcPts val="600"/>
              </a:spcBef>
              <a:spcAft>
                <a:spcPts val="0"/>
              </a:spcAft>
              <a:buClr>
                <a:srgbClr val="000000"/>
              </a:buClr>
              <a:buSzPts val="2800"/>
              <a:buFont typeface="Arial"/>
              <a:buChar char="•"/>
              <a:defRPr sz="2800"/>
            </a:lvl3pPr>
            <a:lvl4pPr marL="1828800" lvl="3" indent="-406400" algn="l">
              <a:lnSpc>
                <a:spcPct val="100000"/>
              </a:lnSpc>
              <a:spcBef>
                <a:spcPts val="600"/>
              </a:spcBef>
              <a:spcAft>
                <a:spcPts val="0"/>
              </a:spcAft>
              <a:buClr>
                <a:srgbClr val="000000"/>
              </a:buClr>
              <a:buSzPts val="2800"/>
              <a:buFont typeface="Arial"/>
              <a:buChar char="–"/>
              <a:defRPr sz="2800"/>
            </a:lvl4pPr>
            <a:lvl5pPr marL="2286000" lvl="4" indent="-406400" algn="l">
              <a:lnSpc>
                <a:spcPct val="100000"/>
              </a:lnSpc>
              <a:spcBef>
                <a:spcPts val="600"/>
              </a:spcBef>
              <a:spcAft>
                <a:spcPts val="0"/>
              </a:spcAft>
              <a:buClr>
                <a:srgbClr val="000000"/>
              </a:buClr>
              <a:buSzPts val="2800"/>
              <a:buFont typeface="Arial"/>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77" name="Google Shape;77;p68"/>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rgbClr val="FFFFFF"/>
        </a:solidFill>
        <a:effectLst/>
      </p:bgPr>
    </p:bg>
    <p:spTree>
      <p:nvGrpSpPr>
        <p:cNvPr id="1" name="Shape 78"/>
        <p:cNvGrpSpPr/>
        <p:nvPr/>
      </p:nvGrpSpPr>
      <p:grpSpPr>
        <a:xfrm>
          <a:off x="0" y="0"/>
          <a:ext cx="0" cy="0"/>
          <a:chOff x="0" y="0"/>
          <a:chExt cx="0" cy="0"/>
        </a:xfrm>
      </p:grpSpPr>
      <p:grpSp>
        <p:nvGrpSpPr>
          <p:cNvPr id="79" name="Google Shape;79;p69"/>
          <p:cNvGrpSpPr/>
          <p:nvPr/>
        </p:nvGrpSpPr>
        <p:grpSpPr>
          <a:xfrm>
            <a:off x="-702671" y="-883443"/>
            <a:ext cx="10499751" cy="9147815"/>
            <a:chOff x="-702671" y="-883443"/>
            <a:chExt cx="10499751" cy="9147815"/>
          </a:xfrm>
        </p:grpSpPr>
        <p:pic>
          <p:nvPicPr>
            <p:cNvPr id="80" name="Google Shape;80;p69"/>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81" name="Google Shape;81;p69"/>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82" name="Google Shape;82;p69"/>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83" name="Google Shape;83;p69"/>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84" name="Google Shape;84;p69"/>
            <p:cNvGrpSpPr/>
            <p:nvPr/>
          </p:nvGrpSpPr>
          <p:grpSpPr>
            <a:xfrm>
              <a:off x="-1" y="0"/>
              <a:ext cx="9144003" cy="6857673"/>
              <a:chOff x="-1" y="0"/>
              <a:chExt cx="9144003" cy="6857673"/>
            </a:xfrm>
          </p:grpSpPr>
          <p:grpSp>
            <p:nvGrpSpPr>
              <p:cNvPr id="85" name="Google Shape;85;p69"/>
              <p:cNvGrpSpPr/>
              <p:nvPr/>
            </p:nvGrpSpPr>
            <p:grpSpPr>
              <a:xfrm>
                <a:off x="-1" y="1295400"/>
                <a:ext cx="7010403" cy="46039"/>
                <a:chOff x="-1" y="0"/>
                <a:chExt cx="7010402" cy="46038"/>
              </a:xfrm>
            </p:grpSpPr>
            <p:sp>
              <p:nvSpPr>
                <p:cNvPr id="86" name="Google Shape;86;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7" name="Google Shape;87;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8" name="Google Shape;88;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9" name="Google Shape;89;p69"/>
              <p:cNvGrpSpPr/>
              <p:nvPr/>
            </p:nvGrpSpPr>
            <p:grpSpPr>
              <a:xfrm>
                <a:off x="2133599" y="6553200"/>
                <a:ext cx="7010403" cy="46039"/>
                <a:chOff x="-1" y="0"/>
                <a:chExt cx="7010402" cy="46038"/>
              </a:xfrm>
            </p:grpSpPr>
            <p:sp>
              <p:nvSpPr>
                <p:cNvPr id="90" name="Google Shape;90;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1" name="Google Shape;91;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2" name="Google Shape;92;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93" name="Google Shape;93;p69"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94" name="Google Shape;94;p69"/>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95" name="Google Shape;95;p69"/>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96" name="Google Shape;96;p69"/>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97" name="Google Shape;97;p69"/>
          <p:cNvSpPr txBox="1">
            <a:spLocks noGrp="1"/>
          </p:cNvSpPr>
          <p:nvPr>
            <p:ph type="body" idx="1"/>
          </p:nvPr>
        </p:nvSpPr>
        <p:spPr>
          <a:xfrm>
            <a:off x="457200" y="1535112"/>
            <a:ext cx="4040188" cy="8270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Arial"/>
              <a:buNone/>
              <a:defRPr sz="2400" b="1"/>
            </a:lvl1pPr>
            <a:lvl2pPr marL="914400" lvl="1" indent="-228600" algn="l">
              <a:lnSpc>
                <a:spcPct val="100000"/>
              </a:lnSpc>
              <a:spcBef>
                <a:spcPts val="500"/>
              </a:spcBef>
              <a:spcAft>
                <a:spcPts val="0"/>
              </a:spcAft>
              <a:buClr>
                <a:srgbClr val="000000"/>
              </a:buClr>
              <a:buSzPts val="2400"/>
              <a:buFont typeface="Arial"/>
              <a:buNone/>
              <a:defRPr sz="2400" b="1"/>
            </a:lvl2pPr>
            <a:lvl3pPr marL="1371600" lvl="2" indent="-228600" algn="l">
              <a:lnSpc>
                <a:spcPct val="100000"/>
              </a:lnSpc>
              <a:spcBef>
                <a:spcPts val="500"/>
              </a:spcBef>
              <a:spcAft>
                <a:spcPts val="0"/>
              </a:spcAft>
              <a:buClr>
                <a:srgbClr val="000000"/>
              </a:buClr>
              <a:buSzPts val="2400"/>
              <a:buFont typeface="Arial"/>
              <a:buNone/>
              <a:defRPr sz="2400" b="1"/>
            </a:lvl3pPr>
            <a:lvl4pPr marL="1828800" lvl="3" indent="-228600" algn="l">
              <a:lnSpc>
                <a:spcPct val="100000"/>
              </a:lnSpc>
              <a:spcBef>
                <a:spcPts val="500"/>
              </a:spcBef>
              <a:spcAft>
                <a:spcPts val="0"/>
              </a:spcAft>
              <a:buClr>
                <a:srgbClr val="000000"/>
              </a:buClr>
              <a:buSzPts val="2400"/>
              <a:buFont typeface="Arial"/>
              <a:buNone/>
              <a:defRPr sz="2400" b="1"/>
            </a:lvl4pPr>
            <a:lvl5pPr marL="2286000" lvl="4" indent="-228600" algn="l">
              <a:lnSpc>
                <a:spcPct val="100000"/>
              </a:lnSpc>
              <a:spcBef>
                <a:spcPts val="500"/>
              </a:spcBef>
              <a:spcAft>
                <a:spcPts val="0"/>
              </a:spcAft>
              <a:buClr>
                <a:srgbClr val="000000"/>
              </a:buClr>
              <a:buSzPts val="2400"/>
              <a:buFont typeface="Arial"/>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8" name="Google Shape;98;p69"/>
          <p:cNvSpPr txBox="1">
            <a:spLocks noGrp="1"/>
          </p:cNvSpPr>
          <p:nvPr>
            <p:ph type="body" idx="2"/>
          </p:nvPr>
        </p:nvSpPr>
        <p:spPr>
          <a:xfrm>
            <a:off x="4645025" y="1535112"/>
            <a:ext cx="4041775" cy="827088"/>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9" name="Google Shape;99;p69"/>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alpha val="72156"/>
          </a:srgbClr>
        </a:solidFill>
        <a:effectLst/>
      </p:bgPr>
    </p:bg>
    <p:spTree>
      <p:nvGrpSpPr>
        <p:cNvPr id="1" name="Shape 100"/>
        <p:cNvGrpSpPr/>
        <p:nvPr/>
      </p:nvGrpSpPr>
      <p:grpSpPr>
        <a:xfrm>
          <a:off x="0" y="0"/>
          <a:ext cx="0" cy="0"/>
          <a:chOff x="0" y="0"/>
          <a:chExt cx="0" cy="0"/>
        </a:xfrm>
      </p:grpSpPr>
      <p:grpSp>
        <p:nvGrpSpPr>
          <p:cNvPr id="101" name="Google Shape;101;p70"/>
          <p:cNvGrpSpPr/>
          <p:nvPr/>
        </p:nvGrpSpPr>
        <p:grpSpPr>
          <a:xfrm>
            <a:off x="-702671" y="-883443"/>
            <a:ext cx="10499751" cy="9147815"/>
            <a:chOff x="-702671" y="-883443"/>
            <a:chExt cx="10499751" cy="9147815"/>
          </a:xfrm>
        </p:grpSpPr>
        <p:pic>
          <p:nvPicPr>
            <p:cNvPr id="102" name="Google Shape;102;p70"/>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03" name="Google Shape;103;p70"/>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04" name="Google Shape;104;p70"/>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05" name="Google Shape;105;p70"/>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06" name="Google Shape;106;p70"/>
            <p:cNvGrpSpPr/>
            <p:nvPr/>
          </p:nvGrpSpPr>
          <p:grpSpPr>
            <a:xfrm>
              <a:off x="-1" y="0"/>
              <a:ext cx="9144003" cy="6857673"/>
              <a:chOff x="-1" y="0"/>
              <a:chExt cx="9144003" cy="6857673"/>
            </a:xfrm>
          </p:grpSpPr>
          <p:grpSp>
            <p:nvGrpSpPr>
              <p:cNvPr id="107" name="Google Shape;107;p70"/>
              <p:cNvGrpSpPr/>
              <p:nvPr/>
            </p:nvGrpSpPr>
            <p:grpSpPr>
              <a:xfrm>
                <a:off x="-1" y="1295400"/>
                <a:ext cx="7010403" cy="46039"/>
                <a:chOff x="-1" y="0"/>
                <a:chExt cx="7010402" cy="46038"/>
              </a:xfrm>
            </p:grpSpPr>
            <p:sp>
              <p:nvSpPr>
                <p:cNvPr id="108" name="Google Shape;108;p70"/>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9" name="Google Shape;109;p70"/>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0" name="Google Shape;110;p70"/>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11" name="Google Shape;111;p70"/>
              <p:cNvGrpSpPr/>
              <p:nvPr/>
            </p:nvGrpSpPr>
            <p:grpSpPr>
              <a:xfrm>
                <a:off x="2133599" y="6553200"/>
                <a:ext cx="7010403" cy="46039"/>
                <a:chOff x="-1" y="0"/>
                <a:chExt cx="7010402" cy="46038"/>
              </a:xfrm>
            </p:grpSpPr>
            <p:sp>
              <p:nvSpPr>
                <p:cNvPr id="112" name="Google Shape;112;p70"/>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3" name="Google Shape;113;p70"/>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4" name="Google Shape;114;p70"/>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15" name="Google Shape;115;p70"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16" name="Google Shape;116;p70"/>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17" name="Google Shape;117;p70"/>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18" name="Google Shape;118;p70"/>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19" name="Google Shape;119;p70"/>
          <p:cNvSpPr txBox="1">
            <a:spLocks noGrp="1"/>
          </p:cNvSpPr>
          <p:nvPr>
            <p:ph type="body" idx="1"/>
          </p:nvPr>
        </p:nvSpPr>
        <p:spPr>
          <a:xfrm>
            <a:off x="304800" y="152400"/>
            <a:ext cx="6324600" cy="1143000"/>
          </a:xfrm>
          <a:prstGeom prst="rect">
            <a:avLst/>
          </a:prstGeom>
          <a:noFill/>
          <a:ln>
            <a:noFill/>
          </a:ln>
        </p:spPr>
        <p:txBody>
          <a:bodyPr spcFirstLastPara="1" wrap="square" lIns="45700" tIns="45700" rIns="45700" bIns="45700" anchor="ctr" anchorCtr="0">
            <a:normAutofit/>
          </a:bodyPr>
          <a:lstStyle>
            <a:lvl1pPr marL="457200" lvl="0" indent="-228600" algn="l">
              <a:lnSpc>
                <a:spcPct val="100000"/>
              </a:lnSpc>
              <a:spcBef>
                <a:spcPts val="0"/>
              </a:spcBef>
              <a:spcAft>
                <a:spcPts val="0"/>
              </a:spcAft>
              <a:buClr>
                <a:srgbClr val="000000"/>
              </a:buClr>
              <a:buSzPts val="3600"/>
              <a:buFont typeface="Arial"/>
              <a:buNone/>
              <a:defRPr sz="3600" b="1"/>
            </a:lvl1pPr>
            <a:lvl2pPr marL="914400" lvl="1" indent="-457200" algn="l">
              <a:lnSpc>
                <a:spcPct val="100000"/>
              </a:lnSpc>
              <a:spcBef>
                <a:spcPts val="0"/>
              </a:spcBef>
              <a:spcAft>
                <a:spcPts val="0"/>
              </a:spcAft>
              <a:buClr>
                <a:srgbClr val="000000"/>
              </a:buClr>
              <a:buSzPts val="3600"/>
              <a:buFont typeface="Arial"/>
              <a:buChar char="–"/>
              <a:defRPr sz="3600" b="1"/>
            </a:lvl2pPr>
            <a:lvl3pPr marL="1371600" lvl="2" indent="-457200" algn="l">
              <a:lnSpc>
                <a:spcPct val="100000"/>
              </a:lnSpc>
              <a:spcBef>
                <a:spcPts val="0"/>
              </a:spcBef>
              <a:spcAft>
                <a:spcPts val="0"/>
              </a:spcAft>
              <a:buClr>
                <a:srgbClr val="000000"/>
              </a:buClr>
              <a:buSzPts val="3600"/>
              <a:buFont typeface="Arial"/>
              <a:buChar char="•"/>
              <a:defRPr sz="3600" b="1"/>
            </a:lvl3pPr>
            <a:lvl4pPr marL="1828800" lvl="3" indent="-457200" algn="l">
              <a:lnSpc>
                <a:spcPct val="100000"/>
              </a:lnSpc>
              <a:spcBef>
                <a:spcPts val="0"/>
              </a:spcBef>
              <a:spcAft>
                <a:spcPts val="0"/>
              </a:spcAft>
              <a:buClr>
                <a:srgbClr val="000000"/>
              </a:buClr>
              <a:buSzPts val="3600"/>
              <a:buFont typeface="Arial"/>
              <a:buChar char="–"/>
              <a:defRPr sz="3600" b="1"/>
            </a:lvl4pPr>
            <a:lvl5pPr marL="2286000" lvl="4" indent="-457200" algn="l">
              <a:lnSpc>
                <a:spcPct val="100000"/>
              </a:lnSpc>
              <a:spcBef>
                <a:spcPts val="0"/>
              </a:spcBef>
              <a:spcAft>
                <a:spcPts val="0"/>
              </a:spcAft>
              <a:buClr>
                <a:srgbClr val="000000"/>
              </a:buClr>
              <a:buSzPts val="3600"/>
              <a:buFont typeface="Arial"/>
              <a:buChar char="»"/>
              <a:defRPr sz="36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0" name="Google Shape;120;p70"/>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Shape 121"/>
        <p:cNvGrpSpPr/>
        <p:nvPr/>
      </p:nvGrpSpPr>
      <p:grpSpPr>
        <a:xfrm>
          <a:off x="0" y="0"/>
          <a:ext cx="0" cy="0"/>
          <a:chOff x="0" y="0"/>
          <a:chExt cx="0" cy="0"/>
        </a:xfrm>
      </p:grpSpPr>
      <p:grpSp>
        <p:nvGrpSpPr>
          <p:cNvPr id="122" name="Google Shape;122;p71"/>
          <p:cNvGrpSpPr/>
          <p:nvPr/>
        </p:nvGrpSpPr>
        <p:grpSpPr>
          <a:xfrm>
            <a:off x="-702671" y="-883443"/>
            <a:ext cx="10499751" cy="9147815"/>
            <a:chOff x="-702671" y="-883443"/>
            <a:chExt cx="10499751" cy="9147815"/>
          </a:xfrm>
        </p:grpSpPr>
        <p:pic>
          <p:nvPicPr>
            <p:cNvPr id="123" name="Google Shape;123;p71"/>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24" name="Google Shape;124;p71"/>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25" name="Google Shape;125;p71"/>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26" name="Google Shape;126;p71"/>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27" name="Google Shape;127;p71"/>
            <p:cNvGrpSpPr/>
            <p:nvPr/>
          </p:nvGrpSpPr>
          <p:grpSpPr>
            <a:xfrm>
              <a:off x="-1" y="0"/>
              <a:ext cx="9144003" cy="6857673"/>
              <a:chOff x="-1" y="0"/>
              <a:chExt cx="9144003" cy="6857673"/>
            </a:xfrm>
          </p:grpSpPr>
          <p:grpSp>
            <p:nvGrpSpPr>
              <p:cNvPr id="128" name="Google Shape;128;p71"/>
              <p:cNvGrpSpPr/>
              <p:nvPr/>
            </p:nvGrpSpPr>
            <p:grpSpPr>
              <a:xfrm>
                <a:off x="-1" y="1295400"/>
                <a:ext cx="7010403" cy="46039"/>
                <a:chOff x="-1" y="0"/>
                <a:chExt cx="7010402" cy="46038"/>
              </a:xfrm>
            </p:grpSpPr>
            <p:sp>
              <p:nvSpPr>
                <p:cNvPr id="129" name="Google Shape;129;p71"/>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0" name="Google Shape;130;p71"/>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1" name="Google Shape;131;p71"/>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32" name="Google Shape;132;p71"/>
              <p:cNvGrpSpPr/>
              <p:nvPr/>
            </p:nvGrpSpPr>
            <p:grpSpPr>
              <a:xfrm>
                <a:off x="2133599" y="6553200"/>
                <a:ext cx="7010403" cy="46039"/>
                <a:chOff x="-1" y="0"/>
                <a:chExt cx="7010402" cy="46038"/>
              </a:xfrm>
            </p:grpSpPr>
            <p:sp>
              <p:nvSpPr>
                <p:cNvPr id="133" name="Google Shape;133;p71"/>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4" name="Google Shape;134;p71"/>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5" name="Google Shape;135;p71"/>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36" name="Google Shape;136;p71"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37" name="Google Shape;137;p71"/>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38" name="Google Shape;138;p71"/>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39" name="Google Shape;139;p71"/>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40" name="Google Shape;140;p71"/>
          <p:cNvSpPr txBox="1">
            <a:spLocks noGrp="1"/>
          </p:cNvSpPr>
          <p:nvPr>
            <p:ph type="body" idx="1"/>
          </p:nvPr>
        </p:nvSpPr>
        <p:spPr>
          <a:xfrm>
            <a:off x="3575050" y="1600200"/>
            <a:ext cx="511175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1" name="Google Shape;141;p71"/>
          <p:cNvSpPr txBox="1">
            <a:spLocks noGrp="1"/>
          </p:cNvSpPr>
          <p:nvPr>
            <p:ph type="body" idx="2"/>
          </p:nvPr>
        </p:nvSpPr>
        <p:spPr>
          <a:xfrm>
            <a:off x="457199" y="1600200"/>
            <a:ext cx="3008315"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2" name="Google Shape;142;p7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rgbClr val="FFFFFF"/>
        </a:solidFill>
        <a:effectLst/>
      </p:bgPr>
    </p:bg>
    <p:spTree>
      <p:nvGrpSpPr>
        <p:cNvPr id="1" name="Shape 143"/>
        <p:cNvGrpSpPr/>
        <p:nvPr/>
      </p:nvGrpSpPr>
      <p:grpSpPr>
        <a:xfrm>
          <a:off x="0" y="0"/>
          <a:ext cx="0" cy="0"/>
          <a:chOff x="0" y="0"/>
          <a:chExt cx="0" cy="0"/>
        </a:xfrm>
      </p:grpSpPr>
      <p:grpSp>
        <p:nvGrpSpPr>
          <p:cNvPr id="144" name="Google Shape;144;p72"/>
          <p:cNvGrpSpPr/>
          <p:nvPr/>
        </p:nvGrpSpPr>
        <p:grpSpPr>
          <a:xfrm>
            <a:off x="-702671" y="-883443"/>
            <a:ext cx="10499751" cy="9147815"/>
            <a:chOff x="-702671" y="-883443"/>
            <a:chExt cx="10499751" cy="9147815"/>
          </a:xfrm>
        </p:grpSpPr>
        <p:pic>
          <p:nvPicPr>
            <p:cNvPr id="145" name="Google Shape;145;p72"/>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46" name="Google Shape;146;p72"/>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47" name="Google Shape;147;p72"/>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48" name="Google Shape;148;p72"/>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49" name="Google Shape;149;p72"/>
            <p:cNvGrpSpPr/>
            <p:nvPr/>
          </p:nvGrpSpPr>
          <p:grpSpPr>
            <a:xfrm>
              <a:off x="-1" y="0"/>
              <a:ext cx="9144003" cy="6857673"/>
              <a:chOff x="-1" y="0"/>
              <a:chExt cx="9144003" cy="6857673"/>
            </a:xfrm>
          </p:grpSpPr>
          <p:grpSp>
            <p:nvGrpSpPr>
              <p:cNvPr id="150" name="Google Shape;150;p72"/>
              <p:cNvGrpSpPr/>
              <p:nvPr/>
            </p:nvGrpSpPr>
            <p:grpSpPr>
              <a:xfrm>
                <a:off x="-1" y="1295400"/>
                <a:ext cx="7010403" cy="46039"/>
                <a:chOff x="-1" y="0"/>
                <a:chExt cx="7010402" cy="46038"/>
              </a:xfrm>
            </p:grpSpPr>
            <p:sp>
              <p:nvSpPr>
                <p:cNvPr id="151" name="Google Shape;151;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2" name="Google Shape;152;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3" name="Google Shape;153;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54" name="Google Shape;154;p72"/>
              <p:cNvGrpSpPr/>
              <p:nvPr/>
            </p:nvGrpSpPr>
            <p:grpSpPr>
              <a:xfrm>
                <a:off x="2133599" y="6553200"/>
                <a:ext cx="7010403" cy="46039"/>
                <a:chOff x="-1" y="0"/>
                <a:chExt cx="7010402" cy="46038"/>
              </a:xfrm>
            </p:grpSpPr>
            <p:sp>
              <p:nvSpPr>
                <p:cNvPr id="155" name="Google Shape;155;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6" name="Google Shape;156;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7" name="Google Shape;157;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58" name="Google Shape;158;p72"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59" name="Google Shape;159;p72"/>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60" name="Google Shape;160;p72"/>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61" name="Google Shape;161;p72"/>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62" name="Google Shape;162;p72"/>
          <p:cNvSpPr txBox="1">
            <a:spLocks noGrp="1"/>
          </p:cNvSpPr>
          <p:nvPr>
            <p:ph type="title"/>
          </p:nvPr>
        </p:nvSpPr>
        <p:spPr>
          <a:xfrm>
            <a:off x="1792288" y="5407025"/>
            <a:ext cx="5486401"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0000"/>
              </a:buClr>
              <a:buSzPts val="1800"/>
              <a:buFont typeface="Arial"/>
              <a:buNone/>
              <a:defRPr sz="1800">
                <a:solidFill>
                  <a:srgbClr val="000000"/>
                </a:solidFill>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63" name="Google Shape;163;p72"/>
          <p:cNvSpPr txBox="1">
            <a:spLocks noGrp="1"/>
          </p:cNvSpPr>
          <p:nvPr>
            <p:ph type="body" idx="1"/>
          </p:nvPr>
        </p:nvSpPr>
        <p:spPr>
          <a:xfrm>
            <a:off x="1792288" y="5711825"/>
            <a:ext cx="5486401" cy="30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600"/>
              <a:buFont typeface="Arial"/>
              <a:buNone/>
              <a:defRPr sz="1600"/>
            </a:lvl1pPr>
            <a:lvl2pPr marL="914400" lvl="1" indent="-228600" algn="l">
              <a:lnSpc>
                <a:spcPct val="100000"/>
              </a:lnSpc>
              <a:spcBef>
                <a:spcPts val="300"/>
              </a:spcBef>
              <a:spcAft>
                <a:spcPts val="0"/>
              </a:spcAft>
              <a:buClr>
                <a:srgbClr val="000000"/>
              </a:buClr>
              <a:buSzPts val="1600"/>
              <a:buFont typeface="Arial"/>
              <a:buNone/>
              <a:defRPr sz="1600"/>
            </a:lvl2pPr>
            <a:lvl3pPr marL="1371600" lvl="2" indent="-228600" algn="l">
              <a:lnSpc>
                <a:spcPct val="100000"/>
              </a:lnSpc>
              <a:spcBef>
                <a:spcPts val="300"/>
              </a:spcBef>
              <a:spcAft>
                <a:spcPts val="0"/>
              </a:spcAft>
              <a:buClr>
                <a:srgbClr val="000000"/>
              </a:buClr>
              <a:buSzPts val="1600"/>
              <a:buFont typeface="Arial"/>
              <a:buNone/>
              <a:defRPr sz="1600"/>
            </a:lvl3pPr>
            <a:lvl4pPr marL="1828800" lvl="3" indent="-228600" algn="l">
              <a:lnSpc>
                <a:spcPct val="100000"/>
              </a:lnSpc>
              <a:spcBef>
                <a:spcPts val="300"/>
              </a:spcBef>
              <a:spcAft>
                <a:spcPts val="0"/>
              </a:spcAft>
              <a:buClr>
                <a:srgbClr val="000000"/>
              </a:buClr>
              <a:buSzPts val="1600"/>
              <a:buFont typeface="Arial"/>
              <a:buNone/>
              <a:defRPr sz="1600"/>
            </a:lvl4pPr>
            <a:lvl5pPr marL="2286000" lvl="4" indent="-228600" algn="l">
              <a:lnSpc>
                <a:spcPct val="100000"/>
              </a:lnSpc>
              <a:spcBef>
                <a:spcPts val="300"/>
              </a:spcBef>
              <a:spcAft>
                <a:spcPts val="0"/>
              </a:spcAft>
              <a:buClr>
                <a:srgbClr val="000000"/>
              </a:buClr>
              <a:buSzPts val="1600"/>
              <a:buFont typeface="Arial"/>
              <a:buNone/>
              <a:defRPr sz="16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64" name="Google Shape;164;p72"/>
          <p:cNvSpPr>
            <a:spLocks noGrp="1"/>
          </p:cNvSpPr>
          <p:nvPr>
            <p:ph type="pic" idx="2"/>
          </p:nvPr>
        </p:nvSpPr>
        <p:spPr>
          <a:xfrm>
            <a:off x="1792288" y="1828800"/>
            <a:ext cx="5486401" cy="3429000"/>
          </a:xfrm>
          <a:prstGeom prst="rect">
            <a:avLst/>
          </a:prstGeom>
          <a:noFill/>
          <a:ln w="57150" cap="flat" cmpd="sng">
            <a:solidFill>
              <a:srgbClr val="DCE6F2"/>
            </a:solidFill>
            <a:prstDash val="solid"/>
            <a:round/>
            <a:headEnd type="none" w="sm" len="sm"/>
            <a:tailEnd type="none" w="sm" len="sm"/>
          </a:ln>
        </p:spPr>
      </p:sp>
      <p:sp>
        <p:nvSpPr>
          <p:cNvPr id="165" name="Google Shape;165;p7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pic>
        <p:nvPicPr>
          <p:cNvPr id="19" name="Google Shape;19;p10"/>
          <p:cNvPicPr preferRelativeResize="0"/>
          <p:nvPr/>
        </p:nvPicPr>
        <p:blipFill rotWithShape="1">
          <a:blip r:embed="rId2">
            <a:alphaModFix amt="50000"/>
          </a:blip>
          <a:srcRect l="177" t="-543" r="177" b="-542"/>
          <a:stretch/>
        </p:blipFill>
        <p:spPr>
          <a:xfrm>
            <a:off x="3563108" y="2223656"/>
            <a:ext cx="2017786" cy="2729344"/>
          </a:xfrm>
          <a:prstGeom prst="rect">
            <a:avLst/>
          </a:prstGeom>
          <a:noFill/>
          <a:ln>
            <a:noFill/>
          </a:ln>
        </p:spPr>
      </p:pic>
      <p:pic>
        <p:nvPicPr>
          <p:cNvPr id="20" name="Google Shape;20;p10"/>
          <p:cNvPicPr preferRelativeResize="0"/>
          <p:nvPr/>
        </p:nvPicPr>
        <p:blipFill rotWithShape="1">
          <a:blip r:embed="rId3">
            <a:alphaModFix/>
          </a:blip>
          <a:srcRect/>
          <a:stretch/>
        </p:blipFill>
        <p:spPr>
          <a:xfrm>
            <a:off x="0" y="6817420"/>
            <a:ext cx="9144000" cy="40580"/>
          </a:xfrm>
          <a:prstGeom prst="rect">
            <a:avLst/>
          </a:prstGeom>
          <a:noFill/>
          <a:ln>
            <a:noFill/>
          </a:ln>
        </p:spPr>
      </p:pic>
      <p:pic>
        <p:nvPicPr>
          <p:cNvPr id="21" name="Google Shape;21;p10"/>
          <p:cNvPicPr preferRelativeResize="0"/>
          <p:nvPr/>
        </p:nvPicPr>
        <p:blipFill rotWithShape="1">
          <a:blip r:embed="rId4">
            <a:alphaModFix/>
          </a:blip>
          <a:srcRect/>
          <a:stretch/>
        </p:blipFill>
        <p:spPr>
          <a:xfrm>
            <a:off x="0" y="160569"/>
            <a:ext cx="8001000" cy="764364"/>
          </a:xfrm>
          <a:prstGeom prst="rect">
            <a:avLst/>
          </a:prstGeom>
          <a:noFill/>
          <a:ln>
            <a:noFill/>
          </a:ln>
        </p:spPr>
      </p:pic>
      <p:sp>
        <p:nvSpPr>
          <p:cNvPr id="22" name="Google Shape;22;p10"/>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Helvetica Neue"/>
              <a:buNone/>
              <a:defRPr sz="2400" b="1">
                <a:solidFill>
                  <a:schemeClr val="lt1"/>
                </a:solidFill>
                <a:latin typeface="Helvetica" panose="020B0604020202020204" pitchFamily="34" charset="0"/>
                <a:ea typeface="Helvetica" panose="020B0604020202020204" pitchFamily="34" charset="0"/>
                <a:cs typeface="Helvetica" panose="020B0604020202020204" pitchFamily="34" charset="0"/>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0"/>
          <p:cNvSpPr txBox="1">
            <a:spLocks noGrp="1"/>
          </p:cNvSpPr>
          <p:nvPr>
            <p:ph type="body" idx="1"/>
          </p:nvPr>
        </p:nvSpPr>
        <p:spPr>
          <a:xfrm>
            <a:off x="643304" y="1600202"/>
            <a:ext cx="7620000" cy="272891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sz="1350">
                <a:latin typeface="Helvetica" panose="020B0604020202020204" pitchFamily="34" charset="0"/>
                <a:ea typeface="Helvetica" panose="020B0604020202020204" pitchFamily="34" charset="0"/>
                <a:cs typeface="Helvetica" panose="020B0604020202020204" pitchFamily="34" charset="0"/>
                <a:sym typeface="Helvetica Neue"/>
              </a:defRPr>
            </a:lvl1pPr>
            <a:lvl2pPr marL="685800" lvl="1" indent="-247650" algn="l">
              <a:lnSpc>
                <a:spcPct val="90000"/>
              </a:lnSpc>
              <a:spcBef>
                <a:spcPts val="375"/>
              </a:spcBef>
              <a:spcAft>
                <a:spcPts val="0"/>
              </a:spcAft>
              <a:buClr>
                <a:schemeClr val="dk1"/>
              </a:buClr>
              <a:buSzPts val="1600"/>
              <a:buChar char="•"/>
              <a:defRPr sz="1200">
                <a:latin typeface="Helvetica Neue"/>
                <a:ea typeface="Helvetica Neue"/>
                <a:cs typeface="Helvetica Neue"/>
                <a:sym typeface="Helvetica Neue"/>
              </a:defRPr>
            </a:lvl2pPr>
            <a:lvl3pPr marL="1028700" lvl="2" indent="-238125" algn="l">
              <a:lnSpc>
                <a:spcPct val="90000"/>
              </a:lnSpc>
              <a:spcBef>
                <a:spcPts val="375"/>
              </a:spcBef>
              <a:spcAft>
                <a:spcPts val="0"/>
              </a:spcAft>
              <a:buClr>
                <a:schemeClr val="dk1"/>
              </a:buClr>
              <a:buSzPts val="1400"/>
              <a:buChar char="•"/>
              <a:defRPr sz="1050">
                <a:latin typeface="Helvetica Neue"/>
                <a:ea typeface="Helvetica Neue"/>
                <a:cs typeface="Helvetica Neue"/>
                <a:sym typeface="Helvetica Neue"/>
              </a:defRPr>
            </a:lvl3pPr>
            <a:lvl4pPr marL="1371600" lvl="3" indent="-228600" algn="l">
              <a:lnSpc>
                <a:spcPct val="90000"/>
              </a:lnSpc>
              <a:spcBef>
                <a:spcPts val="375"/>
              </a:spcBef>
              <a:spcAft>
                <a:spcPts val="0"/>
              </a:spcAft>
              <a:buClr>
                <a:schemeClr val="dk1"/>
              </a:buClr>
              <a:buSzPts val="1200"/>
              <a:buChar char="•"/>
              <a:defRPr sz="900">
                <a:latin typeface="Helvetica Neue"/>
                <a:ea typeface="Helvetica Neue"/>
                <a:cs typeface="Helvetica Neue"/>
                <a:sym typeface="Helvetica Neue"/>
              </a:defRPr>
            </a:lvl4pPr>
            <a:lvl5pPr marL="1714500" lvl="4" indent="-228600" algn="l">
              <a:lnSpc>
                <a:spcPct val="90000"/>
              </a:lnSpc>
              <a:spcBef>
                <a:spcPts val="375"/>
              </a:spcBef>
              <a:spcAft>
                <a:spcPts val="0"/>
              </a:spcAft>
              <a:buClr>
                <a:schemeClr val="dk1"/>
              </a:buClr>
              <a:buSzPts val="1200"/>
              <a:buChar char="•"/>
              <a:defRPr sz="900">
                <a:latin typeface="Helvetica Neue"/>
                <a:ea typeface="Helvetica Neue"/>
                <a:cs typeface="Helvetica Neue"/>
                <a:sym typeface="Helvetica Neue"/>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dirty="0"/>
          </a:p>
        </p:txBody>
      </p:sp>
      <p:sp>
        <p:nvSpPr>
          <p:cNvPr id="24" name="Google Shape;24;p10"/>
          <p:cNvSpPr txBox="1">
            <a:spLocks noGrp="1"/>
          </p:cNvSpPr>
          <p:nvPr>
            <p:ph type="body" idx="2"/>
          </p:nvPr>
        </p:nvSpPr>
        <p:spPr>
          <a:xfrm>
            <a:off x="246935" y="1143002"/>
            <a:ext cx="8397717" cy="395287"/>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1C1573"/>
              </a:buClr>
              <a:buSzPts val="2000"/>
              <a:buNone/>
              <a:defRPr sz="1500" b="1">
                <a:solidFill>
                  <a:srgbClr val="1C1573"/>
                </a:solidFill>
                <a:latin typeface="Helvetica" panose="020B0604020202020204" pitchFamily="34" charset="0"/>
                <a:ea typeface="Helvetica" panose="020B0604020202020204" pitchFamily="34" charset="0"/>
                <a:cs typeface="Helvetica" panose="020B0604020202020204" pitchFamily="34" charset="0"/>
                <a:sym typeface="Helvetica Neue"/>
              </a:defRPr>
            </a:lvl1pPr>
            <a:lvl2pPr marL="685800" lvl="1" indent="-285750" algn="l">
              <a:lnSpc>
                <a:spcPct val="90000"/>
              </a:lnSpc>
              <a:spcBef>
                <a:spcPts val="375"/>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marL="1028700" lvl="2" indent="-266700" algn="l">
              <a:lnSpc>
                <a:spcPct val="90000"/>
              </a:lnSpc>
              <a:spcBef>
                <a:spcPts val="375"/>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marL="1371600" lvl="3" indent="-257175" algn="l">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marL="1714500" lvl="4" indent="-257175" algn="l">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72329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type="tx">
  <p:cSld name="TITLE_AND_BODY">
    <p:bg>
      <p:bgPr>
        <a:solidFill>
          <a:srgbClr val="FFFFFF"/>
        </a:solidFill>
        <a:effectLst/>
      </p:bgPr>
    </p:bg>
    <p:spTree>
      <p:nvGrpSpPr>
        <p:cNvPr id="1" name="Shape 172"/>
        <p:cNvGrpSpPr/>
        <p:nvPr/>
      </p:nvGrpSpPr>
      <p:grpSpPr>
        <a:xfrm>
          <a:off x="0" y="0"/>
          <a:ext cx="0" cy="0"/>
          <a:chOff x="0" y="0"/>
          <a:chExt cx="0" cy="0"/>
        </a:xfrm>
      </p:grpSpPr>
      <p:grpSp>
        <p:nvGrpSpPr>
          <p:cNvPr id="173" name="Google Shape;173;p65"/>
          <p:cNvGrpSpPr/>
          <p:nvPr/>
        </p:nvGrpSpPr>
        <p:grpSpPr>
          <a:xfrm>
            <a:off x="-702671" y="-883443"/>
            <a:ext cx="10499751" cy="9147815"/>
            <a:chOff x="-702671" y="-883443"/>
            <a:chExt cx="10499751" cy="9147815"/>
          </a:xfrm>
        </p:grpSpPr>
        <p:pic>
          <p:nvPicPr>
            <p:cNvPr id="174" name="Google Shape;174;p65"/>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75" name="Google Shape;175;p65"/>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76" name="Google Shape;176;p65"/>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77" name="Google Shape;177;p65"/>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78" name="Google Shape;178;p65"/>
            <p:cNvGrpSpPr/>
            <p:nvPr/>
          </p:nvGrpSpPr>
          <p:grpSpPr>
            <a:xfrm>
              <a:off x="-1" y="0"/>
              <a:ext cx="9144003" cy="6857673"/>
              <a:chOff x="-1" y="0"/>
              <a:chExt cx="9144003" cy="6857673"/>
            </a:xfrm>
          </p:grpSpPr>
          <p:grpSp>
            <p:nvGrpSpPr>
              <p:cNvPr id="179" name="Google Shape;179;p65"/>
              <p:cNvGrpSpPr/>
              <p:nvPr/>
            </p:nvGrpSpPr>
            <p:grpSpPr>
              <a:xfrm>
                <a:off x="-1" y="1295400"/>
                <a:ext cx="7010403" cy="46039"/>
                <a:chOff x="-1" y="0"/>
                <a:chExt cx="7010402" cy="46038"/>
              </a:xfrm>
            </p:grpSpPr>
            <p:sp>
              <p:nvSpPr>
                <p:cNvPr id="180" name="Google Shape;180;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1" name="Google Shape;181;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2" name="Google Shape;182;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83" name="Google Shape;183;p65"/>
              <p:cNvGrpSpPr/>
              <p:nvPr/>
            </p:nvGrpSpPr>
            <p:grpSpPr>
              <a:xfrm>
                <a:off x="2133599" y="6553200"/>
                <a:ext cx="7010403" cy="46039"/>
                <a:chOff x="-1" y="0"/>
                <a:chExt cx="7010402" cy="46038"/>
              </a:xfrm>
            </p:grpSpPr>
            <p:sp>
              <p:nvSpPr>
                <p:cNvPr id="184" name="Google Shape;184;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5" name="Google Shape;185;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6" name="Google Shape;186;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87" name="Google Shape;187;p65"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88" name="Google Shape;188;p65"/>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89" name="Google Shape;189;p65"/>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90" name="Google Shape;190;p65"/>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91" name="Google Shape;191;p6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600"/>
              <a:buFont typeface="Calibri"/>
              <a:buNone/>
              <a:defRPr sz="3600" b="1"/>
            </a:lvl1pPr>
            <a:lvl2pPr marL="914400" lvl="1" indent="-406400" algn="l">
              <a:lnSpc>
                <a:spcPct val="100000"/>
              </a:lnSpc>
              <a:spcBef>
                <a:spcPts val="0"/>
              </a:spcBef>
              <a:spcAft>
                <a:spcPts val="0"/>
              </a:spcAft>
              <a:buSzPts val="2800"/>
              <a:buFont typeface="Calibri"/>
              <a:buChar char="–"/>
              <a:defRPr sz="3600" b="1"/>
            </a:lvl2pPr>
            <a:lvl3pPr marL="1371600" lvl="2" indent="-381000" algn="l">
              <a:lnSpc>
                <a:spcPct val="100000"/>
              </a:lnSpc>
              <a:spcBef>
                <a:spcPts val="0"/>
              </a:spcBef>
              <a:spcAft>
                <a:spcPts val="0"/>
              </a:spcAft>
              <a:buSzPts val="2400"/>
              <a:buFont typeface="Calibri"/>
              <a:buChar char="•"/>
              <a:defRPr sz="3600" b="1"/>
            </a:lvl3pPr>
            <a:lvl4pPr marL="1828800" lvl="3" indent="-355600" algn="l">
              <a:lnSpc>
                <a:spcPct val="100000"/>
              </a:lnSpc>
              <a:spcBef>
                <a:spcPts val="0"/>
              </a:spcBef>
              <a:spcAft>
                <a:spcPts val="0"/>
              </a:spcAft>
              <a:buSzPts val="2000"/>
              <a:buFont typeface="Calibri"/>
              <a:buChar char="–"/>
              <a:defRPr sz="3600" b="1"/>
            </a:lvl4pPr>
            <a:lvl5pPr marL="2286000" lvl="4" indent="-355600" algn="l">
              <a:lnSpc>
                <a:spcPct val="100000"/>
              </a:lnSpc>
              <a:spcBef>
                <a:spcPts val="0"/>
              </a:spcBef>
              <a:spcAft>
                <a:spcPts val="0"/>
              </a:spcAft>
              <a:buSzPts val="2000"/>
              <a:buFont typeface="Calibri"/>
              <a:buChar char="»"/>
              <a:defRPr sz="3600" b="1"/>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192" name="Google Shape;192;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5"/>
        <p:cNvGrpSpPr/>
        <p:nvPr/>
      </p:nvGrpSpPr>
      <p:grpSpPr>
        <a:xfrm>
          <a:off x="0" y="0"/>
          <a:ext cx="0" cy="0"/>
          <a:chOff x="0" y="0"/>
          <a:chExt cx="0" cy="0"/>
        </a:xfrm>
      </p:grpSpPr>
      <p:sp>
        <p:nvSpPr>
          <p:cNvPr id="236" name="Google Shape;236;p7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79"/>
          <p:cNvSpPr>
            <a:spLocks noGrp="1"/>
          </p:cNvSpPr>
          <p:nvPr>
            <p:ph type="pic" idx="2"/>
          </p:nvPr>
        </p:nvSpPr>
        <p:spPr>
          <a:xfrm>
            <a:off x="1792288" y="612775"/>
            <a:ext cx="5486400" cy="4114800"/>
          </a:xfrm>
          <a:prstGeom prst="rect">
            <a:avLst/>
          </a:prstGeom>
          <a:noFill/>
          <a:ln>
            <a:noFill/>
          </a:ln>
        </p:spPr>
      </p:sp>
      <p:sp>
        <p:nvSpPr>
          <p:cNvPr id="238" name="Google Shape;238;p7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39" name="Google Shape;239;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0" name="Google Shape;240;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1" name="Google Shape;241;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2"/>
        <p:cNvGrpSpPr/>
        <p:nvPr/>
      </p:nvGrpSpPr>
      <p:grpSpPr>
        <a:xfrm>
          <a:off x="0" y="0"/>
          <a:ext cx="0" cy="0"/>
          <a:chOff x="0" y="0"/>
          <a:chExt cx="0" cy="0"/>
        </a:xfrm>
      </p:grpSpPr>
      <p:sp>
        <p:nvSpPr>
          <p:cNvPr id="243" name="Google Shape;243;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8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5" name="Google Shape;245;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6" name="Google Shape;246;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7" name="Google Shape;247;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48"/>
        <p:cNvGrpSpPr/>
        <p:nvPr/>
      </p:nvGrpSpPr>
      <p:grpSpPr>
        <a:xfrm>
          <a:off x="0" y="0"/>
          <a:ext cx="0" cy="0"/>
          <a:chOff x="0" y="0"/>
          <a:chExt cx="0" cy="0"/>
        </a:xfrm>
      </p:grpSpPr>
      <p:sp>
        <p:nvSpPr>
          <p:cNvPr id="249" name="Google Shape;249;p8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8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1" name="Google Shape;251;p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2" name="Google Shape;252;p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3" name="Google Shape;253;p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82"/>
          <p:cNvSpPr txBox="1"/>
          <p:nvPr/>
        </p:nvSpPr>
        <p:spPr>
          <a:xfrm>
            <a:off x="3276600" y="6596065"/>
            <a:ext cx="5867400" cy="21929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825"/>
              <a:buFont typeface="Arial"/>
              <a:buNone/>
            </a:pPr>
            <a:r>
              <a:rPr lang="en-US" sz="825" b="1" i="0" u="none" strike="noStrike" cap="none">
                <a:solidFill>
                  <a:srgbClr val="101141"/>
                </a:solidFill>
                <a:latin typeface="Arial"/>
                <a:ea typeface="Arial"/>
                <a:cs typeface="Arial"/>
                <a:sym typeface="Arial"/>
              </a:rPr>
              <a:t>BITS </a:t>
            </a:r>
            <a:r>
              <a:rPr lang="en-US" sz="825" b="0" i="0" u="none" strike="noStrike" cap="none">
                <a:solidFill>
                  <a:srgbClr val="101141"/>
                </a:solidFill>
                <a:latin typeface="Arial"/>
                <a:ea typeface="Arial"/>
                <a:cs typeface="Arial"/>
                <a:sym typeface="Arial"/>
              </a:rPr>
              <a:t>Pilani, Pilani Campus</a:t>
            </a:r>
            <a:endParaRPr/>
          </a:p>
        </p:txBody>
      </p:sp>
      <p:grpSp>
        <p:nvGrpSpPr>
          <p:cNvPr id="256" name="Google Shape;256;p82"/>
          <p:cNvGrpSpPr/>
          <p:nvPr/>
        </p:nvGrpSpPr>
        <p:grpSpPr>
          <a:xfrm>
            <a:off x="2084388" y="6550027"/>
            <a:ext cx="7059612" cy="49213"/>
            <a:chOff x="2083888" y="6550671"/>
            <a:chExt cx="7060112" cy="48665"/>
          </a:xfrm>
        </p:grpSpPr>
        <p:sp>
          <p:nvSpPr>
            <p:cNvPr id="257" name="Google Shape;257;p8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58" name="Google Shape;258;p8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59" name="Google Shape;259;p8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grpSp>
      <p:pic>
        <p:nvPicPr>
          <p:cNvPr id="260" name="Google Shape;260;p82"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261" name="Google Shape;261;p82"/>
          <p:cNvGrpSpPr/>
          <p:nvPr/>
        </p:nvGrpSpPr>
        <p:grpSpPr>
          <a:xfrm>
            <a:off x="2133600" y="6553200"/>
            <a:ext cx="7010400" cy="46038"/>
            <a:chOff x="1905000" y="6553200"/>
            <a:chExt cx="7010400" cy="45719"/>
          </a:xfrm>
        </p:grpSpPr>
        <p:sp>
          <p:nvSpPr>
            <p:cNvPr id="262" name="Google Shape;262;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3" name="Google Shape;263;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4" name="Google Shape;264;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grpSp>
      <p:grpSp>
        <p:nvGrpSpPr>
          <p:cNvPr id="265" name="Google Shape;265;p82"/>
          <p:cNvGrpSpPr/>
          <p:nvPr/>
        </p:nvGrpSpPr>
        <p:grpSpPr>
          <a:xfrm>
            <a:off x="0" y="1295400"/>
            <a:ext cx="7010400" cy="46038"/>
            <a:chOff x="1905000" y="6553200"/>
            <a:chExt cx="7010400" cy="45719"/>
          </a:xfrm>
        </p:grpSpPr>
        <p:sp>
          <p:nvSpPr>
            <p:cNvPr id="266" name="Google Shape;266;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7" name="Google Shape;267;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8" name="Google Shape;268;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grpSp>
      <p:sp>
        <p:nvSpPr>
          <p:cNvPr id="269" name="Google Shape;269;p82"/>
          <p:cNvSpPr txBox="1">
            <a:spLocks noGrp="1"/>
          </p:cNvSpPr>
          <p:nvPr>
            <p:ph type="body" idx="1"/>
          </p:nvPr>
        </p:nvSpPr>
        <p:spPr>
          <a:xfrm>
            <a:off x="304800" y="1493839"/>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270" name="Google Shape;270;p8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200"/>
              <a:buNone/>
              <a:defRPr sz="2700" b="1">
                <a:latin typeface="Arial"/>
                <a:ea typeface="Arial"/>
                <a:cs typeface="Arial"/>
                <a:sym typeface="Arial"/>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1"/>
        <p:cNvGrpSpPr/>
        <p:nvPr/>
      </p:nvGrpSpPr>
      <p:grpSpPr>
        <a:xfrm>
          <a:off x="0" y="0"/>
          <a:ext cx="0" cy="0"/>
          <a:chOff x="0" y="0"/>
          <a:chExt cx="0" cy="0"/>
        </a:xfrm>
      </p:grpSpPr>
      <p:sp>
        <p:nvSpPr>
          <p:cNvPr id="272" name="Google Shape;272;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3" name="Google Shape;273;p8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8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5" name="Google Shape;275;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6" name="Google Shape;276;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7" name="Google Shape;277;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298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9pPr>
          </a:lstStyle>
          <a:p>
            <a:endParaRPr/>
          </a:p>
        </p:txBody>
      </p:sp>
      <p:sp>
        <p:nvSpPr>
          <p:cNvPr id="7" name="Google Shape;7;p6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 name="Google Shape;8;p6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1pPr>
            <a:lvl2pPr marR="0" lvl="1"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2pPr>
            <a:lvl3pPr marR="0" lvl="2"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3pPr>
            <a:lvl4pPr marR="0" lvl="3"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4pPr>
            <a:lvl5pPr marR="0" lvl="4"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5pPr>
            <a:lvl6pPr marR="0" lvl="5"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6pPr>
            <a:lvl7pPr marR="0" lvl="6"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7pPr>
            <a:lvl8pPr marR="0" lvl="7"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8pPr>
            <a:lvl9pPr marR="0" lvl="8"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8" name="Google Shape;168;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9" name="Google Shape;16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6" r:id="rId2"/>
    <p:sldLayoutId id="2147483667" r:id="rId3"/>
    <p:sldLayoutId id="2147483668" r:id="rId4"/>
    <p:sldLayoutId id="2147483669" r:id="rId5"/>
    <p:sldLayoutId id="2147483670" r:id="rId6"/>
    <p:sldLayoutId id="2147483672"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SSo_EIwHSd4&amp;t=8s"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
          <p:cNvSpPr txBox="1">
            <a:spLocks noGrp="1"/>
          </p:cNvSpPr>
          <p:nvPr>
            <p:ph type="title"/>
          </p:nvPr>
        </p:nvSpPr>
        <p:spPr>
          <a:xfrm>
            <a:off x="1944210" y="3810000"/>
            <a:ext cx="6590190" cy="1524000"/>
          </a:xfrm>
          <a:prstGeom prst="rect">
            <a:avLst/>
          </a:prstGeom>
          <a:noFill/>
          <a:ln>
            <a:noFill/>
          </a:ln>
        </p:spPr>
        <p:txBody>
          <a:bodyPr spcFirstLastPara="1" wrap="square" lIns="91425" tIns="45700" rIns="91425" bIns="45700" anchor="ctr" anchorCtr="0">
            <a:normAutofit/>
          </a:bodyPr>
          <a:lstStyle/>
          <a:p>
            <a:pPr lvl="0" algn="r">
              <a:lnSpc>
                <a:spcPct val="90909"/>
              </a:lnSpc>
              <a:buSzPts val="4400"/>
            </a:pPr>
            <a:r>
              <a:rPr lang="en-IN" sz="2800" dirty="0" err="1"/>
              <a:t>Blockchain</a:t>
            </a:r>
            <a:r>
              <a:rPr lang="en-IN" sz="2800" dirty="0"/>
              <a:t> Technologies &amp; Systems</a:t>
            </a:r>
            <a:endParaRPr sz="2800" i="0" u="none" strike="noStrike" cap="none" dirty="0">
              <a:solidFill>
                <a:srgbClr val="FFFFFF"/>
              </a:solidFill>
              <a:sym typeface="Arial"/>
            </a:endParaRPr>
          </a:p>
        </p:txBody>
      </p:sp>
      <p:sp>
        <p:nvSpPr>
          <p:cNvPr id="283" name="Google Shape;283;p1"/>
          <p:cNvSpPr txBox="1">
            <a:spLocks noGrp="1"/>
          </p:cNvSpPr>
          <p:nvPr>
            <p:ph type="body" idx="1"/>
          </p:nvPr>
        </p:nvSpPr>
        <p:spPr>
          <a:xfrm>
            <a:off x="2514600" y="5693004"/>
            <a:ext cx="6019800" cy="533400"/>
          </a:xfrm>
          <a:prstGeom prst="rect">
            <a:avLst/>
          </a:prstGeom>
          <a:noFill/>
          <a:ln>
            <a:noFill/>
          </a:ln>
        </p:spPr>
        <p:txBody>
          <a:bodyPr spcFirstLastPara="1" wrap="square" lIns="45700" tIns="45700" rIns="45700" bIns="45700" anchor="b" anchorCtr="0">
            <a:noAutofit/>
          </a:bodyPr>
          <a:lstStyle/>
          <a:p>
            <a:pPr marL="0" lvl="0" indent="0" algn="r" rtl="0">
              <a:lnSpc>
                <a:spcPct val="100000"/>
              </a:lnSpc>
              <a:spcBef>
                <a:spcPts val="0"/>
              </a:spcBef>
              <a:spcAft>
                <a:spcPts val="0"/>
              </a:spcAft>
              <a:buClr>
                <a:schemeClr val="lt1"/>
              </a:buClr>
              <a:buSzPts val="1800"/>
              <a:buNone/>
            </a:pPr>
            <a:r>
              <a:rPr lang="en-US" b="1" dirty="0">
                <a:solidFill>
                  <a:schemeClr val="lt1"/>
                </a:solidFill>
                <a:latin typeface="Arial Rounded"/>
                <a:ea typeface="Arial Rounded"/>
                <a:cs typeface="Arial Rounded"/>
                <a:sym typeface="Arial Rounded"/>
              </a:rPr>
              <a:t>	</a:t>
            </a:r>
            <a:endParaRPr dirty="0"/>
          </a:p>
          <a:p>
            <a:pPr marL="0" lvl="0" indent="0" algn="r" rtl="0">
              <a:lnSpc>
                <a:spcPct val="100000"/>
              </a:lnSpc>
              <a:spcBef>
                <a:spcPts val="0"/>
              </a:spcBef>
              <a:spcAft>
                <a:spcPts val="0"/>
              </a:spcAft>
              <a:buClr>
                <a:srgbClr val="FFFFFF"/>
              </a:buClr>
              <a:buSzPts val="1800"/>
              <a:buNone/>
            </a:pPr>
            <a:endParaRPr b="1" dirty="0">
              <a:solidFill>
                <a:schemeClr val="lt1"/>
              </a:solidFill>
              <a:latin typeface="Arial Rounded"/>
              <a:ea typeface="Arial Rounded"/>
              <a:cs typeface="Arial Rounded"/>
              <a:sym typeface="Arial Rounded"/>
            </a:endParaRPr>
          </a:p>
          <a:p>
            <a:pPr marL="0" lvl="0" indent="0" algn="r" rtl="0">
              <a:lnSpc>
                <a:spcPct val="100000"/>
              </a:lnSpc>
              <a:spcBef>
                <a:spcPts val="0"/>
              </a:spcBef>
              <a:spcAft>
                <a:spcPts val="0"/>
              </a:spcAft>
              <a:buClr>
                <a:srgbClr val="FFFFFF"/>
              </a:buClr>
              <a:buSzPts val="1800"/>
              <a:buNone/>
            </a:pPr>
            <a:endParaRPr b="1" dirty="0">
              <a:solidFill>
                <a:schemeClr val="lt1"/>
              </a:solidFill>
              <a:latin typeface="Arial Rounded"/>
              <a:ea typeface="Arial Rounded"/>
              <a:cs typeface="Arial Rounded"/>
              <a:sym typeface="Arial Rounded"/>
            </a:endParaRPr>
          </a:p>
          <a:p>
            <a:pPr marL="0" lvl="0" indent="0" algn="r" rtl="0">
              <a:lnSpc>
                <a:spcPct val="100000"/>
              </a:lnSpc>
              <a:spcBef>
                <a:spcPts val="0"/>
              </a:spcBef>
              <a:spcAft>
                <a:spcPts val="0"/>
              </a:spcAft>
              <a:buClr>
                <a:srgbClr val="FFFFFF"/>
              </a:buClr>
              <a:buSzPts val="1800"/>
              <a:buNone/>
            </a:pPr>
            <a:endParaRPr b="1" dirty="0">
              <a:solidFill>
                <a:schemeClr val="lt1"/>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
          <p:cNvSpPr txBox="1">
            <a:spLocks noGrp="1"/>
          </p:cNvSpPr>
          <p:nvPr>
            <p:ph type="body" idx="1"/>
          </p:nvPr>
        </p:nvSpPr>
        <p:spPr>
          <a:xfrm>
            <a:off x="342900" y="4977984"/>
            <a:ext cx="8458200" cy="1167984"/>
          </a:xfrm>
          <a:prstGeom prst="rect">
            <a:avLst/>
          </a:prstGeom>
          <a:noFill/>
          <a:ln>
            <a:noFill/>
          </a:ln>
        </p:spPr>
        <p:txBody>
          <a:bodyPr spcFirstLastPara="1" wrap="square" lIns="45700" tIns="45700" rIns="45700" bIns="45700" anchor="t" anchorCtr="0">
            <a:normAutofit fontScale="40000" lnSpcReduction="20000"/>
          </a:bodyPr>
          <a:lstStyle/>
          <a:p>
            <a:pPr marL="0" indent="0" algn="ctr"/>
            <a:r>
              <a:rPr lang="en-IN" dirty="0"/>
              <a:t>SEZG569 – Blockchain Technologies &amp; Systems</a:t>
            </a:r>
            <a:br>
              <a:rPr lang="en-IN" dirty="0"/>
            </a:br>
            <a:endParaRPr lang="en-IN" dirty="0"/>
          </a:p>
          <a:p>
            <a:pPr marL="0" lvl="0" indent="0" algn="ctr"/>
            <a:r>
              <a:rPr lang="en-IN" dirty="0"/>
              <a:t>Lecture No. 03</a:t>
            </a:r>
          </a:p>
          <a:p>
            <a:pPr marL="0" lvl="0" indent="0" algn="ctr"/>
            <a:r>
              <a:rPr lang="en-IN" dirty="0"/>
              <a:t>					</a:t>
            </a:r>
            <a:r>
              <a:rPr lang="en-IN" dirty="0" err="1"/>
              <a:t>Dr.Animesh</a:t>
            </a:r>
            <a:r>
              <a:rPr lang="en-IN" dirty="0"/>
              <a:t> Giri</a:t>
            </a:r>
          </a:p>
          <a:p>
            <a:pPr marL="0" lvl="0" indent="0" algn="ctr"/>
            <a:r>
              <a:rPr lang="en-IN" dirty="0"/>
              <a:t>				</a:t>
            </a:r>
            <a:r>
              <a:rPr lang="en-IN" dirty="0" err="1"/>
              <a:t>animesh.giri@wilp.bits-pilani.ac.in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a:t>
            </a:fld>
            <a:endParaRPr/>
          </a:p>
        </p:txBody>
      </p:sp>
      <p:sp>
        <p:nvSpPr>
          <p:cNvPr id="307" name="Google Shape;307;p5"/>
          <p:cNvSpPr txBox="1"/>
          <p:nvPr/>
        </p:nvSpPr>
        <p:spPr>
          <a:xfrm>
            <a:off x="220575" y="536204"/>
            <a:ext cx="6120680" cy="850106"/>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Times New Roman"/>
                <a:cs typeface="Times New Roman"/>
                <a:sym typeface="Times New Roman"/>
              </a:rPr>
              <a:t>Contents</a:t>
            </a:r>
            <a:endParaRPr sz="1400" b="0" i="0" u="none" strike="noStrike" cap="none" dirty="0">
              <a:solidFill>
                <a:srgbClr val="000000"/>
              </a:solidFill>
              <a:latin typeface="+mj-lt"/>
              <a:sym typeface="Arial"/>
            </a:endParaRPr>
          </a:p>
        </p:txBody>
      </p:sp>
      <p:sp>
        <p:nvSpPr>
          <p:cNvPr id="308" name="Google Shape;308;p5"/>
          <p:cNvSpPr txBox="1"/>
          <p:nvPr/>
        </p:nvSpPr>
        <p:spPr>
          <a:xfrm>
            <a:off x="398107" y="6195823"/>
            <a:ext cx="611560" cy="2931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Calibri"/>
              <a:buNone/>
            </a:pPr>
            <a:fld id="{00000000-1234-1234-1234-123412341234}" type="slidenum">
              <a:rPr lang="en-US" sz="1400" b="0" i="0" u="none" strike="noStrike" cap="none">
                <a:solidFill>
                  <a:schemeClr val="dk1"/>
                </a:solidFill>
                <a:latin typeface="Calibri"/>
                <a:ea typeface="Calibri"/>
                <a:cs typeface="Calibri"/>
                <a:sym typeface="Calibri"/>
              </a:rPr>
              <a:t>3</a:t>
            </a:fld>
            <a:endParaRPr sz="1400" b="0" i="0" u="none" strike="noStrike" cap="none">
              <a:solidFill>
                <a:schemeClr val="dk1"/>
              </a:solidFill>
              <a:latin typeface="Calibri"/>
              <a:ea typeface="Calibri"/>
              <a:cs typeface="Calibri"/>
              <a:sym typeface="Calibri"/>
            </a:endParaRPr>
          </a:p>
        </p:txBody>
      </p:sp>
      <p:sp>
        <p:nvSpPr>
          <p:cNvPr id="4" name="Rectangle 3"/>
          <p:cNvSpPr/>
          <p:nvPr/>
        </p:nvSpPr>
        <p:spPr>
          <a:xfrm>
            <a:off x="398108" y="3236061"/>
            <a:ext cx="8288692" cy="2062103"/>
          </a:xfrm>
          <a:prstGeom prst="rect">
            <a:avLst/>
          </a:prstGeom>
        </p:spPr>
        <p:txBody>
          <a:bodyPr wrap="square">
            <a:spAutoFit/>
          </a:bodyPr>
          <a:lstStyle/>
          <a:p>
            <a:endParaRPr lang="en-IN" sz="2000" dirty="0"/>
          </a:p>
          <a:p>
            <a:r>
              <a:rPr lang="en-IN" sz="2000" dirty="0"/>
              <a:t>CS3.1</a:t>
            </a:r>
          </a:p>
          <a:p>
            <a:pPr marL="342900" lvl="0" indent="-34290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What is a blockchain </a:t>
            </a:r>
          </a:p>
          <a:p>
            <a:pPr marL="342900" lvl="0" indent="-34290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What are nodes</a:t>
            </a:r>
          </a:p>
          <a:p>
            <a:pPr marL="342900" lvl="0" indent="-34290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What are tokens</a:t>
            </a:r>
          </a:p>
          <a:p>
            <a:endParaRPr lang="en-IN" sz="1600" dirty="0"/>
          </a:p>
        </p:txBody>
      </p:sp>
      <p:graphicFrame>
        <p:nvGraphicFramePr>
          <p:cNvPr id="2" name="Table 1">
            <a:extLst>
              <a:ext uri="{FF2B5EF4-FFF2-40B4-BE49-F238E27FC236}">
                <a16:creationId xmlns:a16="http://schemas.microsoft.com/office/drawing/2014/main" id="{1FA4BD0F-3591-8FB0-EEFD-BD884BE887F4}"/>
              </a:ext>
            </a:extLst>
          </p:cNvPr>
          <p:cNvGraphicFramePr>
            <a:graphicFrameLocks noGrp="1"/>
          </p:cNvGraphicFramePr>
          <p:nvPr>
            <p:extLst>
              <p:ext uri="{D42A27DB-BD31-4B8C-83A1-F6EECF244321}">
                <p14:modId xmlns:p14="http://schemas.microsoft.com/office/powerpoint/2010/main" val="4212425487"/>
              </p:ext>
            </p:extLst>
          </p:nvPr>
        </p:nvGraphicFramePr>
        <p:xfrm>
          <a:off x="220575" y="1386310"/>
          <a:ext cx="8466225" cy="1764792"/>
        </p:xfrm>
        <a:graphic>
          <a:graphicData uri="http://schemas.openxmlformats.org/drawingml/2006/table">
            <a:tbl>
              <a:tblPr>
                <a:tableStyleId>{5C22544A-7EE6-4342-B048-85BDC9FD1C3A}</a:tableStyleId>
              </a:tblPr>
              <a:tblGrid>
                <a:gridCol w="1404794">
                  <a:extLst>
                    <a:ext uri="{9D8B030D-6E8A-4147-A177-3AD203B41FA5}">
                      <a16:colId xmlns:a16="http://schemas.microsoft.com/office/drawing/2014/main" val="1666236901"/>
                    </a:ext>
                  </a:extLst>
                </a:gridCol>
                <a:gridCol w="7061431">
                  <a:extLst>
                    <a:ext uri="{9D8B030D-6E8A-4147-A177-3AD203B41FA5}">
                      <a16:colId xmlns:a16="http://schemas.microsoft.com/office/drawing/2014/main" val="2695803476"/>
                    </a:ext>
                  </a:extLst>
                </a:gridCol>
              </a:tblGrid>
              <a:tr h="0">
                <a:tc>
                  <a:txBody>
                    <a:bodyPr/>
                    <a:lstStyle/>
                    <a:p>
                      <a:pPr algn="ctr">
                        <a:lnSpc>
                          <a:spcPct val="107000"/>
                        </a:lnSpc>
                        <a:spcBef>
                          <a:spcPts val="300"/>
                        </a:spcBef>
                        <a:spcAft>
                          <a:spcPts val="300"/>
                        </a:spcAft>
                        <a:buNone/>
                      </a:pPr>
                      <a:r>
                        <a:rPr lang="en-IN" sz="2400" dirty="0">
                          <a:effectLst/>
                          <a:latin typeface="Times New Roman" panose="02020603050405020304" pitchFamily="18" charset="0"/>
                          <a:cs typeface="Times New Roman" panose="02020603050405020304" pitchFamily="18" charset="0"/>
                        </a:rPr>
                        <a:t>RL3.1</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T="38100" marB="38100"/>
                </a:tc>
                <a:tc>
                  <a:txBody>
                    <a:bodyPr/>
                    <a:lstStyle/>
                    <a:p>
                      <a:pPr>
                        <a:lnSpc>
                          <a:spcPct val="107000"/>
                        </a:lnSpc>
                        <a:spcBef>
                          <a:spcPts val="300"/>
                        </a:spcBef>
                        <a:spcAft>
                          <a:spcPts val="300"/>
                        </a:spcAft>
                        <a:buNone/>
                      </a:pPr>
                      <a:r>
                        <a:rPr lang="en-IN" sz="2400" dirty="0">
                          <a:effectLst/>
                          <a:latin typeface="Times New Roman" panose="02020603050405020304" pitchFamily="18" charset="0"/>
                          <a:cs typeface="Times New Roman" panose="02020603050405020304" pitchFamily="18" charset="0"/>
                        </a:rPr>
                        <a:t>Blockchain overview and structure of a block transaction</a:t>
                      </a:r>
                    </a:p>
                  </a:txBody>
                  <a:tcPr marL="25400" marR="25400" marT="0" marB="0" anchor="b"/>
                </a:tc>
                <a:extLst>
                  <a:ext uri="{0D108BD9-81ED-4DB2-BD59-A6C34878D82A}">
                    <a16:rowId xmlns:a16="http://schemas.microsoft.com/office/drawing/2014/main" val="233387963"/>
                  </a:ext>
                </a:extLst>
              </a:tr>
              <a:tr h="432084">
                <a:tc>
                  <a:txBody>
                    <a:bodyPr/>
                    <a:lstStyle/>
                    <a:p>
                      <a:pPr algn="ctr">
                        <a:lnSpc>
                          <a:spcPct val="107000"/>
                        </a:lnSpc>
                        <a:spcBef>
                          <a:spcPts val="300"/>
                        </a:spcBef>
                        <a:spcAft>
                          <a:spcPts val="300"/>
                        </a:spcAft>
                        <a:buNone/>
                      </a:pPr>
                      <a:r>
                        <a:rPr lang="en-IN" sz="2400">
                          <a:effectLst/>
                          <a:latin typeface="Times New Roman" panose="02020603050405020304" pitchFamily="18" charset="0"/>
                          <a:cs typeface="Times New Roman" panose="02020603050405020304" pitchFamily="18" charset="0"/>
                        </a:rPr>
                        <a:t>RL 3.2</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T="38100" marB="38100"/>
                </a:tc>
                <a:tc>
                  <a:txBody>
                    <a:bodyPr/>
                    <a:lstStyle/>
                    <a:p>
                      <a:pPr>
                        <a:lnSpc>
                          <a:spcPct val="107000"/>
                        </a:lnSpc>
                        <a:spcBef>
                          <a:spcPts val="300"/>
                        </a:spcBef>
                        <a:spcAft>
                          <a:spcPts val="300"/>
                        </a:spcAft>
                        <a:buNone/>
                      </a:pPr>
                      <a:r>
                        <a:rPr lang="en-IN" sz="2400">
                          <a:effectLst/>
                          <a:latin typeface="Times New Roman" panose="02020603050405020304" pitchFamily="18" charset="0"/>
                          <a:cs typeface="Times New Roman" panose="02020603050405020304" pitchFamily="18" charset="0"/>
                        </a:rPr>
                        <a:t>Consensus Philosophy</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25400" marR="25400" marT="0" marB="0" anchor="b"/>
                </a:tc>
                <a:extLst>
                  <a:ext uri="{0D108BD9-81ED-4DB2-BD59-A6C34878D82A}">
                    <a16:rowId xmlns:a16="http://schemas.microsoft.com/office/drawing/2014/main" val="2962609091"/>
                  </a:ext>
                </a:extLst>
              </a:tr>
              <a:tr h="432084">
                <a:tc>
                  <a:txBody>
                    <a:bodyPr/>
                    <a:lstStyle/>
                    <a:p>
                      <a:pPr algn="ctr">
                        <a:lnSpc>
                          <a:spcPct val="107000"/>
                        </a:lnSpc>
                        <a:spcBef>
                          <a:spcPts val="300"/>
                        </a:spcBef>
                        <a:spcAft>
                          <a:spcPts val="300"/>
                        </a:spcAft>
                        <a:buNone/>
                      </a:pPr>
                      <a:r>
                        <a:rPr lang="en-IN" sz="2400">
                          <a:effectLst/>
                          <a:latin typeface="Times New Roman" panose="02020603050405020304" pitchFamily="18" charset="0"/>
                          <a:cs typeface="Times New Roman" panose="02020603050405020304" pitchFamily="18" charset="0"/>
                        </a:rPr>
                        <a:t>RL 3.3</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T="38100" marB="38100"/>
                </a:tc>
                <a:tc>
                  <a:txBody>
                    <a:bodyPr/>
                    <a:lstStyle/>
                    <a:p>
                      <a:pPr>
                        <a:lnSpc>
                          <a:spcPct val="107000"/>
                        </a:lnSpc>
                        <a:spcBef>
                          <a:spcPts val="300"/>
                        </a:spcBef>
                        <a:spcAft>
                          <a:spcPts val="300"/>
                        </a:spcAft>
                        <a:buNone/>
                      </a:pPr>
                      <a:r>
                        <a:rPr lang="en-IN" sz="2400" dirty="0">
                          <a:effectLst/>
                          <a:latin typeface="Times New Roman" panose="02020603050405020304" pitchFamily="18" charset="0"/>
                          <a:cs typeface="Times New Roman" panose="02020603050405020304" pitchFamily="18" charset="0"/>
                        </a:rPr>
                        <a:t>Adding new block, forking page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400" marR="25400" marT="0" marB="0" anchor="b"/>
                </a:tc>
                <a:extLst>
                  <a:ext uri="{0D108BD9-81ED-4DB2-BD59-A6C34878D82A}">
                    <a16:rowId xmlns:a16="http://schemas.microsoft.com/office/drawing/2014/main" val="3896091583"/>
                  </a:ext>
                </a:extLst>
              </a:tr>
              <a:tr h="432084">
                <a:tc>
                  <a:txBody>
                    <a:bodyPr/>
                    <a:lstStyle/>
                    <a:p>
                      <a:pPr algn="ctr">
                        <a:lnSpc>
                          <a:spcPct val="107000"/>
                        </a:lnSpc>
                        <a:spcBef>
                          <a:spcPts val="300"/>
                        </a:spcBef>
                        <a:spcAft>
                          <a:spcPts val="300"/>
                        </a:spcAft>
                        <a:buNone/>
                      </a:pPr>
                      <a:r>
                        <a:rPr lang="en-IN" sz="2400">
                          <a:effectLst/>
                          <a:latin typeface="Times New Roman" panose="02020603050405020304" pitchFamily="18" charset="0"/>
                          <a:cs typeface="Times New Roman" panose="02020603050405020304" pitchFamily="18" charset="0"/>
                        </a:rPr>
                        <a:t>RL 3.4</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T="38100" marB="38100"/>
                </a:tc>
                <a:tc>
                  <a:txBody>
                    <a:bodyPr/>
                    <a:lstStyle/>
                    <a:p>
                      <a:pPr>
                        <a:lnSpc>
                          <a:spcPct val="107000"/>
                        </a:lnSpc>
                        <a:spcBef>
                          <a:spcPts val="300"/>
                        </a:spcBef>
                        <a:spcAft>
                          <a:spcPts val="300"/>
                        </a:spcAft>
                        <a:buNone/>
                      </a:pPr>
                      <a:r>
                        <a:rPr lang="en-IN" sz="2400" dirty="0">
                          <a:effectLst/>
                          <a:latin typeface="Times New Roman" panose="02020603050405020304" pitchFamily="18" charset="0"/>
                          <a:cs typeface="Times New Roman" panose="02020603050405020304" pitchFamily="18" charset="0"/>
                        </a:rPr>
                        <a:t>Blockchain types and properties and Smart contracts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400" marR="25400" marT="0" marB="0" anchor="b"/>
                </a:tc>
                <a:extLst>
                  <a:ext uri="{0D108BD9-81ED-4DB2-BD59-A6C34878D82A}">
                    <a16:rowId xmlns:a16="http://schemas.microsoft.com/office/drawing/2014/main" val="4147547322"/>
                  </a:ext>
                </a:extLst>
              </a:tr>
            </a:tbl>
          </a:graphicData>
        </a:graphic>
      </p:graphicFrame>
    </p:spTree>
    <p:extLst>
      <p:ext uri="{BB962C8B-B14F-4D97-AF65-F5344CB8AC3E}">
        <p14:creationId xmlns:p14="http://schemas.microsoft.com/office/powerpoint/2010/main" val="837702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7576"/>
            <a:ext cx="8229600" cy="594360"/>
          </a:xfrm>
          <a:prstGeom prst="rect">
            <a:avLst/>
          </a:prstGeom>
          <a:noFill/>
          <a:ln/>
        </p:spPr>
        <p:txBody>
          <a:bodyPr wrap="square" rtlCol="0" anchor="ctr"/>
          <a:lstStyle/>
          <a:p>
            <a:r>
              <a:rPr lang="en-US" sz="3200" b="1" dirty="0">
                <a:solidFill>
                  <a:srgbClr val="0D1B2A"/>
                </a:solidFill>
                <a:latin typeface="Cambria" pitchFamily="34" charset="0"/>
                <a:ea typeface="Cambria" pitchFamily="34" charset="-122"/>
                <a:cs typeface="Cambria" pitchFamily="34" charset="-120"/>
              </a:rPr>
              <a:t>What We'll Cover Today</a:t>
            </a:r>
            <a:endParaRPr lang="en-US" sz="3200" dirty="0"/>
          </a:p>
        </p:txBody>
      </p:sp>
      <p:sp>
        <p:nvSpPr>
          <p:cNvPr id="3" name="Shape 1"/>
          <p:cNvSpPr/>
          <p:nvPr/>
        </p:nvSpPr>
        <p:spPr>
          <a:xfrm>
            <a:off x="457200" y="1771650"/>
            <a:ext cx="8229600" cy="22860"/>
          </a:xfrm>
          <a:prstGeom prst="rect">
            <a:avLst/>
          </a:prstGeom>
          <a:solidFill>
            <a:srgbClr val="1565C0"/>
          </a:solidFill>
          <a:ln w="12700">
            <a:solidFill>
              <a:srgbClr val="1565C0"/>
            </a:solidFill>
            <a:prstDash val="solid"/>
          </a:ln>
        </p:spPr>
        <p:txBody>
          <a:bodyPr/>
          <a:lstStyle/>
          <a:p>
            <a:endParaRPr lang="en-US"/>
          </a:p>
        </p:txBody>
      </p:sp>
      <p:sp>
        <p:nvSpPr>
          <p:cNvPr id="4" name="Shape 2"/>
          <p:cNvSpPr/>
          <p:nvPr/>
        </p:nvSpPr>
        <p:spPr>
          <a:xfrm>
            <a:off x="457200" y="1908810"/>
            <a:ext cx="8229600" cy="822960"/>
          </a:xfrm>
          <a:prstGeom prst="roundRect">
            <a:avLst>
              <a:gd name="adj" fmla="val 5556"/>
            </a:avLst>
          </a:prstGeom>
          <a:solidFill>
            <a:srgbClr val="FFFFFF"/>
          </a:solidFill>
          <a:ln w="254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5" name="Shape 3"/>
          <p:cNvSpPr/>
          <p:nvPr/>
        </p:nvSpPr>
        <p:spPr>
          <a:xfrm>
            <a:off x="457200" y="1908810"/>
            <a:ext cx="640080" cy="822960"/>
          </a:xfrm>
          <a:prstGeom prst="roundRect">
            <a:avLst>
              <a:gd name="adj" fmla="val 7143"/>
            </a:avLst>
          </a:prstGeom>
          <a:solidFill>
            <a:srgbClr val="1565C0"/>
          </a:solidFill>
          <a:ln w="12700">
            <a:solidFill>
              <a:srgbClr val="1565C0"/>
            </a:solidFill>
            <a:prstDash val="solid"/>
          </a:ln>
        </p:spPr>
        <p:txBody>
          <a:bodyPr/>
          <a:lstStyle/>
          <a:p>
            <a:endParaRPr lang="en-US"/>
          </a:p>
        </p:txBody>
      </p:sp>
      <p:sp>
        <p:nvSpPr>
          <p:cNvPr id="6" name="Text 4"/>
          <p:cNvSpPr/>
          <p:nvPr/>
        </p:nvSpPr>
        <p:spPr>
          <a:xfrm>
            <a:off x="457200" y="1954530"/>
            <a:ext cx="640080" cy="73152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234440" y="1981962"/>
            <a:ext cx="6858000" cy="320040"/>
          </a:xfrm>
          <a:prstGeom prst="rect">
            <a:avLst/>
          </a:prstGeom>
          <a:noFill/>
          <a:ln/>
        </p:spPr>
        <p:txBody>
          <a:bodyPr wrap="square" rtlCol="0" anchor="ctr"/>
          <a:lstStyle/>
          <a:p>
            <a:r>
              <a:rPr lang="en-US" sz="1600" b="1" dirty="0">
                <a:solidFill>
                  <a:srgbClr val="0D1B2A"/>
                </a:solidFill>
                <a:latin typeface="Calibri" pitchFamily="34" charset="0"/>
                <a:ea typeface="Calibri" pitchFamily="34" charset="-122"/>
                <a:cs typeface="Calibri" pitchFamily="34" charset="-120"/>
              </a:rPr>
              <a:t>What is a Blockchain?</a:t>
            </a:r>
            <a:endParaRPr lang="en-US" sz="1600" dirty="0"/>
          </a:p>
        </p:txBody>
      </p:sp>
      <p:sp>
        <p:nvSpPr>
          <p:cNvPr id="8" name="Text 6"/>
          <p:cNvSpPr/>
          <p:nvPr/>
        </p:nvSpPr>
        <p:spPr>
          <a:xfrm>
            <a:off x="1234440" y="2329434"/>
            <a:ext cx="6858000" cy="274320"/>
          </a:xfrm>
          <a:prstGeom prst="rect">
            <a:avLst/>
          </a:prstGeom>
          <a:noFill/>
          <a:ln/>
        </p:spPr>
        <p:txBody>
          <a:bodyPr wrap="square" rtlCol="0" anchor="ctr"/>
          <a:lstStyle/>
          <a:p>
            <a:r>
              <a:rPr lang="en-US" sz="1200" dirty="0">
                <a:solidFill>
                  <a:srgbClr val="546E7A"/>
                </a:solidFill>
                <a:latin typeface="Calibri" pitchFamily="34" charset="0"/>
                <a:ea typeface="Calibri" pitchFamily="34" charset="-122"/>
                <a:cs typeface="Calibri" pitchFamily="34" charset="-120"/>
              </a:rPr>
              <a:t>Distributed ledgers, immutability, and trust</a:t>
            </a:r>
            <a:endParaRPr lang="en-US" sz="1200" dirty="0"/>
          </a:p>
        </p:txBody>
      </p:sp>
      <p:sp>
        <p:nvSpPr>
          <p:cNvPr id="9" name="Shape 7"/>
          <p:cNvSpPr/>
          <p:nvPr/>
        </p:nvSpPr>
        <p:spPr>
          <a:xfrm>
            <a:off x="457200" y="2868930"/>
            <a:ext cx="8229600" cy="822960"/>
          </a:xfrm>
          <a:prstGeom prst="roundRect">
            <a:avLst>
              <a:gd name="adj" fmla="val 5556"/>
            </a:avLst>
          </a:prstGeom>
          <a:solidFill>
            <a:srgbClr val="FFFFFF"/>
          </a:solidFill>
          <a:ln w="2540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10" name="Shape 8"/>
          <p:cNvSpPr/>
          <p:nvPr/>
        </p:nvSpPr>
        <p:spPr>
          <a:xfrm>
            <a:off x="457200" y="2868930"/>
            <a:ext cx="640080" cy="822960"/>
          </a:xfrm>
          <a:prstGeom prst="roundRect">
            <a:avLst>
              <a:gd name="adj" fmla="val 7143"/>
            </a:avLst>
          </a:prstGeom>
          <a:solidFill>
            <a:srgbClr val="00897B"/>
          </a:solidFill>
          <a:ln w="12700">
            <a:solidFill>
              <a:srgbClr val="00897B"/>
            </a:solidFill>
            <a:prstDash val="solid"/>
          </a:ln>
        </p:spPr>
        <p:txBody>
          <a:bodyPr/>
          <a:lstStyle/>
          <a:p>
            <a:endParaRPr lang="en-US"/>
          </a:p>
        </p:txBody>
      </p:sp>
      <p:sp>
        <p:nvSpPr>
          <p:cNvPr id="11" name="Text 9"/>
          <p:cNvSpPr/>
          <p:nvPr/>
        </p:nvSpPr>
        <p:spPr>
          <a:xfrm>
            <a:off x="457200" y="2914650"/>
            <a:ext cx="640080" cy="73152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1234440" y="2942082"/>
            <a:ext cx="6858000" cy="320040"/>
          </a:xfrm>
          <a:prstGeom prst="rect">
            <a:avLst/>
          </a:prstGeom>
          <a:noFill/>
          <a:ln/>
        </p:spPr>
        <p:txBody>
          <a:bodyPr wrap="square" rtlCol="0" anchor="ctr"/>
          <a:lstStyle/>
          <a:p>
            <a:r>
              <a:rPr lang="en-US" sz="1600" b="1" dirty="0">
                <a:solidFill>
                  <a:srgbClr val="0D1B2A"/>
                </a:solidFill>
                <a:latin typeface="Calibri" pitchFamily="34" charset="0"/>
                <a:ea typeface="Calibri" pitchFamily="34" charset="-122"/>
                <a:cs typeface="Calibri" pitchFamily="34" charset="-120"/>
              </a:rPr>
              <a:t>What are Nodes?</a:t>
            </a:r>
            <a:endParaRPr lang="en-US" sz="1600" dirty="0"/>
          </a:p>
        </p:txBody>
      </p:sp>
      <p:sp>
        <p:nvSpPr>
          <p:cNvPr id="13" name="Text 11"/>
          <p:cNvSpPr/>
          <p:nvPr/>
        </p:nvSpPr>
        <p:spPr>
          <a:xfrm>
            <a:off x="1234440" y="3289554"/>
            <a:ext cx="6858000" cy="274320"/>
          </a:xfrm>
          <a:prstGeom prst="rect">
            <a:avLst/>
          </a:prstGeom>
          <a:noFill/>
          <a:ln/>
        </p:spPr>
        <p:txBody>
          <a:bodyPr wrap="square" rtlCol="0" anchor="ctr"/>
          <a:lstStyle/>
          <a:p>
            <a:r>
              <a:rPr lang="en-US" sz="1200" dirty="0">
                <a:solidFill>
                  <a:srgbClr val="546E7A"/>
                </a:solidFill>
                <a:latin typeface="Calibri" pitchFamily="34" charset="0"/>
                <a:ea typeface="Calibri" pitchFamily="34" charset="-122"/>
                <a:cs typeface="Calibri" pitchFamily="34" charset="-120"/>
              </a:rPr>
              <a:t>Network participants and consensus mechanisms</a:t>
            </a:r>
            <a:endParaRPr lang="en-US" sz="1200" dirty="0"/>
          </a:p>
        </p:txBody>
      </p:sp>
      <p:sp>
        <p:nvSpPr>
          <p:cNvPr id="14" name="Shape 12"/>
          <p:cNvSpPr/>
          <p:nvPr/>
        </p:nvSpPr>
        <p:spPr>
          <a:xfrm>
            <a:off x="457200" y="3829050"/>
            <a:ext cx="8229600" cy="822960"/>
          </a:xfrm>
          <a:prstGeom prst="roundRect">
            <a:avLst>
              <a:gd name="adj" fmla="val 5556"/>
            </a:avLst>
          </a:prstGeom>
          <a:solidFill>
            <a:srgbClr val="FFFFFF"/>
          </a:solidFill>
          <a:ln w="25400">
            <a:solidFill>
              <a:srgbClr val="F57C00"/>
            </a:solidFill>
            <a:prstDash val="solid"/>
          </a:ln>
          <a:effectLst>
            <a:outerShdw blurRad="101600" dist="38100" dir="2700000" algn="bl" rotWithShape="0">
              <a:srgbClr val="000000">
                <a:alpha val="18000"/>
              </a:srgbClr>
            </a:outerShdw>
          </a:effectLst>
        </p:spPr>
        <p:txBody>
          <a:bodyPr/>
          <a:lstStyle/>
          <a:p>
            <a:endParaRPr lang="en-US"/>
          </a:p>
        </p:txBody>
      </p:sp>
      <p:sp>
        <p:nvSpPr>
          <p:cNvPr id="15" name="Shape 13"/>
          <p:cNvSpPr/>
          <p:nvPr/>
        </p:nvSpPr>
        <p:spPr>
          <a:xfrm>
            <a:off x="457200" y="3829050"/>
            <a:ext cx="640080" cy="822960"/>
          </a:xfrm>
          <a:prstGeom prst="roundRect">
            <a:avLst>
              <a:gd name="adj" fmla="val 7143"/>
            </a:avLst>
          </a:prstGeom>
          <a:solidFill>
            <a:srgbClr val="F57C00"/>
          </a:solidFill>
          <a:ln w="12700">
            <a:solidFill>
              <a:srgbClr val="F57C00"/>
            </a:solidFill>
            <a:prstDash val="solid"/>
          </a:ln>
        </p:spPr>
        <p:txBody>
          <a:bodyPr/>
          <a:lstStyle/>
          <a:p>
            <a:endParaRPr lang="en-US"/>
          </a:p>
        </p:txBody>
      </p:sp>
      <p:sp>
        <p:nvSpPr>
          <p:cNvPr id="16" name="Text 14"/>
          <p:cNvSpPr/>
          <p:nvPr/>
        </p:nvSpPr>
        <p:spPr>
          <a:xfrm>
            <a:off x="457200" y="3874770"/>
            <a:ext cx="640080" cy="73152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1234440" y="3902202"/>
            <a:ext cx="6858000" cy="320040"/>
          </a:xfrm>
          <a:prstGeom prst="rect">
            <a:avLst/>
          </a:prstGeom>
          <a:noFill/>
          <a:ln/>
        </p:spPr>
        <p:txBody>
          <a:bodyPr wrap="square" rtlCol="0" anchor="ctr"/>
          <a:lstStyle/>
          <a:p>
            <a:r>
              <a:rPr lang="en-US" sz="1600" b="1" dirty="0">
                <a:solidFill>
                  <a:srgbClr val="0D1B2A"/>
                </a:solidFill>
                <a:latin typeface="Calibri" pitchFamily="34" charset="0"/>
                <a:ea typeface="Calibri" pitchFamily="34" charset="-122"/>
                <a:cs typeface="Calibri" pitchFamily="34" charset="-120"/>
              </a:rPr>
              <a:t>What are Tokens?</a:t>
            </a:r>
            <a:endParaRPr lang="en-US" sz="1600" dirty="0"/>
          </a:p>
        </p:txBody>
      </p:sp>
      <p:sp>
        <p:nvSpPr>
          <p:cNvPr id="18" name="Text 16"/>
          <p:cNvSpPr/>
          <p:nvPr/>
        </p:nvSpPr>
        <p:spPr>
          <a:xfrm>
            <a:off x="1234440" y="4249674"/>
            <a:ext cx="6858000" cy="274320"/>
          </a:xfrm>
          <a:prstGeom prst="rect">
            <a:avLst/>
          </a:prstGeom>
          <a:noFill/>
          <a:ln/>
        </p:spPr>
        <p:txBody>
          <a:bodyPr wrap="square" rtlCol="0" anchor="ctr"/>
          <a:lstStyle/>
          <a:p>
            <a:r>
              <a:rPr lang="en-US" sz="1200" dirty="0">
                <a:solidFill>
                  <a:srgbClr val="546E7A"/>
                </a:solidFill>
                <a:latin typeface="Calibri" pitchFamily="34" charset="0"/>
                <a:ea typeface="Calibri" pitchFamily="34" charset="-122"/>
                <a:cs typeface="Calibri" pitchFamily="34" charset="-120"/>
              </a:rPr>
              <a:t>Digital assets, cryptocurrencies, and utility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5</a:t>
            </a:fld>
            <a:endParaRPr/>
          </a:p>
        </p:txBody>
      </p:sp>
      <p:sp>
        <p:nvSpPr>
          <p:cNvPr id="2" name="Rectangle 1"/>
          <p:cNvSpPr/>
          <p:nvPr/>
        </p:nvSpPr>
        <p:spPr>
          <a:xfrm>
            <a:off x="861392" y="2734025"/>
            <a:ext cx="7553482" cy="707886"/>
          </a:xfrm>
          <a:prstGeom prst="rect">
            <a:avLst/>
          </a:prstGeom>
        </p:spPr>
        <p:txBody>
          <a:bodyPr wrap="square">
            <a:spAutoFit/>
          </a:bodyPr>
          <a:lstStyle/>
          <a:p>
            <a:r>
              <a:rPr lang="en-US" sz="2000" dirty="0">
                <a:hlinkClick r:id="rId3"/>
              </a:rPr>
              <a:t>https://www.youtube.com/watch?v=SSo_EIwHSd4&amp;t=8s</a:t>
            </a:r>
            <a:endParaRPr lang="en-US" sz="2000" dirty="0"/>
          </a:p>
          <a:p>
            <a:endParaRPr lang="en-US" sz="2000" dirty="0"/>
          </a:p>
        </p:txBody>
      </p:sp>
      <p:sp>
        <p:nvSpPr>
          <p:cNvPr id="4" name="Rectangle 3"/>
          <p:cNvSpPr/>
          <p:nvPr/>
        </p:nvSpPr>
        <p:spPr>
          <a:xfrm>
            <a:off x="294836" y="667947"/>
            <a:ext cx="4620176" cy="523220"/>
          </a:xfrm>
          <a:prstGeom prst="rect">
            <a:avLst/>
          </a:prstGeom>
        </p:spPr>
        <p:txBody>
          <a:bodyPr wrap="none">
            <a:spAutoFit/>
          </a:bodyPr>
          <a:lstStyle/>
          <a:p>
            <a:r>
              <a:rPr lang="en-US" sz="2800" b="1" dirty="0" err="1">
                <a:latin typeface="+mj-lt"/>
              </a:rPr>
              <a:t>Blockchain</a:t>
            </a:r>
            <a:r>
              <a:rPr lang="en-US" sz="2800" b="1" dirty="0">
                <a:latin typeface="+mj-lt"/>
              </a:rPr>
              <a:t> Technologies </a:t>
            </a:r>
            <a:endParaRPr lang="en-IN" sz="2800" b="1"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2228850"/>
            <a:ext cx="5486400" cy="365760"/>
          </a:xfrm>
          <a:prstGeom prst="rect">
            <a:avLst/>
          </a:prstGeom>
          <a:noFill/>
          <a:ln/>
        </p:spPr>
        <p:txBody>
          <a:bodyPr wrap="square" rtlCol="0" anchor="ctr"/>
          <a:lstStyle/>
          <a:p>
            <a:endParaRPr lang="en-US" sz="1300" dirty="0"/>
          </a:p>
        </p:txBody>
      </p:sp>
      <p:sp>
        <p:nvSpPr>
          <p:cNvPr id="4" name="Text 2"/>
          <p:cNvSpPr/>
          <p:nvPr/>
        </p:nvSpPr>
        <p:spPr>
          <a:xfrm>
            <a:off x="731519" y="1407637"/>
            <a:ext cx="7089289" cy="2011680"/>
          </a:xfrm>
          <a:prstGeom prst="rect">
            <a:avLst/>
          </a:prstGeom>
          <a:noFill/>
          <a:ln/>
        </p:spPr>
        <p:txBody>
          <a:bodyPr wrap="square" rtlCol="0" anchor="ctr"/>
          <a:lstStyle/>
          <a:p>
            <a:r>
              <a:rPr lang="en-US" sz="5200" b="1" dirty="0">
                <a:solidFill>
                  <a:schemeClr val="accent1"/>
                </a:solidFill>
                <a:latin typeface="Cambria" pitchFamily="34" charset="0"/>
                <a:ea typeface="Cambria" pitchFamily="34" charset="-122"/>
                <a:cs typeface="Cambria" pitchFamily="34" charset="-120"/>
              </a:rPr>
              <a:t>What is a</a:t>
            </a:r>
            <a:endParaRPr lang="en-US" sz="5200" dirty="0">
              <a:solidFill>
                <a:schemeClr val="accent1"/>
              </a:solidFill>
            </a:endParaRPr>
          </a:p>
          <a:p>
            <a:r>
              <a:rPr lang="en-US" sz="5200" b="1" dirty="0">
                <a:solidFill>
                  <a:schemeClr val="accent1"/>
                </a:solidFill>
                <a:latin typeface="Cambria" pitchFamily="34" charset="0"/>
                <a:ea typeface="Cambria" pitchFamily="34" charset="-122"/>
                <a:cs typeface="Cambria" pitchFamily="34" charset="-120"/>
              </a:rPr>
              <a:t>Blockchain?</a:t>
            </a:r>
            <a:endParaRPr lang="en-US" sz="5200" dirty="0">
              <a:solidFill>
                <a:schemeClr val="accent1"/>
              </a:solidFill>
            </a:endParaRPr>
          </a:p>
        </p:txBody>
      </p:sp>
      <p:sp>
        <p:nvSpPr>
          <p:cNvPr id="5" name="Shape 3"/>
          <p:cNvSpPr/>
          <p:nvPr/>
        </p:nvSpPr>
        <p:spPr>
          <a:xfrm>
            <a:off x="731519" y="3438683"/>
            <a:ext cx="1371600" cy="54864"/>
          </a:xfrm>
          <a:prstGeom prst="rect">
            <a:avLst/>
          </a:prstGeom>
          <a:solidFill>
            <a:srgbClr val="FFB300"/>
          </a:solidFill>
          <a:ln w="12700">
            <a:solidFill>
              <a:srgbClr val="FFB300"/>
            </a:solidFill>
            <a:prstDash val="solid"/>
          </a:ln>
        </p:spPr>
        <p:txBody>
          <a:bodyPr/>
          <a:lstStyle/>
          <a:p>
            <a:endParaRPr lang="en-US"/>
          </a:p>
        </p:txBody>
      </p:sp>
      <p:sp>
        <p:nvSpPr>
          <p:cNvPr id="6" name="Text 4"/>
          <p:cNvSpPr/>
          <p:nvPr/>
        </p:nvSpPr>
        <p:spPr>
          <a:xfrm>
            <a:off x="731519" y="3802156"/>
            <a:ext cx="7498080" cy="640080"/>
          </a:xfrm>
          <a:prstGeom prst="rect">
            <a:avLst/>
          </a:prstGeom>
          <a:noFill/>
          <a:ln/>
        </p:spPr>
        <p:txBody>
          <a:bodyPr wrap="square" rtlCol="0" anchor="ctr"/>
          <a:lstStyle/>
          <a:p>
            <a:r>
              <a:rPr lang="en-US" sz="2400" i="1" dirty="0">
                <a:solidFill>
                  <a:schemeClr val="tx1"/>
                </a:solidFill>
                <a:latin typeface="Times New Roman" panose="02020603050405020304" pitchFamily="18" charset="0"/>
                <a:ea typeface="Calibri" pitchFamily="34" charset="-122"/>
                <a:cs typeface="Times New Roman" panose="02020603050405020304" pitchFamily="18" charset="0"/>
              </a:rPr>
              <a:t>"A blockchain is a type of database that stores information in blocks that are then linked together."</a:t>
            </a: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418338"/>
            <a:ext cx="8229600" cy="594360"/>
          </a:xfrm>
          <a:prstGeom prst="rect">
            <a:avLst/>
          </a:prstGeom>
          <a:noFill/>
          <a:ln/>
        </p:spPr>
        <p:txBody>
          <a:bodyPr wrap="square" rtlCol="0" anchor="ctr"/>
          <a:lstStyle/>
          <a:p>
            <a:r>
              <a:rPr lang="en-US" sz="3000" b="1" dirty="0">
                <a:solidFill>
                  <a:srgbClr val="0D1B2A"/>
                </a:solidFill>
                <a:latin typeface="Cambria" pitchFamily="34" charset="0"/>
                <a:ea typeface="Cambria" pitchFamily="34" charset="-122"/>
                <a:cs typeface="Cambria" pitchFamily="34" charset="-120"/>
              </a:rPr>
              <a:t>What is a Blockchain?</a:t>
            </a:r>
            <a:endParaRPr lang="en-US" sz="3000" dirty="0"/>
          </a:p>
        </p:txBody>
      </p:sp>
      <p:sp>
        <p:nvSpPr>
          <p:cNvPr id="3" name="Shape 1"/>
          <p:cNvSpPr/>
          <p:nvPr/>
        </p:nvSpPr>
        <p:spPr>
          <a:xfrm>
            <a:off x="457200" y="1698498"/>
            <a:ext cx="2011680" cy="54864"/>
          </a:xfrm>
          <a:prstGeom prst="rect">
            <a:avLst/>
          </a:prstGeom>
          <a:solidFill>
            <a:srgbClr val="1565C0"/>
          </a:solidFill>
          <a:ln w="12700">
            <a:solidFill>
              <a:srgbClr val="1565C0"/>
            </a:solidFill>
            <a:prstDash val="solid"/>
          </a:ln>
        </p:spPr>
        <p:txBody>
          <a:bodyPr/>
          <a:lstStyle/>
          <a:p>
            <a:endParaRPr lang="en-US"/>
          </a:p>
        </p:txBody>
      </p:sp>
      <p:sp>
        <p:nvSpPr>
          <p:cNvPr id="4" name="Shape 2"/>
          <p:cNvSpPr/>
          <p:nvPr/>
        </p:nvSpPr>
        <p:spPr>
          <a:xfrm>
            <a:off x="457200" y="1863090"/>
            <a:ext cx="5212080" cy="1325880"/>
          </a:xfrm>
          <a:prstGeom prst="roundRect">
            <a:avLst>
              <a:gd name="adj" fmla="val 5517"/>
            </a:avLst>
          </a:prstGeom>
          <a:solidFill>
            <a:srgbClr val="EBF3FD"/>
          </a:solidFill>
          <a:ln w="1905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640080" y="1908810"/>
            <a:ext cx="4846320" cy="1234440"/>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Definition
</a:t>
            </a:r>
            <a:r>
              <a:rPr lang="en-US" sz="1300" dirty="0">
                <a:solidFill>
                  <a:srgbClr val="0D1B2A"/>
                </a:solidFill>
                <a:latin typeface="Calibri" pitchFamily="34" charset="0"/>
                <a:ea typeface="Calibri" pitchFamily="34" charset="-122"/>
                <a:cs typeface="Calibri" pitchFamily="34" charset="-120"/>
              </a:rPr>
              <a:t>A blockchain is a </a:t>
            </a:r>
            <a:r>
              <a:rPr lang="en-US" sz="1300" b="1" dirty="0">
                <a:solidFill>
                  <a:srgbClr val="1565C0"/>
                </a:solidFill>
                <a:latin typeface="Calibri" pitchFamily="34" charset="0"/>
                <a:ea typeface="Calibri" pitchFamily="34" charset="-122"/>
                <a:cs typeface="Calibri" pitchFamily="34" charset="-120"/>
              </a:rPr>
              <a:t>distributed digital ledger</a:t>
            </a:r>
            <a:r>
              <a:rPr lang="en-US" sz="1300" dirty="0">
                <a:solidFill>
                  <a:srgbClr val="0D1B2A"/>
                </a:solidFill>
                <a:latin typeface="Calibri" pitchFamily="34" charset="0"/>
                <a:ea typeface="Calibri" pitchFamily="34" charset="-122"/>
                <a:cs typeface="Calibri" pitchFamily="34" charset="-120"/>
              </a:rPr>
              <a:t> that records transactions across many computers. Each record (block) is </a:t>
            </a:r>
            <a:r>
              <a:rPr lang="en-US" sz="1300" b="1" dirty="0">
                <a:solidFill>
                  <a:srgbClr val="1565C0"/>
                </a:solidFill>
                <a:latin typeface="Calibri" pitchFamily="34" charset="0"/>
                <a:ea typeface="Calibri" pitchFamily="34" charset="-122"/>
                <a:cs typeface="Calibri" pitchFamily="34" charset="-120"/>
              </a:rPr>
              <a:t>linked and secured using cryptography</a:t>
            </a:r>
            <a:r>
              <a:rPr lang="en-US" sz="1300" dirty="0">
                <a:solidFill>
                  <a:srgbClr val="0D1B2A"/>
                </a:solidFill>
                <a:latin typeface="Calibri" pitchFamily="34" charset="0"/>
                <a:ea typeface="Calibri" pitchFamily="34" charset="-122"/>
                <a:cs typeface="Calibri" pitchFamily="34" charset="-120"/>
              </a:rPr>
              <a:t>, making data practically impossible to alter retroactively.</a:t>
            </a:r>
            <a:endParaRPr lang="en-US" sz="1300" dirty="0"/>
          </a:p>
        </p:txBody>
      </p:sp>
      <p:sp>
        <p:nvSpPr>
          <p:cNvPr id="6" name="Text 4"/>
          <p:cNvSpPr/>
          <p:nvPr/>
        </p:nvSpPr>
        <p:spPr>
          <a:xfrm>
            <a:off x="457200" y="3280410"/>
            <a:ext cx="5029200" cy="347472"/>
          </a:xfrm>
          <a:prstGeom prst="rect">
            <a:avLst/>
          </a:prstGeom>
          <a:noFill/>
          <a:ln/>
        </p:spPr>
        <p:txBody>
          <a:bodyPr wrap="square" rtlCol="0" anchor="ctr"/>
          <a:lstStyle/>
          <a:p>
            <a:r>
              <a:rPr lang="en-US" sz="1500" b="1" dirty="0">
                <a:solidFill>
                  <a:srgbClr val="0D1B2A"/>
                </a:solidFill>
                <a:latin typeface="Calibri" pitchFamily="34" charset="0"/>
                <a:ea typeface="Calibri" pitchFamily="34" charset="-122"/>
                <a:cs typeface="Calibri" pitchFamily="34" charset="-120"/>
              </a:rPr>
              <a:t>Key Properties</a:t>
            </a:r>
            <a:endParaRPr lang="en-US" sz="1500" dirty="0"/>
          </a:p>
        </p:txBody>
      </p:sp>
      <p:sp>
        <p:nvSpPr>
          <p:cNvPr id="7" name="Shape 5"/>
          <p:cNvSpPr/>
          <p:nvPr/>
        </p:nvSpPr>
        <p:spPr>
          <a:xfrm>
            <a:off x="457200" y="3646170"/>
            <a:ext cx="2468880" cy="713232"/>
          </a:xfrm>
          <a:prstGeom prst="roundRect">
            <a:avLst>
              <a:gd name="adj" fmla="val 7692"/>
            </a:avLst>
          </a:prstGeom>
          <a:solidFill>
            <a:srgbClr val="F5F9FF"/>
          </a:solidFill>
          <a:ln w="6350">
            <a:solidFill>
              <a:srgbClr val="B0BEC5"/>
            </a:solidFill>
            <a:prstDash val="solid"/>
          </a:ln>
          <a:effectLst>
            <a:outerShdw blurRad="101600" dist="38100" dir="2700000" algn="bl" rotWithShape="0">
              <a:srgbClr val="000000">
                <a:alpha val="18000"/>
              </a:srgbClr>
            </a:outerShdw>
          </a:effectLst>
        </p:spPr>
        <p:txBody>
          <a:bodyPr/>
          <a:lstStyle/>
          <a:p>
            <a:endParaRPr lang="en-US"/>
          </a:p>
        </p:txBody>
      </p:sp>
      <p:sp>
        <p:nvSpPr>
          <p:cNvPr id="8" name="Text 6"/>
          <p:cNvSpPr/>
          <p:nvPr/>
        </p:nvSpPr>
        <p:spPr>
          <a:xfrm>
            <a:off x="457200" y="3701034"/>
            <a:ext cx="502920" cy="594360"/>
          </a:xfrm>
          <a:prstGeom prst="rect">
            <a:avLst/>
          </a:prstGeom>
          <a:noFill/>
          <a:ln/>
        </p:spPr>
        <p:txBody>
          <a:bodyPr wrap="square" lIns="0" tIns="0" rIns="0" bIns="0" rtlCol="0" anchor="ctr"/>
          <a:lstStyle/>
          <a:p>
            <a:pPr algn="ctr"/>
            <a:r>
              <a:rPr lang="en-US" sz="2000" dirty="0"/>
              <a:t>🔗</a:t>
            </a:r>
          </a:p>
        </p:txBody>
      </p:sp>
      <p:sp>
        <p:nvSpPr>
          <p:cNvPr id="9" name="Text 7"/>
          <p:cNvSpPr/>
          <p:nvPr/>
        </p:nvSpPr>
        <p:spPr>
          <a:xfrm>
            <a:off x="960120" y="3719322"/>
            <a:ext cx="1920240" cy="256032"/>
          </a:xfrm>
          <a:prstGeom prst="rect">
            <a:avLst/>
          </a:prstGeom>
          <a:noFill/>
          <a:ln/>
        </p:spPr>
        <p:txBody>
          <a:bodyPr wrap="square" lIns="0" tIns="0" rIns="0" bIns="0" rtlCol="0" anchor="ctr"/>
          <a:lstStyle/>
          <a:p>
            <a:r>
              <a:rPr lang="en-US" sz="1200" b="1" dirty="0">
                <a:solidFill>
                  <a:srgbClr val="0D1B2A"/>
                </a:solidFill>
                <a:latin typeface="Calibri" pitchFamily="34" charset="0"/>
                <a:ea typeface="Calibri" pitchFamily="34" charset="-122"/>
                <a:cs typeface="Calibri" pitchFamily="34" charset="-120"/>
              </a:rPr>
              <a:t>Decentralized</a:t>
            </a:r>
            <a:endParaRPr lang="en-US" sz="1200" dirty="0"/>
          </a:p>
        </p:txBody>
      </p:sp>
      <p:sp>
        <p:nvSpPr>
          <p:cNvPr id="10" name="Text 8"/>
          <p:cNvSpPr/>
          <p:nvPr/>
        </p:nvSpPr>
        <p:spPr>
          <a:xfrm>
            <a:off x="960120" y="3975354"/>
            <a:ext cx="1920240" cy="292608"/>
          </a:xfrm>
          <a:prstGeom prst="rect">
            <a:avLst/>
          </a:prstGeom>
          <a:noFill/>
          <a:ln/>
        </p:spPr>
        <p:txBody>
          <a:bodyPr wrap="square" lIns="0" tIns="0" rIns="0" bIns="0" rtlCol="0" anchor="ctr"/>
          <a:lstStyle/>
          <a:p>
            <a:r>
              <a:rPr lang="en-US" sz="1000" dirty="0">
                <a:solidFill>
                  <a:srgbClr val="546E7A"/>
                </a:solidFill>
                <a:latin typeface="Calibri" pitchFamily="34" charset="0"/>
                <a:ea typeface="Calibri" pitchFamily="34" charset="-122"/>
                <a:cs typeface="Calibri" pitchFamily="34" charset="-120"/>
              </a:rPr>
              <a:t>No single owner or controller</a:t>
            </a:r>
            <a:endParaRPr lang="en-US" sz="1000" dirty="0"/>
          </a:p>
        </p:txBody>
      </p:sp>
      <p:sp>
        <p:nvSpPr>
          <p:cNvPr id="11" name="Shape 9"/>
          <p:cNvSpPr/>
          <p:nvPr/>
        </p:nvSpPr>
        <p:spPr>
          <a:xfrm>
            <a:off x="3108960" y="3646170"/>
            <a:ext cx="2468880" cy="713232"/>
          </a:xfrm>
          <a:prstGeom prst="roundRect">
            <a:avLst>
              <a:gd name="adj" fmla="val 7692"/>
            </a:avLst>
          </a:prstGeom>
          <a:solidFill>
            <a:srgbClr val="F5F9FF"/>
          </a:solidFill>
          <a:ln w="6350">
            <a:solidFill>
              <a:srgbClr val="B0BEC5"/>
            </a:solidFill>
            <a:prstDash val="solid"/>
          </a:ln>
          <a:effectLst>
            <a:outerShdw blurRad="101600" dist="38100" dir="2700000" algn="bl" rotWithShape="0">
              <a:srgbClr val="000000">
                <a:alpha val="18000"/>
              </a:srgbClr>
            </a:outerShdw>
          </a:effectLst>
        </p:spPr>
        <p:txBody>
          <a:bodyPr/>
          <a:lstStyle/>
          <a:p>
            <a:endParaRPr lang="en-US"/>
          </a:p>
        </p:txBody>
      </p:sp>
      <p:sp>
        <p:nvSpPr>
          <p:cNvPr id="12" name="Text 10"/>
          <p:cNvSpPr/>
          <p:nvPr/>
        </p:nvSpPr>
        <p:spPr>
          <a:xfrm>
            <a:off x="3108960" y="3701034"/>
            <a:ext cx="502920" cy="594360"/>
          </a:xfrm>
          <a:prstGeom prst="rect">
            <a:avLst/>
          </a:prstGeom>
          <a:noFill/>
          <a:ln/>
        </p:spPr>
        <p:txBody>
          <a:bodyPr wrap="square" lIns="0" tIns="0" rIns="0" bIns="0" rtlCol="0" anchor="ctr"/>
          <a:lstStyle/>
          <a:p>
            <a:pPr algn="ctr"/>
            <a:r>
              <a:rPr lang="en-US" sz="2000" dirty="0"/>
              <a:t>🔒</a:t>
            </a:r>
          </a:p>
        </p:txBody>
      </p:sp>
      <p:sp>
        <p:nvSpPr>
          <p:cNvPr id="13" name="Text 11"/>
          <p:cNvSpPr/>
          <p:nvPr/>
        </p:nvSpPr>
        <p:spPr>
          <a:xfrm>
            <a:off x="3611880" y="3719322"/>
            <a:ext cx="1920240" cy="256032"/>
          </a:xfrm>
          <a:prstGeom prst="rect">
            <a:avLst/>
          </a:prstGeom>
          <a:noFill/>
          <a:ln/>
        </p:spPr>
        <p:txBody>
          <a:bodyPr wrap="square" lIns="0" tIns="0" rIns="0" bIns="0" rtlCol="0" anchor="ctr"/>
          <a:lstStyle/>
          <a:p>
            <a:r>
              <a:rPr lang="en-US" sz="1200" b="1" dirty="0">
                <a:solidFill>
                  <a:srgbClr val="0D1B2A"/>
                </a:solidFill>
                <a:latin typeface="Calibri" pitchFamily="34" charset="0"/>
                <a:ea typeface="Calibri" pitchFamily="34" charset="-122"/>
                <a:cs typeface="Calibri" pitchFamily="34" charset="-120"/>
              </a:rPr>
              <a:t>Immutable</a:t>
            </a:r>
            <a:endParaRPr lang="en-US" sz="1200" dirty="0"/>
          </a:p>
        </p:txBody>
      </p:sp>
      <p:sp>
        <p:nvSpPr>
          <p:cNvPr id="14" name="Text 12"/>
          <p:cNvSpPr/>
          <p:nvPr/>
        </p:nvSpPr>
        <p:spPr>
          <a:xfrm>
            <a:off x="3611880" y="3975354"/>
            <a:ext cx="1920240" cy="292608"/>
          </a:xfrm>
          <a:prstGeom prst="rect">
            <a:avLst/>
          </a:prstGeom>
          <a:noFill/>
          <a:ln/>
        </p:spPr>
        <p:txBody>
          <a:bodyPr wrap="square" lIns="0" tIns="0" rIns="0" bIns="0" rtlCol="0" anchor="ctr"/>
          <a:lstStyle/>
          <a:p>
            <a:r>
              <a:rPr lang="en-US" sz="1000" dirty="0">
                <a:solidFill>
                  <a:srgbClr val="546E7A"/>
                </a:solidFill>
                <a:latin typeface="Calibri" pitchFamily="34" charset="0"/>
                <a:ea typeface="Calibri" pitchFamily="34" charset="-122"/>
                <a:cs typeface="Calibri" pitchFamily="34" charset="-120"/>
              </a:rPr>
              <a:t>Records cannot be changed once added</a:t>
            </a:r>
            <a:endParaRPr lang="en-US" sz="1000" dirty="0"/>
          </a:p>
        </p:txBody>
      </p:sp>
      <p:sp>
        <p:nvSpPr>
          <p:cNvPr id="15" name="Shape 13"/>
          <p:cNvSpPr/>
          <p:nvPr/>
        </p:nvSpPr>
        <p:spPr>
          <a:xfrm>
            <a:off x="457200" y="4469130"/>
            <a:ext cx="2468880" cy="713232"/>
          </a:xfrm>
          <a:prstGeom prst="roundRect">
            <a:avLst>
              <a:gd name="adj" fmla="val 7692"/>
            </a:avLst>
          </a:prstGeom>
          <a:solidFill>
            <a:srgbClr val="F5F9FF"/>
          </a:solidFill>
          <a:ln w="6350">
            <a:solidFill>
              <a:srgbClr val="B0BEC5"/>
            </a:solidFill>
            <a:prstDash val="solid"/>
          </a:ln>
          <a:effectLst>
            <a:outerShdw blurRad="101600" dist="38100" dir="2700000" algn="bl" rotWithShape="0">
              <a:srgbClr val="000000">
                <a:alpha val="18000"/>
              </a:srgbClr>
            </a:outerShdw>
          </a:effectLst>
        </p:spPr>
        <p:txBody>
          <a:bodyPr/>
          <a:lstStyle/>
          <a:p>
            <a:endParaRPr lang="en-US"/>
          </a:p>
        </p:txBody>
      </p:sp>
      <p:sp>
        <p:nvSpPr>
          <p:cNvPr id="16" name="Text 14"/>
          <p:cNvSpPr/>
          <p:nvPr/>
        </p:nvSpPr>
        <p:spPr>
          <a:xfrm>
            <a:off x="457200" y="4523994"/>
            <a:ext cx="502920" cy="594360"/>
          </a:xfrm>
          <a:prstGeom prst="rect">
            <a:avLst/>
          </a:prstGeom>
          <a:noFill/>
          <a:ln/>
        </p:spPr>
        <p:txBody>
          <a:bodyPr wrap="square" lIns="0" tIns="0" rIns="0" bIns="0" rtlCol="0" anchor="ctr"/>
          <a:lstStyle/>
          <a:p>
            <a:pPr algn="ctr"/>
            <a:r>
              <a:rPr lang="en-US" sz="2000" dirty="0"/>
              <a:t>👁</a:t>
            </a:r>
          </a:p>
        </p:txBody>
      </p:sp>
      <p:sp>
        <p:nvSpPr>
          <p:cNvPr id="17" name="Text 15"/>
          <p:cNvSpPr/>
          <p:nvPr/>
        </p:nvSpPr>
        <p:spPr>
          <a:xfrm>
            <a:off x="960120" y="4542282"/>
            <a:ext cx="1920240" cy="256032"/>
          </a:xfrm>
          <a:prstGeom prst="rect">
            <a:avLst/>
          </a:prstGeom>
          <a:noFill/>
          <a:ln/>
        </p:spPr>
        <p:txBody>
          <a:bodyPr wrap="square" lIns="0" tIns="0" rIns="0" bIns="0" rtlCol="0" anchor="ctr"/>
          <a:lstStyle/>
          <a:p>
            <a:r>
              <a:rPr lang="en-US" sz="1200" b="1" dirty="0">
                <a:solidFill>
                  <a:srgbClr val="0D1B2A"/>
                </a:solidFill>
                <a:latin typeface="Calibri" pitchFamily="34" charset="0"/>
                <a:ea typeface="Calibri" pitchFamily="34" charset="-122"/>
                <a:cs typeface="Calibri" pitchFamily="34" charset="-120"/>
              </a:rPr>
              <a:t>Transparent</a:t>
            </a:r>
            <a:endParaRPr lang="en-US" sz="1200" dirty="0"/>
          </a:p>
        </p:txBody>
      </p:sp>
      <p:sp>
        <p:nvSpPr>
          <p:cNvPr id="18" name="Text 16"/>
          <p:cNvSpPr/>
          <p:nvPr/>
        </p:nvSpPr>
        <p:spPr>
          <a:xfrm>
            <a:off x="960120" y="4798314"/>
            <a:ext cx="1920240" cy="292608"/>
          </a:xfrm>
          <a:prstGeom prst="rect">
            <a:avLst/>
          </a:prstGeom>
          <a:noFill/>
          <a:ln/>
        </p:spPr>
        <p:txBody>
          <a:bodyPr wrap="square" lIns="0" tIns="0" rIns="0" bIns="0" rtlCol="0" anchor="ctr"/>
          <a:lstStyle/>
          <a:p>
            <a:r>
              <a:rPr lang="en-US" sz="1000" dirty="0">
                <a:solidFill>
                  <a:srgbClr val="546E7A"/>
                </a:solidFill>
                <a:latin typeface="Calibri" pitchFamily="34" charset="0"/>
                <a:ea typeface="Calibri" pitchFamily="34" charset="-122"/>
                <a:cs typeface="Calibri" pitchFamily="34" charset="-120"/>
              </a:rPr>
              <a:t>All participants can view the ledger</a:t>
            </a:r>
            <a:endParaRPr lang="en-US" sz="1000" dirty="0"/>
          </a:p>
        </p:txBody>
      </p:sp>
      <p:sp>
        <p:nvSpPr>
          <p:cNvPr id="19" name="Shape 17"/>
          <p:cNvSpPr/>
          <p:nvPr/>
        </p:nvSpPr>
        <p:spPr>
          <a:xfrm>
            <a:off x="3108960" y="4469130"/>
            <a:ext cx="2468880" cy="713232"/>
          </a:xfrm>
          <a:prstGeom prst="roundRect">
            <a:avLst>
              <a:gd name="adj" fmla="val 7692"/>
            </a:avLst>
          </a:prstGeom>
          <a:solidFill>
            <a:srgbClr val="F5F9FF"/>
          </a:solidFill>
          <a:ln w="6350">
            <a:solidFill>
              <a:srgbClr val="B0BEC5"/>
            </a:solidFill>
            <a:prstDash val="solid"/>
          </a:ln>
          <a:effectLst>
            <a:outerShdw blurRad="101600" dist="38100" dir="2700000" algn="bl" rotWithShape="0">
              <a:srgbClr val="000000">
                <a:alpha val="18000"/>
              </a:srgbClr>
            </a:outerShdw>
          </a:effectLst>
        </p:spPr>
        <p:txBody>
          <a:bodyPr/>
          <a:lstStyle/>
          <a:p>
            <a:endParaRPr lang="en-US"/>
          </a:p>
        </p:txBody>
      </p:sp>
      <p:sp>
        <p:nvSpPr>
          <p:cNvPr id="20" name="Text 18"/>
          <p:cNvSpPr/>
          <p:nvPr/>
        </p:nvSpPr>
        <p:spPr>
          <a:xfrm>
            <a:off x="3108960" y="4523994"/>
            <a:ext cx="502920" cy="594360"/>
          </a:xfrm>
          <a:prstGeom prst="rect">
            <a:avLst/>
          </a:prstGeom>
          <a:noFill/>
          <a:ln/>
        </p:spPr>
        <p:txBody>
          <a:bodyPr wrap="square" lIns="0" tIns="0" rIns="0" bIns="0" rtlCol="0" anchor="ctr"/>
          <a:lstStyle/>
          <a:p>
            <a:pPr algn="ctr"/>
            <a:r>
              <a:rPr lang="en-US" sz="2000" dirty="0"/>
              <a:t>🤝</a:t>
            </a:r>
          </a:p>
        </p:txBody>
      </p:sp>
      <p:sp>
        <p:nvSpPr>
          <p:cNvPr id="21" name="Text 19"/>
          <p:cNvSpPr/>
          <p:nvPr/>
        </p:nvSpPr>
        <p:spPr>
          <a:xfrm>
            <a:off x="3611880" y="4542282"/>
            <a:ext cx="1920240" cy="256032"/>
          </a:xfrm>
          <a:prstGeom prst="rect">
            <a:avLst/>
          </a:prstGeom>
          <a:noFill/>
          <a:ln/>
        </p:spPr>
        <p:txBody>
          <a:bodyPr wrap="square" lIns="0" tIns="0" rIns="0" bIns="0" rtlCol="0" anchor="ctr"/>
          <a:lstStyle/>
          <a:p>
            <a:r>
              <a:rPr lang="en-US" sz="1200" b="1" dirty="0">
                <a:solidFill>
                  <a:srgbClr val="0D1B2A"/>
                </a:solidFill>
                <a:latin typeface="Calibri" pitchFamily="34" charset="0"/>
                <a:ea typeface="Calibri" pitchFamily="34" charset="-122"/>
                <a:cs typeface="Calibri" pitchFamily="34" charset="-120"/>
              </a:rPr>
              <a:t>Trustless</a:t>
            </a:r>
            <a:endParaRPr lang="en-US" sz="1200" dirty="0"/>
          </a:p>
        </p:txBody>
      </p:sp>
      <p:sp>
        <p:nvSpPr>
          <p:cNvPr id="22" name="Text 20"/>
          <p:cNvSpPr/>
          <p:nvPr/>
        </p:nvSpPr>
        <p:spPr>
          <a:xfrm>
            <a:off x="3611880" y="4798314"/>
            <a:ext cx="1920240" cy="292608"/>
          </a:xfrm>
          <a:prstGeom prst="rect">
            <a:avLst/>
          </a:prstGeom>
          <a:noFill/>
          <a:ln/>
        </p:spPr>
        <p:txBody>
          <a:bodyPr wrap="square" lIns="0" tIns="0" rIns="0" bIns="0" rtlCol="0" anchor="ctr"/>
          <a:lstStyle/>
          <a:p>
            <a:r>
              <a:rPr lang="en-US" sz="1000" dirty="0">
                <a:solidFill>
                  <a:srgbClr val="546E7A"/>
                </a:solidFill>
                <a:latin typeface="Calibri" pitchFamily="34" charset="0"/>
                <a:ea typeface="Calibri" pitchFamily="34" charset="-122"/>
                <a:cs typeface="Calibri" pitchFamily="34" charset="-120"/>
              </a:rPr>
              <a:t>No need to trust a third party</a:t>
            </a:r>
            <a:endParaRPr lang="en-US" sz="1000" dirty="0"/>
          </a:p>
        </p:txBody>
      </p:sp>
      <p:sp>
        <p:nvSpPr>
          <p:cNvPr id="23" name="Shape 21"/>
          <p:cNvSpPr/>
          <p:nvPr/>
        </p:nvSpPr>
        <p:spPr>
          <a:xfrm>
            <a:off x="5852160" y="1863090"/>
            <a:ext cx="2834640" cy="3383280"/>
          </a:xfrm>
          <a:prstGeom prst="roundRect">
            <a:avLst>
              <a:gd name="adj" fmla="val 2581"/>
            </a:avLst>
          </a:prstGeom>
          <a:solidFill>
            <a:srgbClr val="FFFDE7"/>
          </a:solidFill>
          <a:ln w="19050">
            <a:solidFill>
              <a:srgbClr val="FFB300"/>
            </a:solidFill>
            <a:prstDash val="solid"/>
          </a:ln>
          <a:effectLst>
            <a:outerShdw blurRad="101600" dist="38100" dir="2700000" algn="bl" rotWithShape="0">
              <a:srgbClr val="000000">
                <a:alpha val="18000"/>
              </a:srgbClr>
            </a:outerShdw>
          </a:effectLst>
        </p:spPr>
        <p:txBody>
          <a:bodyPr/>
          <a:lstStyle/>
          <a:p>
            <a:endParaRPr lang="en-US"/>
          </a:p>
        </p:txBody>
      </p:sp>
      <p:sp>
        <p:nvSpPr>
          <p:cNvPr id="24" name="Text 22"/>
          <p:cNvSpPr/>
          <p:nvPr/>
        </p:nvSpPr>
        <p:spPr>
          <a:xfrm>
            <a:off x="5989320" y="1936242"/>
            <a:ext cx="2560320" cy="347472"/>
          </a:xfrm>
          <a:prstGeom prst="rect">
            <a:avLst/>
          </a:prstGeom>
          <a:noFill/>
          <a:ln/>
        </p:spPr>
        <p:txBody>
          <a:bodyPr wrap="square" lIns="0" tIns="0" rIns="0" bIns="0" rtlCol="0" anchor="ctr"/>
          <a:lstStyle/>
          <a:p>
            <a:r>
              <a:rPr lang="en-US" b="1" dirty="0">
                <a:solidFill>
                  <a:srgbClr val="F57C00"/>
                </a:solidFill>
                <a:latin typeface="Calibri" pitchFamily="34" charset="0"/>
                <a:ea typeface="Calibri" pitchFamily="34" charset="-122"/>
                <a:cs typeface="Calibri" pitchFamily="34" charset="-120"/>
              </a:rPr>
              <a:t>📚 Analogy</a:t>
            </a:r>
            <a:endParaRPr lang="en-US" dirty="0"/>
          </a:p>
        </p:txBody>
      </p:sp>
      <p:sp>
        <p:nvSpPr>
          <p:cNvPr id="25" name="Text 23"/>
          <p:cNvSpPr/>
          <p:nvPr/>
        </p:nvSpPr>
        <p:spPr>
          <a:xfrm>
            <a:off x="5989320" y="2320290"/>
            <a:ext cx="2560320" cy="2651760"/>
          </a:xfrm>
          <a:prstGeom prst="rect">
            <a:avLst/>
          </a:prstGeom>
          <a:noFill/>
          <a:ln/>
        </p:spPr>
        <p:txBody>
          <a:bodyPr wrap="square" rtlCol="0" anchor="t"/>
          <a:lstStyle/>
          <a:p>
            <a:r>
              <a:rPr lang="en-US" sz="1150" dirty="0">
                <a:solidFill>
                  <a:srgbClr val="0D1B2A"/>
                </a:solidFill>
                <a:latin typeface="Calibri" pitchFamily="34" charset="0"/>
                <a:ea typeface="Calibri" pitchFamily="34" charset="-122"/>
                <a:cs typeface="Calibri" pitchFamily="34" charset="-120"/>
              </a:rPr>
              <a:t>Think of a blockchain like a shared Google Doc that thousands of people can SEE, but NOBODY can secretly edit.</a:t>
            </a:r>
            <a:endParaRPr lang="en-US" sz="1150" dirty="0"/>
          </a:p>
          <a:p>
            <a:endParaRPr lang="en-US" sz="1150" dirty="0"/>
          </a:p>
          <a:p>
            <a:r>
              <a:rPr lang="en-US" sz="1150" dirty="0">
                <a:solidFill>
                  <a:srgbClr val="0D1B2A"/>
                </a:solidFill>
                <a:latin typeface="Calibri" pitchFamily="34" charset="0"/>
                <a:ea typeface="Calibri" pitchFamily="34" charset="-122"/>
                <a:cs typeface="Calibri" pitchFamily="34" charset="-120"/>
              </a:rPr>
              <a:t>Every time someone writes a new entry, it gets stamped with a timestamp and linked to the previous entry — like numbered pages in a diary no one can rip out.</a:t>
            </a:r>
            <a:endParaRPr lang="en-US" sz="11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6032" y="500634"/>
            <a:ext cx="8229600" cy="548640"/>
          </a:xfrm>
          <a:prstGeom prst="rect">
            <a:avLst/>
          </a:prstGeom>
          <a:noFill/>
          <a:ln/>
        </p:spPr>
        <p:txBody>
          <a:bodyPr wrap="square" rtlCol="0" anchor="ctr"/>
          <a:lstStyle/>
          <a:p>
            <a:r>
              <a:rPr lang="en-US" sz="2800" b="1" dirty="0">
                <a:solidFill>
                  <a:srgbClr val="0D1B2A"/>
                </a:solidFill>
                <a:latin typeface="Cambria" pitchFamily="34" charset="0"/>
                <a:ea typeface="Cambria" pitchFamily="34" charset="-122"/>
                <a:cs typeface="Cambria" pitchFamily="34" charset="-120"/>
              </a:rPr>
              <a:t>How a Blockchain Works</a:t>
            </a:r>
            <a:endParaRPr lang="en-US" sz="2800" dirty="0"/>
          </a:p>
        </p:txBody>
      </p:sp>
      <p:sp>
        <p:nvSpPr>
          <p:cNvPr id="3" name="Shape 1"/>
          <p:cNvSpPr/>
          <p:nvPr/>
        </p:nvSpPr>
        <p:spPr>
          <a:xfrm>
            <a:off x="457200" y="1725930"/>
            <a:ext cx="1737360" cy="1371600"/>
          </a:xfrm>
          <a:prstGeom prst="roundRect">
            <a:avLst>
              <a:gd name="adj" fmla="val 4667"/>
            </a:avLst>
          </a:prstGeom>
          <a:solidFill>
            <a:srgbClr val="1565C0"/>
          </a:solidFill>
          <a:ln w="127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4" name="Text 2"/>
          <p:cNvSpPr/>
          <p:nvPr/>
        </p:nvSpPr>
        <p:spPr>
          <a:xfrm>
            <a:off x="502920" y="1817370"/>
            <a:ext cx="1645920" cy="640080"/>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Block #1</a:t>
            </a:r>
            <a:endParaRPr lang="en-US" sz="1200" dirty="0"/>
          </a:p>
          <a:p>
            <a:pPr algn="ctr"/>
            <a:r>
              <a:rPr lang="en-US" sz="1200" b="1" dirty="0">
                <a:solidFill>
                  <a:srgbClr val="FFFFFF"/>
                </a:solidFill>
                <a:latin typeface="Calibri" pitchFamily="34" charset="0"/>
                <a:ea typeface="Calibri" pitchFamily="34" charset="-122"/>
                <a:cs typeface="Calibri" pitchFamily="34" charset="-120"/>
              </a:rPr>
              <a:t>(Genesis)</a:t>
            </a:r>
            <a:endParaRPr lang="en-US" sz="1200" dirty="0"/>
          </a:p>
        </p:txBody>
      </p:sp>
      <p:sp>
        <p:nvSpPr>
          <p:cNvPr id="5" name="Text 3"/>
          <p:cNvSpPr/>
          <p:nvPr/>
        </p:nvSpPr>
        <p:spPr>
          <a:xfrm>
            <a:off x="502920" y="2439162"/>
            <a:ext cx="1645920" cy="548640"/>
          </a:xfrm>
          <a:prstGeom prst="rect">
            <a:avLst/>
          </a:prstGeom>
          <a:noFill/>
          <a:ln/>
        </p:spPr>
        <p:txBody>
          <a:bodyPr wrap="square" lIns="0" tIns="0" rIns="0" bIns="0" rtlCol="0" anchor="ctr"/>
          <a:lstStyle/>
          <a:p>
            <a:pPr algn="ctr"/>
            <a:r>
              <a:rPr lang="en-US" sz="1000" dirty="0">
                <a:solidFill>
                  <a:srgbClr val="B3D4FF"/>
                </a:solidFill>
                <a:latin typeface="Calibri" pitchFamily="34" charset="0"/>
                <a:ea typeface="Calibri" pitchFamily="34" charset="-122"/>
                <a:cs typeface="Calibri" pitchFamily="34" charset="-120"/>
              </a:rPr>
              <a:t>Transaction</a:t>
            </a:r>
            <a:endParaRPr lang="en-US" sz="1000" dirty="0"/>
          </a:p>
          <a:p>
            <a:pPr algn="ctr"/>
            <a:r>
              <a:rPr lang="en-US" sz="1000" dirty="0">
                <a:solidFill>
                  <a:srgbClr val="B3D4FF"/>
                </a:solidFill>
                <a:latin typeface="Calibri" pitchFamily="34" charset="0"/>
                <a:ea typeface="Calibri" pitchFamily="34" charset="-122"/>
                <a:cs typeface="Calibri" pitchFamily="34" charset="-120"/>
              </a:rPr>
              <a:t>data</a:t>
            </a:r>
            <a:endParaRPr lang="en-US" sz="1000" dirty="0"/>
          </a:p>
        </p:txBody>
      </p:sp>
      <p:sp>
        <p:nvSpPr>
          <p:cNvPr id="6" name="Shape 4"/>
          <p:cNvSpPr/>
          <p:nvPr/>
        </p:nvSpPr>
        <p:spPr>
          <a:xfrm>
            <a:off x="2221992" y="2411730"/>
            <a:ext cx="384048" cy="0"/>
          </a:xfrm>
          <a:prstGeom prst="line">
            <a:avLst/>
          </a:prstGeom>
          <a:noFill/>
          <a:ln w="25400">
            <a:solidFill>
              <a:srgbClr val="00BCD4"/>
            </a:solidFill>
            <a:prstDash val="solid"/>
          </a:ln>
        </p:spPr>
        <p:txBody>
          <a:bodyPr/>
          <a:lstStyle/>
          <a:p>
            <a:endParaRPr lang="en-US"/>
          </a:p>
        </p:txBody>
      </p:sp>
      <p:sp>
        <p:nvSpPr>
          <p:cNvPr id="7" name="Shape 5"/>
          <p:cNvSpPr/>
          <p:nvPr/>
        </p:nvSpPr>
        <p:spPr>
          <a:xfrm>
            <a:off x="2606040" y="1725930"/>
            <a:ext cx="1737360" cy="1371600"/>
          </a:xfrm>
          <a:prstGeom prst="roundRect">
            <a:avLst>
              <a:gd name="adj" fmla="val 4667"/>
            </a:avLst>
          </a:prstGeom>
          <a:solidFill>
            <a:srgbClr val="1976D2"/>
          </a:solidFill>
          <a:ln w="127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8" name="Text 6"/>
          <p:cNvSpPr/>
          <p:nvPr/>
        </p:nvSpPr>
        <p:spPr>
          <a:xfrm>
            <a:off x="2651760" y="1817370"/>
            <a:ext cx="1645920" cy="640080"/>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Block #2</a:t>
            </a:r>
            <a:endParaRPr lang="en-US" sz="1200" dirty="0"/>
          </a:p>
        </p:txBody>
      </p:sp>
      <p:sp>
        <p:nvSpPr>
          <p:cNvPr id="9" name="Text 7"/>
          <p:cNvSpPr/>
          <p:nvPr/>
        </p:nvSpPr>
        <p:spPr>
          <a:xfrm>
            <a:off x="2651760" y="2439162"/>
            <a:ext cx="1645920" cy="548640"/>
          </a:xfrm>
          <a:prstGeom prst="rect">
            <a:avLst/>
          </a:prstGeom>
          <a:noFill/>
          <a:ln/>
        </p:spPr>
        <p:txBody>
          <a:bodyPr wrap="square" lIns="0" tIns="0" rIns="0" bIns="0" rtlCol="0" anchor="ctr"/>
          <a:lstStyle/>
          <a:p>
            <a:pPr algn="ctr"/>
            <a:r>
              <a:rPr lang="en-US" sz="1000" dirty="0">
                <a:solidFill>
                  <a:srgbClr val="B3D4FF"/>
                </a:solidFill>
                <a:latin typeface="Calibri" pitchFamily="34" charset="0"/>
                <a:ea typeface="Calibri" pitchFamily="34" charset="-122"/>
                <a:cs typeface="Calibri" pitchFamily="34" charset="-120"/>
              </a:rPr>
              <a:t>Transaction</a:t>
            </a:r>
            <a:endParaRPr lang="en-US" sz="1000" dirty="0"/>
          </a:p>
          <a:p>
            <a:pPr algn="ctr"/>
            <a:r>
              <a:rPr lang="en-US" sz="1000" dirty="0">
                <a:solidFill>
                  <a:srgbClr val="B3D4FF"/>
                </a:solidFill>
                <a:latin typeface="Calibri" pitchFamily="34" charset="0"/>
                <a:ea typeface="Calibri" pitchFamily="34" charset="-122"/>
                <a:cs typeface="Calibri" pitchFamily="34" charset="-120"/>
              </a:rPr>
              <a:t>data</a:t>
            </a:r>
            <a:endParaRPr lang="en-US" sz="1000" dirty="0"/>
          </a:p>
        </p:txBody>
      </p:sp>
      <p:sp>
        <p:nvSpPr>
          <p:cNvPr id="10" name="Shape 8"/>
          <p:cNvSpPr/>
          <p:nvPr/>
        </p:nvSpPr>
        <p:spPr>
          <a:xfrm>
            <a:off x="4370832" y="2411730"/>
            <a:ext cx="384048" cy="0"/>
          </a:xfrm>
          <a:prstGeom prst="line">
            <a:avLst/>
          </a:prstGeom>
          <a:noFill/>
          <a:ln w="25400">
            <a:solidFill>
              <a:srgbClr val="00BCD4"/>
            </a:solidFill>
            <a:prstDash val="solid"/>
          </a:ln>
        </p:spPr>
        <p:txBody>
          <a:bodyPr/>
          <a:lstStyle/>
          <a:p>
            <a:endParaRPr lang="en-US"/>
          </a:p>
        </p:txBody>
      </p:sp>
      <p:sp>
        <p:nvSpPr>
          <p:cNvPr id="11" name="Shape 9"/>
          <p:cNvSpPr/>
          <p:nvPr/>
        </p:nvSpPr>
        <p:spPr>
          <a:xfrm>
            <a:off x="4754880" y="1725930"/>
            <a:ext cx="1737360" cy="1371600"/>
          </a:xfrm>
          <a:prstGeom prst="roundRect">
            <a:avLst>
              <a:gd name="adj" fmla="val 4667"/>
            </a:avLst>
          </a:prstGeom>
          <a:solidFill>
            <a:srgbClr val="1565C0"/>
          </a:solidFill>
          <a:ln w="127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12" name="Text 10"/>
          <p:cNvSpPr/>
          <p:nvPr/>
        </p:nvSpPr>
        <p:spPr>
          <a:xfrm>
            <a:off x="4800600" y="1817370"/>
            <a:ext cx="1645920" cy="640080"/>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Block #3</a:t>
            </a:r>
            <a:endParaRPr lang="en-US" sz="1200" dirty="0"/>
          </a:p>
        </p:txBody>
      </p:sp>
      <p:sp>
        <p:nvSpPr>
          <p:cNvPr id="13" name="Text 11"/>
          <p:cNvSpPr/>
          <p:nvPr/>
        </p:nvSpPr>
        <p:spPr>
          <a:xfrm>
            <a:off x="4800600" y="2439162"/>
            <a:ext cx="1645920" cy="548640"/>
          </a:xfrm>
          <a:prstGeom prst="rect">
            <a:avLst/>
          </a:prstGeom>
          <a:noFill/>
          <a:ln/>
        </p:spPr>
        <p:txBody>
          <a:bodyPr wrap="square" lIns="0" tIns="0" rIns="0" bIns="0" rtlCol="0" anchor="ctr"/>
          <a:lstStyle/>
          <a:p>
            <a:pPr algn="ctr"/>
            <a:r>
              <a:rPr lang="en-US" sz="1000" dirty="0">
                <a:solidFill>
                  <a:srgbClr val="B3D4FF"/>
                </a:solidFill>
                <a:latin typeface="Calibri" pitchFamily="34" charset="0"/>
                <a:ea typeface="Calibri" pitchFamily="34" charset="-122"/>
                <a:cs typeface="Calibri" pitchFamily="34" charset="-120"/>
              </a:rPr>
              <a:t>Transaction</a:t>
            </a:r>
            <a:endParaRPr lang="en-US" sz="1000" dirty="0"/>
          </a:p>
          <a:p>
            <a:pPr algn="ctr"/>
            <a:r>
              <a:rPr lang="en-US" sz="1000" dirty="0">
                <a:solidFill>
                  <a:srgbClr val="B3D4FF"/>
                </a:solidFill>
                <a:latin typeface="Calibri" pitchFamily="34" charset="0"/>
                <a:ea typeface="Calibri" pitchFamily="34" charset="-122"/>
                <a:cs typeface="Calibri" pitchFamily="34" charset="-120"/>
              </a:rPr>
              <a:t>data</a:t>
            </a:r>
            <a:endParaRPr lang="en-US" sz="1000" dirty="0"/>
          </a:p>
        </p:txBody>
      </p:sp>
      <p:sp>
        <p:nvSpPr>
          <p:cNvPr id="14" name="Shape 12"/>
          <p:cNvSpPr/>
          <p:nvPr/>
        </p:nvSpPr>
        <p:spPr>
          <a:xfrm>
            <a:off x="6519672" y="2411730"/>
            <a:ext cx="384048" cy="0"/>
          </a:xfrm>
          <a:prstGeom prst="line">
            <a:avLst/>
          </a:prstGeom>
          <a:noFill/>
          <a:ln w="25400">
            <a:solidFill>
              <a:srgbClr val="00BCD4"/>
            </a:solidFill>
            <a:prstDash val="solid"/>
          </a:ln>
        </p:spPr>
        <p:txBody>
          <a:bodyPr/>
          <a:lstStyle/>
          <a:p>
            <a:endParaRPr lang="en-US"/>
          </a:p>
        </p:txBody>
      </p:sp>
      <p:sp>
        <p:nvSpPr>
          <p:cNvPr id="15" name="Shape 13"/>
          <p:cNvSpPr/>
          <p:nvPr/>
        </p:nvSpPr>
        <p:spPr>
          <a:xfrm>
            <a:off x="6903720" y="1725930"/>
            <a:ext cx="1737360" cy="1371600"/>
          </a:xfrm>
          <a:prstGeom prst="roundRect">
            <a:avLst>
              <a:gd name="adj" fmla="val 4667"/>
            </a:avLst>
          </a:prstGeom>
          <a:solidFill>
            <a:srgbClr val="0D47A1"/>
          </a:solidFill>
          <a:ln w="127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16" name="Text 14"/>
          <p:cNvSpPr/>
          <p:nvPr/>
        </p:nvSpPr>
        <p:spPr>
          <a:xfrm>
            <a:off x="6949440" y="1817370"/>
            <a:ext cx="1645920" cy="640080"/>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Block #4</a:t>
            </a:r>
            <a:endParaRPr lang="en-US" sz="1200" dirty="0"/>
          </a:p>
        </p:txBody>
      </p:sp>
      <p:sp>
        <p:nvSpPr>
          <p:cNvPr id="17" name="Text 15"/>
          <p:cNvSpPr/>
          <p:nvPr/>
        </p:nvSpPr>
        <p:spPr>
          <a:xfrm>
            <a:off x="6949440" y="2439162"/>
            <a:ext cx="1645920" cy="548640"/>
          </a:xfrm>
          <a:prstGeom prst="rect">
            <a:avLst/>
          </a:prstGeom>
          <a:noFill/>
          <a:ln/>
        </p:spPr>
        <p:txBody>
          <a:bodyPr wrap="square" lIns="0" tIns="0" rIns="0" bIns="0" rtlCol="0" anchor="ctr"/>
          <a:lstStyle/>
          <a:p>
            <a:pPr algn="ctr"/>
            <a:r>
              <a:rPr lang="en-US" sz="1000" dirty="0">
                <a:solidFill>
                  <a:srgbClr val="B3D4FF"/>
                </a:solidFill>
                <a:latin typeface="Calibri" pitchFamily="34" charset="0"/>
                <a:ea typeface="Calibri" pitchFamily="34" charset="-122"/>
                <a:cs typeface="Calibri" pitchFamily="34" charset="-120"/>
              </a:rPr>
              <a:t>Latest</a:t>
            </a:r>
            <a:endParaRPr lang="en-US" sz="1000" dirty="0"/>
          </a:p>
          <a:p>
            <a:pPr algn="ctr"/>
            <a:r>
              <a:rPr lang="en-US" sz="1000" dirty="0">
                <a:solidFill>
                  <a:srgbClr val="B3D4FF"/>
                </a:solidFill>
                <a:latin typeface="Calibri" pitchFamily="34" charset="0"/>
                <a:ea typeface="Calibri" pitchFamily="34" charset="-122"/>
                <a:cs typeface="Calibri" pitchFamily="34" charset="-120"/>
              </a:rPr>
              <a:t>data</a:t>
            </a:r>
            <a:endParaRPr lang="en-US" sz="1000" dirty="0"/>
          </a:p>
        </p:txBody>
      </p:sp>
      <p:sp>
        <p:nvSpPr>
          <p:cNvPr id="18" name="Text 16"/>
          <p:cNvSpPr/>
          <p:nvPr/>
        </p:nvSpPr>
        <p:spPr>
          <a:xfrm>
            <a:off x="457200" y="3234690"/>
            <a:ext cx="8229600" cy="347472"/>
          </a:xfrm>
          <a:prstGeom prst="rect">
            <a:avLst/>
          </a:prstGeom>
          <a:noFill/>
          <a:ln/>
        </p:spPr>
        <p:txBody>
          <a:bodyPr wrap="square" rtlCol="0" anchor="ctr"/>
          <a:lstStyle/>
          <a:p>
            <a:pPr algn="ctr"/>
            <a:r>
              <a:rPr lang="en-US" sz="1200" i="1" dirty="0">
                <a:solidFill>
                  <a:srgbClr val="546E7A"/>
                </a:solidFill>
                <a:latin typeface="Calibri" pitchFamily="34" charset="0"/>
                <a:ea typeface="Calibri" pitchFamily="34" charset="-122"/>
                <a:cs typeface="Calibri" pitchFamily="34" charset="-120"/>
              </a:rPr>
              <a:t>Each block contains: Data  ·  Previous block's hash (fingerprint)  ·  Its own hash</a:t>
            </a:r>
            <a:endParaRPr lang="en-US" sz="1200" dirty="0"/>
          </a:p>
        </p:txBody>
      </p:sp>
      <p:sp>
        <p:nvSpPr>
          <p:cNvPr id="19" name="Shape 17"/>
          <p:cNvSpPr/>
          <p:nvPr/>
        </p:nvSpPr>
        <p:spPr>
          <a:xfrm>
            <a:off x="457200" y="3746754"/>
            <a:ext cx="320040" cy="320040"/>
          </a:xfrm>
          <a:prstGeom prst="ellipse">
            <a:avLst/>
          </a:prstGeom>
          <a:solidFill>
            <a:srgbClr val="1565C0"/>
          </a:solidFill>
          <a:ln w="12700">
            <a:solidFill>
              <a:srgbClr val="1565C0"/>
            </a:solidFill>
            <a:prstDash val="solid"/>
          </a:ln>
        </p:spPr>
        <p:txBody>
          <a:bodyPr/>
          <a:lstStyle/>
          <a:p>
            <a:endParaRPr lang="en-US"/>
          </a:p>
        </p:txBody>
      </p:sp>
      <p:sp>
        <p:nvSpPr>
          <p:cNvPr id="20" name="Text 18"/>
          <p:cNvSpPr/>
          <p:nvPr/>
        </p:nvSpPr>
        <p:spPr>
          <a:xfrm>
            <a:off x="457200" y="3746754"/>
            <a:ext cx="320040" cy="320040"/>
          </a:xfrm>
          <a:prstGeom prst="rect">
            <a:avLst/>
          </a:prstGeom>
          <a:noFill/>
          <a:ln/>
        </p:spPr>
        <p:txBody>
          <a:bodyPr wrap="square" lIns="0" tIns="0" rIns="0" bIns="0" rtlCol="0" anchor="ctr"/>
          <a:lstStyle/>
          <a:p>
            <a:pPr algn="ctr"/>
            <a:r>
              <a:rPr lang="en-US" sz="1100" b="1" dirty="0">
                <a:solidFill>
                  <a:srgbClr val="FFFFFF"/>
                </a:solidFill>
              </a:rPr>
              <a:t>1</a:t>
            </a:r>
            <a:endParaRPr lang="en-US" sz="1100" dirty="0"/>
          </a:p>
        </p:txBody>
      </p:sp>
      <p:sp>
        <p:nvSpPr>
          <p:cNvPr id="21" name="Text 19"/>
          <p:cNvSpPr/>
          <p:nvPr/>
        </p:nvSpPr>
        <p:spPr>
          <a:xfrm>
            <a:off x="914400" y="3710178"/>
            <a:ext cx="7772400" cy="384048"/>
          </a:xfrm>
          <a:prstGeom prst="rect">
            <a:avLst/>
          </a:prstGeom>
          <a:noFill/>
          <a:ln/>
        </p:spPr>
        <p:txBody>
          <a:bodyPr wrap="square" rtlCol="0" anchor="ctr"/>
          <a:lstStyle/>
          <a:p>
            <a:r>
              <a:rPr lang="en-US" sz="1150" b="1" dirty="0">
                <a:solidFill>
                  <a:srgbClr val="0D1B2A"/>
                </a:solidFill>
                <a:latin typeface="Calibri" pitchFamily="34" charset="0"/>
                <a:ea typeface="Calibri" pitchFamily="34" charset="-122"/>
                <a:cs typeface="Calibri" pitchFamily="34" charset="-120"/>
              </a:rPr>
              <a:t>Transaction Initiated:  </a:t>
            </a:r>
            <a:r>
              <a:rPr lang="en-US" sz="1150" dirty="0">
                <a:solidFill>
                  <a:srgbClr val="546E7A"/>
                </a:solidFill>
                <a:latin typeface="Calibri" pitchFamily="34" charset="0"/>
                <a:ea typeface="Calibri" pitchFamily="34" charset="-122"/>
                <a:cs typeface="Calibri" pitchFamily="34" charset="-120"/>
              </a:rPr>
              <a:t>A user requests a transaction — e.g., sending cryptocurrency or recording a contract.</a:t>
            </a:r>
            <a:endParaRPr lang="en-US" sz="1150" dirty="0"/>
          </a:p>
        </p:txBody>
      </p:sp>
      <p:sp>
        <p:nvSpPr>
          <p:cNvPr id="22" name="Shape 20"/>
          <p:cNvSpPr/>
          <p:nvPr/>
        </p:nvSpPr>
        <p:spPr>
          <a:xfrm>
            <a:off x="457200" y="4167378"/>
            <a:ext cx="320040" cy="320040"/>
          </a:xfrm>
          <a:prstGeom prst="ellipse">
            <a:avLst/>
          </a:prstGeom>
          <a:solidFill>
            <a:srgbClr val="1565C0"/>
          </a:solidFill>
          <a:ln w="12700">
            <a:solidFill>
              <a:srgbClr val="1565C0"/>
            </a:solidFill>
            <a:prstDash val="solid"/>
          </a:ln>
        </p:spPr>
        <p:txBody>
          <a:bodyPr/>
          <a:lstStyle/>
          <a:p>
            <a:endParaRPr lang="en-US"/>
          </a:p>
        </p:txBody>
      </p:sp>
      <p:sp>
        <p:nvSpPr>
          <p:cNvPr id="23" name="Text 21"/>
          <p:cNvSpPr/>
          <p:nvPr/>
        </p:nvSpPr>
        <p:spPr>
          <a:xfrm>
            <a:off x="457200" y="4167378"/>
            <a:ext cx="320040" cy="320040"/>
          </a:xfrm>
          <a:prstGeom prst="rect">
            <a:avLst/>
          </a:prstGeom>
          <a:noFill/>
          <a:ln/>
        </p:spPr>
        <p:txBody>
          <a:bodyPr wrap="square" lIns="0" tIns="0" rIns="0" bIns="0" rtlCol="0" anchor="ctr"/>
          <a:lstStyle/>
          <a:p>
            <a:pPr algn="ctr"/>
            <a:r>
              <a:rPr lang="en-US" sz="1100" b="1" dirty="0">
                <a:solidFill>
                  <a:srgbClr val="FFFFFF"/>
                </a:solidFill>
              </a:rPr>
              <a:t>2</a:t>
            </a:r>
            <a:endParaRPr lang="en-US" sz="1100" dirty="0"/>
          </a:p>
        </p:txBody>
      </p:sp>
      <p:sp>
        <p:nvSpPr>
          <p:cNvPr id="24" name="Text 22"/>
          <p:cNvSpPr/>
          <p:nvPr/>
        </p:nvSpPr>
        <p:spPr>
          <a:xfrm>
            <a:off x="914400" y="4130802"/>
            <a:ext cx="7772400" cy="384048"/>
          </a:xfrm>
          <a:prstGeom prst="rect">
            <a:avLst/>
          </a:prstGeom>
          <a:noFill/>
          <a:ln/>
        </p:spPr>
        <p:txBody>
          <a:bodyPr wrap="square" rtlCol="0" anchor="ctr"/>
          <a:lstStyle/>
          <a:p>
            <a:r>
              <a:rPr lang="en-US" sz="1150" b="1" dirty="0">
                <a:solidFill>
                  <a:srgbClr val="0D1B2A"/>
                </a:solidFill>
                <a:latin typeface="Calibri" pitchFamily="34" charset="0"/>
                <a:ea typeface="Calibri" pitchFamily="34" charset="-122"/>
                <a:cs typeface="Calibri" pitchFamily="34" charset="-120"/>
              </a:rPr>
              <a:t>Transaction Broadcast:  </a:t>
            </a:r>
            <a:r>
              <a:rPr lang="en-US" sz="1150" dirty="0">
                <a:solidFill>
                  <a:srgbClr val="546E7A"/>
                </a:solidFill>
                <a:latin typeface="Calibri" pitchFamily="34" charset="0"/>
                <a:ea typeface="Calibri" pitchFamily="34" charset="-122"/>
                <a:cs typeface="Calibri" pitchFamily="34" charset="-120"/>
              </a:rPr>
              <a:t>The transaction is shared with a peer-to-peer network of computers (nodes).</a:t>
            </a:r>
            <a:endParaRPr lang="en-US" sz="1150" dirty="0"/>
          </a:p>
        </p:txBody>
      </p:sp>
      <p:sp>
        <p:nvSpPr>
          <p:cNvPr id="25" name="Shape 23"/>
          <p:cNvSpPr/>
          <p:nvPr/>
        </p:nvSpPr>
        <p:spPr>
          <a:xfrm>
            <a:off x="457200" y="4588002"/>
            <a:ext cx="320040" cy="320040"/>
          </a:xfrm>
          <a:prstGeom prst="ellipse">
            <a:avLst/>
          </a:prstGeom>
          <a:solidFill>
            <a:srgbClr val="1565C0"/>
          </a:solidFill>
          <a:ln w="12700">
            <a:solidFill>
              <a:srgbClr val="1565C0"/>
            </a:solidFill>
            <a:prstDash val="solid"/>
          </a:ln>
        </p:spPr>
        <p:txBody>
          <a:bodyPr/>
          <a:lstStyle/>
          <a:p>
            <a:endParaRPr lang="en-US"/>
          </a:p>
        </p:txBody>
      </p:sp>
      <p:sp>
        <p:nvSpPr>
          <p:cNvPr id="26" name="Text 24"/>
          <p:cNvSpPr/>
          <p:nvPr/>
        </p:nvSpPr>
        <p:spPr>
          <a:xfrm>
            <a:off x="457200" y="4588002"/>
            <a:ext cx="320040" cy="320040"/>
          </a:xfrm>
          <a:prstGeom prst="rect">
            <a:avLst/>
          </a:prstGeom>
          <a:noFill/>
          <a:ln/>
        </p:spPr>
        <p:txBody>
          <a:bodyPr wrap="square" lIns="0" tIns="0" rIns="0" bIns="0" rtlCol="0" anchor="ctr"/>
          <a:lstStyle/>
          <a:p>
            <a:pPr algn="ctr"/>
            <a:r>
              <a:rPr lang="en-US" sz="1100" b="1" dirty="0">
                <a:solidFill>
                  <a:srgbClr val="FFFFFF"/>
                </a:solidFill>
              </a:rPr>
              <a:t>3</a:t>
            </a:r>
            <a:endParaRPr lang="en-US" sz="1100" dirty="0"/>
          </a:p>
        </p:txBody>
      </p:sp>
      <p:sp>
        <p:nvSpPr>
          <p:cNvPr id="27" name="Text 25"/>
          <p:cNvSpPr/>
          <p:nvPr/>
        </p:nvSpPr>
        <p:spPr>
          <a:xfrm>
            <a:off x="914400" y="4551426"/>
            <a:ext cx="7772400" cy="384048"/>
          </a:xfrm>
          <a:prstGeom prst="rect">
            <a:avLst/>
          </a:prstGeom>
          <a:noFill/>
          <a:ln/>
        </p:spPr>
        <p:txBody>
          <a:bodyPr wrap="square" rtlCol="0" anchor="ctr"/>
          <a:lstStyle/>
          <a:p>
            <a:r>
              <a:rPr lang="en-US" sz="1150" b="1" dirty="0">
                <a:solidFill>
                  <a:srgbClr val="0D1B2A"/>
                </a:solidFill>
                <a:latin typeface="Calibri" pitchFamily="34" charset="0"/>
                <a:ea typeface="Calibri" pitchFamily="34" charset="-122"/>
                <a:cs typeface="Calibri" pitchFamily="34" charset="-120"/>
              </a:rPr>
              <a:t>Validation:  </a:t>
            </a:r>
            <a:r>
              <a:rPr lang="en-US" sz="1150" dirty="0">
                <a:solidFill>
                  <a:srgbClr val="546E7A"/>
                </a:solidFill>
                <a:latin typeface="Calibri" pitchFamily="34" charset="0"/>
                <a:ea typeface="Calibri" pitchFamily="34" charset="-122"/>
                <a:cs typeface="Calibri" pitchFamily="34" charset="-120"/>
              </a:rPr>
              <a:t>Nodes validate the transaction using consensus algorithms (e.g., Proof of Work, Proof of Stake).</a:t>
            </a:r>
            <a:endParaRPr lang="en-US" sz="1150" dirty="0"/>
          </a:p>
        </p:txBody>
      </p:sp>
      <p:sp>
        <p:nvSpPr>
          <p:cNvPr id="28" name="Shape 26"/>
          <p:cNvSpPr/>
          <p:nvPr/>
        </p:nvSpPr>
        <p:spPr>
          <a:xfrm>
            <a:off x="457200" y="5008626"/>
            <a:ext cx="320040" cy="320040"/>
          </a:xfrm>
          <a:prstGeom prst="ellipse">
            <a:avLst/>
          </a:prstGeom>
          <a:solidFill>
            <a:srgbClr val="1565C0"/>
          </a:solidFill>
          <a:ln w="12700">
            <a:solidFill>
              <a:srgbClr val="1565C0"/>
            </a:solidFill>
            <a:prstDash val="solid"/>
          </a:ln>
        </p:spPr>
        <p:txBody>
          <a:bodyPr/>
          <a:lstStyle/>
          <a:p>
            <a:endParaRPr lang="en-US"/>
          </a:p>
        </p:txBody>
      </p:sp>
      <p:sp>
        <p:nvSpPr>
          <p:cNvPr id="29" name="Text 27"/>
          <p:cNvSpPr/>
          <p:nvPr/>
        </p:nvSpPr>
        <p:spPr>
          <a:xfrm>
            <a:off x="457200" y="5008626"/>
            <a:ext cx="320040" cy="320040"/>
          </a:xfrm>
          <a:prstGeom prst="rect">
            <a:avLst/>
          </a:prstGeom>
          <a:noFill/>
          <a:ln/>
        </p:spPr>
        <p:txBody>
          <a:bodyPr wrap="square" lIns="0" tIns="0" rIns="0" bIns="0" rtlCol="0" anchor="ctr"/>
          <a:lstStyle/>
          <a:p>
            <a:pPr algn="ctr"/>
            <a:r>
              <a:rPr lang="en-US" sz="1100" b="1" dirty="0">
                <a:solidFill>
                  <a:srgbClr val="FFFFFF"/>
                </a:solidFill>
              </a:rPr>
              <a:t>4</a:t>
            </a:r>
            <a:endParaRPr lang="en-US" sz="1100" dirty="0"/>
          </a:p>
        </p:txBody>
      </p:sp>
      <p:sp>
        <p:nvSpPr>
          <p:cNvPr id="30" name="Text 28"/>
          <p:cNvSpPr/>
          <p:nvPr/>
        </p:nvSpPr>
        <p:spPr>
          <a:xfrm>
            <a:off x="914400" y="4972050"/>
            <a:ext cx="7772400" cy="384048"/>
          </a:xfrm>
          <a:prstGeom prst="rect">
            <a:avLst/>
          </a:prstGeom>
          <a:noFill/>
          <a:ln/>
        </p:spPr>
        <p:txBody>
          <a:bodyPr wrap="square" rtlCol="0" anchor="ctr"/>
          <a:lstStyle/>
          <a:p>
            <a:r>
              <a:rPr lang="en-US" sz="1150" b="1" dirty="0">
                <a:solidFill>
                  <a:srgbClr val="0D1B2A"/>
                </a:solidFill>
                <a:latin typeface="Calibri" pitchFamily="34" charset="0"/>
                <a:ea typeface="Calibri" pitchFamily="34" charset="-122"/>
                <a:cs typeface="Calibri" pitchFamily="34" charset="-120"/>
              </a:rPr>
              <a:t>Block Created &amp; Added:  </a:t>
            </a:r>
            <a:r>
              <a:rPr lang="en-US" sz="1150" dirty="0">
                <a:solidFill>
                  <a:srgbClr val="546E7A"/>
                </a:solidFill>
                <a:latin typeface="Calibri" pitchFamily="34" charset="0"/>
                <a:ea typeface="Calibri" pitchFamily="34" charset="-122"/>
                <a:cs typeface="Calibri" pitchFamily="34" charset="-120"/>
              </a:rPr>
              <a:t>Validated transactions are combined into a new block, which is permanently added to the chain.</a:t>
            </a:r>
            <a:endParaRPr lang="en-US" sz="1150" dirty="0"/>
          </a:p>
        </p:txBody>
      </p:sp>
      <p:sp>
        <p:nvSpPr>
          <p:cNvPr id="31" name="Shape 29"/>
          <p:cNvSpPr/>
          <p:nvPr/>
        </p:nvSpPr>
        <p:spPr>
          <a:xfrm>
            <a:off x="457200" y="5429250"/>
            <a:ext cx="320040" cy="320040"/>
          </a:xfrm>
          <a:prstGeom prst="ellipse">
            <a:avLst/>
          </a:prstGeom>
          <a:solidFill>
            <a:srgbClr val="1565C0"/>
          </a:solidFill>
          <a:ln w="12700">
            <a:solidFill>
              <a:srgbClr val="1565C0"/>
            </a:solidFill>
            <a:prstDash val="solid"/>
          </a:ln>
        </p:spPr>
        <p:txBody>
          <a:bodyPr/>
          <a:lstStyle/>
          <a:p>
            <a:endParaRPr lang="en-US"/>
          </a:p>
        </p:txBody>
      </p:sp>
      <p:sp>
        <p:nvSpPr>
          <p:cNvPr id="32" name="Text 30"/>
          <p:cNvSpPr/>
          <p:nvPr/>
        </p:nvSpPr>
        <p:spPr>
          <a:xfrm>
            <a:off x="457200" y="5429250"/>
            <a:ext cx="320040" cy="320040"/>
          </a:xfrm>
          <a:prstGeom prst="rect">
            <a:avLst/>
          </a:prstGeom>
          <a:noFill/>
          <a:ln/>
        </p:spPr>
        <p:txBody>
          <a:bodyPr wrap="square" lIns="0" tIns="0" rIns="0" bIns="0" rtlCol="0" anchor="ctr"/>
          <a:lstStyle/>
          <a:p>
            <a:pPr algn="ctr"/>
            <a:r>
              <a:rPr lang="en-US" sz="1100" b="1" dirty="0">
                <a:solidFill>
                  <a:srgbClr val="FFFFFF"/>
                </a:solidFill>
              </a:rPr>
              <a:t>5</a:t>
            </a:r>
            <a:endParaRPr lang="en-US" sz="1100" dirty="0"/>
          </a:p>
        </p:txBody>
      </p:sp>
      <p:sp>
        <p:nvSpPr>
          <p:cNvPr id="33" name="Text 31"/>
          <p:cNvSpPr/>
          <p:nvPr/>
        </p:nvSpPr>
        <p:spPr>
          <a:xfrm>
            <a:off x="914400" y="5392674"/>
            <a:ext cx="7772400" cy="384048"/>
          </a:xfrm>
          <a:prstGeom prst="rect">
            <a:avLst/>
          </a:prstGeom>
          <a:noFill/>
          <a:ln/>
        </p:spPr>
        <p:txBody>
          <a:bodyPr wrap="square" rtlCol="0" anchor="ctr"/>
          <a:lstStyle/>
          <a:p>
            <a:r>
              <a:rPr lang="en-US" sz="1150" b="1" dirty="0">
                <a:solidFill>
                  <a:srgbClr val="0D1B2A"/>
                </a:solidFill>
                <a:latin typeface="Calibri" pitchFamily="34" charset="0"/>
                <a:ea typeface="Calibri" pitchFamily="34" charset="-122"/>
                <a:cs typeface="Calibri" pitchFamily="34" charset="-120"/>
              </a:rPr>
              <a:t>Transaction Complete:  </a:t>
            </a:r>
            <a:r>
              <a:rPr lang="en-US" sz="1150" dirty="0">
                <a:solidFill>
                  <a:srgbClr val="546E7A"/>
                </a:solidFill>
                <a:latin typeface="Calibri" pitchFamily="34" charset="0"/>
                <a:ea typeface="Calibri" pitchFamily="34" charset="-122"/>
                <a:cs typeface="Calibri" pitchFamily="34" charset="-120"/>
              </a:rPr>
              <a:t>The transaction is now immutably recorded and visible to all participants.</a:t>
            </a:r>
            <a:endParaRPr lang="en-US" sz="11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2" grpId="0" animBg="1"/>
      <p:bldP spid="13" grpId="0" animBg="1"/>
      <p:bldP spid="16" grpId="0" animBg="1"/>
      <p:bldP spid="17" grpId="0" animBg="1"/>
      <p:bldP spid="20" grpId="0" animBg="1"/>
      <p:bldP spid="21" grpId="0" animBg="1"/>
      <p:bldP spid="23" grpId="0" animBg="1"/>
      <p:bldP spid="24" grpId="0" animBg="1"/>
      <p:bldP spid="27" grpId="0" animBg="1"/>
      <p:bldP spid="30"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744" y="482346"/>
            <a:ext cx="8229600" cy="548640"/>
          </a:xfrm>
          <a:prstGeom prst="rect">
            <a:avLst/>
          </a:prstGeom>
          <a:noFill/>
          <a:ln/>
        </p:spPr>
        <p:txBody>
          <a:bodyPr wrap="square" rtlCol="0" anchor="ctr"/>
          <a:lstStyle/>
          <a:p>
            <a:r>
              <a:rPr lang="en-US" sz="2800" b="1" dirty="0">
                <a:solidFill>
                  <a:srgbClr val="0D1B2A"/>
                </a:solidFill>
                <a:latin typeface="Cambria" pitchFamily="34" charset="0"/>
                <a:ea typeface="Cambria" pitchFamily="34" charset="-122"/>
                <a:cs typeface="Cambria" pitchFamily="34" charset="-120"/>
              </a:rPr>
              <a:t>Types of Blockchains</a:t>
            </a:r>
            <a:endParaRPr lang="en-US" sz="2800" dirty="0"/>
          </a:p>
        </p:txBody>
      </p:sp>
      <p:sp>
        <p:nvSpPr>
          <p:cNvPr id="4" name="Shape 2"/>
          <p:cNvSpPr/>
          <p:nvPr/>
        </p:nvSpPr>
        <p:spPr>
          <a:xfrm>
            <a:off x="457200" y="1817370"/>
            <a:ext cx="4114800" cy="1719072"/>
          </a:xfrm>
          <a:prstGeom prst="roundRect">
            <a:avLst>
              <a:gd name="adj" fmla="val 4255"/>
            </a:avLst>
          </a:prstGeom>
          <a:solidFill>
            <a:srgbClr val="F5F9FF"/>
          </a:solidFill>
          <a:ln w="254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457200" y="1908810"/>
            <a:ext cx="731520" cy="731520"/>
          </a:xfrm>
          <a:prstGeom prst="rect">
            <a:avLst/>
          </a:prstGeom>
          <a:noFill/>
          <a:ln/>
        </p:spPr>
        <p:txBody>
          <a:bodyPr wrap="square" lIns="0" tIns="0" rIns="0" bIns="0" rtlCol="0" anchor="ctr"/>
          <a:lstStyle/>
          <a:p>
            <a:pPr algn="ctr"/>
            <a:r>
              <a:rPr lang="en-US" sz="2600" dirty="0"/>
              <a:t>🌐</a:t>
            </a:r>
          </a:p>
        </p:txBody>
      </p:sp>
      <p:sp>
        <p:nvSpPr>
          <p:cNvPr id="6" name="Text 4"/>
          <p:cNvSpPr/>
          <p:nvPr/>
        </p:nvSpPr>
        <p:spPr>
          <a:xfrm>
            <a:off x="1143000" y="1908810"/>
            <a:ext cx="3246120" cy="411480"/>
          </a:xfrm>
          <a:prstGeom prst="rect">
            <a:avLst/>
          </a:prstGeom>
          <a:noFill/>
          <a:ln/>
        </p:spPr>
        <p:txBody>
          <a:bodyPr wrap="square" lIns="0" tIns="0" rIns="0" bIns="0" rtlCol="0" anchor="ctr"/>
          <a:lstStyle/>
          <a:p>
            <a:r>
              <a:rPr lang="en-US" sz="1500" b="1" dirty="0">
                <a:solidFill>
                  <a:srgbClr val="1565C0"/>
                </a:solidFill>
                <a:latin typeface="Calibri" pitchFamily="34" charset="0"/>
                <a:ea typeface="Calibri" pitchFamily="34" charset="-122"/>
                <a:cs typeface="Calibri" pitchFamily="34" charset="-120"/>
              </a:rPr>
              <a:t>Public Blockchain</a:t>
            </a:r>
            <a:endParaRPr lang="en-US" sz="1500" dirty="0"/>
          </a:p>
        </p:txBody>
      </p:sp>
      <p:sp>
        <p:nvSpPr>
          <p:cNvPr id="7" name="Text 5"/>
          <p:cNvSpPr/>
          <p:nvPr/>
        </p:nvSpPr>
        <p:spPr>
          <a:xfrm>
            <a:off x="640080" y="2384298"/>
            <a:ext cx="3749040" cy="1051560"/>
          </a:xfrm>
          <a:prstGeom prst="rect">
            <a:avLst/>
          </a:prstGeom>
          <a:noFill/>
          <a:ln/>
        </p:spPr>
        <p:txBody>
          <a:bodyPr wrap="square" rtlCol="0" anchor="t"/>
          <a:lstStyle/>
          <a:p>
            <a:r>
              <a:rPr lang="en-US" sz="1600" dirty="0">
                <a:solidFill>
                  <a:srgbClr val="0D1B2A"/>
                </a:solidFill>
                <a:latin typeface="Calibri" pitchFamily="34" charset="0"/>
                <a:ea typeface="Calibri" pitchFamily="34" charset="-122"/>
                <a:cs typeface="Calibri" pitchFamily="34" charset="-120"/>
              </a:rPr>
              <a:t>Open to anyone. Fully decentralized. Examples: Bitcoin, Ethereum. No single authority — anyone can participate, validate, and read.</a:t>
            </a:r>
            <a:endParaRPr lang="en-US" sz="1600" dirty="0"/>
          </a:p>
        </p:txBody>
      </p:sp>
      <p:sp>
        <p:nvSpPr>
          <p:cNvPr id="8" name="Shape 6"/>
          <p:cNvSpPr/>
          <p:nvPr/>
        </p:nvSpPr>
        <p:spPr>
          <a:xfrm>
            <a:off x="4800600" y="1817370"/>
            <a:ext cx="4114800" cy="1719072"/>
          </a:xfrm>
          <a:prstGeom prst="roundRect">
            <a:avLst>
              <a:gd name="adj" fmla="val 4255"/>
            </a:avLst>
          </a:prstGeom>
          <a:solidFill>
            <a:srgbClr val="F5F9FF"/>
          </a:solidFill>
          <a:ln w="2540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9" name="Text 7"/>
          <p:cNvSpPr/>
          <p:nvPr/>
        </p:nvSpPr>
        <p:spPr>
          <a:xfrm>
            <a:off x="4800600" y="1908810"/>
            <a:ext cx="731520" cy="731520"/>
          </a:xfrm>
          <a:prstGeom prst="rect">
            <a:avLst/>
          </a:prstGeom>
          <a:noFill/>
          <a:ln/>
        </p:spPr>
        <p:txBody>
          <a:bodyPr wrap="square" lIns="0" tIns="0" rIns="0" bIns="0" rtlCol="0" anchor="ctr"/>
          <a:lstStyle/>
          <a:p>
            <a:pPr algn="ctr"/>
            <a:r>
              <a:rPr lang="en-US" sz="2600" dirty="0"/>
              <a:t>🏢</a:t>
            </a:r>
          </a:p>
        </p:txBody>
      </p:sp>
      <p:sp>
        <p:nvSpPr>
          <p:cNvPr id="10" name="Text 8"/>
          <p:cNvSpPr/>
          <p:nvPr/>
        </p:nvSpPr>
        <p:spPr>
          <a:xfrm>
            <a:off x="5486400" y="1908810"/>
            <a:ext cx="3246120" cy="411480"/>
          </a:xfrm>
          <a:prstGeom prst="rect">
            <a:avLst/>
          </a:prstGeom>
          <a:noFill/>
          <a:ln/>
        </p:spPr>
        <p:txBody>
          <a:bodyPr wrap="square" lIns="0" tIns="0" rIns="0" bIns="0" rtlCol="0" anchor="ctr"/>
          <a:lstStyle/>
          <a:p>
            <a:r>
              <a:rPr lang="en-US" sz="1500" b="1" dirty="0">
                <a:solidFill>
                  <a:srgbClr val="00897B"/>
                </a:solidFill>
                <a:latin typeface="Calibri" pitchFamily="34" charset="0"/>
                <a:ea typeface="Calibri" pitchFamily="34" charset="-122"/>
                <a:cs typeface="Calibri" pitchFamily="34" charset="-120"/>
              </a:rPr>
              <a:t>Private Blockchain</a:t>
            </a:r>
            <a:endParaRPr lang="en-US" sz="1500" dirty="0"/>
          </a:p>
        </p:txBody>
      </p:sp>
      <p:sp>
        <p:nvSpPr>
          <p:cNvPr id="11" name="Text 9"/>
          <p:cNvSpPr/>
          <p:nvPr/>
        </p:nvSpPr>
        <p:spPr>
          <a:xfrm>
            <a:off x="4983480" y="2384298"/>
            <a:ext cx="3749040" cy="1051560"/>
          </a:xfrm>
          <a:prstGeom prst="rect">
            <a:avLst/>
          </a:prstGeom>
          <a:noFill/>
          <a:ln/>
        </p:spPr>
        <p:txBody>
          <a:bodyPr wrap="square" rtlCol="0" anchor="t"/>
          <a:lstStyle/>
          <a:p>
            <a:r>
              <a:rPr lang="en-US" sz="1600" dirty="0">
                <a:solidFill>
                  <a:srgbClr val="0D1B2A"/>
                </a:solidFill>
                <a:latin typeface="Calibri" pitchFamily="34" charset="0"/>
                <a:ea typeface="Calibri" pitchFamily="34" charset="-122"/>
                <a:cs typeface="Calibri" pitchFamily="34" charset="-120"/>
              </a:rPr>
              <a:t>Access is restricted to invited participants. Often used by enterprises. A central authority controls who participates.</a:t>
            </a:r>
            <a:endParaRPr lang="en-US" sz="1600" dirty="0"/>
          </a:p>
        </p:txBody>
      </p:sp>
      <p:sp>
        <p:nvSpPr>
          <p:cNvPr id="12" name="Shape 10"/>
          <p:cNvSpPr/>
          <p:nvPr/>
        </p:nvSpPr>
        <p:spPr>
          <a:xfrm>
            <a:off x="457200" y="3737610"/>
            <a:ext cx="4114800" cy="1719072"/>
          </a:xfrm>
          <a:prstGeom prst="roundRect">
            <a:avLst>
              <a:gd name="adj" fmla="val 4255"/>
            </a:avLst>
          </a:prstGeom>
          <a:solidFill>
            <a:srgbClr val="F5F9FF"/>
          </a:solidFill>
          <a:ln w="25400">
            <a:solidFill>
              <a:srgbClr val="F57C00"/>
            </a:solidFill>
            <a:prstDash val="solid"/>
          </a:ln>
          <a:effectLst>
            <a:outerShdw blurRad="101600" dist="38100" dir="2700000" algn="bl" rotWithShape="0">
              <a:srgbClr val="000000">
                <a:alpha val="18000"/>
              </a:srgbClr>
            </a:outerShdw>
          </a:effectLst>
        </p:spPr>
        <p:txBody>
          <a:bodyPr/>
          <a:lstStyle/>
          <a:p>
            <a:endParaRPr lang="en-US"/>
          </a:p>
        </p:txBody>
      </p:sp>
      <p:sp>
        <p:nvSpPr>
          <p:cNvPr id="13" name="Text 11"/>
          <p:cNvSpPr/>
          <p:nvPr/>
        </p:nvSpPr>
        <p:spPr>
          <a:xfrm>
            <a:off x="457200" y="3829050"/>
            <a:ext cx="731520" cy="731520"/>
          </a:xfrm>
          <a:prstGeom prst="rect">
            <a:avLst/>
          </a:prstGeom>
          <a:noFill/>
          <a:ln/>
        </p:spPr>
        <p:txBody>
          <a:bodyPr wrap="square" lIns="0" tIns="0" rIns="0" bIns="0" rtlCol="0" anchor="ctr"/>
          <a:lstStyle/>
          <a:p>
            <a:pPr algn="ctr"/>
            <a:r>
              <a:rPr lang="en-US" sz="2600" dirty="0"/>
              <a:t>🤝</a:t>
            </a:r>
          </a:p>
        </p:txBody>
      </p:sp>
      <p:sp>
        <p:nvSpPr>
          <p:cNvPr id="14" name="Text 12"/>
          <p:cNvSpPr/>
          <p:nvPr/>
        </p:nvSpPr>
        <p:spPr>
          <a:xfrm>
            <a:off x="1143000" y="3829050"/>
            <a:ext cx="3246120" cy="411480"/>
          </a:xfrm>
          <a:prstGeom prst="rect">
            <a:avLst/>
          </a:prstGeom>
          <a:noFill/>
          <a:ln/>
        </p:spPr>
        <p:txBody>
          <a:bodyPr wrap="square" lIns="0" tIns="0" rIns="0" bIns="0" rtlCol="0" anchor="ctr"/>
          <a:lstStyle/>
          <a:p>
            <a:r>
              <a:rPr lang="en-US" sz="1500" b="1" dirty="0">
                <a:solidFill>
                  <a:srgbClr val="F57C00"/>
                </a:solidFill>
                <a:latin typeface="Calibri" pitchFamily="34" charset="0"/>
                <a:ea typeface="Calibri" pitchFamily="34" charset="-122"/>
                <a:cs typeface="Calibri" pitchFamily="34" charset="-120"/>
              </a:rPr>
              <a:t>Consortium Blockchain</a:t>
            </a:r>
            <a:endParaRPr lang="en-US" sz="1500" dirty="0"/>
          </a:p>
        </p:txBody>
      </p:sp>
      <p:sp>
        <p:nvSpPr>
          <p:cNvPr id="15" name="Text 13"/>
          <p:cNvSpPr/>
          <p:nvPr/>
        </p:nvSpPr>
        <p:spPr>
          <a:xfrm>
            <a:off x="640080" y="4304538"/>
            <a:ext cx="3749040" cy="1051560"/>
          </a:xfrm>
          <a:prstGeom prst="rect">
            <a:avLst/>
          </a:prstGeom>
          <a:noFill/>
          <a:ln/>
        </p:spPr>
        <p:txBody>
          <a:bodyPr wrap="square" rtlCol="0" anchor="t"/>
          <a:lstStyle/>
          <a:p>
            <a:r>
              <a:rPr lang="en-US" sz="1600" dirty="0">
                <a:solidFill>
                  <a:srgbClr val="0D1B2A"/>
                </a:solidFill>
                <a:latin typeface="Calibri" pitchFamily="34" charset="0"/>
                <a:ea typeface="Calibri" pitchFamily="34" charset="-122"/>
                <a:cs typeface="Calibri" pitchFamily="34" charset="-120"/>
              </a:rPr>
              <a:t>Governed by a group of organizations rather than one entity. Balances decentralization and control. Used in finance &amp; supply chain.</a:t>
            </a:r>
            <a:endParaRPr lang="en-US" sz="1600" dirty="0"/>
          </a:p>
        </p:txBody>
      </p:sp>
      <p:sp>
        <p:nvSpPr>
          <p:cNvPr id="16" name="Shape 14"/>
          <p:cNvSpPr/>
          <p:nvPr/>
        </p:nvSpPr>
        <p:spPr>
          <a:xfrm>
            <a:off x="4800600" y="3737610"/>
            <a:ext cx="4114800" cy="1719072"/>
          </a:xfrm>
          <a:prstGeom prst="roundRect">
            <a:avLst>
              <a:gd name="adj" fmla="val 4255"/>
            </a:avLst>
          </a:prstGeom>
          <a:solidFill>
            <a:srgbClr val="F5F9FF"/>
          </a:solidFill>
          <a:ln w="25400">
            <a:solidFill>
              <a:srgbClr val="1B3A5C"/>
            </a:solidFill>
            <a:prstDash val="solid"/>
          </a:ln>
          <a:effectLst>
            <a:outerShdw blurRad="101600" dist="38100" dir="2700000" algn="bl" rotWithShape="0">
              <a:srgbClr val="000000">
                <a:alpha val="18000"/>
              </a:srgbClr>
            </a:outerShdw>
          </a:effectLst>
        </p:spPr>
        <p:txBody>
          <a:bodyPr/>
          <a:lstStyle/>
          <a:p>
            <a:endParaRPr lang="en-US"/>
          </a:p>
        </p:txBody>
      </p:sp>
      <p:sp>
        <p:nvSpPr>
          <p:cNvPr id="17" name="Text 15"/>
          <p:cNvSpPr/>
          <p:nvPr/>
        </p:nvSpPr>
        <p:spPr>
          <a:xfrm>
            <a:off x="4800600" y="3829050"/>
            <a:ext cx="731520" cy="731520"/>
          </a:xfrm>
          <a:prstGeom prst="rect">
            <a:avLst/>
          </a:prstGeom>
          <a:noFill/>
          <a:ln/>
        </p:spPr>
        <p:txBody>
          <a:bodyPr wrap="square" lIns="0" tIns="0" rIns="0" bIns="0" rtlCol="0" anchor="ctr"/>
          <a:lstStyle/>
          <a:p>
            <a:pPr algn="ctr"/>
            <a:r>
              <a:rPr lang="en-US" sz="2600" dirty="0"/>
              <a:t>⚡</a:t>
            </a:r>
          </a:p>
        </p:txBody>
      </p:sp>
      <p:sp>
        <p:nvSpPr>
          <p:cNvPr id="18" name="Text 16"/>
          <p:cNvSpPr/>
          <p:nvPr/>
        </p:nvSpPr>
        <p:spPr>
          <a:xfrm>
            <a:off x="5486400" y="3829050"/>
            <a:ext cx="3246120" cy="411480"/>
          </a:xfrm>
          <a:prstGeom prst="rect">
            <a:avLst/>
          </a:prstGeom>
          <a:noFill/>
          <a:ln/>
        </p:spPr>
        <p:txBody>
          <a:bodyPr wrap="square" lIns="0" tIns="0" rIns="0" bIns="0" rtlCol="0" anchor="ctr"/>
          <a:lstStyle/>
          <a:p>
            <a:r>
              <a:rPr lang="en-US" sz="1500" b="1" dirty="0">
                <a:solidFill>
                  <a:srgbClr val="1B3A5C"/>
                </a:solidFill>
                <a:latin typeface="Calibri" pitchFamily="34" charset="0"/>
                <a:ea typeface="Calibri" pitchFamily="34" charset="-122"/>
                <a:cs typeface="Calibri" pitchFamily="34" charset="-120"/>
              </a:rPr>
              <a:t>Hybrid Blockchain</a:t>
            </a:r>
            <a:endParaRPr lang="en-US" sz="1500" dirty="0"/>
          </a:p>
        </p:txBody>
      </p:sp>
      <p:sp>
        <p:nvSpPr>
          <p:cNvPr id="19" name="Text 17"/>
          <p:cNvSpPr/>
          <p:nvPr/>
        </p:nvSpPr>
        <p:spPr>
          <a:xfrm>
            <a:off x="4983480" y="4304538"/>
            <a:ext cx="3749040" cy="1051560"/>
          </a:xfrm>
          <a:prstGeom prst="rect">
            <a:avLst/>
          </a:prstGeom>
          <a:noFill/>
          <a:ln/>
        </p:spPr>
        <p:txBody>
          <a:bodyPr wrap="square" rtlCol="0" anchor="t"/>
          <a:lstStyle/>
          <a:p>
            <a:r>
              <a:rPr lang="en-US" sz="1600" dirty="0">
                <a:solidFill>
                  <a:srgbClr val="0D1B2A"/>
                </a:solidFill>
                <a:latin typeface="Calibri" pitchFamily="34" charset="0"/>
                <a:ea typeface="Calibri" pitchFamily="34" charset="-122"/>
                <a:cs typeface="Calibri" pitchFamily="34" charset="-120"/>
              </a:rPr>
              <a:t>Combines private and public elements. Organizations can keep some data private while making other data publicly verifiable.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A47E43-8283-BDD5-8B80-65AA7137F1E5}"/>
              </a:ext>
            </a:extLst>
          </p:cNvPr>
          <p:cNvSpPr txBox="1"/>
          <p:nvPr/>
        </p:nvSpPr>
        <p:spPr>
          <a:xfrm>
            <a:off x="139849" y="3105834"/>
            <a:ext cx="6537959" cy="646331"/>
          </a:xfrm>
          <a:prstGeom prst="rect">
            <a:avLst/>
          </a:prstGeom>
          <a:noFill/>
        </p:spPr>
        <p:txBody>
          <a:bodyPr wrap="square">
            <a:spAutoFit/>
          </a:bodyPr>
          <a:lstStyle/>
          <a:p>
            <a:pPr marL="2743200" lvl="6" indent="0">
              <a:spcBef>
                <a:spcPts val="0"/>
              </a:spcBef>
              <a:buNone/>
            </a:pPr>
            <a:r>
              <a:rPr lang="en-IN" sz="3600" dirty="0">
                <a:solidFill>
                  <a:schemeClr val="accent1">
                    <a:lumMod val="75000"/>
                  </a:schemeClr>
                </a:solidFill>
                <a:latin typeface="Times New Roman" panose="02020603050405020304" pitchFamily="18" charset="0"/>
                <a:ea typeface="Helvetica Neue"/>
                <a:cs typeface="Times New Roman" panose="02020603050405020304" pitchFamily="18" charset="0"/>
              </a:rPr>
              <a:t>Blockchain Design</a:t>
            </a:r>
          </a:p>
        </p:txBody>
      </p:sp>
    </p:spTree>
    <p:extLst>
      <p:ext uri="{BB962C8B-B14F-4D97-AF65-F5344CB8AC3E}">
        <p14:creationId xmlns:p14="http://schemas.microsoft.com/office/powerpoint/2010/main" val="1158928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2" name="Text Placeholder 1">
            <a:extLst>
              <a:ext uri="{FF2B5EF4-FFF2-40B4-BE49-F238E27FC236}">
                <a16:creationId xmlns:a16="http://schemas.microsoft.com/office/drawing/2014/main" id="{12BC7463-FAA2-6075-1C08-9A7FF3340C63}"/>
              </a:ext>
            </a:extLst>
          </p:cNvPr>
          <p:cNvSpPr>
            <a:spLocks noGrp="1"/>
          </p:cNvSpPr>
          <p:nvPr>
            <p:ph type="body" idx="1"/>
          </p:nvPr>
        </p:nvSpPr>
        <p:spPr/>
        <p:txBody>
          <a:bodyPr/>
          <a:lstStyle/>
          <a:p>
            <a:endParaRPr lang="en-IN"/>
          </a:p>
        </p:txBody>
      </p:sp>
      <p:sp>
        <p:nvSpPr>
          <p:cNvPr id="3" name="Text Placeholder 2">
            <a:extLst>
              <a:ext uri="{FF2B5EF4-FFF2-40B4-BE49-F238E27FC236}">
                <a16:creationId xmlns:a16="http://schemas.microsoft.com/office/drawing/2014/main" id="{968A2F12-DC6F-5C34-F49D-B70EBEF0687C}"/>
              </a:ext>
            </a:extLst>
          </p:cNvPr>
          <p:cNvSpPr>
            <a:spLocks noGrp="1"/>
          </p:cNvSpPr>
          <p:nvPr>
            <p:ph type="body" idx="2"/>
          </p:nvPr>
        </p:nvSpPr>
        <p:spPr/>
        <p:txBody>
          <a:bodyPr/>
          <a:lstStyle/>
          <a:p>
            <a:endParaRPr lang="en-IN"/>
          </a:p>
        </p:txBody>
      </p:sp>
      <p:sp>
        <p:nvSpPr>
          <p:cNvPr id="48" name="Google Shape;48;p2"/>
          <p:cNvSpPr txBox="1">
            <a:spLocks noGrp="1"/>
          </p:cNvSpPr>
          <p:nvPr>
            <p:ph type="title" idx="4294967295"/>
          </p:nvPr>
        </p:nvSpPr>
        <p:spPr>
          <a:xfrm>
            <a:off x="79375" y="445293"/>
            <a:ext cx="6991350" cy="573088"/>
          </a:xfrm>
          <a:prstGeom prst="rect">
            <a:avLst/>
          </a:prstGeom>
          <a:noFill/>
          <a:ln>
            <a:noFill/>
          </a:ln>
        </p:spPr>
        <p:txBody>
          <a:bodyPr spcFirstLastPara="1" wrap="square" lIns="68569" tIns="34275" rIns="68569" bIns="34275" anchor="ctr" anchorCtr="0">
            <a:normAutofit fontScale="90000"/>
          </a:bodyPr>
          <a:lstStyle/>
          <a:p>
            <a:pPr lvl="0"/>
            <a:r>
              <a:rPr lang="en-IN" dirty="0" err="1">
                <a:solidFill>
                  <a:schemeClr val="tx1"/>
                </a:solidFill>
                <a:ea typeface="Helvetica Neue"/>
                <a:cs typeface="Helvetica Neue"/>
              </a:rPr>
              <a:t>Blockchain</a:t>
            </a:r>
            <a:r>
              <a:rPr lang="en-IN" dirty="0">
                <a:solidFill>
                  <a:schemeClr val="tx1"/>
                </a:solidFill>
                <a:ea typeface="Helvetica Neue"/>
                <a:cs typeface="Helvetica Neue"/>
              </a:rPr>
              <a:t> Design</a:t>
            </a:r>
          </a:p>
        </p:txBody>
      </p:sp>
      <p:pic>
        <p:nvPicPr>
          <p:cNvPr id="1026" name="Picture 2" descr="Blockchain design structure showing chained blocks with header and body...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386" y="1710052"/>
            <a:ext cx="7739940" cy="418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200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304800" y="355246"/>
            <a:ext cx="6991350" cy="573087"/>
          </a:xfrm>
          <a:prstGeom prst="rect">
            <a:avLst/>
          </a:prstGeom>
          <a:noFill/>
          <a:ln>
            <a:noFill/>
          </a:ln>
        </p:spPr>
        <p:txBody>
          <a:bodyPr spcFirstLastPara="1" wrap="square" lIns="68569" tIns="34275" rIns="68569" bIns="34275" anchor="ctr" anchorCtr="0">
            <a:normAutofit fontScale="90000"/>
          </a:bodyPr>
          <a:lstStyle/>
          <a:p>
            <a:pPr lvl="0"/>
            <a:r>
              <a:rPr lang="en-IN" dirty="0" err="1">
                <a:solidFill>
                  <a:schemeClr val="tx1"/>
                </a:solidFill>
                <a:ea typeface="Helvetica Neue"/>
                <a:cs typeface="Helvetica Neue"/>
              </a:rPr>
              <a:t>Blockchain</a:t>
            </a:r>
            <a:r>
              <a:rPr lang="en-IN" dirty="0">
                <a:solidFill>
                  <a:schemeClr val="tx1"/>
                </a:solidFill>
                <a:ea typeface="Helvetica Neue"/>
                <a:cs typeface="Helvetica Neue"/>
              </a:rPr>
              <a:t> Design</a:t>
            </a:r>
          </a:p>
        </p:txBody>
      </p:sp>
      <p:sp>
        <p:nvSpPr>
          <p:cNvPr id="3" name="Rectangle 2"/>
          <p:cNvSpPr/>
          <p:nvPr/>
        </p:nvSpPr>
        <p:spPr>
          <a:xfrm>
            <a:off x="205033" y="1875346"/>
            <a:ext cx="8561895" cy="3693319"/>
          </a:xfrm>
          <a:prstGeom prst="rect">
            <a:avLst/>
          </a:prstGeom>
        </p:spPr>
        <p:txBody>
          <a:bodyPr wrap="square">
            <a:spAutoFit/>
          </a:bodyPr>
          <a:lstStyle/>
          <a:p>
            <a:pPr algn="just" fontAlgn="base"/>
            <a:r>
              <a:rPr lang="en-US" sz="1800" dirty="0" err="1">
                <a:solidFill>
                  <a:schemeClr val="tx1"/>
                </a:solidFill>
                <a:latin typeface="Nunito"/>
              </a:rPr>
              <a:t>Blockchain</a:t>
            </a:r>
            <a:r>
              <a:rPr lang="en-US" sz="1800" dirty="0">
                <a:solidFill>
                  <a:schemeClr val="tx1"/>
                </a:solidFill>
                <a:latin typeface="Nunito"/>
              </a:rPr>
              <a:t> is a technology where multiple parties involved in communication can perform different transactions without third-party intervention. Verification and validation of these transactions are carried out by special kinds of nodes.</a:t>
            </a:r>
          </a:p>
          <a:p>
            <a:pPr algn="just" fontAlgn="base"/>
            <a:endParaRPr lang="en-US" sz="1800" b="1" dirty="0">
              <a:solidFill>
                <a:schemeClr val="tx1"/>
              </a:solidFill>
              <a:latin typeface="Nunito"/>
            </a:endParaRPr>
          </a:p>
          <a:p>
            <a:pPr algn="just" fontAlgn="base"/>
            <a:r>
              <a:rPr lang="en-US" sz="1800" b="1" dirty="0">
                <a:solidFill>
                  <a:schemeClr val="tx1"/>
                </a:solidFill>
                <a:latin typeface="Nunito"/>
              </a:rPr>
              <a:t>Benefits of Blockchain:</a:t>
            </a:r>
          </a:p>
          <a:p>
            <a:pPr algn="just" fontAlgn="base"/>
            <a:endParaRPr lang="en-US" sz="1350" dirty="0">
              <a:solidFill>
                <a:schemeClr val="tx1"/>
              </a:solidFill>
              <a:latin typeface="Nunito"/>
            </a:endParaRPr>
          </a:p>
          <a:p>
            <a:pPr marL="257175" indent="-257175" algn="just" fontAlgn="base">
              <a:buFont typeface="Arial" panose="020B0604020202020204" pitchFamily="34" charset="0"/>
              <a:buChar char="•"/>
            </a:pPr>
            <a:r>
              <a:rPr lang="en-US" sz="1800" dirty="0">
                <a:solidFill>
                  <a:schemeClr val="tx1"/>
                </a:solidFill>
                <a:latin typeface="Nunito"/>
              </a:rPr>
              <a:t>It is safer than any other technology.</a:t>
            </a:r>
          </a:p>
          <a:p>
            <a:pPr marL="257175" indent="-257175" algn="just" fontAlgn="base">
              <a:buFont typeface="Arial" panose="020B0604020202020204" pitchFamily="34" charset="0"/>
              <a:buChar char="•"/>
            </a:pPr>
            <a:endParaRPr lang="en-US" sz="1350" dirty="0">
              <a:solidFill>
                <a:schemeClr val="tx1"/>
              </a:solidFill>
              <a:latin typeface="Nunito"/>
            </a:endParaRPr>
          </a:p>
          <a:p>
            <a:pPr marL="257175" indent="-257175" algn="just" fontAlgn="base">
              <a:buFont typeface="Arial" panose="020B0604020202020204" pitchFamily="34" charset="0"/>
              <a:buChar char="•"/>
            </a:pPr>
            <a:r>
              <a:rPr lang="en-US" sz="1800" dirty="0">
                <a:solidFill>
                  <a:schemeClr val="tx1"/>
                </a:solidFill>
                <a:latin typeface="Nunito"/>
              </a:rPr>
              <a:t>To avoid possible legal issues, a trusted third party has to supervise the transactions and validate the transactions.</a:t>
            </a:r>
          </a:p>
          <a:p>
            <a:pPr marL="257175" indent="-257175" algn="just" fontAlgn="base">
              <a:buFont typeface="Arial" panose="020B0604020202020204" pitchFamily="34" charset="0"/>
              <a:buChar char="•"/>
            </a:pPr>
            <a:endParaRPr lang="en-US" sz="1350" dirty="0">
              <a:solidFill>
                <a:schemeClr val="tx1"/>
              </a:solidFill>
              <a:latin typeface="Nunito"/>
            </a:endParaRPr>
          </a:p>
          <a:p>
            <a:pPr marL="257175" indent="-257175" algn="just" fontAlgn="base">
              <a:buFont typeface="Arial" panose="020B0604020202020204" pitchFamily="34" charset="0"/>
              <a:buChar char="•"/>
            </a:pPr>
            <a:r>
              <a:rPr lang="en-US" sz="1800" dirty="0">
                <a:solidFill>
                  <a:schemeClr val="tx1"/>
                </a:solidFill>
                <a:latin typeface="Nunito"/>
              </a:rPr>
              <a:t>There’s no one central point of attack.</a:t>
            </a:r>
          </a:p>
          <a:p>
            <a:pPr marL="257175" indent="-257175" algn="just" fontAlgn="base">
              <a:buFont typeface="Arial" panose="020B0604020202020204" pitchFamily="34" charset="0"/>
              <a:buChar char="•"/>
            </a:pPr>
            <a:endParaRPr lang="en-US" sz="1350" dirty="0">
              <a:solidFill>
                <a:schemeClr val="tx1"/>
              </a:solidFill>
              <a:latin typeface="Nunito"/>
            </a:endParaRPr>
          </a:p>
          <a:p>
            <a:pPr marL="257175" indent="-257175" algn="just" fontAlgn="base">
              <a:buFont typeface="Arial" panose="020B0604020202020204" pitchFamily="34" charset="0"/>
              <a:buChar char="•"/>
            </a:pPr>
            <a:r>
              <a:rPr lang="en-US" sz="1800" dirty="0">
                <a:solidFill>
                  <a:schemeClr val="tx1"/>
                </a:solidFill>
                <a:latin typeface="Nunito"/>
              </a:rPr>
              <a:t>Data cannot be changed or manipulated, it’s immutable.</a:t>
            </a:r>
          </a:p>
        </p:txBody>
      </p:sp>
    </p:spTree>
    <p:extLst>
      <p:ext uri="{BB962C8B-B14F-4D97-AF65-F5344CB8AC3E}">
        <p14:creationId xmlns:p14="http://schemas.microsoft.com/office/powerpoint/2010/main" val="1229552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304800" y="355246"/>
            <a:ext cx="6991350" cy="573087"/>
          </a:xfrm>
          <a:prstGeom prst="rect">
            <a:avLst/>
          </a:prstGeom>
          <a:noFill/>
          <a:ln>
            <a:noFill/>
          </a:ln>
        </p:spPr>
        <p:txBody>
          <a:bodyPr spcFirstLastPara="1" wrap="square" lIns="68569" tIns="34275" rIns="68569" bIns="34275" anchor="ctr" anchorCtr="0">
            <a:normAutofit fontScale="90000"/>
          </a:bodyPr>
          <a:lstStyle/>
          <a:p>
            <a:pPr lvl="0"/>
            <a:r>
              <a:rPr lang="en-IN" dirty="0" err="1">
                <a:solidFill>
                  <a:schemeClr val="tx1"/>
                </a:solidFill>
                <a:ea typeface="Helvetica Neue"/>
                <a:cs typeface="Helvetica Neue"/>
              </a:rPr>
              <a:t>Blockchain</a:t>
            </a:r>
            <a:r>
              <a:rPr lang="en-IN" dirty="0">
                <a:solidFill>
                  <a:schemeClr val="tx1"/>
                </a:solidFill>
                <a:ea typeface="Helvetica Neue"/>
                <a:cs typeface="Helvetica Neue"/>
              </a:rPr>
              <a:t> Design</a:t>
            </a:r>
          </a:p>
        </p:txBody>
      </p:sp>
      <p:sp>
        <p:nvSpPr>
          <p:cNvPr id="4" name="Rectangle 3"/>
          <p:cNvSpPr/>
          <p:nvPr/>
        </p:nvSpPr>
        <p:spPr>
          <a:xfrm>
            <a:off x="289874" y="1634961"/>
            <a:ext cx="7847815" cy="3970318"/>
          </a:xfrm>
          <a:prstGeom prst="rect">
            <a:avLst/>
          </a:prstGeom>
        </p:spPr>
        <p:txBody>
          <a:bodyPr wrap="square">
            <a:spAutoFit/>
          </a:bodyPr>
          <a:lstStyle/>
          <a:p>
            <a:pPr marL="257175" indent="-257175" algn="just" fontAlgn="base">
              <a:buFont typeface="Arial" panose="020B0604020202020204" pitchFamily="34" charset="0"/>
              <a:buChar char="•"/>
            </a:pPr>
            <a:r>
              <a:rPr lang="en-US" sz="1800" b="1" dirty="0">
                <a:solidFill>
                  <a:schemeClr val="tx1"/>
                </a:solidFill>
                <a:latin typeface="Nunito"/>
              </a:rPr>
              <a:t>Header:</a:t>
            </a:r>
            <a:r>
              <a:rPr lang="en-US" sz="1800" dirty="0">
                <a:solidFill>
                  <a:schemeClr val="tx1"/>
                </a:solidFill>
                <a:latin typeface="Nunito"/>
              </a:rPr>
              <a:t> It is used to identify the particular block in the entire blockchain. It handles all blocks in the </a:t>
            </a:r>
            <a:r>
              <a:rPr lang="en-US" sz="1800" dirty="0" err="1">
                <a:solidFill>
                  <a:schemeClr val="tx1"/>
                </a:solidFill>
                <a:latin typeface="Nunito"/>
              </a:rPr>
              <a:t>blockchain</a:t>
            </a:r>
            <a:r>
              <a:rPr lang="en-US" sz="1800" dirty="0">
                <a:solidFill>
                  <a:schemeClr val="tx1"/>
                </a:solidFill>
                <a:latin typeface="Nunito"/>
              </a:rPr>
              <a:t>. A block header is hashed periodically by miners by changing the nonce value as part of normal mining activity, also Three sets of block metadata are contained in the block header.</a:t>
            </a:r>
          </a:p>
          <a:p>
            <a:pPr marL="257175" indent="-257175" algn="just" fontAlgn="base">
              <a:buFont typeface="Arial" panose="020B0604020202020204" pitchFamily="34" charset="0"/>
              <a:buChar char="•"/>
            </a:pPr>
            <a:endParaRPr lang="en-US" sz="1800" dirty="0">
              <a:solidFill>
                <a:schemeClr val="tx1"/>
              </a:solidFill>
              <a:latin typeface="Nunito"/>
            </a:endParaRPr>
          </a:p>
          <a:p>
            <a:pPr marL="257175" indent="-257175" algn="just" fontAlgn="base">
              <a:buFont typeface="Arial" panose="020B0604020202020204" pitchFamily="34" charset="0"/>
              <a:buChar char="•"/>
            </a:pPr>
            <a:r>
              <a:rPr lang="en-US" sz="1800" b="1" dirty="0">
                <a:solidFill>
                  <a:schemeClr val="tx1"/>
                </a:solidFill>
                <a:latin typeface="Nunito"/>
              </a:rPr>
              <a:t>Previous Block Address/ Hash:</a:t>
            </a:r>
            <a:r>
              <a:rPr lang="en-US" sz="1800" dirty="0">
                <a:solidFill>
                  <a:schemeClr val="tx1"/>
                </a:solidFill>
                <a:latin typeface="Nunito"/>
              </a:rPr>
              <a:t> It is used to connect the i+1</a:t>
            </a:r>
            <a:r>
              <a:rPr lang="en-US" sz="1800" baseline="30000" dirty="0">
                <a:solidFill>
                  <a:schemeClr val="tx1"/>
                </a:solidFill>
                <a:latin typeface="Nunito"/>
              </a:rPr>
              <a:t>th</a:t>
            </a:r>
            <a:r>
              <a:rPr lang="en-US" sz="1800" dirty="0">
                <a:solidFill>
                  <a:schemeClr val="tx1"/>
                </a:solidFill>
                <a:latin typeface="Nunito"/>
              </a:rPr>
              <a:t> block to the </a:t>
            </a:r>
            <a:r>
              <a:rPr lang="en-US" sz="1800" dirty="0" err="1">
                <a:solidFill>
                  <a:schemeClr val="tx1"/>
                </a:solidFill>
                <a:latin typeface="Nunito"/>
              </a:rPr>
              <a:t>i</a:t>
            </a:r>
            <a:r>
              <a:rPr lang="en-US" sz="1800" baseline="30000" dirty="0" err="1">
                <a:solidFill>
                  <a:schemeClr val="tx1"/>
                </a:solidFill>
                <a:latin typeface="Nunito"/>
              </a:rPr>
              <a:t>th</a:t>
            </a:r>
            <a:r>
              <a:rPr lang="en-US" sz="1800" dirty="0">
                <a:solidFill>
                  <a:schemeClr val="tx1"/>
                </a:solidFill>
                <a:latin typeface="Nunito"/>
              </a:rPr>
              <a:t> block using the hash. In short, it is a reference to the hash of the previous (parent) block in the chain.</a:t>
            </a:r>
          </a:p>
          <a:p>
            <a:pPr marL="257175" indent="-257175" algn="just" fontAlgn="base">
              <a:buFont typeface="Arial" panose="020B0604020202020204" pitchFamily="34" charset="0"/>
              <a:buChar char="•"/>
            </a:pPr>
            <a:endParaRPr lang="en-US" sz="1800" dirty="0">
              <a:solidFill>
                <a:schemeClr val="tx1"/>
              </a:solidFill>
              <a:latin typeface="Nunito"/>
            </a:endParaRPr>
          </a:p>
          <a:p>
            <a:pPr marL="257175" indent="-257175" algn="just" fontAlgn="base">
              <a:buFont typeface="Arial" panose="020B0604020202020204" pitchFamily="34" charset="0"/>
              <a:buChar char="•"/>
            </a:pPr>
            <a:r>
              <a:rPr lang="en-US" sz="1800" b="1" dirty="0">
                <a:solidFill>
                  <a:schemeClr val="tx1"/>
                </a:solidFill>
                <a:latin typeface="Nunito"/>
              </a:rPr>
              <a:t>Timestamp: </a:t>
            </a:r>
            <a:r>
              <a:rPr lang="en-US" sz="1800" dirty="0">
                <a:solidFill>
                  <a:schemeClr val="tx1"/>
                </a:solidFill>
                <a:latin typeface="Nunito"/>
              </a:rPr>
              <a:t>It is a system verify the data into the block and assigns a time or date of creation for digital documents. The timestamp is a string of characters that uniquely identifies the document or event and indicates when it was created.</a:t>
            </a:r>
          </a:p>
        </p:txBody>
      </p:sp>
    </p:spTree>
    <p:extLst>
      <p:ext uri="{BB962C8B-B14F-4D97-AF65-F5344CB8AC3E}">
        <p14:creationId xmlns:p14="http://schemas.microsoft.com/office/powerpoint/2010/main" val="3547580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419548" y="436562"/>
            <a:ext cx="6991350" cy="574675"/>
          </a:xfrm>
          <a:prstGeom prst="rect">
            <a:avLst/>
          </a:prstGeom>
          <a:noFill/>
          <a:ln>
            <a:noFill/>
          </a:ln>
        </p:spPr>
        <p:txBody>
          <a:bodyPr spcFirstLastPara="1" wrap="square" lIns="68569" tIns="34275" rIns="68569" bIns="34275" anchor="ctr" anchorCtr="0">
            <a:normAutofit fontScale="90000"/>
          </a:bodyPr>
          <a:lstStyle/>
          <a:p>
            <a:pPr lvl="0"/>
            <a:r>
              <a:rPr lang="en-IN" dirty="0" err="1">
                <a:solidFill>
                  <a:schemeClr val="tx1"/>
                </a:solidFill>
                <a:ea typeface="Helvetica Neue"/>
                <a:cs typeface="Helvetica Neue"/>
              </a:rPr>
              <a:t>Blockchain</a:t>
            </a:r>
            <a:r>
              <a:rPr lang="en-IN" dirty="0">
                <a:solidFill>
                  <a:schemeClr val="tx1"/>
                </a:solidFill>
                <a:ea typeface="Helvetica Neue"/>
                <a:cs typeface="Helvetica Neue"/>
              </a:rPr>
              <a:t> Design</a:t>
            </a:r>
          </a:p>
        </p:txBody>
      </p:sp>
      <p:sp>
        <p:nvSpPr>
          <p:cNvPr id="4" name="Rectangle 3"/>
          <p:cNvSpPr/>
          <p:nvPr/>
        </p:nvSpPr>
        <p:spPr>
          <a:xfrm>
            <a:off x="241867" y="2094859"/>
            <a:ext cx="7764916" cy="2377574"/>
          </a:xfrm>
          <a:prstGeom prst="rect">
            <a:avLst/>
          </a:prstGeom>
        </p:spPr>
        <p:txBody>
          <a:bodyPr wrap="square">
            <a:spAutoFit/>
          </a:bodyPr>
          <a:lstStyle/>
          <a:p>
            <a:pPr marL="257175" indent="-257175" algn="just" fontAlgn="base">
              <a:buFont typeface="Arial" panose="020B0604020202020204" pitchFamily="34" charset="0"/>
              <a:buChar char="•"/>
            </a:pPr>
            <a:r>
              <a:rPr lang="en-US" sz="1650" b="1" dirty="0">
                <a:solidFill>
                  <a:schemeClr val="tx1"/>
                </a:solidFill>
                <a:latin typeface="Nunito"/>
              </a:rPr>
              <a:t>Nonce: </a:t>
            </a:r>
            <a:r>
              <a:rPr lang="en-US" sz="1650" dirty="0">
                <a:solidFill>
                  <a:schemeClr val="tx1"/>
                </a:solidFill>
                <a:latin typeface="Nunito"/>
              </a:rPr>
              <a:t>A nonce number which uses only once. It is a central part of the proof of work in the block. It is compared to the live target if it is smaller or equal to the current target. People who mine, test, and eliminate many Nonce per second until they find that Valuable Nonce is valid.</a:t>
            </a:r>
          </a:p>
          <a:p>
            <a:pPr marL="257175" indent="-257175" algn="just" fontAlgn="base">
              <a:buFont typeface="Arial" panose="020B0604020202020204" pitchFamily="34" charset="0"/>
              <a:buChar char="•"/>
            </a:pPr>
            <a:endParaRPr lang="en-US" sz="1650" dirty="0">
              <a:solidFill>
                <a:schemeClr val="tx1"/>
              </a:solidFill>
              <a:latin typeface="Nunito"/>
            </a:endParaRPr>
          </a:p>
          <a:p>
            <a:pPr marL="257175" indent="-257175" algn="just" fontAlgn="base">
              <a:buFont typeface="Arial" panose="020B0604020202020204" pitchFamily="34" charset="0"/>
              <a:buChar char="•"/>
            </a:pPr>
            <a:r>
              <a:rPr lang="en-US" sz="1650" b="1" dirty="0">
                <a:solidFill>
                  <a:schemeClr val="tx1"/>
                </a:solidFill>
                <a:latin typeface="Nunito"/>
              </a:rPr>
              <a:t>Merkel Root:</a:t>
            </a:r>
            <a:r>
              <a:rPr lang="en-US" sz="1650" dirty="0">
                <a:solidFill>
                  <a:schemeClr val="tx1"/>
                </a:solidFill>
                <a:latin typeface="Nunito"/>
              </a:rPr>
              <a:t> It is a type of data structure frame of different blocks of data. A </a:t>
            </a:r>
            <a:r>
              <a:rPr lang="en-US" sz="1650" dirty="0" err="1">
                <a:solidFill>
                  <a:schemeClr val="tx1"/>
                </a:solidFill>
                <a:latin typeface="Nunito"/>
              </a:rPr>
              <a:t>Merkle</a:t>
            </a:r>
            <a:r>
              <a:rPr lang="en-US" sz="1650" dirty="0">
                <a:solidFill>
                  <a:schemeClr val="tx1"/>
                </a:solidFill>
                <a:latin typeface="Nunito"/>
              </a:rPr>
              <a:t> Tree stores all the transactions in a block by producing a digital fingerprint of the entire transaction. It allows the users to verify whether a transaction can be included in a block or not.</a:t>
            </a:r>
          </a:p>
        </p:txBody>
      </p:sp>
    </p:spTree>
    <p:extLst>
      <p:ext uri="{BB962C8B-B14F-4D97-AF65-F5344CB8AC3E}">
        <p14:creationId xmlns:p14="http://schemas.microsoft.com/office/powerpoint/2010/main" val="3252079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F6C038-2EA4-D8A9-382E-E939D1CEA91C}"/>
              </a:ext>
            </a:extLst>
          </p:cNvPr>
          <p:cNvSpPr>
            <a:spLocks noGrp="1"/>
          </p:cNvSpPr>
          <p:nvPr>
            <p:ph type="body" idx="1"/>
          </p:nvPr>
        </p:nvSpPr>
        <p:spPr>
          <a:xfrm>
            <a:off x="311972" y="3239845"/>
            <a:ext cx="8347933" cy="1143000"/>
          </a:xfrm>
          <a:solidFill>
            <a:srgbClr val="002060"/>
          </a:solidFill>
          <a:ln>
            <a:solidFill>
              <a:srgbClr val="002060"/>
            </a:solidFill>
          </a:ln>
        </p:spPr>
        <p:style>
          <a:lnRef idx="2">
            <a:schemeClr val="dk1"/>
          </a:lnRef>
          <a:fillRef idx="1">
            <a:schemeClr val="lt1"/>
          </a:fillRef>
          <a:effectRef idx="0">
            <a:schemeClr val="dk1"/>
          </a:effectRef>
          <a:fontRef idx="minor">
            <a:schemeClr val="dk1"/>
          </a:fontRef>
        </p:style>
        <p:txBody>
          <a:bodyPr>
            <a:noAutofit/>
          </a:bodyPr>
          <a:lstStyle/>
          <a:p>
            <a:pPr marL="0" indent="0">
              <a:lnSpc>
                <a:spcPct val="100000"/>
              </a:lnSpc>
              <a:spcBef>
                <a:spcPts val="0"/>
              </a:spcBef>
            </a:pPr>
            <a:r>
              <a:rPr lang="en-US" sz="3200" dirty="0">
                <a:solidFill>
                  <a:schemeClr val="bg1"/>
                </a:solidFill>
              </a:rPr>
              <a:t>Key Characteristics of Blockchain Architecture</a:t>
            </a:r>
            <a:endParaRPr lang="en-IN" sz="3200" dirty="0">
              <a:solidFill>
                <a:schemeClr val="bg1"/>
              </a:solidFill>
              <a:latin typeface="Times New Roman" panose="02020603050405020304" pitchFamily="18" charset="0"/>
              <a:ea typeface="Helvetica Neue"/>
              <a:cs typeface="Times New Roman" panose="02020603050405020304" pitchFamily="18" charset="0"/>
            </a:endParaRPr>
          </a:p>
        </p:txBody>
      </p:sp>
    </p:spTree>
    <p:extLst>
      <p:ext uri="{BB962C8B-B14F-4D97-AF65-F5344CB8AC3E}">
        <p14:creationId xmlns:p14="http://schemas.microsoft.com/office/powerpoint/2010/main" val="1440566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93964" y="364837"/>
            <a:ext cx="7592292" cy="1143000"/>
          </a:xfrm>
        </p:spPr>
        <p:txBody>
          <a:bodyPr>
            <a:normAutofit/>
          </a:bodyPr>
          <a:lstStyle/>
          <a:p>
            <a:r>
              <a:rPr lang="en-US" sz="2800" dirty="0"/>
              <a:t>Key Characteristics of </a:t>
            </a:r>
            <a:r>
              <a:rPr lang="en-US" sz="2800" dirty="0" err="1"/>
              <a:t>Blockchain</a:t>
            </a:r>
            <a:r>
              <a:rPr lang="en-US" sz="2800" dirty="0"/>
              <a:t> Architecture</a:t>
            </a:r>
            <a:endParaRPr lang="en-IN" sz="2800" dirty="0"/>
          </a:p>
        </p:txBody>
      </p:sp>
      <p:sp>
        <p:nvSpPr>
          <p:cNvPr id="5" name="Rectangle 4"/>
          <p:cNvSpPr/>
          <p:nvPr/>
        </p:nvSpPr>
        <p:spPr>
          <a:xfrm>
            <a:off x="401053" y="1798906"/>
            <a:ext cx="7623515" cy="3323987"/>
          </a:xfrm>
          <a:prstGeom prst="rect">
            <a:avLst/>
          </a:prstGeom>
        </p:spPr>
        <p:txBody>
          <a:bodyPr wrap="square">
            <a:spAutoFit/>
          </a:bodyPr>
          <a:lstStyle/>
          <a:p>
            <a:pPr marL="257175" indent="-257175" algn="just" fontAlgn="base">
              <a:buFont typeface="Arial" panose="020B0604020202020204" pitchFamily="34" charset="0"/>
              <a:buChar char="•"/>
            </a:pPr>
            <a:r>
              <a:rPr lang="en-US" sz="1500" b="1" dirty="0">
                <a:solidFill>
                  <a:schemeClr val="tx1"/>
                </a:solidFill>
                <a:latin typeface="Nunito"/>
              </a:rPr>
              <a:t>Decentralization: </a:t>
            </a:r>
            <a:r>
              <a:rPr lang="en-US" sz="1500" dirty="0">
                <a:solidFill>
                  <a:schemeClr val="tx1"/>
                </a:solidFill>
                <a:latin typeface="Nunito"/>
              </a:rPr>
              <a:t>In centralized transaction systems, each transaction needs to be validated in the central trusted agency (e.g., the central bank), naturally resulting in cost and the performance jam at the central servers. In contrast to the centralized mode, a third party is not needed in the </a:t>
            </a:r>
            <a:r>
              <a:rPr lang="en-US" sz="1500" dirty="0" err="1">
                <a:solidFill>
                  <a:schemeClr val="tx1"/>
                </a:solidFill>
                <a:latin typeface="Nunito"/>
              </a:rPr>
              <a:t>blockchain</a:t>
            </a:r>
            <a:r>
              <a:rPr lang="en-US" sz="1500" dirty="0">
                <a:solidFill>
                  <a:schemeClr val="tx1"/>
                </a:solidFill>
                <a:latin typeface="Nunito"/>
              </a:rPr>
              <a:t>. Consensus algorithms in </a:t>
            </a:r>
            <a:r>
              <a:rPr lang="en-US" sz="1500" dirty="0" err="1">
                <a:solidFill>
                  <a:schemeClr val="tx1"/>
                </a:solidFill>
                <a:latin typeface="Nunito"/>
              </a:rPr>
              <a:t>blockchain</a:t>
            </a:r>
            <a:r>
              <a:rPr lang="en-US" sz="1500" dirty="0">
                <a:solidFill>
                  <a:schemeClr val="tx1"/>
                </a:solidFill>
                <a:latin typeface="Nunito"/>
              </a:rPr>
              <a:t> are used to maintain data stability in a decentralized network.</a:t>
            </a:r>
          </a:p>
          <a:p>
            <a:pPr marL="257175" indent="-257175" algn="just" fontAlgn="base">
              <a:buFont typeface="Arial" panose="020B0604020202020204" pitchFamily="34" charset="0"/>
              <a:buChar char="•"/>
            </a:pPr>
            <a:endParaRPr lang="en-US" sz="1500" dirty="0">
              <a:solidFill>
                <a:schemeClr val="tx1"/>
              </a:solidFill>
              <a:latin typeface="Nunito"/>
            </a:endParaRPr>
          </a:p>
          <a:p>
            <a:pPr marL="257175" indent="-257175" algn="just" fontAlgn="base">
              <a:buFont typeface="Arial" panose="020B0604020202020204" pitchFamily="34" charset="0"/>
              <a:buChar char="•"/>
            </a:pPr>
            <a:r>
              <a:rPr lang="en-US" sz="1500" b="1" dirty="0">
                <a:solidFill>
                  <a:schemeClr val="tx1"/>
                </a:solidFill>
                <a:latin typeface="Nunito"/>
              </a:rPr>
              <a:t>Persistency: </a:t>
            </a:r>
            <a:r>
              <a:rPr lang="en-US" sz="1500" dirty="0">
                <a:solidFill>
                  <a:schemeClr val="tx1"/>
                </a:solidFill>
                <a:latin typeface="Nunito"/>
              </a:rPr>
              <a:t>Transactions can be validated quickly and invalid transactions would not be admitted by persons or miners who mining the crypto. It is not possible to delete or roll back transactions once they are included in the </a:t>
            </a:r>
            <a:r>
              <a:rPr lang="en-US" sz="1500" dirty="0" err="1">
                <a:solidFill>
                  <a:schemeClr val="tx1"/>
                </a:solidFill>
                <a:latin typeface="Nunito"/>
              </a:rPr>
              <a:t>blockchain</a:t>
            </a:r>
            <a:r>
              <a:rPr lang="en-US" sz="1500" dirty="0">
                <a:solidFill>
                  <a:schemeClr val="tx1"/>
                </a:solidFill>
                <a:latin typeface="Nunito"/>
              </a:rPr>
              <a:t> network. Invalid transactions do not carry forward further.</a:t>
            </a:r>
          </a:p>
          <a:p>
            <a:pPr marL="257175" indent="-257175" algn="just" fontAlgn="base">
              <a:buFont typeface="Arial" panose="020B0604020202020204" pitchFamily="34" charset="0"/>
              <a:buChar char="•"/>
            </a:pPr>
            <a:endParaRPr lang="en-US" sz="1500" dirty="0">
              <a:solidFill>
                <a:schemeClr val="tx1"/>
              </a:solidFill>
              <a:latin typeface="Nunito"/>
            </a:endParaRPr>
          </a:p>
          <a:p>
            <a:pPr marL="257175" indent="-257175" algn="just" fontAlgn="base">
              <a:buFont typeface="Arial" panose="020B0604020202020204" pitchFamily="34" charset="0"/>
              <a:buChar char="•"/>
            </a:pPr>
            <a:r>
              <a:rPr lang="en-US" sz="1500" b="1" dirty="0">
                <a:solidFill>
                  <a:schemeClr val="tx1"/>
                </a:solidFill>
                <a:latin typeface="Nunito"/>
              </a:rPr>
              <a:t>Anonymity: </a:t>
            </a:r>
            <a:r>
              <a:rPr lang="en-US" sz="1500" dirty="0">
                <a:solidFill>
                  <a:schemeClr val="tx1"/>
                </a:solidFill>
                <a:latin typeface="Nunito"/>
              </a:rPr>
              <a:t>Each user can interact with the blockchain with a generated address, which does not disclose the real identity of the miner. Note that </a:t>
            </a:r>
            <a:r>
              <a:rPr lang="en-US" sz="1500" dirty="0" err="1">
                <a:solidFill>
                  <a:schemeClr val="tx1"/>
                </a:solidFill>
                <a:latin typeface="Nunito"/>
              </a:rPr>
              <a:t>blockchain</a:t>
            </a:r>
            <a:r>
              <a:rPr lang="en-US" sz="1500" dirty="0">
                <a:solidFill>
                  <a:schemeClr val="tx1"/>
                </a:solidFill>
                <a:latin typeface="Nunito"/>
              </a:rPr>
              <a:t> cannot guarantee perfect privacy preservation due to the permanent thing.</a:t>
            </a:r>
          </a:p>
        </p:txBody>
      </p:sp>
    </p:spTree>
    <p:extLst>
      <p:ext uri="{BB962C8B-B14F-4D97-AF65-F5344CB8AC3E}">
        <p14:creationId xmlns:p14="http://schemas.microsoft.com/office/powerpoint/2010/main" val="1400048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93964" y="364837"/>
            <a:ext cx="7592292" cy="1143000"/>
          </a:xfrm>
        </p:spPr>
        <p:txBody>
          <a:bodyPr>
            <a:normAutofit/>
          </a:bodyPr>
          <a:lstStyle/>
          <a:p>
            <a:r>
              <a:rPr lang="en-US" sz="2800" dirty="0"/>
              <a:t>Key Characteristics of </a:t>
            </a:r>
            <a:r>
              <a:rPr lang="en-US" sz="2800" dirty="0" err="1"/>
              <a:t>Blockchain</a:t>
            </a:r>
            <a:r>
              <a:rPr lang="en-US" sz="2800" dirty="0"/>
              <a:t> Architecture</a:t>
            </a:r>
            <a:endParaRPr lang="en-IN" sz="2800" dirty="0"/>
          </a:p>
        </p:txBody>
      </p:sp>
      <p:sp>
        <p:nvSpPr>
          <p:cNvPr id="4" name="Rectangle 3"/>
          <p:cNvSpPr/>
          <p:nvPr/>
        </p:nvSpPr>
        <p:spPr>
          <a:xfrm>
            <a:off x="401053" y="1798906"/>
            <a:ext cx="7863898" cy="3554819"/>
          </a:xfrm>
          <a:prstGeom prst="rect">
            <a:avLst/>
          </a:prstGeom>
        </p:spPr>
        <p:txBody>
          <a:bodyPr wrap="square">
            <a:spAutoFit/>
          </a:bodyPr>
          <a:lstStyle/>
          <a:p>
            <a:pPr marL="257175" indent="-257175" algn="just" fontAlgn="base">
              <a:buFont typeface="Arial" panose="020B0604020202020204" pitchFamily="34" charset="0"/>
              <a:buChar char="•"/>
            </a:pPr>
            <a:r>
              <a:rPr lang="en-US" sz="1500" b="1" dirty="0">
                <a:solidFill>
                  <a:schemeClr val="tx1"/>
                </a:solidFill>
                <a:latin typeface="Nunito"/>
              </a:rPr>
              <a:t>Auditability: </a:t>
            </a:r>
            <a:r>
              <a:rPr lang="en-US" sz="1500" dirty="0" err="1">
                <a:solidFill>
                  <a:schemeClr val="tx1"/>
                </a:solidFill>
                <a:latin typeface="Nunito"/>
              </a:rPr>
              <a:t>Blockchain</a:t>
            </a:r>
            <a:r>
              <a:rPr lang="en-US" sz="1500" dirty="0">
                <a:solidFill>
                  <a:schemeClr val="tx1"/>
                </a:solidFill>
                <a:latin typeface="Nunito"/>
              </a:rPr>
              <a:t> stores data of users based on the Unspent Transaction Output (UTXO) </a:t>
            </a:r>
            <a:r>
              <a:rPr lang="en-US" sz="1500" dirty="0" err="1">
                <a:solidFill>
                  <a:schemeClr val="tx1"/>
                </a:solidFill>
                <a:latin typeface="Nunito"/>
              </a:rPr>
              <a:t>model.Every</a:t>
            </a:r>
            <a:r>
              <a:rPr lang="en-US" sz="1500" dirty="0">
                <a:solidFill>
                  <a:schemeClr val="tx1"/>
                </a:solidFill>
                <a:latin typeface="Nunito"/>
              </a:rPr>
              <a:t> transaction has to refer to some previous unspent transactions. </a:t>
            </a:r>
            <a:r>
              <a:rPr lang="en-US" sz="1500" dirty="0">
                <a:solidFill>
                  <a:srgbClr val="0070C0"/>
                </a:solidFill>
                <a:latin typeface="Nunito"/>
              </a:rPr>
              <a:t>Once the current transaction is recorded into the </a:t>
            </a:r>
            <a:r>
              <a:rPr lang="en-US" sz="1500" dirty="0" err="1">
                <a:solidFill>
                  <a:srgbClr val="0070C0"/>
                </a:solidFill>
                <a:latin typeface="Nunito"/>
              </a:rPr>
              <a:t>blockchain</a:t>
            </a:r>
            <a:r>
              <a:rPr lang="en-US" sz="1500" dirty="0">
                <a:solidFill>
                  <a:srgbClr val="0070C0"/>
                </a:solidFill>
                <a:latin typeface="Nunito"/>
              </a:rPr>
              <a:t>, the position of those referred unspent transactions switches from unspent to spent</a:t>
            </a:r>
            <a:r>
              <a:rPr lang="en-US" sz="1500" dirty="0">
                <a:solidFill>
                  <a:schemeClr val="tx1"/>
                </a:solidFill>
                <a:latin typeface="Nunito"/>
              </a:rPr>
              <a:t>. Due to this process, the transactions can be easily tracked and not harmed between transactions.</a:t>
            </a:r>
          </a:p>
          <a:p>
            <a:pPr marL="257175" indent="-257175" algn="just" fontAlgn="base">
              <a:buFont typeface="Arial" panose="020B0604020202020204" pitchFamily="34" charset="0"/>
              <a:buChar char="•"/>
            </a:pPr>
            <a:endParaRPr lang="en-US" sz="1500" dirty="0">
              <a:solidFill>
                <a:schemeClr val="tx1"/>
              </a:solidFill>
              <a:latin typeface="Nunito"/>
            </a:endParaRPr>
          </a:p>
          <a:p>
            <a:pPr marL="257175" indent="-257175" algn="just" fontAlgn="base">
              <a:buFont typeface="Arial" panose="020B0604020202020204" pitchFamily="34" charset="0"/>
              <a:buChar char="•"/>
            </a:pPr>
            <a:r>
              <a:rPr lang="en-US" sz="1500" b="1" dirty="0">
                <a:solidFill>
                  <a:schemeClr val="tx1"/>
                </a:solidFill>
                <a:latin typeface="Nunito"/>
              </a:rPr>
              <a:t>Transparency: </a:t>
            </a:r>
            <a:r>
              <a:rPr lang="en-US" sz="1500" dirty="0">
                <a:solidFill>
                  <a:schemeClr val="tx1"/>
                </a:solidFill>
                <a:latin typeface="Nunito"/>
              </a:rPr>
              <a:t>The transparency of </a:t>
            </a:r>
            <a:r>
              <a:rPr lang="en-US" sz="1500" dirty="0" err="1">
                <a:solidFill>
                  <a:schemeClr val="tx1"/>
                </a:solidFill>
                <a:latin typeface="Nunito"/>
              </a:rPr>
              <a:t>blockchain</a:t>
            </a:r>
            <a:r>
              <a:rPr lang="en-US" sz="1500" dirty="0">
                <a:solidFill>
                  <a:schemeClr val="tx1"/>
                </a:solidFill>
                <a:latin typeface="Nunito"/>
              </a:rPr>
              <a:t> is like </a:t>
            </a:r>
            <a:r>
              <a:rPr lang="en-US" sz="1500" dirty="0" err="1">
                <a:solidFill>
                  <a:schemeClr val="tx1"/>
                </a:solidFill>
                <a:latin typeface="Nunito"/>
              </a:rPr>
              <a:t>cryptocurrency</a:t>
            </a:r>
            <a:r>
              <a:rPr lang="en-US" sz="1500" dirty="0">
                <a:solidFill>
                  <a:schemeClr val="tx1"/>
                </a:solidFill>
                <a:latin typeface="Nunito"/>
              </a:rPr>
              <a:t>, in </a:t>
            </a:r>
            <a:r>
              <a:rPr lang="en-US" sz="1500" dirty="0" err="1">
                <a:solidFill>
                  <a:schemeClr val="tx1"/>
                </a:solidFill>
                <a:latin typeface="Nunito"/>
              </a:rPr>
              <a:t>bitcoin</a:t>
            </a:r>
            <a:r>
              <a:rPr lang="en-US" sz="1500" dirty="0">
                <a:solidFill>
                  <a:schemeClr val="tx1"/>
                </a:solidFill>
                <a:latin typeface="Nunito"/>
              </a:rPr>
              <a:t> for tracking every transaction is done by the address. And for security, it hides the person’s identity between and after the transaction. All the transactions are made by the owner of the block associated with the address, this process is transparent and there is no loss for anyone who is involved in this transaction.</a:t>
            </a:r>
          </a:p>
          <a:p>
            <a:pPr marL="257175" indent="-257175" algn="just" fontAlgn="base">
              <a:buFont typeface="Arial" panose="020B0604020202020204" pitchFamily="34" charset="0"/>
              <a:buChar char="•"/>
            </a:pPr>
            <a:endParaRPr lang="en-US" sz="1500" dirty="0">
              <a:solidFill>
                <a:schemeClr val="tx1"/>
              </a:solidFill>
              <a:latin typeface="Nunito"/>
            </a:endParaRPr>
          </a:p>
          <a:p>
            <a:pPr marL="257175" indent="-257175" algn="just" fontAlgn="base">
              <a:buFont typeface="Arial" panose="020B0604020202020204" pitchFamily="34" charset="0"/>
              <a:buChar char="•"/>
            </a:pPr>
            <a:r>
              <a:rPr lang="en-US" sz="1500" b="1" dirty="0">
                <a:solidFill>
                  <a:schemeClr val="tx1"/>
                </a:solidFill>
                <a:latin typeface="Nunito"/>
              </a:rPr>
              <a:t>Cryptography: </a:t>
            </a:r>
            <a:r>
              <a:rPr lang="en-US" sz="1500" dirty="0">
                <a:solidFill>
                  <a:schemeClr val="tx1"/>
                </a:solidFill>
                <a:latin typeface="Nunito"/>
              </a:rPr>
              <a:t>The </a:t>
            </a:r>
            <a:r>
              <a:rPr lang="en-US" sz="1500" dirty="0" err="1">
                <a:solidFill>
                  <a:schemeClr val="tx1"/>
                </a:solidFill>
                <a:latin typeface="Nunito"/>
              </a:rPr>
              <a:t>blockchain</a:t>
            </a:r>
            <a:r>
              <a:rPr lang="en-US" sz="1500" dirty="0">
                <a:solidFill>
                  <a:schemeClr val="tx1"/>
                </a:solidFill>
                <a:latin typeface="Nunito"/>
              </a:rPr>
              <a:t> concept is fully based on security and for that, all the blocks on the </a:t>
            </a:r>
            <a:r>
              <a:rPr lang="en-US" sz="1500" dirty="0" err="1">
                <a:solidFill>
                  <a:schemeClr val="tx1"/>
                </a:solidFill>
                <a:latin typeface="Nunito"/>
              </a:rPr>
              <a:t>blockchain</a:t>
            </a:r>
            <a:r>
              <a:rPr lang="en-US" sz="1500" dirty="0">
                <a:solidFill>
                  <a:schemeClr val="tx1"/>
                </a:solidFill>
                <a:latin typeface="Nunito"/>
              </a:rPr>
              <a:t> network want to be secure. And for security, it implements cryptography and secures the data using the cipher text and ciphers.</a:t>
            </a:r>
          </a:p>
        </p:txBody>
      </p:sp>
    </p:spTree>
    <p:extLst>
      <p:ext uri="{BB962C8B-B14F-4D97-AF65-F5344CB8AC3E}">
        <p14:creationId xmlns:p14="http://schemas.microsoft.com/office/powerpoint/2010/main" val="294238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F6C038-2EA4-D8A9-382E-E939D1CEA91C}"/>
              </a:ext>
            </a:extLst>
          </p:cNvPr>
          <p:cNvSpPr>
            <a:spLocks noGrp="1"/>
          </p:cNvSpPr>
          <p:nvPr>
            <p:ph type="body" idx="1"/>
          </p:nvPr>
        </p:nvSpPr>
        <p:spPr>
          <a:xfrm>
            <a:off x="1240716" y="3056965"/>
            <a:ext cx="6324600" cy="1143000"/>
          </a:xfrm>
          <a:solidFill>
            <a:srgbClr val="002060"/>
          </a:solidFill>
          <a:ln>
            <a:solidFill>
              <a:srgbClr val="002060"/>
            </a:solidFill>
          </a:ln>
        </p:spPr>
        <p:style>
          <a:lnRef idx="2">
            <a:schemeClr val="dk1"/>
          </a:lnRef>
          <a:fillRef idx="1">
            <a:schemeClr val="lt1"/>
          </a:fillRef>
          <a:effectRef idx="0">
            <a:schemeClr val="dk1"/>
          </a:effectRef>
          <a:fontRef idx="minor">
            <a:schemeClr val="dk1"/>
          </a:fontRef>
        </p:style>
        <p:txBody>
          <a:bodyPr>
            <a:noAutofit/>
          </a:bodyPr>
          <a:lstStyle/>
          <a:p>
            <a:r>
              <a:rPr lang="en-US" sz="2400" dirty="0">
                <a:solidFill>
                  <a:schemeClr val="bg1"/>
                </a:solidFill>
              </a:rPr>
              <a:t>Adding New Block, Forking Page</a:t>
            </a:r>
          </a:p>
        </p:txBody>
      </p:sp>
    </p:spTree>
    <p:extLst>
      <p:ext uri="{BB962C8B-B14F-4D97-AF65-F5344CB8AC3E}">
        <p14:creationId xmlns:p14="http://schemas.microsoft.com/office/powerpoint/2010/main" val="318251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436563"/>
            <a:ext cx="7799294" cy="574675"/>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Adding New Block, Forking Page</a:t>
            </a:r>
          </a:p>
        </p:txBody>
      </p:sp>
      <p:pic>
        <p:nvPicPr>
          <p:cNvPr id="4098" name="Picture 2" descr="What is blockchain? How does it work? What is its applications? | by Lê  Tùng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061" y="2261874"/>
            <a:ext cx="8572500" cy="2971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141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534988"/>
            <a:ext cx="6991350" cy="573087"/>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Adding New Block, Forking Page</a:t>
            </a:r>
          </a:p>
        </p:txBody>
      </p:sp>
      <p:sp>
        <p:nvSpPr>
          <p:cNvPr id="4" name="Rectangle 3"/>
          <p:cNvSpPr/>
          <p:nvPr/>
        </p:nvSpPr>
        <p:spPr>
          <a:xfrm>
            <a:off x="207184" y="1923936"/>
            <a:ext cx="8743178" cy="3370153"/>
          </a:xfrm>
          <a:prstGeom prst="rect">
            <a:avLst/>
          </a:prstGeom>
        </p:spPr>
        <p:txBody>
          <a:bodyPr wrap="square">
            <a:spAutoFit/>
          </a:bodyPr>
          <a:lstStyle/>
          <a:p>
            <a:pPr algn="just"/>
            <a:r>
              <a:rPr lang="en-US" sz="1800" b="1" dirty="0">
                <a:latin typeface="Nunito"/>
              </a:rPr>
              <a:t>Adding a New Block: </a:t>
            </a:r>
            <a:r>
              <a:rPr lang="en-US" sz="1500" dirty="0">
                <a:latin typeface="Nunito"/>
              </a:rPr>
              <a:t>When a new block is added to the </a:t>
            </a:r>
            <a:r>
              <a:rPr lang="en-US" sz="1500" dirty="0" err="1">
                <a:latin typeface="Nunito"/>
              </a:rPr>
              <a:t>blockchain</a:t>
            </a:r>
            <a:r>
              <a:rPr lang="en-US" sz="1500" dirty="0">
                <a:latin typeface="Nunito"/>
              </a:rPr>
              <a:t>, it means that a set of transactions has been validated and added to the ledger. The process typically involves the following steps:</a:t>
            </a:r>
          </a:p>
          <a:p>
            <a:pPr algn="just"/>
            <a:endParaRPr lang="en-US" sz="1500" dirty="0">
              <a:latin typeface="Nunito"/>
            </a:endParaRPr>
          </a:p>
          <a:p>
            <a:pPr lvl="3" algn="just"/>
            <a:r>
              <a:rPr lang="en-US" sz="1500" b="1" dirty="0">
                <a:latin typeface="Nunito"/>
              </a:rPr>
              <a:t>	a. Transaction Validation</a:t>
            </a:r>
            <a:r>
              <a:rPr lang="en-US" sz="1500" dirty="0">
                <a:latin typeface="Nunito"/>
              </a:rPr>
              <a:t>: Transactions are broadcasted to the network and validated 	by nodes according to the consensus mechanism in use (e.g., Proof of Work, Proof of 	Stake). Valid transactions are grouped together into a block.</a:t>
            </a:r>
          </a:p>
          <a:p>
            <a:pPr marL="342900" lvl="2" indent="-342900" algn="just">
              <a:buAutoNum type="alphaLcPeriod"/>
            </a:pPr>
            <a:endParaRPr lang="en-US" sz="1500" dirty="0">
              <a:latin typeface="Nunito"/>
            </a:endParaRPr>
          </a:p>
          <a:p>
            <a:pPr lvl="2" algn="just"/>
            <a:r>
              <a:rPr lang="en-US" sz="1500" b="1" dirty="0">
                <a:latin typeface="Nunito"/>
              </a:rPr>
              <a:t>	b. Block Creation</a:t>
            </a:r>
            <a:r>
              <a:rPr lang="en-US" sz="1500" dirty="0">
                <a:latin typeface="Nunito"/>
              </a:rPr>
              <a:t>: Miners (in </a:t>
            </a:r>
            <a:r>
              <a:rPr lang="en-US" sz="1500" dirty="0" err="1">
                <a:latin typeface="Nunito"/>
              </a:rPr>
              <a:t>PoW</a:t>
            </a:r>
            <a:r>
              <a:rPr lang="en-US" sz="1500" dirty="0">
                <a:latin typeface="Nunito"/>
              </a:rPr>
              <a:t> systems) or validators (in </a:t>
            </a:r>
            <a:r>
              <a:rPr lang="en-US" sz="1500" dirty="0" err="1">
                <a:latin typeface="Nunito"/>
              </a:rPr>
              <a:t>PoS</a:t>
            </a:r>
            <a:r>
              <a:rPr lang="en-US" sz="1500" dirty="0">
                <a:latin typeface="Nunito"/>
              </a:rPr>
              <a:t> systems) compete to 	solve a cryptographic puzzle that allows them to create a new block containing the 	validated transactions. This process is known as mining or forging.</a:t>
            </a:r>
          </a:p>
          <a:p>
            <a:pPr lvl="2" algn="just"/>
            <a:endParaRPr lang="en-US" sz="1500" dirty="0">
              <a:latin typeface="Nunito"/>
            </a:endParaRPr>
          </a:p>
          <a:p>
            <a:pPr lvl="2" algn="just"/>
            <a:r>
              <a:rPr lang="en-US" sz="1500" b="1" dirty="0">
                <a:latin typeface="Nunito"/>
              </a:rPr>
              <a:t>	c. Block Propagation</a:t>
            </a:r>
            <a:r>
              <a:rPr lang="en-US" sz="1500" dirty="0">
                <a:latin typeface="Nunito"/>
              </a:rPr>
              <a:t>: Once a miner successfully creates a new block, it is broadcasted 	to other nodes in the network.</a:t>
            </a:r>
          </a:p>
        </p:txBody>
      </p:sp>
    </p:spTree>
    <p:extLst>
      <p:ext uri="{BB962C8B-B14F-4D97-AF65-F5344CB8AC3E}">
        <p14:creationId xmlns:p14="http://schemas.microsoft.com/office/powerpoint/2010/main" val="660755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392113"/>
            <a:ext cx="6991350" cy="573087"/>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Adding New Block, Forking Page</a:t>
            </a:r>
          </a:p>
        </p:txBody>
      </p:sp>
      <p:sp>
        <p:nvSpPr>
          <p:cNvPr id="4" name="Rectangle 3"/>
          <p:cNvSpPr/>
          <p:nvPr/>
        </p:nvSpPr>
        <p:spPr>
          <a:xfrm>
            <a:off x="244642" y="1779550"/>
            <a:ext cx="8594558" cy="2400657"/>
          </a:xfrm>
          <a:prstGeom prst="rect">
            <a:avLst/>
          </a:prstGeom>
        </p:spPr>
        <p:txBody>
          <a:bodyPr wrap="square">
            <a:spAutoFit/>
          </a:bodyPr>
          <a:lstStyle/>
          <a:p>
            <a:endParaRPr lang="en-US" sz="1500" dirty="0"/>
          </a:p>
          <a:p>
            <a:pPr algn="just"/>
            <a:endParaRPr lang="en-US" sz="1500" b="1" dirty="0">
              <a:latin typeface="Nunito"/>
            </a:endParaRPr>
          </a:p>
          <a:p>
            <a:pPr algn="just"/>
            <a:r>
              <a:rPr lang="en-US" sz="1500" b="1" dirty="0">
                <a:latin typeface="Nunito"/>
              </a:rPr>
              <a:t>	d. Consensus: </a:t>
            </a:r>
            <a:r>
              <a:rPr lang="en-US" sz="1500" dirty="0">
                <a:latin typeface="Nunito"/>
              </a:rPr>
              <a:t>Other nodes in the network validate the new block and agree to 	append it to their copy of the blockchain if it meets the necessary criteria (e.g., valid 	proof of work, correct transactions).</a:t>
            </a:r>
          </a:p>
          <a:p>
            <a:pPr algn="just"/>
            <a:endParaRPr lang="en-US" sz="1500" dirty="0">
              <a:latin typeface="Nunito"/>
            </a:endParaRPr>
          </a:p>
          <a:p>
            <a:pPr algn="just"/>
            <a:endParaRPr lang="en-US" sz="1500" b="1" dirty="0">
              <a:latin typeface="Nunito"/>
            </a:endParaRPr>
          </a:p>
          <a:p>
            <a:pPr algn="just"/>
            <a:r>
              <a:rPr lang="en-US" sz="1500" b="1" dirty="0">
                <a:latin typeface="Nunito"/>
              </a:rPr>
              <a:t>	e. Adding to the Chain: </a:t>
            </a:r>
            <a:r>
              <a:rPr lang="en-US" sz="1500" dirty="0">
                <a:latin typeface="Nunito"/>
              </a:rPr>
              <a:t>The new block is added to the blockchain, linking it to the 	previous block in the chain. This process continues as new blocks are added over time, 	extending the blockchain.</a:t>
            </a:r>
          </a:p>
        </p:txBody>
      </p:sp>
    </p:spTree>
    <p:extLst>
      <p:ext uri="{BB962C8B-B14F-4D97-AF65-F5344CB8AC3E}">
        <p14:creationId xmlns:p14="http://schemas.microsoft.com/office/powerpoint/2010/main" val="192194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436563"/>
            <a:ext cx="6991350" cy="574675"/>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Adding New Block, Forking Page</a:t>
            </a:r>
          </a:p>
        </p:txBody>
      </p:sp>
      <p:sp>
        <p:nvSpPr>
          <p:cNvPr id="4" name="Rectangle 3"/>
          <p:cNvSpPr/>
          <p:nvPr/>
        </p:nvSpPr>
        <p:spPr>
          <a:xfrm>
            <a:off x="112295" y="1550950"/>
            <a:ext cx="8934886" cy="4293483"/>
          </a:xfrm>
          <a:prstGeom prst="rect">
            <a:avLst/>
          </a:prstGeom>
        </p:spPr>
        <p:txBody>
          <a:bodyPr wrap="square">
            <a:spAutoFit/>
          </a:bodyPr>
          <a:lstStyle/>
          <a:p>
            <a:pPr algn="just"/>
            <a:endParaRPr lang="en-US" sz="1500" dirty="0">
              <a:latin typeface="Nunito"/>
            </a:endParaRPr>
          </a:p>
          <a:p>
            <a:pPr algn="just"/>
            <a:r>
              <a:rPr lang="en-US" sz="1800" b="1" dirty="0">
                <a:latin typeface="Nunito"/>
              </a:rPr>
              <a:t>Forking</a:t>
            </a:r>
            <a:r>
              <a:rPr lang="en-US" sz="1800" dirty="0">
                <a:latin typeface="Nunito"/>
              </a:rPr>
              <a:t>: </a:t>
            </a:r>
            <a:r>
              <a:rPr lang="en-US" sz="1500" dirty="0">
                <a:latin typeface="Nunito"/>
              </a:rPr>
              <a:t>Forking occurs when the </a:t>
            </a:r>
            <a:r>
              <a:rPr lang="en-US" sz="1500" dirty="0" err="1">
                <a:latin typeface="Nunito"/>
              </a:rPr>
              <a:t>blockchain</a:t>
            </a:r>
            <a:r>
              <a:rPr lang="en-US" sz="1500" dirty="0">
                <a:latin typeface="Nunito"/>
              </a:rPr>
              <a:t> splits into two or more branches due to a disagreement among network participants. There are two main types of forks:</a:t>
            </a:r>
          </a:p>
          <a:p>
            <a:pPr algn="just"/>
            <a:endParaRPr lang="en-US" sz="1500" dirty="0">
              <a:latin typeface="Nunito"/>
            </a:endParaRPr>
          </a:p>
          <a:p>
            <a:r>
              <a:rPr lang="en-US" sz="1500" b="1" dirty="0">
                <a:latin typeface="Nunito"/>
              </a:rPr>
              <a:t>a. Soft Fork</a:t>
            </a:r>
            <a:r>
              <a:rPr lang="en-US" sz="1500" dirty="0">
                <a:latin typeface="Nunito"/>
              </a:rPr>
              <a:t>: A soft fork occurs when a change to the protocol makes previously valid blocks 	invalid. Nodes that continue to follow the old rules will still recognize the new blocks as 	valid, but nodes following the new rules will not recognize blocks created using the old rules. 	Soft forks typically maintain compatibility with older versions of the software.</a:t>
            </a:r>
          </a:p>
          <a:p>
            <a:pPr marL="342900" indent="-342900">
              <a:buAutoNum type="alphaLcPeriod"/>
            </a:pPr>
            <a:endParaRPr lang="en-US" sz="1500" dirty="0">
              <a:latin typeface="Nunito"/>
            </a:endParaRPr>
          </a:p>
          <a:p>
            <a:pPr algn="just"/>
            <a:r>
              <a:rPr lang="en-US" sz="1500" b="1" dirty="0">
                <a:latin typeface="Nunito"/>
              </a:rPr>
              <a:t>b. Hard Fork</a:t>
            </a:r>
            <a:r>
              <a:rPr lang="en-US" sz="1500" dirty="0">
                <a:latin typeface="Nunito"/>
              </a:rPr>
              <a:t>: A hard fork occurs when a change to the protocol makes previously invalid 	blocks valid. This results in a permanent divergence in the blockchain, with one branch 	following the old rules and the other branch following the new rules. Hard forks require all 	nodes to upgrade to the new software to avoid being left on the old chain.</a:t>
            </a:r>
          </a:p>
          <a:p>
            <a:pPr algn="just"/>
            <a:endParaRPr lang="en-US" sz="1500" dirty="0">
              <a:latin typeface="Nunito"/>
            </a:endParaRPr>
          </a:p>
          <a:p>
            <a:pPr algn="just"/>
            <a:r>
              <a:rPr lang="en-US" sz="1500" dirty="0">
                <a:latin typeface="Nunito"/>
              </a:rPr>
              <a:t>Forks can happen for various reasons, such as protocol upgrades, disagreements over governance or economic incentives, or security vulnerabilities. Resolving forks typically involves community discussion, coordination among developers and miners, and ultimately, network-wide consensus on which branch of the </a:t>
            </a:r>
            <a:r>
              <a:rPr lang="en-US" sz="1500" dirty="0" err="1">
                <a:latin typeface="Nunito"/>
              </a:rPr>
              <a:t>blockchain</a:t>
            </a:r>
            <a:r>
              <a:rPr lang="en-US" sz="1500" dirty="0">
                <a:latin typeface="Nunito"/>
              </a:rPr>
              <a:t> to follow.</a:t>
            </a:r>
          </a:p>
        </p:txBody>
      </p:sp>
    </p:spTree>
    <p:extLst>
      <p:ext uri="{BB962C8B-B14F-4D97-AF65-F5344CB8AC3E}">
        <p14:creationId xmlns:p14="http://schemas.microsoft.com/office/powerpoint/2010/main" val="1617311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F6C038-2EA4-D8A9-382E-E939D1CEA91C}"/>
              </a:ext>
            </a:extLst>
          </p:cNvPr>
          <p:cNvSpPr>
            <a:spLocks noGrp="1"/>
          </p:cNvSpPr>
          <p:nvPr>
            <p:ph type="body" idx="1"/>
          </p:nvPr>
        </p:nvSpPr>
        <p:spPr>
          <a:xfrm>
            <a:off x="1154653" y="3680908"/>
            <a:ext cx="7645101" cy="1143000"/>
          </a:xfrm>
          <a:solidFill>
            <a:srgbClr val="002060"/>
          </a:solidFill>
          <a:ln>
            <a:solidFill>
              <a:srgbClr val="002060"/>
            </a:solidFill>
          </a:ln>
        </p:spPr>
        <p:style>
          <a:lnRef idx="2">
            <a:schemeClr val="dk1"/>
          </a:lnRef>
          <a:fillRef idx="1">
            <a:schemeClr val="lt1"/>
          </a:fillRef>
          <a:effectRef idx="0">
            <a:schemeClr val="dk1"/>
          </a:effectRef>
          <a:fontRef idx="minor">
            <a:schemeClr val="dk1"/>
          </a:fontRef>
        </p:style>
        <p:txBody>
          <a:bodyPr>
            <a:noAutofit/>
          </a:bodyPr>
          <a:lstStyle/>
          <a:p>
            <a:pPr marL="0" indent="0">
              <a:lnSpc>
                <a:spcPct val="100000"/>
              </a:lnSpc>
              <a:spcBef>
                <a:spcPts val="0"/>
              </a:spcBef>
            </a:pPr>
            <a:r>
              <a:rPr lang="en-US" sz="2400" dirty="0">
                <a:solidFill>
                  <a:schemeClr val="bg1"/>
                </a:solidFill>
                <a:latin typeface="Times New Roman" panose="02020603050405020304" pitchFamily="18" charset="0"/>
                <a:cs typeface="Times New Roman" panose="02020603050405020304" pitchFamily="18" charset="0"/>
              </a:rPr>
              <a:t>Blockchain properties and Varieties of blockchain page</a:t>
            </a:r>
          </a:p>
        </p:txBody>
      </p:sp>
    </p:spTree>
    <p:extLst>
      <p:ext uri="{BB962C8B-B14F-4D97-AF65-F5344CB8AC3E}">
        <p14:creationId xmlns:p14="http://schemas.microsoft.com/office/powerpoint/2010/main" val="3365417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107576" y="461533"/>
            <a:ext cx="6991350" cy="573088"/>
          </a:xfrm>
          <a:prstGeom prst="rect">
            <a:avLst/>
          </a:prstGeom>
          <a:noFill/>
          <a:ln>
            <a:noFill/>
          </a:ln>
        </p:spPr>
        <p:txBody>
          <a:bodyPr spcFirstLastPara="1" wrap="square" lIns="68569" tIns="34275" rIns="68569" bIns="34275" anchor="ctr" anchorCtr="0">
            <a:normAutofit fontScale="90000"/>
          </a:bodyPr>
          <a:lstStyle/>
          <a:p>
            <a:pPr fontAlgn="base"/>
            <a:r>
              <a:rPr lang="en-US" dirty="0">
                <a:solidFill>
                  <a:schemeClr val="tx1"/>
                </a:solidFill>
              </a:rPr>
              <a:t>Blockchain properties</a:t>
            </a:r>
          </a:p>
        </p:txBody>
      </p:sp>
      <p:sp>
        <p:nvSpPr>
          <p:cNvPr id="4" name="Rectangle 3"/>
          <p:cNvSpPr/>
          <p:nvPr/>
        </p:nvSpPr>
        <p:spPr>
          <a:xfrm>
            <a:off x="1094461" y="1765163"/>
            <a:ext cx="5657488" cy="3910429"/>
          </a:xfrm>
          <a:prstGeom prst="rect">
            <a:avLst/>
          </a:prstGeom>
        </p:spPr>
        <p:txBody>
          <a:bodyPr wrap="square">
            <a:spAutoFit/>
          </a:bodyPr>
          <a:lstStyle/>
          <a:p>
            <a:pPr marL="257175" indent="-257175">
              <a:lnSpc>
                <a:spcPct val="150000"/>
              </a:lnSpc>
              <a:buFont typeface="Arial" panose="020B0604020202020204" pitchFamily="34" charset="0"/>
              <a:buChar char="•"/>
            </a:pPr>
            <a:r>
              <a:rPr lang="en-US" sz="2100" dirty="0"/>
              <a:t>Decentralization</a:t>
            </a:r>
          </a:p>
          <a:p>
            <a:pPr marL="257175" indent="-257175">
              <a:lnSpc>
                <a:spcPct val="150000"/>
              </a:lnSpc>
              <a:buFont typeface="Arial" panose="020B0604020202020204" pitchFamily="34" charset="0"/>
              <a:buChar char="•"/>
            </a:pPr>
            <a:r>
              <a:rPr lang="en-US" sz="2100" dirty="0"/>
              <a:t>Immutability</a:t>
            </a:r>
          </a:p>
          <a:p>
            <a:pPr marL="257175" indent="-257175">
              <a:lnSpc>
                <a:spcPct val="150000"/>
              </a:lnSpc>
              <a:buFont typeface="Arial" panose="020B0604020202020204" pitchFamily="34" charset="0"/>
              <a:buChar char="•"/>
            </a:pPr>
            <a:r>
              <a:rPr lang="en-US" sz="2100" dirty="0"/>
              <a:t>Transparency</a:t>
            </a:r>
          </a:p>
          <a:p>
            <a:pPr marL="257175" indent="-257175">
              <a:lnSpc>
                <a:spcPct val="150000"/>
              </a:lnSpc>
              <a:buFont typeface="Arial" panose="020B0604020202020204" pitchFamily="34" charset="0"/>
              <a:buChar char="•"/>
            </a:pPr>
            <a:r>
              <a:rPr lang="en-US" sz="2100" dirty="0"/>
              <a:t>Security</a:t>
            </a:r>
          </a:p>
          <a:p>
            <a:pPr marL="257175" indent="-257175">
              <a:lnSpc>
                <a:spcPct val="150000"/>
              </a:lnSpc>
              <a:buFont typeface="Arial" panose="020B0604020202020204" pitchFamily="34" charset="0"/>
              <a:buChar char="•"/>
            </a:pPr>
            <a:r>
              <a:rPr lang="en-US" sz="2100" dirty="0"/>
              <a:t>Anonymity and </a:t>
            </a:r>
            <a:r>
              <a:rPr lang="en-US" sz="2100" dirty="0" err="1"/>
              <a:t>Pseudonymity</a:t>
            </a:r>
            <a:endParaRPr lang="en-US" sz="2100" dirty="0"/>
          </a:p>
          <a:p>
            <a:pPr marL="257175" indent="-257175">
              <a:lnSpc>
                <a:spcPct val="150000"/>
              </a:lnSpc>
              <a:buFont typeface="Arial" panose="020B0604020202020204" pitchFamily="34" charset="0"/>
              <a:buChar char="•"/>
            </a:pPr>
            <a:r>
              <a:rPr lang="en-US" sz="2100" dirty="0"/>
              <a:t>Distributed Ledger</a:t>
            </a:r>
          </a:p>
          <a:p>
            <a:pPr marL="257175" indent="-257175">
              <a:lnSpc>
                <a:spcPct val="150000"/>
              </a:lnSpc>
              <a:buFont typeface="Arial" panose="020B0604020202020204" pitchFamily="34" charset="0"/>
              <a:buChar char="•"/>
            </a:pPr>
            <a:r>
              <a:rPr lang="en-US" sz="2100" dirty="0"/>
              <a:t>Consensus Mechanism</a:t>
            </a:r>
          </a:p>
          <a:p>
            <a:pPr marL="257175" indent="-257175">
              <a:lnSpc>
                <a:spcPct val="150000"/>
              </a:lnSpc>
              <a:buFont typeface="Arial" panose="020B0604020202020204" pitchFamily="34" charset="0"/>
              <a:buChar char="•"/>
            </a:pPr>
            <a:r>
              <a:rPr lang="en-US" sz="2100" dirty="0"/>
              <a:t>Smart Contracts</a:t>
            </a:r>
          </a:p>
        </p:txBody>
      </p:sp>
    </p:spTree>
    <p:extLst>
      <p:ext uri="{BB962C8B-B14F-4D97-AF65-F5344CB8AC3E}">
        <p14:creationId xmlns:p14="http://schemas.microsoft.com/office/powerpoint/2010/main" val="112631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118334" y="437356"/>
            <a:ext cx="6991350" cy="573088"/>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Varieties of </a:t>
            </a:r>
            <a:r>
              <a:rPr lang="en-US" sz="3200" dirty="0" err="1">
                <a:solidFill>
                  <a:schemeClr val="tx1"/>
                </a:solidFill>
              </a:rPr>
              <a:t>blockchain</a:t>
            </a:r>
            <a:r>
              <a:rPr lang="en-US" sz="3200" dirty="0">
                <a:solidFill>
                  <a:schemeClr val="tx1"/>
                </a:solidFill>
              </a:rPr>
              <a:t> page</a:t>
            </a:r>
          </a:p>
        </p:txBody>
      </p:sp>
      <p:pic>
        <p:nvPicPr>
          <p:cNvPr id="2" name="Picture 1"/>
          <p:cNvPicPr>
            <a:picLocks noChangeAspect="1"/>
          </p:cNvPicPr>
          <p:nvPr/>
        </p:nvPicPr>
        <p:blipFill>
          <a:blip r:embed="rId3"/>
          <a:stretch>
            <a:fillRect/>
          </a:stretch>
        </p:blipFill>
        <p:spPr>
          <a:xfrm>
            <a:off x="433137" y="1626496"/>
            <a:ext cx="7664116" cy="4199796"/>
          </a:xfrm>
          <a:prstGeom prst="rect">
            <a:avLst/>
          </a:prstGeom>
        </p:spPr>
      </p:pic>
    </p:spTree>
    <p:extLst>
      <p:ext uri="{BB962C8B-B14F-4D97-AF65-F5344CB8AC3E}">
        <p14:creationId xmlns:p14="http://schemas.microsoft.com/office/powerpoint/2010/main" val="3690498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304800" y="310926"/>
            <a:ext cx="6991350" cy="573088"/>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Varieties of blockchain page</a:t>
            </a:r>
          </a:p>
        </p:txBody>
      </p:sp>
      <p:sp>
        <p:nvSpPr>
          <p:cNvPr id="4" name="Rectangle 3"/>
          <p:cNvSpPr/>
          <p:nvPr/>
        </p:nvSpPr>
        <p:spPr>
          <a:xfrm>
            <a:off x="480767" y="1875803"/>
            <a:ext cx="8031638" cy="2885405"/>
          </a:xfrm>
          <a:prstGeom prst="rect">
            <a:avLst/>
          </a:prstGeom>
        </p:spPr>
        <p:txBody>
          <a:bodyPr wrap="square">
            <a:spAutoFit/>
          </a:bodyPr>
          <a:lstStyle/>
          <a:p>
            <a:pPr algn="just"/>
            <a:r>
              <a:rPr lang="en-US" sz="1650" b="1" dirty="0">
                <a:latin typeface="Nunito"/>
              </a:rPr>
              <a:t>Public </a:t>
            </a:r>
            <a:r>
              <a:rPr lang="en-US" sz="1650" b="1" dirty="0" err="1">
                <a:latin typeface="Nunito"/>
              </a:rPr>
              <a:t>Blockchain</a:t>
            </a:r>
            <a:r>
              <a:rPr lang="en-US" sz="1650" dirty="0">
                <a:latin typeface="Nunito"/>
              </a:rPr>
              <a:t>: Public </a:t>
            </a:r>
            <a:r>
              <a:rPr lang="en-US" sz="1650" dirty="0" err="1">
                <a:latin typeface="Nunito"/>
              </a:rPr>
              <a:t>blockchains</a:t>
            </a:r>
            <a:r>
              <a:rPr lang="en-US" sz="1650" dirty="0">
                <a:latin typeface="Nunito"/>
              </a:rPr>
              <a:t> are open networks where anyone can participate, read, write, and validate transactions without permission. Examples include </a:t>
            </a:r>
            <a:r>
              <a:rPr lang="en-US" sz="1650" dirty="0" err="1">
                <a:latin typeface="Nunito"/>
              </a:rPr>
              <a:t>Bitcoin</a:t>
            </a:r>
            <a:r>
              <a:rPr lang="en-US" sz="1650" dirty="0">
                <a:latin typeface="Nunito"/>
              </a:rPr>
              <a:t> and </a:t>
            </a:r>
            <a:r>
              <a:rPr lang="en-US" sz="1650" dirty="0" err="1">
                <a:latin typeface="Nunito"/>
              </a:rPr>
              <a:t>Ethereum</a:t>
            </a:r>
            <a:r>
              <a:rPr lang="en-US" sz="1650" dirty="0">
                <a:latin typeface="Nunito"/>
              </a:rPr>
              <a:t>. These </a:t>
            </a:r>
            <a:r>
              <a:rPr lang="en-US" sz="1650" dirty="0" err="1">
                <a:latin typeface="Nunito"/>
              </a:rPr>
              <a:t>blockchains</a:t>
            </a:r>
            <a:r>
              <a:rPr lang="en-US" sz="1650" dirty="0">
                <a:latin typeface="Nunito"/>
              </a:rPr>
              <a:t> offer high levels of decentralization and transparency but may suffer from scalability and privacy limitations.</a:t>
            </a:r>
          </a:p>
          <a:p>
            <a:pPr algn="just"/>
            <a:endParaRPr lang="en-US" sz="1650" dirty="0">
              <a:latin typeface="Nunito"/>
            </a:endParaRPr>
          </a:p>
          <a:p>
            <a:pPr algn="just"/>
            <a:r>
              <a:rPr lang="en-US" sz="1650" b="1" dirty="0">
                <a:latin typeface="Nunito"/>
              </a:rPr>
              <a:t>Private </a:t>
            </a:r>
            <a:r>
              <a:rPr lang="en-US" sz="1650" b="1" dirty="0" err="1">
                <a:latin typeface="Nunito"/>
              </a:rPr>
              <a:t>Blockchain</a:t>
            </a:r>
            <a:r>
              <a:rPr lang="en-US" sz="1650" dirty="0">
                <a:latin typeface="Nunito"/>
              </a:rPr>
              <a:t>: Private </a:t>
            </a:r>
            <a:r>
              <a:rPr lang="en-US" sz="1650" dirty="0" err="1">
                <a:latin typeface="Nunito"/>
              </a:rPr>
              <a:t>blockchains</a:t>
            </a:r>
            <a:r>
              <a:rPr lang="en-US" sz="1650" dirty="0">
                <a:latin typeface="Nunito"/>
              </a:rPr>
              <a:t> are permissioned networks where access and participation are restricted to a specific group of participants. These </a:t>
            </a:r>
            <a:r>
              <a:rPr lang="en-US" sz="1650" dirty="0" err="1">
                <a:latin typeface="Nunito"/>
              </a:rPr>
              <a:t>blockchains</a:t>
            </a:r>
            <a:r>
              <a:rPr lang="en-US" sz="1650" dirty="0">
                <a:latin typeface="Nunito"/>
              </a:rPr>
              <a:t> are often used by enterprises for internal processes and sensitive data management. They offer greater control over access, scalability, and privacy but sacrifice some decentralization.</a:t>
            </a:r>
          </a:p>
        </p:txBody>
      </p:sp>
    </p:spTree>
    <p:extLst>
      <p:ext uri="{BB962C8B-B14F-4D97-AF65-F5344CB8AC3E}">
        <p14:creationId xmlns:p14="http://schemas.microsoft.com/office/powerpoint/2010/main" val="2731137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304800" y="257138"/>
            <a:ext cx="6991350" cy="573088"/>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Varieties of </a:t>
            </a:r>
            <a:r>
              <a:rPr lang="en-US" sz="3200" dirty="0" err="1">
                <a:solidFill>
                  <a:schemeClr val="tx1"/>
                </a:solidFill>
              </a:rPr>
              <a:t>blockchain</a:t>
            </a:r>
            <a:r>
              <a:rPr lang="en-US" sz="3200" dirty="0">
                <a:solidFill>
                  <a:schemeClr val="tx1"/>
                </a:solidFill>
              </a:rPr>
              <a:t> page</a:t>
            </a:r>
          </a:p>
        </p:txBody>
      </p:sp>
      <p:sp>
        <p:nvSpPr>
          <p:cNvPr id="4" name="Rectangle 3"/>
          <p:cNvSpPr/>
          <p:nvPr/>
        </p:nvSpPr>
        <p:spPr>
          <a:xfrm>
            <a:off x="182081" y="2017205"/>
            <a:ext cx="7884488" cy="3393237"/>
          </a:xfrm>
          <a:prstGeom prst="rect">
            <a:avLst/>
          </a:prstGeom>
        </p:spPr>
        <p:txBody>
          <a:bodyPr wrap="square">
            <a:spAutoFit/>
          </a:bodyPr>
          <a:lstStyle/>
          <a:p>
            <a:pPr marL="257175" indent="-257175" algn="just">
              <a:buFont typeface="Arial" panose="020B0604020202020204" pitchFamily="34" charset="0"/>
              <a:buChar char="•"/>
            </a:pPr>
            <a:r>
              <a:rPr lang="en-US" sz="1650" b="1" dirty="0">
                <a:latin typeface="Nunito"/>
              </a:rPr>
              <a:t>Consortium Blockchain</a:t>
            </a:r>
            <a:r>
              <a:rPr lang="en-US" sz="1650" dirty="0">
                <a:latin typeface="Nunito"/>
              </a:rPr>
              <a:t>: Consortium blockchains are semi-decentralized networks controlled by a group of trusted entities or organizations. Access and participation are permissioned, but governance is shared among the consortium members. Consortium blockchains are often used in industries where multiple organizations need to collaborate while maintaining certain levels of privacy and control.</a:t>
            </a:r>
          </a:p>
          <a:p>
            <a:pPr marL="257175" indent="-257175" algn="just">
              <a:buFont typeface="Arial" panose="020B0604020202020204" pitchFamily="34" charset="0"/>
              <a:buChar char="•"/>
            </a:pPr>
            <a:endParaRPr lang="en-US" sz="1650" b="1" dirty="0">
              <a:latin typeface="Nunito"/>
            </a:endParaRPr>
          </a:p>
          <a:p>
            <a:pPr marL="257175" indent="-257175" algn="just">
              <a:buFont typeface="Arial" panose="020B0604020202020204" pitchFamily="34" charset="0"/>
              <a:buChar char="•"/>
            </a:pPr>
            <a:r>
              <a:rPr lang="en-US" sz="1650" b="1" dirty="0">
                <a:latin typeface="Nunito"/>
              </a:rPr>
              <a:t>Hybrid Blockchain</a:t>
            </a:r>
            <a:r>
              <a:rPr lang="en-US" sz="1650" dirty="0">
                <a:latin typeface="Nunito"/>
              </a:rPr>
              <a:t>: Hybrid blockchains combine elements of both public and private blockchains. They allow for public accessibility and transparency while also providing private channels for specific transactions or data. Hybrid </a:t>
            </a:r>
            <a:r>
              <a:rPr lang="en-US" sz="1650" dirty="0" err="1">
                <a:latin typeface="Nunito"/>
              </a:rPr>
              <a:t>blockchains</a:t>
            </a:r>
            <a:r>
              <a:rPr lang="en-US" sz="1650" dirty="0">
                <a:latin typeface="Nunito"/>
              </a:rPr>
              <a:t> offer flexibility and can cater to a wide range of use cases, especially in industries requiring a balance between transparency and privacy.</a:t>
            </a:r>
          </a:p>
          <a:p>
            <a:pPr marL="257175" indent="-257175" algn="just">
              <a:buFont typeface="Arial" panose="020B0604020202020204" pitchFamily="34" charset="0"/>
              <a:buChar char="•"/>
            </a:pPr>
            <a:endParaRPr lang="en-US" sz="1650" dirty="0">
              <a:latin typeface="Nunito"/>
            </a:endParaRPr>
          </a:p>
        </p:txBody>
      </p:sp>
    </p:spTree>
    <p:extLst>
      <p:ext uri="{BB962C8B-B14F-4D97-AF65-F5344CB8AC3E}">
        <p14:creationId xmlns:p14="http://schemas.microsoft.com/office/powerpoint/2010/main" val="3016363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304800" y="805778"/>
            <a:ext cx="6991350" cy="573088"/>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Varieties of </a:t>
            </a:r>
            <a:r>
              <a:rPr lang="en-US" sz="3200" dirty="0" err="1">
                <a:solidFill>
                  <a:schemeClr val="tx1"/>
                </a:solidFill>
              </a:rPr>
              <a:t>blockchain</a:t>
            </a:r>
            <a:r>
              <a:rPr lang="en-US" sz="3200" dirty="0">
                <a:solidFill>
                  <a:schemeClr val="tx1"/>
                </a:solidFill>
              </a:rPr>
              <a:t> page</a:t>
            </a:r>
          </a:p>
        </p:txBody>
      </p:sp>
      <p:sp>
        <p:nvSpPr>
          <p:cNvPr id="4" name="Rectangle 3"/>
          <p:cNvSpPr/>
          <p:nvPr/>
        </p:nvSpPr>
        <p:spPr>
          <a:xfrm>
            <a:off x="327018" y="1847523"/>
            <a:ext cx="7594614" cy="3393237"/>
          </a:xfrm>
          <a:prstGeom prst="rect">
            <a:avLst/>
          </a:prstGeom>
        </p:spPr>
        <p:txBody>
          <a:bodyPr wrap="square">
            <a:spAutoFit/>
          </a:bodyPr>
          <a:lstStyle/>
          <a:p>
            <a:pPr marL="257175" indent="-257175" algn="just">
              <a:buFont typeface="Arial" panose="020B0604020202020204" pitchFamily="34" charset="0"/>
              <a:buChar char="•"/>
            </a:pPr>
            <a:r>
              <a:rPr lang="en-US" sz="1650" b="1" dirty="0">
                <a:latin typeface="Nunito"/>
              </a:rPr>
              <a:t>Permissioned Blockchain</a:t>
            </a:r>
            <a:r>
              <a:rPr lang="en-US" sz="1650" dirty="0">
                <a:latin typeface="Nunito"/>
              </a:rPr>
              <a:t>: Permissioned blockchains require users to obtain permission before participating in the network. They are often used in enterprise settings where strict control over access and governance is necessary. Permissioned blockchains offer increased scalability, efficiency, and privacy compared to public blockchains but may sacrifice decentralization.</a:t>
            </a:r>
          </a:p>
          <a:p>
            <a:pPr marL="257175" indent="-257175" algn="just">
              <a:buFont typeface="Arial" panose="020B0604020202020204" pitchFamily="34" charset="0"/>
              <a:buChar char="•"/>
            </a:pPr>
            <a:endParaRPr lang="en-US" sz="1650" b="1" dirty="0">
              <a:latin typeface="Nunito"/>
            </a:endParaRPr>
          </a:p>
          <a:p>
            <a:pPr marL="257175" indent="-257175" algn="just">
              <a:buFont typeface="Arial" panose="020B0604020202020204" pitchFamily="34" charset="0"/>
              <a:buChar char="•"/>
            </a:pPr>
            <a:r>
              <a:rPr lang="en-US" sz="1650" b="1" dirty="0">
                <a:latin typeface="Nunito"/>
              </a:rPr>
              <a:t>Sidechain</a:t>
            </a:r>
            <a:r>
              <a:rPr lang="en-US" sz="1650" dirty="0">
                <a:latin typeface="Nunito"/>
              </a:rPr>
              <a:t>: Sidechains are independent blockchains that are interoperable with a primary blockchain, often referred to as the mainchain. They allow for the execution of specific tasks or smart contracts off the mainchain, thereby improving scalability and reducing congestion. Sidechains enable experimentation with new features and functionalities without risking the stability of the mainchain.</a:t>
            </a:r>
          </a:p>
        </p:txBody>
      </p:sp>
    </p:spTree>
    <p:extLst>
      <p:ext uri="{BB962C8B-B14F-4D97-AF65-F5344CB8AC3E}">
        <p14:creationId xmlns:p14="http://schemas.microsoft.com/office/powerpoint/2010/main" val="2184341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182880" y="754250"/>
            <a:ext cx="6991350" cy="573088"/>
          </a:xfrm>
          <a:prstGeom prst="rect">
            <a:avLst/>
          </a:prstGeom>
          <a:noFill/>
          <a:ln>
            <a:noFill/>
          </a:ln>
        </p:spPr>
        <p:txBody>
          <a:bodyPr spcFirstLastPara="1" wrap="square" lIns="68569" tIns="34275" rIns="68569" bIns="34275" anchor="ctr" anchorCtr="0">
            <a:normAutofit/>
          </a:bodyPr>
          <a:lstStyle/>
          <a:p>
            <a:pPr fontAlgn="base"/>
            <a:r>
              <a:rPr lang="en-US" sz="3200" dirty="0">
                <a:solidFill>
                  <a:schemeClr val="tx1"/>
                </a:solidFill>
              </a:rPr>
              <a:t>Varieties of </a:t>
            </a:r>
            <a:r>
              <a:rPr lang="en-US" sz="3200" dirty="0" err="1">
                <a:solidFill>
                  <a:schemeClr val="tx1"/>
                </a:solidFill>
              </a:rPr>
              <a:t>blockchain</a:t>
            </a:r>
            <a:r>
              <a:rPr lang="en-US" sz="3200" dirty="0">
                <a:solidFill>
                  <a:schemeClr val="tx1"/>
                </a:solidFill>
              </a:rPr>
              <a:t> page</a:t>
            </a:r>
          </a:p>
        </p:txBody>
      </p:sp>
      <p:sp>
        <p:nvSpPr>
          <p:cNvPr id="4" name="Rectangle 3"/>
          <p:cNvSpPr/>
          <p:nvPr/>
        </p:nvSpPr>
        <p:spPr>
          <a:xfrm>
            <a:off x="327018" y="1932365"/>
            <a:ext cx="7594614" cy="2123658"/>
          </a:xfrm>
          <a:prstGeom prst="rect">
            <a:avLst/>
          </a:prstGeom>
        </p:spPr>
        <p:txBody>
          <a:bodyPr wrap="square">
            <a:spAutoFit/>
          </a:bodyPr>
          <a:lstStyle/>
          <a:p>
            <a:pPr marL="257175" indent="-257175" algn="just">
              <a:buFont typeface="Arial" panose="020B0604020202020204" pitchFamily="34" charset="0"/>
              <a:buChar char="•"/>
            </a:pPr>
            <a:endParaRPr lang="en-US" sz="1650" dirty="0">
              <a:latin typeface="Nunito"/>
            </a:endParaRPr>
          </a:p>
          <a:p>
            <a:pPr marL="257175" indent="-257175" algn="just">
              <a:buFont typeface="Arial" panose="020B0604020202020204" pitchFamily="34" charset="0"/>
              <a:buChar char="•"/>
            </a:pPr>
            <a:r>
              <a:rPr lang="en-US" sz="1650" b="1" dirty="0">
                <a:latin typeface="Nunito"/>
              </a:rPr>
              <a:t>Cross-Chain</a:t>
            </a:r>
            <a:r>
              <a:rPr lang="en-US" sz="1650" dirty="0">
                <a:latin typeface="Nunito"/>
              </a:rPr>
              <a:t>: Cross-chain technology enables interoperability and communication between different blockchain networks. It allows assets and data to be transferred seamlessly between blockchains, facilitating decentralized exchanges, asset swaps, and multi-chain applications. Cross-chain solutions aim to address the challenge of blockchain fragmentation and siloed ecosystems.</a:t>
            </a:r>
          </a:p>
          <a:p>
            <a:pPr marL="257175" indent="-257175" algn="just">
              <a:buFont typeface="Arial" panose="020B0604020202020204" pitchFamily="34" charset="0"/>
              <a:buChar char="•"/>
            </a:pPr>
            <a:endParaRPr lang="en-US" sz="1650" b="1" dirty="0">
              <a:latin typeface="Nunito"/>
            </a:endParaRPr>
          </a:p>
        </p:txBody>
      </p:sp>
    </p:spTree>
    <p:extLst>
      <p:ext uri="{BB962C8B-B14F-4D97-AF65-F5344CB8AC3E}">
        <p14:creationId xmlns:p14="http://schemas.microsoft.com/office/powerpoint/2010/main" val="1640230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F6C038-2EA4-D8A9-382E-E939D1CEA91C}"/>
              </a:ext>
            </a:extLst>
          </p:cNvPr>
          <p:cNvSpPr>
            <a:spLocks noGrp="1"/>
          </p:cNvSpPr>
          <p:nvPr>
            <p:ph type="body" idx="1"/>
          </p:nvPr>
        </p:nvSpPr>
        <p:spPr>
          <a:xfrm>
            <a:off x="757177" y="1535545"/>
            <a:ext cx="7433086" cy="1143000"/>
          </a:xfrm>
          <a:solidFill>
            <a:srgbClr val="002060"/>
          </a:solidFill>
          <a:ln>
            <a:solidFill>
              <a:srgbClr val="002060"/>
            </a:solidFill>
          </a:ln>
        </p:spPr>
        <p:style>
          <a:lnRef idx="2">
            <a:schemeClr val="dk1"/>
          </a:lnRef>
          <a:fillRef idx="1">
            <a:schemeClr val="lt1"/>
          </a:fillRef>
          <a:effectRef idx="0">
            <a:schemeClr val="dk1"/>
          </a:effectRef>
          <a:fontRef idx="minor">
            <a:schemeClr val="dk1"/>
          </a:fontRef>
        </p:style>
        <p:txBody>
          <a:bodyPr>
            <a:noAutofit/>
          </a:bodyPr>
          <a:lstStyle/>
          <a:p>
            <a:pPr marL="0" indent="0">
              <a:lnSpc>
                <a:spcPct val="100000"/>
              </a:lnSpc>
              <a:spcBef>
                <a:spcPts val="0"/>
              </a:spcBef>
            </a:pPr>
            <a:r>
              <a:rPr lang="en-US" sz="2800" dirty="0">
                <a:solidFill>
                  <a:schemeClr val="bg1"/>
                </a:solidFill>
              </a:rPr>
              <a:t>Similarities between Block chain and Linked list and Implementing a blockchain from Linked list</a:t>
            </a:r>
            <a:endParaRPr 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3727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553027"/>
            <a:ext cx="7756525" cy="573088"/>
          </a:xfrm>
          <a:prstGeom prst="rect">
            <a:avLst/>
          </a:prstGeom>
          <a:noFill/>
          <a:ln>
            <a:noFill/>
          </a:ln>
        </p:spPr>
        <p:txBody>
          <a:bodyPr spcFirstLastPara="1" wrap="square" lIns="68569" tIns="34275" rIns="68569" bIns="34275" anchor="ctr" anchorCtr="0">
            <a:noAutofit/>
          </a:bodyPr>
          <a:lstStyle/>
          <a:p>
            <a:r>
              <a:rPr lang="en-US" sz="2100" dirty="0">
                <a:solidFill>
                  <a:schemeClr val="tx1"/>
                </a:solidFill>
              </a:rPr>
              <a:t>Similarities between Block chain and Linked list and Implementing a </a:t>
            </a:r>
            <a:r>
              <a:rPr lang="en-US" sz="2100" dirty="0" err="1">
                <a:solidFill>
                  <a:schemeClr val="tx1"/>
                </a:solidFill>
              </a:rPr>
              <a:t>blockchain</a:t>
            </a:r>
            <a:r>
              <a:rPr lang="en-US" sz="2100" dirty="0">
                <a:solidFill>
                  <a:schemeClr val="tx1"/>
                </a:solidFill>
              </a:rPr>
              <a:t> from Linked list</a:t>
            </a:r>
          </a:p>
        </p:txBody>
      </p:sp>
      <p:pic>
        <p:nvPicPr>
          <p:cNvPr id="14338" name="Picture 2" descr="Linked List Implementation using C – A Programming Journ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976" y="1795650"/>
            <a:ext cx="8076824" cy="3958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5148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654628"/>
            <a:ext cx="7756525" cy="573088"/>
          </a:xfrm>
          <a:prstGeom prst="rect">
            <a:avLst/>
          </a:prstGeom>
          <a:noFill/>
          <a:ln>
            <a:noFill/>
          </a:ln>
        </p:spPr>
        <p:txBody>
          <a:bodyPr spcFirstLastPara="1" wrap="square" lIns="68569" tIns="34275" rIns="68569" bIns="34275" anchor="ctr" anchorCtr="0">
            <a:noAutofit/>
          </a:bodyPr>
          <a:lstStyle/>
          <a:p>
            <a:r>
              <a:rPr lang="en-US" sz="2400" dirty="0">
                <a:solidFill>
                  <a:schemeClr val="tx1"/>
                </a:solidFill>
              </a:rPr>
              <a:t>Similarities between Block chain and Linked list &amp; </a:t>
            </a:r>
            <a:br>
              <a:rPr lang="en-US" sz="2400" dirty="0">
                <a:solidFill>
                  <a:schemeClr val="tx1"/>
                </a:solidFill>
              </a:rPr>
            </a:br>
            <a:r>
              <a:rPr lang="en-US" sz="2400" dirty="0">
                <a:solidFill>
                  <a:schemeClr val="tx1"/>
                </a:solidFill>
              </a:rPr>
              <a:t> Implementing a blockchain from Linked list</a:t>
            </a:r>
          </a:p>
        </p:txBody>
      </p:sp>
      <p:sp>
        <p:nvSpPr>
          <p:cNvPr id="4" name="Rectangle 3"/>
          <p:cNvSpPr/>
          <p:nvPr/>
        </p:nvSpPr>
        <p:spPr>
          <a:xfrm>
            <a:off x="459556" y="1997839"/>
            <a:ext cx="7932656" cy="3139321"/>
          </a:xfrm>
          <a:prstGeom prst="rect">
            <a:avLst/>
          </a:prstGeom>
        </p:spPr>
        <p:txBody>
          <a:bodyPr wrap="square">
            <a:spAutoFit/>
          </a:bodyPr>
          <a:lstStyle/>
          <a:p>
            <a:pPr algn="just"/>
            <a:endParaRPr lang="en-US" sz="1650" b="1" dirty="0">
              <a:latin typeface="Nunito"/>
            </a:endParaRPr>
          </a:p>
          <a:p>
            <a:pPr marL="257175" indent="-257175" algn="just">
              <a:buFont typeface="Arial" panose="020B0604020202020204" pitchFamily="34" charset="0"/>
              <a:buChar char="•"/>
            </a:pPr>
            <a:r>
              <a:rPr lang="en-US" sz="1650" b="1" dirty="0">
                <a:latin typeface="Nunito"/>
              </a:rPr>
              <a:t>Sequential Data Structure</a:t>
            </a:r>
            <a:r>
              <a:rPr lang="en-US" sz="1650" dirty="0">
                <a:latin typeface="Nunito"/>
              </a:rPr>
              <a:t>: Both blockchain and linked lists organize data in a sequential manner. In a linked list, each element (node) contains a reference to the next node in the sequence. Similarly, in a blockchain, each block contains a reference (hash) to the previous block, forming a chain of blocks.</a:t>
            </a:r>
          </a:p>
          <a:p>
            <a:pPr marL="257175" indent="-257175" algn="just">
              <a:buFont typeface="Arial" panose="020B0604020202020204" pitchFamily="34" charset="0"/>
              <a:buChar char="•"/>
            </a:pPr>
            <a:endParaRPr lang="en-US" sz="1650" dirty="0">
              <a:latin typeface="Nunito"/>
            </a:endParaRPr>
          </a:p>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Data Integrity</a:t>
            </a:r>
            <a:r>
              <a:rPr lang="en-US" sz="1650" dirty="0">
                <a:latin typeface="Nunito"/>
              </a:rPr>
              <a:t>: Both </a:t>
            </a:r>
            <a:r>
              <a:rPr lang="en-US" sz="1650" dirty="0" err="1">
                <a:latin typeface="Nunito"/>
              </a:rPr>
              <a:t>blockchain</a:t>
            </a:r>
            <a:r>
              <a:rPr lang="en-US" sz="1650" dirty="0">
                <a:latin typeface="Nunito"/>
              </a:rPr>
              <a:t> and linked lists ensure data integrity through cryptographic hashing. In a linked list, the integrity of the data structure relies on maintaining the correct references between nodes. In a blockchain, cryptographic hashes are used to link blocks together, ensuring that any tampering with the data is easily detectable.</a:t>
            </a:r>
          </a:p>
        </p:txBody>
      </p:sp>
    </p:spTree>
    <p:extLst>
      <p:ext uri="{BB962C8B-B14F-4D97-AF65-F5344CB8AC3E}">
        <p14:creationId xmlns:p14="http://schemas.microsoft.com/office/powerpoint/2010/main" val="738906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571500"/>
            <a:ext cx="7756525" cy="573088"/>
          </a:xfrm>
          <a:prstGeom prst="rect">
            <a:avLst/>
          </a:prstGeom>
          <a:noFill/>
          <a:ln>
            <a:noFill/>
          </a:ln>
        </p:spPr>
        <p:txBody>
          <a:bodyPr spcFirstLastPara="1" wrap="square" lIns="68569" tIns="34275" rIns="68569" bIns="34275" anchor="ctr" anchorCtr="0">
            <a:noAutofit/>
          </a:bodyPr>
          <a:lstStyle/>
          <a:p>
            <a:r>
              <a:rPr lang="en-US" sz="2400" dirty="0">
                <a:solidFill>
                  <a:schemeClr val="tx1"/>
                </a:solidFill>
              </a:rPr>
              <a:t>Similarities between Block chain and Linked list and Implementing a </a:t>
            </a:r>
            <a:r>
              <a:rPr lang="en-US" sz="2400" dirty="0" err="1">
                <a:solidFill>
                  <a:schemeClr val="tx1"/>
                </a:solidFill>
              </a:rPr>
              <a:t>blockchain</a:t>
            </a:r>
            <a:r>
              <a:rPr lang="en-US" sz="2400" dirty="0">
                <a:solidFill>
                  <a:schemeClr val="tx1"/>
                </a:solidFill>
              </a:rPr>
              <a:t> from Linked list</a:t>
            </a:r>
          </a:p>
        </p:txBody>
      </p:sp>
      <p:sp>
        <p:nvSpPr>
          <p:cNvPr id="4" name="Rectangle 3"/>
          <p:cNvSpPr/>
          <p:nvPr/>
        </p:nvSpPr>
        <p:spPr>
          <a:xfrm>
            <a:off x="530258" y="1939186"/>
            <a:ext cx="8129957" cy="2885405"/>
          </a:xfrm>
          <a:prstGeom prst="rect">
            <a:avLst/>
          </a:prstGeom>
        </p:spPr>
        <p:txBody>
          <a:bodyPr wrap="square">
            <a:spAutoFit/>
          </a:bodyPr>
          <a:lstStyle/>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Insertion and Deletion</a:t>
            </a:r>
            <a:r>
              <a:rPr lang="en-US" sz="1650" dirty="0">
                <a:latin typeface="Nunito"/>
              </a:rPr>
              <a:t>: Both blockchain and linked lists support insertion and deletion operations. In a linked list, new nodes can be inserted at any position by updating the references of adjacent nodes. Similarly, in a blockchain, new blocks can be added to the chain by referencing the previous block's hash. Deletion operations are less common in blockchain due to its immutable nature.</a:t>
            </a:r>
          </a:p>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Traversal</a:t>
            </a:r>
            <a:r>
              <a:rPr lang="en-US" sz="1650" dirty="0">
                <a:latin typeface="Nunito"/>
              </a:rPr>
              <a:t>: Both </a:t>
            </a:r>
            <a:r>
              <a:rPr lang="en-US" sz="1650" dirty="0" err="1">
                <a:latin typeface="Nunito"/>
              </a:rPr>
              <a:t>blockchain</a:t>
            </a:r>
            <a:r>
              <a:rPr lang="en-US" sz="1650" dirty="0">
                <a:latin typeface="Nunito"/>
              </a:rPr>
              <a:t> and linked lists support traversal operations to access and iterate through the data structure. In a linked list, traversal involves following the references from one node to the next. Similarly, in a </a:t>
            </a:r>
            <a:r>
              <a:rPr lang="en-US" sz="1650" dirty="0" err="1">
                <a:latin typeface="Nunito"/>
              </a:rPr>
              <a:t>blockchain</a:t>
            </a:r>
            <a:r>
              <a:rPr lang="en-US" sz="1650" dirty="0">
                <a:latin typeface="Nunito"/>
              </a:rPr>
              <a:t>, nodes can traverse the chain by following the links between blocks.</a:t>
            </a:r>
          </a:p>
        </p:txBody>
      </p:sp>
    </p:spTree>
    <p:extLst>
      <p:ext uri="{BB962C8B-B14F-4D97-AF65-F5344CB8AC3E}">
        <p14:creationId xmlns:p14="http://schemas.microsoft.com/office/powerpoint/2010/main" val="838147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F6C038-2EA4-D8A9-382E-E939D1CEA91C}"/>
              </a:ext>
            </a:extLst>
          </p:cNvPr>
          <p:cNvSpPr>
            <a:spLocks noGrp="1"/>
          </p:cNvSpPr>
          <p:nvPr>
            <p:ph type="body" idx="1"/>
          </p:nvPr>
        </p:nvSpPr>
        <p:spPr>
          <a:xfrm>
            <a:off x="1681779" y="3261360"/>
            <a:ext cx="6324600" cy="1143000"/>
          </a:xfrm>
          <a:solidFill>
            <a:srgbClr val="002060"/>
          </a:solidFill>
          <a:ln>
            <a:solidFill>
              <a:srgbClr val="002060"/>
            </a:solidFill>
          </a:ln>
        </p:spPr>
        <p:style>
          <a:lnRef idx="2">
            <a:schemeClr val="dk1"/>
          </a:lnRef>
          <a:fillRef idx="1">
            <a:schemeClr val="lt1"/>
          </a:fillRef>
          <a:effectRef idx="0">
            <a:schemeClr val="dk1"/>
          </a:effectRef>
          <a:fontRef idx="minor">
            <a:schemeClr val="dk1"/>
          </a:fontRef>
        </p:style>
        <p:txBody>
          <a:bodyPr>
            <a:noAutofit/>
          </a:bodyPr>
          <a:lstStyle/>
          <a:p>
            <a:pPr marL="0" indent="0">
              <a:lnSpc>
                <a:spcPct val="100000"/>
              </a:lnSpc>
              <a:spcBef>
                <a:spcPts val="0"/>
              </a:spcBef>
            </a:pPr>
            <a:r>
              <a:rPr lang="en-US" sz="3200" dirty="0">
                <a:solidFill>
                  <a:schemeClr val="bg1"/>
                </a:solidFill>
              </a:rPr>
              <a:t>Designing a Blockchain</a:t>
            </a: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9965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663864"/>
            <a:ext cx="7756525" cy="573088"/>
          </a:xfrm>
          <a:prstGeom prst="rect">
            <a:avLst/>
          </a:prstGeom>
          <a:noFill/>
          <a:ln>
            <a:noFill/>
          </a:ln>
        </p:spPr>
        <p:txBody>
          <a:bodyPr spcFirstLastPara="1" wrap="square" lIns="68569" tIns="34275" rIns="68569" bIns="34275" anchor="ctr" anchorCtr="0">
            <a:noAutofit/>
          </a:bodyPr>
          <a:lstStyle/>
          <a:p>
            <a:r>
              <a:rPr lang="en-US" sz="2100" dirty="0">
                <a:solidFill>
                  <a:schemeClr val="tx1"/>
                </a:solidFill>
              </a:rPr>
              <a:t>Similarities between Block chain and Linked list and Implementing a </a:t>
            </a:r>
            <a:r>
              <a:rPr lang="en-US" sz="2100" dirty="0" err="1">
                <a:solidFill>
                  <a:schemeClr val="tx1"/>
                </a:solidFill>
              </a:rPr>
              <a:t>blockchain</a:t>
            </a:r>
            <a:r>
              <a:rPr lang="en-US" sz="2100" dirty="0">
                <a:solidFill>
                  <a:schemeClr val="tx1"/>
                </a:solidFill>
              </a:rPr>
              <a:t> from Linked list</a:t>
            </a:r>
          </a:p>
        </p:txBody>
      </p:sp>
      <p:sp>
        <p:nvSpPr>
          <p:cNvPr id="4" name="Rectangle 3"/>
          <p:cNvSpPr/>
          <p:nvPr/>
        </p:nvSpPr>
        <p:spPr>
          <a:xfrm>
            <a:off x="304015" y="2016958"/>
            <a:ext cx="7812464" cy="3139321"/>
          </a:xfrm>
          <a:prstGeom prst="rect">
            <a:avLst/>
          </a:prstGeom>
        </p:spPr>
        <p:txBody>
          <a:bodyPr wrap="square">
            <a:spAutoFit/>
          </a:bodyPr>
          <a:lstStyle/>
          <a:p>
            <a:pPr algn="just"/>
            <a:r>
              <a:rPr lang="en-US" sz="1650" dirty="0">
                <a:latin typeface="Nunito"/>
              </a:rPr>
              <a:t>Implementing a </a:t>
            </a:r>
            <a:r>
              <a:rPr lang="en-US" sz="1650" dirty="0" err="1">
                <a:latin typeface="Nunito"/>
              </a:rPr>
              <a:t>blockchain</a:t>
            </a:r>
            <a:r>
              <a:rPr lang="en-US" sz="1650" dirty="0">
                <a:latin typeface="Nunito"/>
              </a:rPr>
              <a:t> using a linked list involves adapting the principles of a linked list to accommodate the unique requirements of a </a:t>
            </a:r>
            <a:r>
              <a:rPr lang="en-US" sz="1650" dirty="0" err="1">
                <a:latin typeface="Nunito"/>
              </a:rPr>
              <a:t>blockchain</a:t>
            </a:r>
            <a:r>
              <a:rPr lang="en-US" sz="1650" dirty="0">
                <a:latin typeface="Nunito"/>
              </a:rPr>
              <a:t>. Here's a simplified outline of how you might implement a </a:t>
            </a:r>
            <a:r>
              <a:rPr lang="en-US" sz="1650" dirty="0" err="1">
                <a:latin typeface="Nunito"/>
              </a:rPr>
              <a:t>blockchain</a:t>
            </a:r>
            <a:r>
              <a:rPr lang="en-US" sz="1650" dirty="0">
                <a:latin typeface="Nunito"/>
              </a:rPr>
              <a:t> using a linked list:</a:t>
            </a:r>
          </a:p>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Define Block Structure</a:t>
            </a:r>
            <a:r>
              <a:rPr lang="en-US" sz="1650" dirty="0">
                <a:latin typeface="Nunito"/>
              </a:rPr>
              <a:t>: Create a data structure to represent each block in the </a:t>
            </a:r>
            <a:r>
              <a:rPr lang="en-US" sz="1650" dirty="0" err="1">
                <a:latin typeface="Nunito"/>
              </a:rPr>
              <a:t>blockchain</a:t>
            </a:r>
            <a:r>
              <a:rPr lang="en-US" sz="1650" dirty="0">
                <a:latin typeface="Nunito"/>
              </a:rPr>
              <a:t>. Each block should contain data (transactions), a timestamp, a nonce (for Proof of Work), and a reference to the previous block's hash.</a:t>
            </a:r>
          </a:p>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Create Linked List Nodes</a:t>
            </a:r>
            <a:r>
              <a:rPr lang="en-US" sz="1650" dirty="0">
                <a:latin typeface="Nunito"/>
              </a:rPr>
              <a:t>: Use a linked list node structure to represent each block in the chain. Each node should contain the block data and a reference to the next node (block) in the chain.</a:t>
            </a:r>
          </a:p>
          <a:p>
            <a:pPr algn="just"/>
            <a:endParaRPr lang="en-US" sz="1650" dirty="0">
              <a:latin typeface="Nunito"/>
            </a:endParaRPr>
          </a:p>
        </p:txBody>
      </p:sp>
    </p:spTree>
    <p:extLst>
      <p:ext uri="{BB962C8B-B14F-4D97-AF65-F5344CB8AC3E}">
        <p14:creationId xmlns:p14="http://schemas.microsoft.com/office/powerpoint/2010/main" val="2956113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8" name="Google Shape;48;p2"/>
          <p:cNvSpPr txBox="1">
            <a:spLocks noGrp="1"/>
          </p:cNvSpPr>
          <p:nvPr>
            <p:ph type="title" idx="4294967295"/>
          </p:nvPr>
        </p:nvSpPr>
        <p:spPr>
          <a:xfrm>
            <a:off x="0" y="663864"/>
            <a:ext cx="7756525" cy="573088"/>
          </a:xfrm>
          <a:prstGeom prst="rect">
            <a:avLst/>
          </a:prstGeom>
          <a:noFill/>
          <a:ln>
            <a:noFill/>
          </a:ln>
        </p:spPr>
        <p:txBody>
          <a:bodyPr spcFirstLastPara="1" wrap="square" lIns="68569" tIns="34275" rIns="68569" bIns="34275" anchor="ctr" anchorCtr="0">
            <a:noAutofit/>
          </a:bodyPr>
          <a:lstStyle/>
          <a:p>
            <a:pPr algn="l"/>
            <a:r>
              <a:rPr lang="en-US" sz="2400" b="1" dirty="0"/>
              <a:t>Similarities between Block chain and Linked list and Implementing a </a:t>
            </a:r>
            <a:r>
              <a:rPr lang="en-US" sz="2400" b="1" dirty="0" err="1"/>
              <a:t>blockchain</a:t>
            </a:r>
            <a:r>
              <a:rPr lang="en-US" sz="2400" b="1" dirty="0"/>
              <a:t> from Linked list</a:t>
            </a:r>
          </a:p>
        </p:txBody>
      </p:sp>
      <p:sp>
        <p:nvSpPr>
          <p:cNvPr id="4" name="Rectangle 3"/>
          <p:cNvSpPr/>
          <p:nvPr/>
        </p:nvSpPr>
        <p:spPr>
          <a:xfrm>
            <a:off x="457571" y="1741224"/>
            <a:ext cx="7423609" cy="3647152"/>
          </a:xfrm>
          <a:prstGeom prst="rect">
            <a:avLst/>
          </a:prstGeom>
        </p:spPr>
        <p:txBody>
          <a:bodyPr wrap="square">
            <a:spAutoFit/>
          </a:bodyPr>
          <a:lstStyle/>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Implement Insertion Operation</a:t>
            </a:r>
            <a:r>
              <a:rPr lang="en-US" sz="1650" dirty="0">
                <a:latin typeface="Nunito"/>
              </a:rPr>
              <a:t>: Define functions to add new blocks to the blockchain. When adding a new block, calculate its hash and set it as the reference to the previous block's hash. Insert the new block node into the linked list.</a:t>
            </a:r>
          </a:p>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Implement Traversal Operation</a:t>
            </a:r>
            <a:r>
              <a:rPr lang="en-US" sz="1650" dirty="0">
                <a:latin typeface="Nunito"/>
              </a:rPr>
              <a:t>: Define functions to traverse the </a:t>
            </a:r>
            <a:r>
              <a:rPr lang="en-US" sz="1650" dirty="0" err="1">
                <a:latin typeface="Nunito"/>
              </a:rPr>
              <a:t>blockchain</a:t>
            </a:r>
            <a:r>
              <a:rPr lang="en-US" sz="1650" dirty="0">
                <a:latin typeface="Nunito"/>
              </a:rPr>
              <a:t> by iterating through the linked list nodes. Start from the genesis block (the first block in the chain) and follow the references to subsequent blocks.</a:t>
            </a:r>
          </a:p>
          <a:p>
            <a:pPr algn="just"/>
            <a:endParaRPr lang="en-US" sz="1650" dirty="0">
              <a:latin typeface="Nunito"/>
            </a:endParaRPr>
          </a:p>
          <a:p>
            <a:pPr marL="257175" indent="-257175" algn="just">
              <a:buFont typeface="Arial" panose="020B0604020202020204" pitchFamily="34" charset="0"/>
              <a:buChar char="•"/>
            </a:pPr>
            <a:r>
              <a:rPr lang="en-US" sz="1650" b="1" dirty="0">
                <a:latin typeface="Nunito"/>
              </a:rPr>
              <a:t>Ensure Data Integrity</a:t>
            </a:r>
            <a:r>
              <a:rPr lang="en-US" sz="1650" dirty="0">
                <a:latin typeface="Nunito"/>
              </a:rPr>
              <a:t>: Use cryptographic hashing to ensure data integrity and chain validity. Verify that each block's hash matches the hash of the previous block, indicating that the chain has not been tampered with.</a:t>
            </a:r>
          </a:p>
        </p:txBody>
      </p:sp>
    </p:spTree>
    <p:extLst>
      <p:ext uri="{BB962C8B-B14F-4D97-AF65-F5344CB8AC3E}">
        <p14:creationId xmlns:p14="http://schemas.microsoft.com/office/powerpoint/2010/main" val="1890387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34700" y="2127885"/>
            <a:ext cx="7498080" cy="1920240"/>
          </a:xfrm>
          <a:prstGeom prst="rect">
            <a:avLst/>
          </a:prstGeom>
          <a:noFill/>
          <a:ln/>
        </p:spPr>
        <p:txBody>
          <a:bodyPr wrap="square" rtlCol="0" anchor="ctr"/>
          <a:lstStyle/>
          <a:p>
            <a:r>
              <a:rPr lang="en-US" sz="5200" dirty="0">
                <a:solidFill>
                  <a:schemeClr val="accent1">
                    <a:lumMod val="75000"/>
                  </a:schemeClr>
                </a:solidFill>
                <a:latin typeface="Cambria" pitchFamily="34" charset="0"/>
                <a:ea typeface="Cambria" pitchFamily="34" charset="-122"/>
                <a:cs typeface="Cambria" pitchFamily="34" charset="-120"/>
              </a:rPr>
              <a:t>What are</a:t>
            </a:r>
            <a:endParaRPr lang="en-US" sz="5200" dirty="0">
              <a:solidFill>
                <a:schemeClr val="accent1">
                  <a:lumMod val="75000"/>
                </a:schemeClr>
              </a:solidFill>
            </a:endParaRPr>
          </a:p>
          <a:p>
            <a:r>
              <a:rPr lang="en-US" sz="5200" dirty="0">
                <a:solidFill>
                  <a:schemeClr val="accent1">
                    <a:lumMod val="75000"/>
                  </a:schemeClr>
                </a:solidFill>
                <a:latin typeface="Cambria" pitchFamily="34" charset="0"/>
                <a:ea typeface="Cambria" pitchFamily="34" charset="-122"/>
                <a:cs typeface="Cambria" pitchFamily="34" charset="-120"/>
              </a:rPr>
              <a:t>Nodes?</a:t>
            </a:r>
            <a:endParaRPr lang="en-US" sz="5200" dirty="0">
              <a:solidFill>
                <a:schemeClr val="accent1">
                  <a:lumMod val="75000"/>
                </a:schemeClr>
              </a:solidFill>
            </a:endParaRPr>
          </a:p>
        </p:txBody>
      </p:sp>
      <p:sp>
        <p:nvSpPr>
          <p:cNvPr id="5" name="Shape 3"/>
          <p:cNvSpPr/>
          <p:nvPr/>
        </p:nvSpPr>
        <p:spPr>
          <a:xfrm>
            <a:off x="822960" y="4262045"/>
            <a:ext cx="1371600" cy="54864"/>
          </a:xfrm>
          <a:prstGeom prst="rect">
            <a:avLst/>
          </a:prstGeom>
          <a:solidFill>
            <a:srgbClr val="FFB300"/>
          </a:solidFill>
          <a:ln w="12700">
            <a:solidFill>
              <a:srgbClr val="FFB300"/>
            </a:solidFill>
            <a:prstDash val="solid"/>
          </a:ln>
        </p:spPr>
        <p:txBody>
          <a:bodyPr/>
          <a:lstStyle/>
          <a:p>
            <a:endParaRPr lang="en-US"/>
          </a:p>
        </p:txBody>
      </p:sp>
      <p:sp>
        <p:nvSpPr>
          <p:cNvPr id="6" name="Text 4"/>
          <p:cNvSpPr/>
          <p:nvPr/>
        </p:nvSpPr>
        <p:spPr>
          <a:xfrm>
            <a:off x="822960" y="4629150"/>
            <a:ext cx="7498080" cy="502920"/>
          </a:xfrm>
          <a:prstGeom prst="rect">
            <a:avLst/>
          </a:prstGeom>
          <a:noFill/>
          <a:ln/>
        </p:spPr>
        <p:txBody>
          <a:bodyPr wrap="square" rtlCol="0" anchor="ctr"/>
          <a:lstStyle/>
          <a:p>
            <a:r>
              <a:rPr lang="en-US" sz="2000" b="1" i="1" dirty="0">
                <a:solidFill>
                  <a:srgbClr val="80CBC4"/>
                </a:solidFill>
                <a:latin typeface="Times New Roman" panose="02020603050405020304" pitchFamily="18" charset="0"/>
                <a:ea typeface="Calibri" pitchFamily="34" charset="-122"/>
                <a:cs typeface="Times New Roman" panose="02020603050405020304" pitchFamily="18" charset="0"/>
              </a:rPr>
              <a:t>"</a:t>
            </a:r>
            <a:r>
              <a:rPr lang="en-US" sz="2000" b="1" i="1" dirty="0">
                <a:solidFill>
                  <a:schemeClr val="tx1"/>
                </a:solidFill>
                <a:latin typeface="Times New Roman" panose="02020603050405020304" pitchFamily="18" charset="0"/>
                <a:ea typeface="Calibri" pitchFamily="34" charset="-122"/>
                <a:cs typeface="Times New Roman" panose="02020603050405020304" pitchFamily="18" charset="0"/>
              </a:rPr>
              <a:t>Every participant in the blockchain network is called a node."</a:t>
            </a:r>
            <a:endParaRPr lang="en-US" sz="2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63474"/>
            <a:ext cx="8229600" cy="548640"/>
          </a:xfrm>
          <a:prstGeom prst="rect">
            <a:avLst/>
          </a:prstGeom>
          <a:noFill/>
          <a:ln/>
        </p:spPr>
        <p:txBody>
          <a:bodyPr wrap="square" rtlCol="0" anchor="ctr"/>
          <a:lstStyle/>
          <a:p>
            <a:r>
              <a:rPr lang="en-US" sz="3000" b="1" dirty="0">
                <a:solidFill>
                  <a:srgbClr val="0D1B2A"/>
                </a:solidFill>
                <a:latin typeface="Cambria" pitchFamily="34" charset="0"/>
                <a:ea typeface="Cambria" pitchFamily="34" charset="-122"/>
                <a:cs typeface="Cambria" pitchFamily="34" charset="-120"/>
              </a:rPr>
              <a:t>What are Nodes?</a:t>
            </a:r>
            <a:endParaRPr lang="en-US" sz="3000" dirty="0"/>
          </a:p>
        </p:txBody>
      </p:sp>
      <p:sp>
        <p:nvSpPr>
          <p:cNvPr id="3" name="Shape 1"/>
          <p:cNvSpPr/>
          <p:nvPr/>
        </p:nvSpPr>
        <p:spPr>
          <a:xfrm>
            <a:off x="457200" y="1625346"/>
            <a:ext cx="2011680" cy="54864"/>
          </a:xfrm>
          <a:prstGeom prst="rect">
            <a:avLst/>
          </a:prstGeom>
          <a:solidFill>
            <a:srgbClr val="00897B"/>
          </a:solidFill>
          <a:ln w="12700">
            <a:solidFill>
              <a:srgbClr val="00897B"/>
            </a:solidFill>
            <a:prstDash val="solid"/>
          </a:ln>
        </p:spPr>
        <p:txBody>
          <a:bodyPr/>
          <a:lstStyle/>
          <a:p>
            <a:endParaRPr lang="en-US"/>
          </a:p>
        </p:txBody>
      </p:sp>
      <p:sp>
        <p:nvSpPr>
          <p:cNvPr id="4" name="Shape 2"/>
          <p:cNvSpPr/>
          <p:nvPr/>
        </p:nvSpPr>
        <p:spPr>
          <a:xfrm>
            <a:off x="457200" y="1771650"/>
            <a:ext cx="5120640" cy="1143000"/>
          </a:xfrm>
          <a:prstGeom prst="roundRect">
            <a:avLst>
              <a:gd name="adj" fmla="val 6400"/>
            </a:avLst>
          </a:prstGeom>
          <a:solidFill>
            <a:srgbClr val="E0F2F1"/>
          </a:solidFill>
          <a:ln w="1905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640080" y="1826514"/>
            <a:ext cx="4754880" cy="1051560"/>
          </a:xfrm>
          <a:prstGeom prst="rect">
            <a:avLst/>
          </a:prstGeom>
          <a:noFill/>
          <a:ln/>
        </p:spPr>
        <p:txBody>
          <a:bodyPr wrap="square" rtlCol="0" anchor="ctr"/>
          <a:lstStyle/>
          <a:p>
            <a:r>
              <a:rPr lang="en-US" sz="1300" b="1" dirty="0">
                <a:solidFill>
                  <a:srgbClr val="00897B"/>
                </a:solidFill>
                <a:latin typeface="Calibri" pitchFamily="34" charset="0"/>
                <a:ea typeface="Calibri" pitchFamily="34" charset="-122"/>
                <a:cs typeface="Calibri" pitchFamily="34" charset="-120"/>
              </a:rPr>
              <a:t>Definition
</a:t>
            </a:r>
            <a:r>
              <a:rPr lang="en-US" sz="1300" dirty="0">
                <a:solidFill>
                  <a:srgbClr val="0D1B2A"/>
                </a:solidFill>
                <a:latin typeface="Calibri" pitchFamily="34" charset="0"/>
                <a:ea typeface="Calibri" pitchFamily="34" charset="-122"/>
                <a:cs typeface="Calibri" pitchFamily="34" charset="-120"/>
              </a:rPr>
              <a:t>A </a:t>
            </a:r>
            <a:r>
              <a:rPr lang="en-US" sz="1300" b="1" dirty="0">
                <a:solidFill>
                  <a:srgbClr val="00897B"/>
                </a:solidFill>
                <a:latin typeface="Calibri" pitchFamily="34" charset="0"/>
                <a:ea typeface="Calibri" pitchFamily="34" charset="-122"/>
                <a:cs typeface="Calibri" pitchFamily="34" charset="-120"/>
              </a:rPr>
              <a:t>node</a:t>
            </a:r>
            <a:r>
              <a:rPr lang="en-US" sz="1300" dirty="0">
                <a:solidFill>
                  <a:srgbClr val="0D1B2A"/>
                </a:solidFill>
                <a:latin typeface="Calibri" pitchFamily="34" charset="0"/>
                <a:ea typeface="Calibri" pitchFamily="34" charset="-122"/>
                <a:cs typeface="Calibri" pitchFamily="34" charset="-120"/>
              </a:rPr>
              <a:t> is any computer (or device) connected to a blockchain network. Nodes store a </a:t>
            </a:r>
            <a:r>
              <a:rPr lang="en-US" sz="1300" b="1" dirty="0">
                <a:solidFill>
                  <a:srgbClr val="00897B"/>
                </a:solidFill>
                <a:latin typeface="Calibri" pitchFamily="34" charset="0"/>
                <a:ea typeface="Calibri" pitchFamily="34" charset="-122"/>
                <a:cs typeface="Calibri" pitchFamily="34" charset="-120"/>
              </a:rPr>
              <a:t>copy of the entire blockchain</a:t>
            </a:r>
            <a:r>
              <a:rPr lang="en-US" sz="1300" dirty="0">
                <a:solidFill>
                  <a:srgbClr val="0D1B2A"/>
                </a:solidFill>
                <a:latin typeface="Calibri" pitchFamily="34" charset="0"/>
                <a:ea typeface="Calibri" pitchFamily="34" charset="-122"/>
                <a:cs typeface="Calibri" pitchFamily="34" charset="-120"/>
              </a:rPr>
              <a:t>, validate new transactions, and maintain the network's integrity.</a:t>
            </a:r>
            <a:endParaRPr lang="en-US" sz="1300" dirty="0"/>
          </a:p>
        </p:txBody>
      </p:sp>
      <p:sp>
        <p:nvSpPr>
          <p:cNvPr id="6" name="Shape 4"/>
          <p:cNvSpPr/>
          <p:nvPr/>
        </p:nvSpPr>
        <p:spPr>
          <a:xfrm>
            <a:off x="7498080" y="3280410"/>
            <a:ext cx="0" cy="0"/>
          </a:xfrm>
          <a:prstGeom prst="line">
            <a:avLst/>
          </a:prstGeom>
          <a:noFill/>
          <a:ln w="12700">
            <a:solidFill>
              <a:srgbClr val="00897B"/>
            </a:solidFill>
            <a:prstDash val="dash"/>
          </a:ln>
        </p:spPr>
        <p:txBody>
          <a:bodyPr/>
          <a:lstStyle/>
          <a:p>
            <a:endParaRPr lang="en-US"/>
          </a:p>
        </p:txBody>
      </p:sp>
      <p:sp>
        <p:nvSpPr>
          <p:cNvPr id="7" name="Shape 5"/>
          <p:cNvSpPr/>
          <p:nvPr/>
        </p:nvSpPr>
        <p:spPr>
          <a:xfrm>
            <a:off x="7498080" y="3280410"/>
            <a:ext cx="822960" cy="0"/>
          </a:xfrm>
          <a:prstGeom prst="line">
            <a:avLst/>
          </a:prstGeom>
          <a:noFill/>
          <a:ln w="12700">
            <a:solidFill>
              <a:srgbClr val="00897B"/>
            </a:solidFill>
            <a:prstDash val="dash"/>
          </a:ln>
        </p:spPr>
        <p:txBody>
          <a:bodyPr/>
          <a:lstStyle/>
          <a:p>
            <a:endParaRPr lang="en-US"/>
          </a:p>
        </p:txBody>
      </p:sp>
      <p:sp>
        <p:nvSpPr>
          <p:cNvPr id="8" name="Shape 6"/>
          <p:cNvSpPr/>
          <p:nvPr/>
        </p:nvSpPr>
        <p:spPr>
          <a:xfrm>
            <a:off x="7498080" y="3280410"/>
            <a:ext cx="822960" cy="411480"/>
          </a:xfrm>
          <a:prstGeom prst="line">
            <a:avLst/>
          </a:prstGeom>
          <a:noFill/>
          <a:ln w="12700">
            <a:solidFill>
              <a:srgbClr val="00897B"/>
            </a:solidFill>
            <a:prstDash val="dash"/>
          </a:ln>
        </p:spPr>
        <p:txBody>
          <a:bodyPr/>
          <a:lstStyle/>
          <a:p>
            <a:endParaRPr lang="en-US"/>
          </a:p>
        </p:txBody>
      </p:sp>
      <p:sp>
        <p:nvSpPr>
          <p:cNvPr id="9" name="Shape 7"/>
          <p:cNvSpPr/>
          <p:nvPr/>
        </p:nvSpPr>
        <p:spPr>
          <a:xfrm>
            <a:off x="7498080" y="3280410"/>
            <a:ext cx="0" cy="914400"/>
          </a:xfrm>
          <a:prstGeom prst="line">
            <a:avLst/>
          </a:prstGeom>
          <a:noFill/>
          <a:ln w="12700">
            <a:solidFill>
              <a:srgbClr val="00897B"/>
            </a:solidFill>
            <a:prstDash val="dash"/>
          </a:ln>
        </p:spPr>
        <p:txBody>
          <a:bodyPr/>
          <a:lstStyle/>
          <a:p>
            <a:endParaRPr lang="en-US"/>
          </a:p>
        </p:txBody>
      </p:sp>
      <p:sp>
        <p:nvSpPr>
          <p:cNvPr id="10" name="Shape 8"/>
          <p:cNvSpPr/>
          <p:nvPr/>
        </p:nvSpPr>
        <p:spPr>
          <a:xfrm>
            <a:off x="7498080" y="3280410"/>
            <a:ext cx="0" cy="411480"/>
          </a:xfrm>
          <a:prstGeom prst="line">
            <a:avLst/>
          </a:prstGeom>
          <a:noFill/>
          <a:ln w="12700">
            <a:solidFill>
              <a:srgbClr val="00897B"/>
            </a:solidFill>
            <a:prstDash val="dash"/>
          </a:ln>
        </p:spPr>
        <p:txBody>
          <a:bodyPr/>
          <a:lstStyle/>
          <a:p>
            <a:endParaRPr lang="en-US"/>
          </a:p>
        </p:txBody>
      </p:sp>
      <p:sp>
        <p:nvSpPr>
          <p:cNvPr id="11" name="Shape 9"/>
          <p:cNvSpPr/>
          <p:nvPr/>
        </p:nvSpPr>
        <p:spPr>
          <a:xfrm>
            <a:off x="7498080" y="3280410"/>
            <a:ext cx="0" cy="0"/>
          </a:xfrm>
          <a:prstGeom prst="line">
            <a:avLst/>
          </a:prstGeom>
          <a:noFill/>
          <a:ln w="12700">
            <a:solidFill>
              <a:srgbClr val="00897B"/>
            </a:solidFill>
            <a:prstDash val="dash"/>
          </a:ln>
        </p:spPr>
        <p:txBody>
          <a:bodyPr/>
          <a:lstStyle/>
          <a:p>
            <a:endParaRPr lang="en-US"/>
          </a:p>
        </p:txBody>
      </p:sp>
      <p:sp>
        <p:nvSpPr>
          <p:cNvPr id="12" name="Shape 10"/>
          <p:cNvSpPr/>
          <p:nvPr/>
        </p:nvSpPr>
        <p:spPr>
          <a:xfrm>
            <a:off x="7269480" y="3006090"/>
            <a:ext cx="457200" cy="457200"/>
          </a:xfrm>
          <a:prstGeom prst="ellipse">
            <a:avLst/>
          </a:prstGeom>
          <a:solidFill>
            <a:srgbClr val="1565C0"/>
          </a:solidFill>
          <a:ln w="19050">
            <a:solidFill>
              <a:srgbClr val="00BCD4"/>
            </a:solidFill>
            <a:prstDash val="solid"/>
          </a:ln>
        </p:spPr>
        <p:txBody>
          <a:bodyPr/>
          <a:lstStyle/>
          <a:p>
            <a:endParaRPr lang="en-US"/>
          </a:p>
        </p:txBody>
      </p:sp>
      <p:sp>
        <p:nvSpPr>
          <p:cNvPr id="13" name="Text 11"/>
          <p:cNvSpPr/>
          <p:nvPr/>
        </p:nvSpPr>
        <p:spPr>
          <a:xfrm>
            <a:off x="7223760" y="3490722"/>
            <a:ext cx="548640" cy="256032"/>
          </a:xfrm>
          <a:prstGeom prst="rect">
            <a:avLst/>
          </a:prstGeom>
          <a:noFill/>
          <a:ln/>
        </p:spPr>
        <p:txBody>
          <a:bodyPr wrap="square" rtlCol="0" anchor="ctr"/>
          <a:lstStyle/>
          <a:p>
            <a:pPr algn="ctr"/>
            <a:r>
              <a:rPr lang="en-US" sz="900" dirty="0">
                <a:solidFill>
                  <a:srgbClr val="546E7A"/>
                </a:solidFill>
              </a:rPr>
              <a:t>Node</a:t>
            </a:r>
            <a:endParaRPr lang="en-US" sz="900" dirty="0"/>
          </a:p>
        </p:txBody>
      </p:sp>
      <p:sp>
        <p:nvSpPr>
          <p:cNvPr id="14" name="Shape 12"/>
          <p:cNvSpPr/>
          <p:nvPr/>
        </p:nvSpPr>
        <p:spPr>
          <a:xfrm>
            <a:off x="7269480" y="2091690"/>
            <a:ext cx="411480" cy="411480"/>
          </a:xfrm>
          <a:prstGeom prst="ellipse">
            <a:avLst/>
          </a:prstGeom>
          <a:solidFill>
            <a:srgbClr val="00897B"/>
          </a:solidFill>
          <a:ln w="12700">
            <a:solidFill>
              <a:srgbClr val="00BCD4"/>
            </a:solidFill>
            <a:prstDash val="solid"/>
          </a:ln>
        </p:spPr>
        <p:txBody>
          <a:bodyPr/>
          <a:lstStyle/>
          <a:p>
            <a:endParaRPr lang="en-US"/>
          </a:p>
        </p:txBody>
      </p:sp>
      <p:sp>
        <p:nvSpPr>
          <p:cNvPr id="15" name="Text 13"/>
          <p:cNvSpPr/>
          <p:nvPr/>
        </p:nvSpPr>
        <p:spPr>
          <a:xfrm>
            <a:off x="7269480" y="2091690"/>
            <a:ext cx="411480" cy="411480"/>
          </a:xfrm>
          <a:prstGeom prst="rect">
            <a:avLst/>
          </a:prstGeom>
          <a:noFill/>
          <a:ln/>
        </p:spPr>
        <p:txBody>
          <a:bodyPr wrap="square" lIns="0" tIns="0" rIns="0" bIns="0" rtlCol="0" anchor="ctr"/>
          <a:lstStyle/>
          <a:p>
            <a:pPr algn="ctr"/>
            <a:r>
              <a:rPr lang="en-US" sz="900" b="1" dirty="0">
                <a:solidFill>
                  <a:srgbClr val="FFFFFF"/>
                </a:solidFill>
              </a:rPr>
              <a:t>N1</a:t>
            </a:r>
            <a:endParaRPr lang="en-US" sz="900" dirty="0"/>
          </a:p>
        </p:txBody>
      </p:sp>
      <p:sp>
        <p:nvSpPr>
          <p:cNvPr id="16" name="Shape 14"/>
          <p:cNvSpPr/>
          <p:nvPr/>
        </p:nvSpPr>
        <p:spPr>
          <a:xfrm>
            <a:off x="8092440" y="2594610"/>
            <a:ext cx="411480" cy="411480"/>
          </a:xfrm>
          <a:prstGeom prst="ellipse">
            <a:avLst/>
          </a:prstGeom>
          <a:solidFill>
            <a:srgbClr val="00897B"/>
          </a:solidFill>
          <a:ln w="12700">
            <a:solidFill>
              <a:srgbClr val="00BCD4"/>
            </a:solidFill>
            <a:prstDash val="solid"/>
          </a:ln>
        </p:spPr>
        <p:txBody>
          <a:bodyPr/>
          <a:lstStyle/>
          <a:p>
            <a:endParaRPr lang="en-US"/>
          </a:p>
        </p:txBody>
      </p:sp>
      <p:sp>
        <p:nvSpPr>
          <p:cNvPr id="17" name="Text 15"/>
          <p:cNvSpPr/>
          <p:nvPr/>
        </p:nvSpPr>
        <p:spPr>
          <a:xfrm>
            <a:off x="8092440" y="2594610"/>
            <a:ext cx="411480" cy="411480"/>
          </a:xfrm>
          <a:prstGeom prst="rect">
            <a:avLst/>
          </a:prstGeom>
          <a:noFill/>
          <a:ln/>
        </p:spPr>
        <p:txBody>
          <a:bodyPr wrap="square" lIns="0" tIns="0" rIns="0" bIns="0" rtlCol="0" anchor="ctr"/>
          <a:lstStyle/>
          <a:p>
            <a:pPr algn="ctr"/>
            <a:r>
              <a:rPr lang="en-US" sz="900" b="1" dirty="0">
                <a:solidFill>
                  <a:srgbClr val="FFFFFF"/>
                </a:solidFill>
              </a:rPr>
              <a:t>N2</a:t>
            </a:r>
            <a:endParaRPr lang="en-US" sz="900" dirty="0"/>
          </a:p>
        </p:txBody>
      </p:sp>
      <p:sp>
        <p:nvSpPr>
          <p:cNvPr id="18" name="Shape 16"/>
          <p:cNvSpPr/>
          <p:nvPr/>
        </p:nvSpPr>
        <p:spPr>
          <a:xfrm>
            <a:off x="8092440" y="3417570"/>
            <a:ext cx="411480" cy="411480"/>
          </a:xfrm>
          <a:prstGeom prst="ellipse">
            <a:avLst/>
          </a:prstGeom>
          <a:solidFill>
            <a:srgbClr val="00897B"/>
          </a:solidFill>
          <a:ln w="12700">
            <a:solidFill>
              <a:srgbClr val="00BCD4"/>
            </a:solidFill>
            <a:prstDash val="solid"/>
          </a:ln>
        </p:spPr>
        <p:txBody>
          <a:bodyPr/>
          <a:lstStyle/>
          <a:p>
            <a:endParaRPr lang="en-US"/>
          </a:p>
        </p:txBody>
      </p:sp>
      <p:sp>
        <p:nvSpPr>
          <p:cNvPr id="19" name="Text 17"/>
          <p:cNvSpPr/>
          <p:nvPr/>
        </p:nvSpPr>
        <p:spPr>
          <a:xfrm>
            <a:off x="8092440" y="3417570"/>
            <a:ext cx="411480" cy="411480"/>
          </a:xfrm>
          <a:prstGeom prst="rect">
            <a:avLst/>
          </a:prstGeom>
          <a:noFill/>
          <a:ln/>
        </p:spPr>
        <p:txBody>
          <a:bodyPr wrap="square" lIns="0" tIns="0" rIns="0" bIns="0" rtlCol="0" anchor="ctr"/>
          <a:lstStyle/>
          <a:p>
            <a:pPr algn="ctr"/>
            <a:r>
              <a:rPr lang="en-US" sz="900" b="1" dirty="0">
                <a:solidFill>
                  <a:srgbClr val="FFFFFF"/>
                </a:solidFill>
              </a:rPr>
              <a:t>N3</a:t>
            </a:r>
            <a:endParaRPr lang="en-US" sz="900" dirty="0"/>
          </a:p>
        </p:txBody>
      </p:sp>
      <p:sp>
        <p:nvSpPr>
          <p:cNvPr id="20" name="Shape 18"/>
          <p:cNvSpPr/>
          <p:nvPr/>
        </p:nvSpPr>
        <p:spPr>
          <a:xfrm>
            <a:off x="7269480" y="3920490"/>
            <a:ext cx="411480" cy="411480"/>
          </a:xfrm>
          <a:prstGeom prst="ellipse">
            <a:avLst/>
          </a:prstGeom>
          <a:solidFill>
            <a:srgbClr val="00897B"/>
          </a:solidFill>
          <a:ln w="12700">
            <a:solidFill>
              <a:srgbClr val="00BCD4"/>
            </a:solidFill>
            <a:prstDash val="solid"/>
          </a:ln>
        </p:spPr>
        <p:txBody>
          <a:bodyPr/>
          <a:lstStyle/>
          <a:p>
            <a:endParaRPr lang="en-US"/>
          </a:p>
        </p:txBody>
      </p:sp>
      <p:sp>
        <p:nvSpPr>
          <p:cNvPr id="21" name="Text 19"/>
          <p:cNvSpPr/>
          <p:nvPr/>
        </p:nvSpPr>
        <p:spPr>
          <a:xfrm>
            <a:off x="7269480" y="3920490"/>
            <a:ext cx="411480" cy="411480"/>
          </a:xfrm>
          <a:prstGeom prst="rect">
            <a:avLst/>
          </a:prstGeom>
          <a:noFill/>
          <a:ln/>
        </p:spPr>
        <p:txBody>
          <a:bodyPr wrap="square" lIns="0" tIns="0" rIns="0" bIns="0" rtlCol="0" anchor="ctr"/>
          <a:lstStyle/>
          <a:p>
            <a:pPr algn="ctr"/>
            <a:r>
              <a:rPr lang="en-US" sz="900" b="1" dirty="0">
                <a:solidFill>
                  <a:srgbClr val="FFFFFF"/>
                </a:solidFill>
              </a:rPr>
              <a:t>N4</a:t>
            </a:r>
            <a:endParaRPr lang="en-US" sz="900" dirty="0"/>
          </a:p>
        </p:txBody>
      </p:sp>
      <p:sp>
        <p:nvSpPr>
          <p:cNvPr id="22" name="Shape 20"/>
          <p:cNvSpPr/>
          <p:nvPr/>
        </p:nvSpPr>
        <p:spPr>
          <a:xfrm>
            <a:off x="6446520" y="3417570"/>
            <a:ext cx="411480" cy="411480"/>
          </a:xfrm>
          <a:prstGeom prst="ellipse">
            <a:avLst/>
          </a:prstGeom>
          <a:solidFill>
            <a:srgbClr val="00897B"/>
          </a:solidFill>
          <a:ln w="12700">
            <a:solidFill>
              <a:srgbClr val="00BCD4"/>
            </a:solidFill>
            <a:prstDash val="solid"/>
          </a:ln>
        </p:spPr>
        <p:txBody>
          <a:bodyPr/>
          <a:lstStyle/>
          <a:p>
            <a:endParaRPr lang="en-US"/>
          </a:p>
        </p:txBody>
      </p:sp>
      <p:sp>
        <p:nvSpPr>
          <p:cNvPr id="23" name="Text 21"/>
          <p:cNvSpPr/>
          <p:nvPr/>
        </p:nvSpPr>
        <p:spPr>
          <a:xfrm>
            <a:off x="6446520" y="3417570"/>
            <a:ext cx="411480" cy="411480"/>
          </a:xfrm>
          <a:prstGeom prst="rect">
            <a:avLst/>
          </a:prstGeom>
          <a:noFill/>
          <a:ln/>
        </p:spPr>
        <p:txBody>
          <a:bodyPr wrap="square" lIns="0" tIns="0" rIns="0" bIns="0" rtlCol="0" anchor="ctr"/>
          <a:lstStyle/>
          <a:p>
            <a:pPr algn="ctr"/>
            <a:r>
              <a:rPr lang="en-US" sz="900" b="1" dirty="0">
                <a:solidFill>
                  <a:srgbClr val="FFFFFF"/>
                </a:solidFill>
              </a:rPr>
              <a:t>N5</a:t>
            </a:r>
            <a:endParaRPr lang="en-US" sz="900" dirty="0"/>
          </a:p>
        </p:txBody>
      </p:sp>
      <p:sp>
        <p:nvSpPr>
          <p:cNvPr id="24" name="Shape 22"/>
          <p:cNvSpPr/>
          <p:nvPr/>
        </p:nvSpPr>
        <p:spPr>
          <a:xfrm>
            <a:off x="6446520" y="2594610"/>
            <a:ext cx="411480" cy="411480"/>
          </a:xfrm>
          <a:prstGeom prst="ellipse">
            <a:avLst/>
          </a:prstGeom>
          <a:solidFill>
            <a:srgbClr val="00897B"/>
          </a:solidFill>
          <a:ln w="12700">
            <a:solidFill>
              <a:srgbClr val="00BCD4"/>
            </a:solidFill>
            <a:prstDash val="solid"/>
          </a:ln>
        </p:spPr>
        <p:txBody>
          <a:bodyPr/>
          <a:lstStyle/>
          <a:p>
            <a:endParaRPr lang="en-US"/>
          </a:p>
        </p:txBody>
      </p:sp>
      <p:sp>
        <p:nvSpPr>
          <p:cNvPr id="25" name="Text 23"/>
          <p:cNvSpPr/>
          <p:nvPr/>
        </p:nvSpPr>
        <p:spPr>
          <a:xfrm>
            <a:off x="6446520" y="2594610"/>
            <a:ext cx="411480" cy="411480"/>
          </a:xfrm>
          <a:prstGeom prst="rect">
            <a:avLst/>
          </a:prstGeom>
          <a:noFill/>
          <a:ln/>
        </p:spPr>
        <p:txBody>
          <a:bodyPr wrap="square" lIns="0" tIns="0" rIns="0" bIns="0" rtlCol="0" anchor="ctr"/>
          <a:lstStyle/>
          <a:p>
            <a:pPr algn="ctr"/>
            <a:r>
              <a:rPr lang="en-US" sz="900" b="1" dirty="0">
                <a:solidFill>
                  <a:srgbClr val="FFFFFF"/>
                </a:solidFill>
              </a:rPr>
              <a:t>N6</a:t>
            </a:r>
            <a:endParaRPr lang="en-US" sz="900" dirty="0"/>
          </a:p>
        </p:txBody>
      </p:sp>
      <p:sp>
        <p:nvSpPr>
          <p:cNvPr id="26" name="Text 24"/>
          <p:cNvSpPr/>
          <p:nvPr/>
        </p:nvSpPr>
        <p:spPr>
          <a:xfrm>
            <a:off x="457200" y="3033522"/>
            <a:ext cx="5029200" cy="347472"/>
          </a:xfrm>
          <a:prstGeom prst="rect">
            <a:avLst/>
          </a:prstGeom>
          <a:noFill/>
          <a:ln/>
        </p:spPr>
        <p:txBody>
          <a:bodyPr wrap="square" rtlCol="0" anchor="ctr"/>
          <a:lstStyle/>
          <a:p>
            <a:r>
              <a:rPr lang="en-US" sz="1500" b="1" dirty="0">
                <a:solidFill>
                  <a:srgbClr val="0D1B2A"/>
                </a:solidFill>
                <a:latin typeface="Calibri" pitchFamily="34" charset="0"/>
                <a:ea typeface="Calibri" pitchFamily="34" charset="-122"/>
                <a:cs typeface="Calibri" pitchFamily="34" charset="-120"/>
              </a:rPr>
              <a:t>Types of Nodes</a:t>
            </a:r>
            <a:endParaRPr lang="en-US" sz="1500" dirty="0"/>
          </a:p>
        </p:txBody>
      </p:sp>
      <p:sp>
        <p:nvSpPr>
          <p:cNvPr id="27" name="Shape 25"/>
          <p:cNvSpPr/>
          <p:nvPr/>
        </p:nvSpPr>
        <p:spPr>
          <a:xfrm>
            <a:off x="457200" y="3554730"/>
            <a:ext cx="91440" cy="320040"/>
          </a:xfrm>
          <a:prstGeom prst="rect">
            <a:avLst/>
          </a:prstGeom>
          <a:solidFill>
            <a:srgbClr val="1565C0"/>
          </a:solidFill>
          <a:ln w="12700">
            <a:solidFill>
              <a:srgbClr val="1565C0"/>
            </a:solidFill>
            <a:prstDash val="solid"/>
          </a:ln>
        </p:spPr>
        <p:txBody>
          <a:bodyPr/>
          <a:lstStyle/>
          <a:p>
            <a:endParaRPr lang="en-US"/>
          </a:p>
        </p:txBody>
      </p:sp>
      <p:sp>
        <p:nvSpPr>
          <p:cNvPr id="28" name="Text 26"/>
          <p:cNvSpPr/>
          <p:nvPr/>
        </p:nvSpPr>
        <p:spPr>
          <a:xfrm>
            <a:off x="658368" y="3445002"/>
            <a:ext cx="4937760" cy="530352"/>
          </a:xfrm>
          <a:prstGeom prst="rect">
            <a:avLst/>
          </a:prstGeom>
          <a:noFill/>
          <a:ln/>
        </p:spPr>
        <p:txBody>
          <a:bodyPr wrap="square" rtlCol="0" anchor="ctr"/>
          <a:lstStyle/>
          <a:p>
            <a:r>
              <a:rPr lang="en-US" sz="1600" b="1" dirty="0">
                <a:solidFill>
                  <a:srgbClr val="1565C0"/>
                </a:solidFill>
                <a:latin typeface="Calibri" pitchFamily="34" charset="0"/>
                <a:ea typeface="Calibri" pitchFamily="34" charset="-122"/>
                <a:cs typeface="Calibri" pitchFamily="34" charset="-120"/>
              </a:rPr>
              <a:t>Full Node  </a:t>
            </a:r>
            <a:r>
              <a:rPr lang="en-US" sz="1600" dirty="0">
                <a:solidFill>
                  <a:srgbClr val="0D1B2A"/>
                </a:solidFill>
                <a:latin typeface="Calibri" pitchFamily="34" charset="0"/>
                <a:ea typeface="Calibri" pitchFamily="34" charset="-122"/>
                <a:cs typeface="Calibri" pitchFamily="34" charset="-120"/>
              </a:rPr>
              <a:t>Stores a complete copy of the blockchain. The backbone of security.</a:t>
            </a:r>
            <a:endParaRPr lang="en-US" sz="1600" dirty="0"/>
          </a:p>
        </p:txBody>
      </p:sp>
      <p:sp>
        <p:nvSpPr>
          <p:cNvPr id="29" name="Shape 27"/>
          <p:cNvSpPr/>
          <p:nvPr/>
        </p:nvSpPr>
        <p:spPr>
          <a:xfrm>
            <a:off x="457200" y="4149090"/>
            <a:ext cx="91440" cy="320040"/>
          </a:xfrm>
          <a:prstGeom prst="rect">
            <a:avLst/>
          </a:prstGeom>
          <a:solidFill>
            <a:srgbClr val="00897B"/>
          </a:solidFill>
          <a:ln w="12700">
            <a:solidFill>
              <a:srgbClr val="00897B"/>
            </a:solidFill>
            <a:prstDash val="solid"/>
          </a:ln>
        </p:spPr>
        <p:txBody>
          <a:bodyPr/>
          <a:lstStyle/>
          <a:p>
            <a:endParaRPr lang="en-US"/>
          </a:p>
        </p:txBody>
      </p:sp>
      <p:sp>
        <p:nvSpPr>
          <p:cNvPr id="30" name="Text 28"/>
          <p:cNvSpPr/>
          <p:nvPr/>
        </p:nvSpPr>
        <p:spPr>
          <a:xfrm>
            <a:off x="658368" y="4039362"/>
            <a:ext cx="4937760" cy="530352"/>
          </a:xfrm>
          <a:prstGeom prst="rect">
            <a:avLst/>
          </a:prstGeom>
          <a:noFill/>
          <a:ln/>
        </p:spPr>
        <p:txBody>
          <a:bodyPr wrap="square" rtlCol="0" anchor="ctr"/>
          <a:lstStyle/>
          <a:p>
            <a:r>
              <a:rPr lang="en-US" sz="1600" b="1" dirty="0">
                <a:solidFill>
                  <a:srgbClr val="00897B"/>
                </a:solidFill>
                <a:latin typeface="Calibri" pitchFamily="34" charset="0"/>
                <a:ea typeface="Calibri" pitchFamily="34" charset="-122"/>
                <a:cs typeface="Calibri" pitchFamily="34" charset="-120"/>
              </a:rPr>
              <a:t>Light Node  </a:t>
            </a:r>
            <a:r>
              <a:rPr lang="en-US" sz="1600" dirty="0">
                <a:solidFill>
                  <a:srgbClr val="0D1B2A"/>
                </a:solidFill>
                <a:latin typeface="Calibri" pitchFamily="34" charset="0"/>
                <a:ea typeface="Calibri" pitchFamily="34" charset="-122"/>
                <a:cs typeface="Calibri" pitchFamily="34" charset="-120"/>
              </a:rPr>
              <a:t>Stores only block headers. Used in mobile wallets.</a:t>
            </a:r>
            <a:endParaRPr lang="en-US" sz="1600" dirty="0"/>
          </a:p>
        </p:txBody>
      </p:sp>
      <p:sp>
        <p:nvSpPr>
          <p:cNvPr id="31" name="Shape 29"/>
          <p:cNvSpPr/>
          <p:nvPr/>
        </p:nvSpPr>
        <p:spPr>
          <a:xfrm>
            <a:off x="457200" y="4743450"/>
            <a:ext cx="91440" cy="320040"/>
          </a:xfrm>
          <a:prstGeom prst="rect">
            <a:avLst/>
          </a:prstGeom>
          <a:solidFill>
            <a:srgbClr val="F57C00"/>
          </a:solidFill>
          <a:ln w="12700">
            <a:solidFill>
              <a:srgbClr val="F57C00"/>
            </a:solidFill>
            <a:prstDash val="solid"/>
          </a:ln>
        </p:spPr>
        <p:txBody>
          <a:bodyPr/>
          <a:lstStyle/>
          <a:p>
            <a:endParaRPr lang="en-US"/>
          </a:p>
        </p:txBody>
      </p:sp>
      <p:sp>
        <p:nvSpPr>
          <p:cNvPr id="32" name="Text 30"/>
          <p:cNvSpPr/>
          <p:nvPr/>
        </p:nvSpPr>
        <p:spPr>
          <a:xfrm>
            <a:off x="658368" y="4633722"/>
            <a:ext cx="4937760" cy="530352"/>
          </a:xfrm>
          <a:prstGeom prst="rect">
            <a:avLst/>
          </a:prstGeom>
          <a:noFill/>
          <a:ln/>
        </p:spPr>
        <p:txBody>
          <a:bodyPr wrap="square" rtlCol="0" anchor="ctr"/>
          <a:lstStyle/>
          <a:p>
            <a:r>
              <a:rPr lang="en-US" sz="1600" b="1" dirty="0">
                <a:solidFill>
                  <a:srgbClr val="F57C00"/>
                </a:solidFill>
                <a:latin typeface="Calibri" pitchFamily="34" charset="0"/>
                <a:ea typeface="Calibri" pitchFamily="34" charset="-122"/>
                <a:cs typeface="Calibri" pitchFamily="34" charset="-120"/>
              </a:rPr>
              <a:t>Mining Node  </a:t>
            </a:r>
            <a:r>
              <a:rPr lang="en-US" sz="1600" dirty="0">
                <a:solidFill>
                  <a:srgbClr val="0D1B2A"/>
                </a:solidFill>
                <a:latin typeface="Calibri" pitchFamily="34" charset="0"/>
                <a:ea typeface="Calibri" pitchFamily="34" charset="-122"/>
                <a:cs typeface="Calibri" pitchFamily="34" charset="-120"/>
              </a:rPr>
              <a:t>Validates and adds new blocks via Proof of Work (in Bitcoin).</a:t>
            </a:r>
            <a:endParaRPr lang="en-US" sz="1600" dirty="0"/>
          </a:p>
        </p:txBody>
      </p:sp>
      <p:sp>
        <p:nvSpPr>
          <p:cNvPr id="33" name="Shape 31"/>
          <p:cNvSpPr/>
          <p:nvPr/>
        </p:nvSpPr>
        <p:spPr>
          <a:xfrm>
            <a:off x="457200" y="5337810"/>
            <a:ext cx="91440" cy="320040"/>
          </a:xfrm>
          <a:prstGeom prst="rect">
            <a:avLst/>
          </a:prstGeom>
          <a:solidFill>
            <a:srgbClr val="1B3A5C"/>
          </a:solidFill>
          <a:ln w="12700">
            <a:solidFill>
              <a:srgbClr val="1B3A5C"/>
            </a:solidFill>
            <a:prstDash val="solid"/>
          </a:ln>
        </p:spPr>
        <p:txBody>
          <a:bodyPr/>
          <a:lstStyle/>
          <a:p>
            <a:endParaRPr lang="en-US"/>
          </a:p>
        </p:txBody>
      </p:sp>
      <p:sp>
        <p:nvSpPr>
          <p:cNvPr id="34" name="Text 32"/>
          <p:cNvSpPr/>
          <p:nvPr/>
        </p:nvSpPr>
        <p:spPr>
          <a:xfrm>
            <a:off x="658368" y="5228082"/>
            <a:ext cx="4937760" cy="530352"/>
          </a:xfrm>
          <a:prstGeom prst="rect">
            <a:avLst/>
          </a:prstGeom>
          <a:noFill/>
          <a:ln/>
        </p:spPr>
        <p:txBody>
          <a:bodyPr wrap="square" rtlCol="0" anchor="ctr"/>
          <a:lstStyle/>
          <a:p>
            <a:r>
              <a:rPr lang="en-US" sz="1600" b="1" dirty="0">
                <a:solidFill>
                  <a:srgbClr val="1B3A5C"/>
                </a:solidFill>
                <a:latin typeface="Calibri" pitchFamily="34" charset="0"/>
                <a:ea typeface="Calibri" pitchFamily="34" charset="-122"/>
                <a:cs typeface="Calibri" pitchFamily="34" charset="-120"/>
              </a:rPr>
              <a:t>Validator Node  </a:t>
            </a:r>
            <a:r>
              <a:rPr lang="en-US" sz="1600" dirty="0">
                <a:solidFill>
                  <a:srgbClr val="0D1B2A"/>
                </a:solidFill>
                <a:latin typeface="Calibri" pitchFamily="34" charset="0"/>
                <a:ea typeface="Calibri" pitchFamily="34" charset="-122"/>
                <a:cs typeface="Calibri" pitchFamily="34" charset="-120"/>
              </a:rPr>
              <a:t>Used in Proof of Stake systems to approve new transactions.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4800" y="381762"/>
            <a:ext cx="8229600" cy="594360"/>
          </a:xfrm>
          <a:prstGeom prst="rect">
            <a:avLst/>
          </a:prstGeom>
          <a:noFill/>
          <a:ln/>
        </p:spPr>
        <p:txBody>
          <a:bodyPr wrap="square" rtlCol="0" anchor="ctr"/>
          <a:lstStyle/>
          <a:p>
            <a:r>
              <a:rPr lang="en-US" sz="2600" b="1" dirty="0">
                <a:solidFill>
                  <a:srgbClr val="0D1B2A"/>
                </a:solidFill>
                <a:latin typeface="Cambria" pitchFamily="34" charset="0"/>
                <a:ea typeface="Cambria" pitchFamily="34" charset="-122"/>
                <a:cs typeface="Cambria" pitchFamily="34" charset="-120"/>
              </a:rPr>
              <a:t>How Nodes Reach Agreement: Consensus</a:t>
            </a:r>
            <a:endParaRPr lang="en-US" sz="2600" dirty="0"/>
          </a:p>
        </p:txBody>
      </p:sp>
      <p:sp>
        <p:nvSpPr>
          <p:cNvPr id="3" name="Shape 1"/>
          <p:cNvSpPr/>
          <p:nvPr/>
        </p:nvSpPr>
        <p:spPr>
          <a:xfrm>
            <a:off x="457200" y="1652778"/>
            <a:ext cx="8229600" cy="27432"/>
          </a:xfrm>
          <a:prstGeom prst="rect">
            <a:avLst/>
          </a:prstGeom>
          <a:solidFill>
            <a:srgbClr val="00897B"/>
          </a:solidFill>
          <a:ln w="12700">
            <a:solidFill>
              <a:srgbClr val="00897B"/>
            </a:solidFill>
            <a:prstDash val="solid"/>
          </a:ln>
        </p:spPr>
        <p:txBody>
          <a:bodyPr/>
          <a:lstStyle/>
          <a:p>
            <a:endParaRPr lang="en-US"/>
          </a:p>
        </p:txBody>
      </p:sp>
      <p:sp>
        <p:nvSpPr>
          <p:cNvPr id="4" name="Text 2"/>
          <p:cNvSpPr/>
          <p:nvPr/>
        </p:nvSpPr>
        <p:spPr>
          <a:xfrm>
            <a:off x="457200" y="1753362"/>
            <a:ext cx="8229600" cy="502920"/>
          </a:xfrm>
          <a:prstGeom prst="rect">
            <a:avLst/>
          </a:prstGeom>
          <a:noFill/>
          <a:ln/>
        </p:spPr>
        <p:txBody>
          <a:bodyPr wrap="square" rtlCol="0" anchor="ctr"/>
          <a:lstStyle/>
          <a:p>
            <a:r>
              <a:rPr lang="en-US" sz="1300" dirty="0">
                <a:solidFill>
                  <a:srgbClr val="546E7A"/>
                </a:solidFill>
                <a:latin typeface="Calibri" pitchFamily="34" charset="0"/>
                <a:ea typeface="Calibri" pitchFamily="34" charset="-122"/>
                <a:cs typeface="Calibri" pitchFamily="34" charset="-120"/>
              </a:rPr>
              <a:t>Since there is no central authority, nodes must agree on which transactions are valid. This is called a consensus mechanism.</a:t>
            </a:r>
            <a:endParaRPr lang="en-US" sz="1300" dirty="0"/>
          </a:p>
        </p:txBody>
      </p:sp>
      <p:sp>
        <p:nvSpPr>
          <p:cNvPr id="5" name="Shape 3"/>
          <p:cNvSpPr/>
          <p:nvPr/>
        </p:nvSpPr>
        <p:spPr>
          <a:xfrm>
            <a:off x="457200" y="2366010"/>
            <a:ext cx="8229600" cy="1078992"/>
          </a:xfrm>
          <a:prstGeom prst="roundRect">
            <a:avLst>
              <a:gd name="adj" fmla="val 5932"/>
            </a:avLst>
          </a:prstGeom>
          <a:solidFill>
            <a:srgbClr val="FFFFFF"/>
          </a:solidFill>
          <a:ln w="19050">
            <a:solidFill>
              <a:srgbClr val="F57C00"/>
            </a:solidFill>
            <a:prstDash val="solid"/>
          </a:ln>
          <a:effectLst>
            <a:outerShdw blurRad="101600" dist="38100" dir="2700000" algn="bl" rotWithShape="0">
              <a:srgbClr val="000000">
                <a:alpha val="18000"/>
              </a:srgbClr>
            </a:outerShdw>
          </a:effectLst>
        </p:spPr>
        <p:txBody>
          <a:bodyPr/>
          <a:lstStyle/>
          <a:p>
            <a:endParaRPr lang="en-US"/>
          </a:p>
        </p:txBody>
      </p:sp>
      <p:sp>
        <p:nvSpPr>
          <p:cNvPr id="6" name="Text 4"/>
          <p:cNvSpPr/>
          <p:nvPr/>
        </p:nvSpPr>
        <p:spPr>
          <a:xfrm>
            <a:off x="502920" y="2475738"/>
            <a:ext cx="731520" cy="822960"/>
          </a:xfrm>
          <a:prstGeom prst="rect">
            <a:avLst/>
          </a:prstGeom>
          <a:noFill/>
          <a:ln/>
        </p:spPr>
        <p:txBody>
          <a:bodyPr wrap="square" lIns="0" tIns="0" rIns="0" bIns="0" rtlCol="0" anchor="ctr"/>
          <a:lstStyle/>
          <a:p>
            <a:pPr algn="ctr"/>
            <a:r>
              <a:rPr lang="en-US" sz="2800" dirty="0"/>
              <a:t>⛏</a:t>
            </a:r>
          </a:p>
        </p:txBody>
      </p:sp>
      <p:sp>
        <p:nvSpPr>
          <p:cNvPr id="7" name="Text 5"/>
          <p:cNvSpPr/>
          <p:nvPr/>
        </p:nvSpPr>
        <p:spPr>
          <a:xfrm>
            <a:off x="1325880" y="2457450"/>
            <a:ext cx="3657600" cy="347472"/>
          </a:xfrm>
          <a:prstGeom prst="rect">
            <a:avLst/>
          </a:prstGeom>
          <a:noFill/>
          <a:ln/>
        </p:spPr>
        <p:txBody>
          <a:bodyPr wrap="square" lIns="0" tIns="0" rIns="0" bIns="0" rtlCol="0" anchor="ctr"/>
          <a:lstStyle/>
          <a:p>
            <a:r>
              <a:rPr lang="en-US" b="1" dirty="0">
                <a:solidFill>
                  <a:srgbClr val="F57C00"/>
                </a:solidFill>
                <a:latin typeface="Calibri" pitchFamily="34" charset="0"/>
                <a:ea typeface="Calibri" pitchFamily="34" charset="-122"/>
                <a:cs typeface="Calibri" pitchFamily="34" charset="-120"/>
              </a:rPr>
              <a:t>Proof of Work (PoW)</a:t>
            </a:r>
            <a:endParaRPr lang="en-US" dirty="0"/>
          </a:p>
        </p:txBody>
      </p:sp>
      <p:sp>
        <p:nvSpPr>
          <p:cNvPr id="8" name="Text 6"/>
          <p:cNvSpPr/>
          <p:nvPr/>
        </p:nvSpPr>
        <p:spPr>
          <a:xfrm>
            <a:off x="1325880" y="2823210"/>
            <a:ext cx="4389120" cy="502920"/>
          </a:xfrm>
          <a:prstGeom prst="rect">
            <a:avLst/>
          </a:prstGeom>
          <a:noFill/>
          <a:ln/>
        </p:spPr>
        <p:txBody>
          <a:bodyPr wrap="square" lIns="0" tIns="0" rIns="0" bIns="0" rtlCol="0" anchor="ctr"/>
          <a:lstStyle/>
          <a:p>
            <a:r>
              <a:rPr lang="en-US" sz="1150" dirty="0">
                <a:solidFill>
                  <a:srgbClr val="0D1B2A"/>
                </a:solidFill>
                <a:latin typeface="Calibri" pitchFamily="34" charset="0"/>
                <a:ea typeface="Calibri" pitchFamily="34" charset="-122"/>
                <a:cs typeface="Calibri" pitchFamily="34" charset="-120"/>
              </a:rPr>
              <a:t>Nodes (miners) compete to solve complex math puzzles. The winner adds the next block.</a:t>
            </a:r>
            <a:endParaRPr lang="en-US" sz="1150" dirty="0"/>
          </a:p>
        </p:txBody>
      </p:sp>
      <p:sp>
        <p:nvSpPr>
          <p:cNvPr id="9" name="Shape 7"/>
          <p:cNvSpPr/>
          <p:nvPr/>
        </p:nvSpPr>
        <p:spPr>
          <a:xfrm>
            <a:off x="5897880" y="2475738"/>
            <a:ext cx="1115568" cy="292608"/>
          </a:xfrm>
          <a:prstGeom prst="roundRect">
            <a:avLst>
              <a:gd name="adj" fmla="val 15625"/>
            </a:avLst>
          </a:prstGeom>
          <a:solidFill>
            <a:srgbClr val="43A047"/>
          </a:solidFill>
          <a:ln w="12700">
            <a:solidFill>
              <a:srgbClr val="43A047"/>
            </a:solidFill>
            <a:prstDash val="solid"/>
          </a:ln>
        </p:spPr>
        <p:txBody>
          <a:bodyPr/>
          <a:lstStyle/>
          <a:p>
            <a:endParaRPr lang="en-US"/>
          </a:p>
        </p:txBody>
      </p:sp>
      <p:sp>
        <p:nvSpPr>
          <p:cNvPr id="10" name="Text 8"/>
          <p:cNvSpPr/>
          <p:nvPr/>
        </p:nvSpPr>
        <p:spPr>
          <a:xfrm>
            <a:off x="5916168" y="2475738"/>
            <a:ext cx="1078992" cy="292608"/>
          </a:xfrm>
          <a:prstGeom prst="rect">
            <a:avLst/>
          </a:prstGeom>
          <a:noFill/>
          <a:ln/>
        </p:spPr>
        <p:txBody>
          <a:bodyPr wrap="square" lIns="0" tIns="0" rIns="0" bIns="0" rtlCol="0" anchor="ctr"/>
          <a:lstStyle/>
          <a:p>
            <a:pPr algn="ctr"/>
            <a:r>
              <a:rPr lang="en-US" sz="950" dirty="0">
                <a:solidFill>
                  <a:srgbClr val="FFFFFF"/>
                </a:solidFill>
                <a:latin typeface="Calibri" pitchFamily="34" charset="0"/>
                <a:ea typeface="Calibri" pitchFamily="34" charset="-122"/>
                <a:cs typeface="Calibri" pitchFamily="34" charset="-120"/>
              </a:rPr>
              <a:t>✅ Highly secure</a:t>
            </a:r>
            <a:endParaRPr lang="en-US" sz="950" dirty="0"/>
          </a:p>
        </p:txBody>
      </p:sp>
      <p:sp>
        <p:nvSpPr>
          <p:cNvPr id="11" name="Shape 9"/>
          <p:cNvSpPr/>
          <p:nvPr/>
        </p:nvSpPr>
        <p:spPr>
          <a:xfrm>
            <a:off x="7132320" y="2475738"/>
            <a:ext cx="1508760" cy="292608"/>
          </a:xfrm>
          <a:prstGeom prst="roundRect">
            <a:avLst>
              <a:gd name="adj" fmla="val 15625"/>
            </a:avLst>
          </a:prstGeom>
          <a:solidFill>
            <a:srgbClr val="E53935"/>
          </a:solidFill>
          <a:ln w="12700">
            <a:solidFill>
              <a:srgbClr val="E53935"/>
            </a:solidFill>
            <a:prstDash val="solid"/>
          </a:ln>
        </p:spPr>
        <p:txBody>
          <a:bodyPr/>
          <a:lstStyle/>
          <a:p>
            <a:endParaRPr lang="en-US"/>
          </a:p>
        </p:txBody>
      </p:sp>
      <p:sp>
        <p:nvSpPr>
          <p:cNvPr id="12" name="Text 10"/>
          <p:cNvSpPr/>
          <p:nvPr/>
        </p:nvSpPr>
        <p:spPr>
          <a:xfrm>
            <a:off x="7150608" y="2475738"/>
            <a:ext cx="1472184" cy="292608"/>
          </a:xfrm>
          <a:prstGeom prst="rect">
            <a:avLst/>
          </a:prstGeom>
          <a:noFill/>
          <a:ln/>
        </p:spPr>
        <p:txBody>
          <a:bodyPr wrap="square" lIns="0" tIns="0" rIns="0" bIns="0" rtlCol="0" anchor="ctr"/>
          <a:lstStyle/>
          <a:p>
            <a:pPr algn="ctr"/>
            <a:r>
              <a:rPr lang="en-US" sz="950" dirty="0">
                <a:solidFill>
                  <a:srgbClr val="FFFFFF"/>
                </a:solidFill>
                <a:latin typeface="Calibri" pitchFamily="34" charset="0"/>
                <a:ea typeface="Calibri" pitchFamily="34" charset="-122"/>
                <a:cs typeface="Calibri" pitchFamily="34" charset="-120"/>
              </a:rPr>
              <a:t>⚠️ Energy-intensive (e.g., Bitcoin)</a:t>
            </a:r>
            <a:endParaRPr lang="en-US" sz="950" dirty="0"/>
          </a:p>
        </p:txBody>
      </p:sp>
      <p:sp>
        <p:nvSpPr>
          <p:cNvPr id="13" name="Shape 11"/>
          <p:cNvSpPr/>
          <p:nvPr/>
        </p:nvSpPr>
        <p:spPr>
          <a:xfrm>
            <a:off x="457200" y="3554730"/>
            <a:ext cx="8229600" cy="1078992"/>
          </a:xfrm>
          <a:prstGeom prst="roundRect">
            <a:avLst>
              <a:gd name="adj" fmla="val 5932"/>
            </a:avLst>
          </a:prstGeom>
          <a:solidFill>
            <a:srgbClr val="FFFFFF"/>
          </a:solidFill>
          <a:ln w="1905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14" name="Text 12"/>
          <p:cNvSpPr/>
          <p:nvPr/>
        </p:nvSpPr>
        <p:spPr>
          <a:xfrm>
            <a:off x="502920" y="3664458"/>
            <a:ext cx="731520" cy="822960"/>
          </a:xfrm>
          <a:prstGeom prst="rect">
            <a:avLst/>
          </a:prstGeom>
          <a:noFill/>
          <a:ln/>
        </p:spPr>
        <p:txBody>
          <a:bodyPr wrap="square" lIns="0" tIns="0" rIns="0" bIns="0" rtlCol="0" anchor="ctr"/>
          <a:lstStyle/>
          <a:p>
            <a:pPr algn="ctr"/>
            <a:r>
              <a:rPr lang="en-US" sz="2800" dirty="0"/>
              <a:t>🏦</a:t>
            </a:r>
          </a:p>
        </p:txBody>
      </p:sp>
      <p:sp>
        <p:nvSpPr>
          <p:cNvPr id="15" name="Text 13"/>
          <p:cNvSpPr/>
          <p:nvPr/>
        </p:nvSpPr>
        <p:spPr>
          <a:xfrm>
            <a:off x="1325880" y="3646170"/>
            <a:ext cx="3657600" cy="347472"/>
          </a:xfrm>
          <a:prstGeom prst="rect">
            <a:avLst/>
          </a:prstGeom>
          <a:noFill/>
          <a:ln/>
        </p:spPr>
        <p:txBody>
          <a:bodyPr wrap="square" lIns="0" tIns="0" rIns="0" bIns="0" rtlCol="0" anchor="ctr"/>
          <a:lstStyle/>
          <a:p>
            <a:r>
              <a:rPr lang="en-US" b="1" dirty="0">
                <a:solidFill>
                  <a:srgbClr val="00897B"/>
                </a:solidFill>
                <a:latin typeface="Calibri" pitchFamily="34" charset="0"/>
                <a:ea typeface="Calibri" pitchFamily="34" charset="-122"/>
                <a:cs typeface="Calibri" pitchFamily="34" charset="-120"/>
              </a:rPr>
              <a:t>Proof of Stake (PoS)</a:t>
            </a:r>
            <a:endParaRPr lang="en-US" dirty="0"/>
          </a:p>
        </p:txBody>
      </p:sp>
      <p:sp>
        <p:nvSpPr>
          <p:cNvPr id="16" name="Text 14"/>
          <p:cNvSpPr/>
          <p:nvPr/>
        </p:nvSpPr>
        <p:spPr>
          <a:xfrm>
            <a:off x="1325880" y="4011930"/>
            <a:ext cx="4389120" cy="502920"/>
          </a:xfrm>
          <a:prstGeom prst="rect">
            <a:avLst/>
          </a:prstGeom>
          <a:noFill/>
          <a:ln/>
        </p:spPr>
        <p:txBody>
          <a:bodyPr wrap="square" lIns="0" tIns="0" rIns="0" bIns="0" rtlCol="0" anchor="ctr"/>
          <a:lstStyle/>
          <a:p>
            <a:r>
              <a:rPr lang="en-US" sz="1150" dirty="0">
                <a:solidFill>
                  <a:srgbClr val="0D1B2A"/>
                </a:solidFill>
                <a:latin typeface="Calibri" pitchFamily="34" charset="0"/>
                <a:ea typeface="Calibri" pitchFamily="34" charset="-122"/>
                <a:cs typeface="Calibri" pitchFamily="34" charset="-120"/>
              </a:rPr>
              <a:t>Validators are chosen based on how many tokens they "stake" as collateral.</a:t>
            </a:r>
            <a:endParaRPr lang="en-US" sz="1150" dirty="0"/>
          </a:p>
        </p:txBody>
      </p:sp>
      <p:sp>
        <p:nvSpPr>
          <p:cNvPr id="17" name="Shape 15"/>
          <p:cNvSpPr/>
          <p:nvPr/>
        </p:nvSpPr>
        <p:spPr>
          <a:xfrm>
            <a:off x="5897880" y="3664458"/>
            <a:ext cx="1115568" cy="292608"/>
          </a:xfrm>
          <a:prstGeom prst="roundRect">
            <a:avLst>
              <a:gd name="adj" fmla="val 15625"/>
            </a:avLst>
          </a:prstGeom>
          <a:solidFill>
            <a:srgbClr val="43A047"/>
          </a:solidFill>
          <a:ln w="12700">
            <a:solidFill>
              <a:srgbClr val="43A047"/>
            </a:solidFill>
            <a:prstDash val="solid"/>
          </a:ln>
        </p:spPr>
        <p:txBody>
          <a:bodyPr/>
          <a:lstStyle/>
          <a:p>
            <a:endParaRPr lang="en-US"/>
          </a:p>
        </p:txBody>
      </p:sp>
      <p:sp>
        <p:nvSpPr>
          <p:cNvPr id="18" name="Text 16"/>
          <p:cNvSpPr/>
          <p:nvPr/>
        </p:nvSpPr>
        <p:spPr>
          <a:xfrm>
            <a:off x="5916168" y="3664458"/>
            <a:ext cx="1078992" cy="292608"/>
          </a:xfrm>
          <a:prstGeom prst="rect">
            <a:avLst/>
          </a:prstGeom>
          <a:noFill/>
          <a:ln/>
        </p:spPr>
        <p:txBody>
          <a:bodyPr wrap="square" lIns="0" tIns="0" rIns="0" bIns="0" rtlCol="0" anchor="ctr"/>
          <a:lstStyle/>
          <a:p>
            <a:pPr algn="ctr"/>
            <a:r>
              <a:rPr lang="en-US" sz="950" dirty="0">
                <a:solidFill>
                  <a:srgbClr val="FFFFFF"/>
                </a:solidFill>
                <a:latin typeface="Calibri" pitchFamily="34" charset="0"/>
                <a:ea typeface="Calibri" pitchFamily="34" charset="-122"/>
                <a:cs typeface="Calibri" pitchFamily="34" charset="-120"/>
              </a:rPr>
              <a:t>✅ Energy-efficient</a:t>
            </a:r>
            <a:endParaRPr lang="en-US" sz="950" dirty="0"/>
          </a:p>
        </p:txBody>
      </p:sp>
      <p:sp>
        <p:nvSpPr>
          <p:cNvPr id="19" name="Shape 17"/>
          <p:cNvSpPr/>
          <p:nvPr/>
        </p:nvSpPr>
        <p:spPr>
          <a:xfrm>
            <a:off x="7132320" y="3664458"/>
            <a:ext cx="1508760" cy="292608"/>
          </a:xfrm>
          <a:prstGeom prst="roundRect">
            <a:avLst>
              <a:gd name="adj" fmla="val 15625"/>
            </a:avLst>
          </a:prstGeom>
          <a:solidFill>
            <a:srgbClr val="E53935"/>
          </a:solidFill>
          <a:ln w="12700">
            <a:solidFill>
              <a:srgbClr val="E53935"/>
            </a:solidFill>
            <a:prstDash val="solid"/>
          </a:ln>
        </p:spPr>
        <p:txBody>
          <a:bodyPr/>
          <a:lstStyle/>
          <a:p>
            <a:endParaRPr lang="en-US"/>
          </a:p>
        </p:txBody>
      </p:sp>
      <p:sp>
        <p:nvSpPr>
          <p:cNvPr id="20" name="Text 18"/>
          <p:cNvSpPr/>
          <p:nvPr/>
        </p:nvSpPr>
        <p:spPr>
          <a:xfrm>
            <a:off x="7150608" y="3664458"/>
            <a:ext cx="1472184" cy="292608"/>
          </a:xfrm>
          <a:prstGeom prst="rect">
            <a:avLst/>
          </a:prstGeom>
          <a:noFill/>
          <a:ln/>
        </p:spPr>
        <p:txBody>
          <a:bodyPr wrap="square" lIns="0" tIns="0" rIns="0" bIns="0" rtlCol="0" anchor="ctr"/>
          <a:lstStyle/>
          <a:p>
            <a:pPr algn="ctr"/>
            <a:r>
              <a:rPr lang="en-US" sz="950" dirty="0">
                <a:solidFill>
                  <a:srgbClr val="FFFFFF"/>
                </a:solidFill>
                <a:latin typeface="Calibri" pitchFamily="34" charset="0"/>
                <a:ea typeface="Calibri" pitchFamily="34" charset="-122"/>
                <a:cs typeface="Calibri" pitchFamily="34" charset="-120"/>
              </a:rPr>
              <a:t>⚠️ Wealthier nodes gain more influence (e.g., Ethereum)</a:t>
            </a:r>
            <a:endParaRPr lang="en-US" sz="950" dirty="0"/>
          </a:p>
        </p:txBody>
      </p:sp>
      <p:sp>
        <p:nvSpPr>
          <p:cNvPr id="21" name="Shape 19"/>
          <p:cNvSpPr/>
          <p:nvPr/>
        </p:nvSpPr>
        <p:spPr>
          <a:xfrm>
            <a:off x="457200" y="4743450"/>
            <a:ext cx="8229600" cy="1078992"/>
          </a:xfrm>
          <a:prstGeom prst="roundRect">
            <a:avLst>
              <a:gd name="adj" fmla="val 5932"/>
            </a:avLst>
          </a:prstGeom>
          <a:solidFill>
            <a:srgbClr val="FFFFFF"/>
          </a:solidFill>
          <a:ln w="1905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22" name="Text 20"/>
          <p:cNvSpPr/>
          <p:nvPr/>
        </p:nvSpPr>
        <p:spPr>
          <a:xfrm>
            <a:off x="502920" y="4853178"/>
            <a:ext cx="731520" cy="822960"/>
          </a:xfrm>
          <a:prstGeom prst="rect">
            <a:avLst/>
          </a:prstGeom>
          <a:noFill/>
          <a:ln/>
        </p:spPr>
        <p:txBody>
          <a:bodyPr wrap="square" lIns="0" tIns="0" rIns="0" bIns="0" rtlCol="0" anchor="ctr"/>
          <a:lstStyle/>
          <a:p>
            <a:pPr algn="ctr"/>
            <a:r>
              <a:rPr lang="en-US" sz="2800" dirty="0"/>
              <a:t>🗳</a:t>
            </a:r>
          </a:p>
        </p:txBody>
      </p:sp>
      <p:sp>
        <p:nvSpPr>
          <p:cNvPr id="23" name="Text 21"/>
          <p:cNvSpPr/>
          <p:nvPr/>
        </p:nvSpPr>
        <p:spPr>
          <a:xfrm>
            <a:off x="1325880" y="4834890"/>
            <a:ext cx="3657600" cy="347472"/>
          </a:xfrm>
          <a:prstGeom prst="rect">
            <a:avLst/>
          </a:prstGeom>
          <a:noFill/>
          <a:ln/>
        </p:spPr>
        <p:txBody>
          <a:bodyPr wrap="square" lIns="0" tIns="0" rIns="0" bIns="0" rtlCol="0" anchor="ctr"/>
          <a:lstStyle/>
          <a:p>
            <a:r>
              <a:rPr lang="en-US" b="1" dirty="0">
                <a:solidFill>
                  <a:srgbClr val="1565C0"/>
                </a:solidFill>
                <a:latin typeface="Calibri" pitchFamily="34" charset="0"/>
                <a:ea typeface="Calibri" pitchFamily="34" charset="-122"/>
                <a:cs typeface="Calibri" pitchFamily="34" charset="-120"/>
              </a:rPr>
              <a:t>Delegated PoS (DPoS)</a:t>
            </a:r>
            <a:endParaRPr lang="en-US" dirty="0"/>
          </a:p>
        </p:txBody>
      </p:sp>
      <p:sp>
        <p:nvSpPr>
          <p:cNvPr id="24" name="Text 22"/>
          <p:cNvSpPr/>
          <p:nvPr/>
        </p:nvSpPr>
        <p:spPr>
          <a:xfrm>
            <a:off x="1325880" y="5200650"/>
            <a:ext cx="4389120" cy="502920"/>
          </a:xfrm>
          <a:prstGeom prst="rect">
            <a:avLst/>
          </a:prstGeom>
          <a:noFill/>
          <a:ln/>
        </p:spPr>
        <p:txBody>
          <a:bodyPr wrap="square" lIns="0" tIns="0" rIns="0" bIns="0" rtlCol="0" anchor="ctr"/>
          <a:lstStyle/>
          <a:p>
            <a:r>
              <a:rPr lang="en-US" sz="1150" dirty="0">
                <a:solidFill>
                  <a:srgbClr val="0D1B2A"/>
                </a:solidFill>
                <a:latin typeface="Calibri" pitchFamily="34" charset="0"/>
                <a:ea typeface="Calibri" pitchFamily="34" charset="-122"/>
                <a:cs typeface="Calibri" pitchFamily="34" charset="-120"/>
              </a:rPr>
              <a:t>Token holders vote for delegates who validate transactions on their behalf.</a:t>
            </a:r>
            <a:endParaRPr lang="en-US" sz="1150" dirty="0"/>
          </a:p>
        </p:txBody>
      </p:sp>
      <p:sp>
        <p:nvSpPr>
          <p:cNvPr id="25" name="Shape 23"/>
          <p:cNvSpPr/>
          <p:nvPr/>
        </p:nvSpPr>
        <p:spPr>
          <a:xfrm>
            <a:off x="5897880" y="4853178"/>
            <a:ext cx="1115568" cy="292608"/>
          </a:xfrm>
          <a:prstGeom prst="roundRect">
            <a:avLst>
              <a:gd name="adj" fmla="val 15625"/>
            </a:avLst>
          </a:prstGeom>
          <a:solidFill>
            <a:srgbClr val="43A047"/>
          </a:solidFill>
          <a:ln w="12700">
            <a:solidFill>
              <a:srgbClr val="43A047"/>
            </a:solidFill>
            <a:prstDash val="solid"/>
          </a:ln>
        </p:spPr>
        <p:txBody>
          <a:bodyPr/>
          <a:lstStyle/>
          <a:p>
            <a:endParaRPr lang="en-US"/>
          </a:p>
        </p:txBody>
      </p:sp>
      <p:sp>
        <p:nvSpPr>
          <p:cNvPr id="26" name="Text 24"/>
          <p:cNvSpPr/>
          <p:nvPr/>
        </p:nvSpPr>
        <p:spPr>
          <a:xfrm>
            <a:off x="5916168" y="4853178"/>
            <a:ext cx="1078992" cy="292608"/>
          </a:xfrm>
          <a:prstGeom prst="rect">
            <a:avLst/>
          </a:prstGeom>
          <a:noFill/>
          <a:ln/>
        </p:spPr>
        <p:txBody>
          <a:bodyPr wrap="square" lIns="0" tIns="0" rIns="0" bIns="0" rtlCol="0" anchor="ctr"/>
          <a:lstStyle/>
          <a:p>
            <a:pPr algn="ctr"/>
            <a:r>
              <a:rPr lang="en-US" sz="950" dirty="0">
                <a:solidFill>
                  <a:srgbClr val="FFFFFF"/>
                </a:solidFill>
                <a:latin typeface="Calibri" pitchFamily="34" charset="0"/>
                <a:ea typeface="Calibri" pitchFamily="34" charset="-122"/>
                <a:cs typeface="Calibri" pitchFamily="34" charset="-120"/>
              </a:rPr>
              <a:t>✅ Fast &amp; democratic</a:t>
            </a:r>
            <a:endParaRPr lang="en-US" sz="950" dirty="0"/>
          </a:p>
        </p:txBody>
      </p:sp>
      <p:sp>
        <p:nvSpPr>
          <p:cNvPr id="27" name="Shape 25"/>
          <p:cNvSpPr/>
          <p:nvPr/>
        </p:nvSpPr>
        <p:spPr>
          <a:xfrm>
            <a:off x="7132320" y="4853178"/>
            <a:ext cx="1508760" cy="292608"/>
          </a:xfrm>
          <a:prstGeom prst="roundRect">
            <a:avLst>
              <a:gd name="adj" fmla="val 15625"/>
            </a:avLst>
          </a:prstGeom>
          <a:solidFill>
            <a:srgbClr val="E53935"/>
          </a:solidFill>
          <a:ln w="12700">
            <a:solidFill>
              <a:srgbClr val="E53935"/>
            </a:solidFill>
            <a:prstDash val="solid"/>
          </a:ln>
        </p:spPr>
        <p:txBody>
          <a:bodyPr/>
          <a:lstStyle/>
          <a:p>
            <a:endParaRPr lang="en-US"/>
          </a:p>
        </p:txBody>
      </p:sp>
      <p:sp>
        <p:nvSpPr>
          <p:cNvPr id="28" name="Text 26"/>
          <p:cNvSpPr/>
          <p:nvPr/>
        </p:nvSpPr>
        <p:spPr>
          <a:xfrm>
            <a:off x="7150608" y="4853178"/>
            <a:ext cx="1472184" cy="292608"/>
          </a:xfrm>
          <a:prstGeom prst="rect">
            <a:avLst/>
          </a:prstGeom>
          <a:noFill/>
          <a:ln/>
        </p:spPr>
        <p:txBody>
          <a:bodyPr wrap="square" lIns="0" tIns="0" rIns="0" bIns="0" rtlCol="0" anchor="ctr"/>
          <a:lstStyle/>
          <a:p>
            <a:pPr algn="ctr"/>
            <a:r>
              <a:rPr lang="en-US" sz="950" dirty="0">
                <a:solidFill>
                  <a:srgbClr val="FFFFFF"/>
                </a:solidFill>
                <a:latin typeface="Calibri" pitchFamily="34" charset="0"/>
                <a:ea typeface="Calibri" pitchFamily="34" charset="-122"/>
                <a:cs typeface="Calibri" pitchFamily="34" charset="-120"/>
              </a:rPr>
              <a:t>⚠️ Risks of voter apathy</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23942" y="1835658"/>
            <a:ext cx="6927925" cy="1920240"/>
          </a:xfrm>
          <a:prstGeom prst="rect">
            <a:avLst/>
          </a:prstGeom>
          <a:noFill/>
          <a:ln/>
        </p:spPr>
        <p:txBody>
          <a:bodyPr wrap="square" rtlCol="0" anchor="ctr"/>
          <a:lstStyle/>
          <a:p>
            <a:r>
              <a:rPr lang="en-US" sz="3600" b="1" dirty="0">
                <a:solidFill>
                  <a:schemeClr val="accent1"/>
                </a:solidFill>
                <a:latin typeface="Times New Roman" panose="02020603050405020304" pitchFamily="18" charset="0"/>
                <a:ea typeface="Cambria" pitchFamily="34" charset="-122"/>
                <a:cs typeface="Times New Roman" panose="02020603050405020304" pitchFamily="18" charset="0"/>
              </a:rPr>
              <a:t>What are</a:t>
            </a:r>
            <a:endParaRPr lang="en-US" sz="3600" dirty="0">
              <a:solidFill>
                <a:schemeClr val="accent1"/>
              </a:solidFill>
              <a:latin typeface="Times New Roman" panose="02020603050405020304" pitchFamily="18" charset="0"/>
              <a:cs typeface="Times New Roman" panose="02020603050405020304" pitchFamily="18" charset="0"/>
            </a:endParaRPr>
          </a:p>
          <a:p>
            <a:r>
              <a:rPr lang="en-US" sz="3600" b="1" dirty="0">
                <a:solidFill>
                  <a:schemeClr val="accent1"/>
                </a:solidFill>
                <a:latin typeface="Times New Roman" panose="02020603050405020304" pitchFamily="18" charset="0"/>
                <a:ea typeface="Cambria" pitchFamily="34" charset="-122"/>
                <a:cs typeface="Times New Roman" panose="02020603050405020304" pitchFamily="18" charset="0"/>
              </a:rPr>
              <a:t>Tokens?</a:t>
            </a:r>
            <a:endParaRPr lang="en-US" sz="3600" dirty="0">
              <a:solidFill>
                <a:schemeClr val="accent1"/>
              </a:solidFill>
              <a:latin typeface="Times New Roman" panose="02020603050405020304" pitchFamily="18" charset="0"/>
              <a:cs typeface="Times New Roman" panose="02020603050405020304" pitchFamily="18" charset="0"/>
            </a:endParaRPr>
          </a:p>
        </p:txBody>
      </p:sp>
      <p:sp>
        <p:nvSpPr>
          <p:cNvPr id="5" name="Shape 3"/>
          <p:cNvSpPr/>
          <p:nvPr/>
        </p:nvSpPr>
        <p:spPr>
          <a:xfrm>
            <a:off x="731520" y="3573556"/>
            <a:ext cx="1371600" cy="54864"/>
          </a:xfrm>
          <a:prstGeom prst="rect">
            <a:avLst/>
          </a:prstGeom>
          <a:solidFill>
            <a:srgbClr val="FFB300"/>
          </a:solidFill>
          <a:ln w="12700">
            <a:solidFill>
              <a:srgbClr val="FFB300"/>
            </a:solidFill>
            <a:prstDash val="solid"/>
          </a:ln>
        </p:spPr>
        <p:txBody>
          <a:bodyPr/>
          <a:lstStyle/>
          <a:p>
            <a:endParaRPr lang="en-US"/>
          </a:p>
        </p:txBody>
      </p:sp>
      <p:sp>
        <p:nvSpPr>
          <p:cNvPr id="6" name="Text 4"/>
          <p:cNvSpPr/>
          <p:nvPr/>
        </p:nvSpPr>
        <p:spPr>
          <a:xfrm>
            <a:off x="731520" y="3755898"/>
            <a:ext cx="7498080" cy="502920"/>
          </a:xfrm>
          <a:prstGeom prst="rect">
            <a:avLst/>
          </a:prstGeom>
          <a:noFill/>
          <a:ln/>
        </p:spPr>
        <p:txBody>
          <a:bodyPr wrap="square" rtlCol="0" anchor="ctr"/>
          <a:lstStyle/>
          <a:p>
            <a:r>
              <a:rPr lang="en-US" sz="2800" i="1" dirty="0">
                <a:solidFill>
                  <a:schemeClr val="tx1"/>
                </a:solidFill>
                <a:latin typeface="Calibri" pitchFamily="34" charset="0"/>
                <a:ea typeface="Calibri" pitchFamily="34" charset="-122"/>
                <a:cs typeface="Calibri" pitchFamily="34" charset="-120"/>
              </a:rPr>
              <a:t>"Tokens represent value, access, or ownership on a blockchain."</a:t>
            </a:r>
            <a:endParaRPr lang="en-US" sz="2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13182"/>
            <a:ext cx="8229600" cy="548640"/>
          </a:xfrm>
          <a:prstGeom prst="rect">
            <a:avLst/>
          </a:prstGeom>
          <a:noFill/>
          <a:ln/>
        </p:spPr>
        <p:txBody>
          <a:bodyPr wrap="square" rtlCol="0" anchor="ctr"/>
          <a:lstStyle/>
          <a:p>
            <a:r>
              <a:rPr lang="en-US" sz="3000" b="1" dirty="0">
                <a:solidFill>
                  <a:srgbClr val="0D1B2A"/>
                </a:solidFill>
                <a:latin typeface="Cambria" pitchFamily="34" charset="0"/>
                <a:ea typeface="Cambria" pitchFamily="34" charset="-122"/>
                <a:cs typeface="Cambria" pitchFamily="34" charset="-120"/>
              </a:rPr>
              <a:t>What are Tokens?</a:t>
            </a:r>
            <a:endParaRPr lang="en-US" sz="3000" dirty="0"/>
          </a:p>
        </p:txBody>
      </p:sp>
      <p:sp>
        <p:nvSpPr>
          <p:cNvPr id="3" name="Shape 1"/>
          <p:cNvSpPr/>
          <p:nvPr/>
        </p:nvSpPr>
        <p:spPr>
          <a:xfrm>
            <a:off x="457200" y="1625346"/>
            <a:ext cx="2011680" cy="54864"/>
          </a:xfrm>
          <a:prstGeom prst="rect">
            <a:avLst/>
          </a:prstGeom>
          <a:solidFill>
            <a:srgbClr val="9C27B0"/>
          </a:solidFill>
          <a:ln w="12700">
            <a:solidFill>
              <a:srgbClr val="9C27B0"/>
            </a:solidFill>
            <a:prstDash val="solid"/>
          </a:ln>
        </p:spPr>
        <p:txBody>
          <a:bodyPr/>
          <a:lstStyle/>
          <a:p>
            <a:endParaRPr lang="en-US"/>
          </a:p>
        </p:txBody>
      </p:sp>
      <p:sp>
        <p:nvSpPr>
          <p:cNvPr id="4" name="Shape 2"/>
          <p:cNvSpPr/>
          <p:nvPr/>
        </p:nvSpPr>
        <p:spPr>
          <a:xfrm>
            <a:off x="457200" y="1771650"/>
            <a:ext cx="5212080" cy="1097280"/>
          </a:xfrm>
          <a:prstGeom prst="roundRect">
            <a:avLst>
              <a:gd name="adj" fmla="val 6667"/>
            </a:avLst>
          </a:prstGeom>
          <a:solidFill>
            <a:srgbClr val="F3E5F5"/>
          </a:solidFill>
          <a:ln w="19050">
            <a:solidFill>
              <a:srgbClr val="9C27B0"/>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640080" y="1826514"/>
            <a:ext cx="4846320" cy="1005840"/>
          </a:xfrm>
          <a:prstGeom prst="rect">
            <a:avLst/>
          </a:prstGeom>
          <a:noFill/>
          <a:ln/>
        </p:spPr>
        <p:txBody>
          <a:bodyPr wrap="square" rtlCol="0" anchor="ctr"/>
          <a:lstStyle/>
          <a:p>
            <a:r>
              <a:rPr lang="en-US" sz="1300" b="1" dirty="0">
                <a:solidFill>
                  <a:srgbClr val="9C27B0"/>
                </a:solidFill>
                <a:latin typeface="Calibri" pitchFamily="34" charset="0"/>
                <a:ea typeface="Calibri" pitchFamily="34" charset="-122"/>
                <a:cs typeface="Calibri" pitchFamily="34" charset="-120"/>
              </a:rPr>
              <a:t>Definition
</a:t>
            </a:r>
            <a:r>
              <a:rPr lang="en-US" sz="1300" dirty="0">
                <a:solidFill>
                  <a:srgbClr val="0D1B2A"/>
                </a:solidFill>
                <a:latin typeface="Calibri" pitchFamily="34" charset="0"/>
                <a:ea typeface="Calibri" pitchFamily="34" charset="-122"/>
                <a:cs typeface="Calibri" pitchFamily="34" charset="-120"/>
              </a:rPr>
              <a:t>Tokens are </a:t>
            </a:r>
            <a:r>
              <a:rPr lang="en-US" sz="1300" b="1" dirty="0">
                <a:solidFill>
                  <a:srgbClr val="9C27B0"/>
                </a:solidFill>
                <a:latin typeface="Calibri" pitchFamily="34" charset="0"/>
                <a:ea typeface="Calibri" pitchFamily="34" charset="-122"/>
                <a:cs typeface="Calibri" pitchFamily="34" charset="-120"/>
              </a:rPr>
              <a:t>digital units of value</a:t>
            </a:r>
            <a:r>
              <a:rPr lang="en-US" sz="1300" dirty="0">
                <a:solidFill>
                  <a:srgbClr val="0D1B2A"/>
                </a:solidFill>
                <a:latin typeface="Calibri" pitchFamily="34" charset="0"/>
                <a:ea typeface="Calibri" pitchFamily="34" charset="-122"/>
                <a:cs typeface="Calibri" pitchFamily="34" charset="-120"/>
              </a:rPr>
              <a:t> created and managed on a blockchain. They can represent currency, ownership rights, access permissions, or almost anything of value.</a:t>
            </a:r>
            <a:endParaRPr lang="en-US" sz="1300" dirty="0"/>
          </a:p>
        </p:txBody>
      </p:sp>
      <p:sp>
        <p:nvSpPr>
          <p:cNvPr id="6" name="Shape 4"/>
          <p:cNvSpPr/>
          <p:nvPr/>
        </p:nvSpPr>
        <p:spPr>
          <a:xfrm>
            <a:off x="6035040" y="1771650"/>
            <a:ext cx="1371600" cy="1371600"/>
          </a:xfrm>
          <a:prstGeom prst="ellipse">
            <a:avLst/>
          </a:prstGeom>
          <a:solidFill>
            <a:srgbClr val="FFB300"/>
          </a:solidFill>
          <a:ln w="25400">
            <a:solidFill>
              <a:srgbClr val="F57F17"/>
            </a:solidFill>
            <a:prstDash val="solid"/>
          </a:ln>
          <a:effectLst>
            <a:outerShdw blurRad="101600" dist="38100" dir="2700000" algn="bl" rotWithShape="0">
              <a:srgbClr val="000000">
                <a:alpha val="18000"/>
              </a:srgbClr>
            </a:outerShdw>
          </a:effectLst>
        </p:spPr>
        <p:txBody>
          <a:bodyPr/>
          <a:lstStyle/>
          <a:p>
            <a:endParaRPr lang="en-US"/>
          </a:p>
        </p:txBody>
      </p:sp>
      <p:sp>
        <p:nvSpPr>
          <p:cNvPr id="7" name="Text 5"/>
          <p:cNvSpPr/>
          <p:nvPr/>
        </p:nvSpPr>
        <p:spPr>
          <a:xfrm>
            <a:off x="6035040" y="1771650"/>
            <a:ext cx="1371600" cy="1371600"/>
          </a:xfrm>
          <a:prstGeom prst="rect">
            <a:avLst/>
          </a:prstGeom>
          <a:noFill/>
          <a:ln/>
        </p:spPr>
        <p:txBody>
          <a:bodyPr wrap="square" lIns="0" tIns="0" rIns="0" bIns="0" rtlCol="0" anchor="ctr"/>
          <a:lstStyle/>
          <a:p>
            <a:pPr algn="ctr"/>
            <a:r>
              <a:rPr lang="en-US" sz="4600" dirty="0">
                <a:solidFill>
                  <a:srgbClr val="FFFFFF"/>
                </a:solidFill>
              </a:rPr>
              <a:t>₿</a:t>
            </a:r>
            <a:endParaRPr lang="en-US" sz="4600" dirty="0"/>
          </a:p>
        </p:txBody>
      </p:sp>
      <p:sp>
        <p:nvSpPr>
          <p:cNvPr id="8" name="Shape 6"/>
          <p:cNvSpPr/>
          <p:nvPr/>
        </p:nvSpPr>
        <p:spPr>
          <a:xfrm>
            <a:off x="7498080" y="2000250"/>
            <a:ext cx="1005840" cy="1005840"/>
          </a:xfrm>
          <a:prstGeom prst="ellipse">
            <a:avLst/>
          </a:prstGeom>
          <a:solidFill>
            <a:srgbClr val="627EEA"/>
          </a:solidFill>
          <a:ln w="25400">
            <a:solidFill>
              <a:srgbClr val="3C56C0"/>
            </a:solidFill>
            <a:prstDash val="solid"/>
          </a:ln>
          <a:effectLst>
            <a:outerShdw blurRad="101600" dist="38100" dir="2700000" algn="bl" rotWithShape="0">
              <a:srgbClr val="000000">
                <a:alpha val="18000"/>
              </a:srgbClr>
            </a:outerShdw>
          </a:effectLst>
        </p:spPr>
        <p:txBody>
          <a:bodyPr/>
          <a:lstStyle/>
          <a:p>
            <a:endParaRPr lang="en-US"/>
          </a:p>
        </p:txBody>
      </p:sp>
      <p:sp>
        <p:nvSpPr>
          <p:cNvPr id="9" name="Text 7"/>
          <p:cNvSpPr/>
          <p:nvPr/>
        </p:nvSpPr>
        <p:spPr>
          <a:xfrm>
            <a:off x="7498080" y="2000250"/>
            <a:ext cx="1005840" cy="1005840"/>
          </a:xfrm>
          <a:prstGeom prst="rect">
            <a:avLst/>
          </a:prstGeom>
          <a:noFill/>
          <a:ln/>
        </p:spPr>
        <p:txBody>
          <a:bodyPr wrap="square" lIns="0" tIns="0" rIns="0" bIns="0" rtlCol="0" anchor="ctr"/>
          <a:lstStyle/>
          <a:p>
            <a:pPr algn="ctr"/>
            <a:r>
              <a:rPr lang="en-US" sz="3400" dirty="0">
                <a:solidFill>
                  <a:srgbClr val="FFFFFF"/>
                </a:solidFill>
              </a:rPr>
              <a:t>Ξ</a:t>
            </a:r>
            <a:endParaRPr lang="en-US" sz="3400" dirty="0"/>
          </a:p>
        </p:txBody>
      </p:sp>
      <p:sp>
        <p:nvSpPr>
          <p:cNvPr id="10" name="Shape 8"/>
          <p:cNvSpPr/>
          <p:nvPr/>
        </p:nvSpPr>
        <p:spPr>
          <a:xfrm>
            <a:off x="457200" y="2978658"/>
            <a:ext cx="2697480" cy="1261872"/>
          </a:xfrm>
          <a:prstGeom prst="roundRect">
            <a:avLst>
              <a:gd name="adj" fmla="val 5072"/>
            </a:avLst>
          </a:prstGeom>
          <a:solidFill>
            <a:srgbClr val="F5F9FF"/>
          </a:solidFill>
          <a:ln w="19050">
            <a:solidFill>
              <a:srgbClr val="FFB300"/>
            </a:solidFill>
            <a:prstDash val="solid"/>
          </a:ln>
          <a:effectLst>
            <a:outerShdw blurRad="101600" dist="38100" dir="2700000" algn="bl" rotWithShape="0">
              <a:srgbClr val="000000">
                <a:alpha val="18000"/>
              </a:srgbClr>
            </a:outerShdw>
          </a:effectLst>
        </p:spPr>
        <p:txBody>
          <a:bodyPr/>
          <a:lstStyle/>
          <a:p>
            <a:endParaRPr lang="en-US"/>
          </a:p>
        </p:txBody>
      </p:sp>
      <p:sp>
        <p:nvSpPr>
          <p:cNvPr id="11" name="Text 9"/>
          <p:cNvSpPr/>
          <p:nvPr/>
        </p:nvSpPr>
        <p:spPr>
          <a:xfrm>
            <a:off x="457200" y="3051810"/>
            <a:ext cx="502920" cy="548640"/>
          </a:xfrm>
          <a:prstGeom prst="rect">
            <a:avLst/>
          </a:prstGeom>
          <a:noFill/>
          <a:ln/>
        </p:spPr>
        <p:txBody>
          <a:bodyPr wrap="square" lIns="0" tIns="0" rIns="0" bIns="0" rtlCol="0" anchor="ctr"/>
          <a:lstStyle/>
          <a:p>
            <a:pPr algn="ctr"/>
            <a:r>
              <a:rPr lang="en-US" sz="2000" dirty="0"/>
              <a:t>💰</a:t>
            </a:r>
          </a:p>
        </p:txBody>
      </p:sp>
      <p:sp>
        <p:nvSpPr>
          <p:cNvPr id="12" name="Text 10"/>
          <p:cNvSpPr/>
          <p:nvPr/>
        </p:nvSpPr>
        <p:spPr>
          <a:xfrm>
            <a:off x="914400" y="3051810"/>
            <a:ext cx="2148840" cy="292608"/>
          </a:xfrm>
          <a:prstGeom prst="rect">
            <a:avLst/>
          </a:prstGeom>
          <a:noFill/>
          <a:ln/>
        </p:spPr>
        <p:txBody>
          <a:bodyPr wrap="square" lIns="0" tIns="0" rIns="0" bIns="0" rtlCol="0" anchor="ctr"/>
          <a:lstStyle/>
          <a:p>
            <a:r>
              <a:rPr lang="en-US" sz="1200" b="1" dirty="0">
                <a:solidFill>
                  <a:srgbClr val="FFB300"/>
                </a:solidFill>
                <a:latin typeface="Calibri" pitchFamily="34" charset="0"/>
                <a:ea typeface="Calibri" pitchFamily="34" charset="-122"/>
                <a:cs typeface="Calibri" pitchFamily="34" charset="-120"/>
              </a:rPr>
              <a:t>Cryptocurrency</a:t>
            </a:r>
            <a:endParaRPr lang="en-US" sz="1200" dirty="0"/>
          </a:p>
        </p:txBody>
      </p:sp>
      <p:sp>
        <p:nvSpPr>
          <p:cNvPr id="13" name="Text 11"/>
          <p:cNvSpPr/>
          <p:nvPr/>
        </p:nvSpPr>
        <p:spPr>
          <a:xfrm>
            <a:off x="914400" y="3362706"/>
            <a:ext cx="2148840" cy="219456"/>
          </a:xfrm>
          <a:prstGeom prst="rect">
            <a:avLst/>
          </a:prstGeom>
          <a:noFill/>
          <a:ln/>
        </p:spPr>
        <p:txBody>
          <a:bodyPr wrap="square" lIns="0" tIns="0" rIns="0" bIns="0" rtlCol="0" anchor="ctr"/>
          <a:lstStyle/>
          <a:p>
            <a:r>
              <a:rPr lang="en-US" sz="950" i="1" dirty="0">
                <a:solidFill>
                  <a:srgbClr val="546E7A"/>
                </a:solidFill>
                <a:latin typeface="Calibri" pitchFamily="34" charset="0"/>
                <a:ea typeface="Calibri" pitchFamily="34" charset="-122"/>
                <a:cs typeface="Calibri" pitchFamily="34" charset="-120"/>
              </a:rPr>
              <a:t>e.g. Bitcoin (BTC)</a:t>
            </a:r>
            <a:endParaRPr lang="en-US" sz="950" dirty="0"/>
          </a:p>
        </p:txBody>
      </p:sp>
      <p:sp>
        <p:nvSpPr>
          <p:cNvPr id="14" name="Text 12"/>
          <p:cNvSpPr/>
          <p:nvPr/>
        </p:nvSpPr>
        <p:spPr>
          <a:xfrm>
            <a:off x="566928" y="3637026"/>
            <a:ext cx="2487168" cy="548640"/>
          </a:xfrm>
          <a:prstGeom prst="rect">
            <a:avLst/>
          </a:prstGeom>
          <a:noFill/>
          <a:ln/>
        </p:spPr>
        <p:txBody>
          <a:bodyPr wrap="square" lIns="0" tIns="0" rIns="0" bIns="0" rtlCol="0" anchor="ctr"/>
          <a:lstStyle/>
          <a:p>
            <a:r>
              <a:rPr lang="en-US" sz="1000" dirty="0">
                <a:solidFill>
                  <a:srgbClr val="0D1B2A"/>
                </a:solidFill>
                <a:latin typeface="Calibri" pitchFamily="34" charset="0"/>
                <a:ea typeface="Calibri" pitchFamily="34" charset="-122"/>
                <a:cs typeface="Calibri" pitchFamily="34" charset="-120"/>
              </a:rPr>
              <a:t>Digital money used as a medium of exchange. Not tied to physical assets.</a:t>
            </a:r>
            <a:endParaRPr lang="en-US" sz="1000" dirty="0"/>
          </a:p>
        </p:txBody>
      </p:sp>
      <p:sp>
        <p:nvSpPr>
          <p:cNvPr id="15" name="Shape 13"/>
          <p:cNvSpPr/>
          <p:nvPr/>
        </p:nvSpPr>
        <p:spPr>
          <a:xfrm>
            <a:off x="3337560" y="2978658"/>
            <a:ext cx="2697480" cy="1261872"/>
          </a:xfrm>
          <a:prstGeom prst="roundRect">
            <a:avLst>
              <a:gd name="adj" fmla="val 5072"/>
            </a:avLst>
          </a:prstGeom>
          <a:solidFill>
            <a:srgbClr val="F5F9FF"/>
          </a:solidFill>
          <a:ln w="1905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16" name="Text 14"/>
          <p:cNvSpPr/>
          <p:nvPr/>
        </p:nvSpPr>
        <p:spPr>
          <a:xfrm>
            <a:off x="3337560" y="3051810"/>
            <a:ext cx="502920" cy="548640"/>
          </a:xfrm>
          <a:prstGeom prst="rect">
            <a:avLst/>
          </a:prstGeom>
          <a:noFill/>
          <a:ln/>
        </p:spPr>
        <p:txBody>
          <a:bodyPr wrap="square" lIns="0" tIns="0" rIns="0" bIns="0" rtlCol="0" anchor="ctr"/>
          <a:lstStyle/>
          <a:p>
            <a:pPr algn="ctr"/>
            <a:r>
              <a:rPr lang="en-US" sz="2000" dirty="0"/>
              <a:t>🔑</a:t>
            </a:r>
          </a:p>
        </p:txBody>
      </p:sp>
      <p:sp>
        <p:nvSpPr>
          <p:cNvPr id="17" name="Text 15"/>
          <p:cNvSpPr/>
          <p:nvPr/>
        </p:nvSpPr>
        <p:spPr>
          <a:xfrm>
            <a:off x="3794760" y="3051810"/>
            <a:ext cx="2148840" cy="292608"/>
          </a:xfrm>
          <a:prstGeom prst="rect">
            <a:avLst/>
          </a:prstGeom>
          <a:noFill/>
          <a:ln/>
        </p:spPr>
        <p:txBody>
          <a:bodyPr wrap="square" lIns="0" tIns="0" rIns="0" bIns="0" rtlCol="0" anchor="ctr"/>
          <a:lstStyle/>
          <a:p>
            <a:r>
              <a:rPr lang="en-US" sz="1200" b="1" dirty="0">
                <a:solidFill>
                  <a:srgbClr val="1565C0"/>
                </a:solidFill>
                <a:latin typeface="Calibri" pitchFamily="34" charset="0"/>
                <a:ea typeface="Calibri" pitchFamily="34" charset="-122"/>
                <a:cs typeface="Calibri" pitchFamily="34" charset="-120"/>
              </a:rPr>
              <a:t>Utility Token</a:t>
            </a:r>
            <a:endParaRPr lang="en-US" sz="1200" dirty="0"/>
          </a:p>
        </p:txBody>
      </p:sp>
      <p:sp>
        <p:nvSpPr>
          <p:cNvPr id="18" name="Text 16"/>
          <p:cNvSpPr/>
          <p:nvPr/>
        </p:nvSpPr>
        <p:spPr>
          <a:xfrm>
            <a:off x="3794760" y="3362706"/>
            <a:ext cx="2148840" cy="219456"/>
          </a:xfrm>
          <a:prstGeom prst="rect">
            <a:avLst/>
          </a:prstGeom>
          <a:noFill/>
          <a:ln/>
        </p:spPr>
        <p:txBody>
          <a:bodyPr wrap="square" lIns="0" tIns="0" rIns="0" bIns="0" rtlCol="0" anchor="ctr"/>
          <a:lstStyle/>
          <a:p>
            <a:r>
              <a:rPr lang="en-US" sz="950" i="1" dirty="0">
                <a:solidFill>
                  <a:srgbClr val="546E7A"/>
                </a:solidFill>
                <a:latin typeface="Calibri" pitchFamily="34" charset="0"/>
                <a:ea typeface="Calibri" pitchFamily="34" charset="-122"/>
                <a:cs typeface="Calibri" pitchFamily="34" charset="-120"/>
              </a:rPr>
              <a:t>e.g. Ethereum (ETH)</a:t>
            </a:r>
            <a:endParaRPr lang="en-US" sz="950" dirty="0"/>
          </a:p>
        </p:txBody>
      </p:sp>
      <p:sp>
        <p:nvSpPr>
          <p:cNvPr id="19" name="Text 17"/>
          <p:cNvSpPr/>
          <p:nvPr/>
        </p:nvSpPr>
        <p:spPr>
          <a:xfrm>
            <a:off x="3447288" y="3637026"/>
            <a:ext cx="2487168" cy="548640"/>
          </a:xfrm>
          <a:prstGeom prst="rect">
            <a:avLst/>
          </a:prstGeom>
          <a:noFill/>
          <a:ln/>
        </p:spPr>
        <p:txBody>
          <a:bodyPr wrap="square" lIns="0" tIns="0" rIns="0" bIns="0" rtlCol="0" anchor="ctr"/>
          <a:lstStyle/>
          <a:p>
            <a:r>
              <a:rPr lang="en-US" sz="1000" dirty="0">
                <a:solidFill>
                  <a:srgbClr val="0D1B2A"/>
                </a:solidFill>
                <a:latin typeface="Calibri" pitchFamily="34" charset="0"/>
                <a:ea typeface="Calibri" pitchFamily="34" charset="-122"/>
                <a:cs typeface="Calibri" pitchFamily="34" charset="-120"/>
              </a:rPr>
              <a:t>Grants access to a product or service on a blockchain platform.</a:t>
            </a:r>
            <a:endParaRPr lang="en-US" sz="1000" dirty="0"/>
          </a:p>
        </p:txBody>
      </p:sp>
      <p:sp>
        <p:nvSpPr>
          <p:cNvPr id="20" name="Shape 18"/>
          <p:cNvSpPr/>
          <p:nvPr/>
        </p:nvSpPr>
        <p:spPr>
          <a:xfrm>
            <a:off x="6217920" y="2978658"/>
            <a:ext cx="2697480" cy="1261872"/>
          </a:xfrm>
          <a:prstGeom prst="roundRect">
            <a:avLst>
              <a:gd name="adj" fmla="val 5072"/>
            </a:avLst>
          </a:prstGeom>
          <a:solidFill>
            <a:srgbClr val="F5F9FF"/>
          </a:solidFill>
          <a:ln w="1905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21" name="Text 19"/>
          <p:cNvSpPr/>
          <p:nvPr/>
        </p:nvSpPr>
        <p:spPr>
          <a:xfrm>
            <a:off x="6217920" y="3051810"/>
            <a:ext cx="502920" cy="548640"/>
          </a:xfrm>
          <a:prstGeom prst="rect">
            <a:avLst/>
          </a:prstGeom>
          <a:noFill/>
          <a:ln/>
        </p:spPr>
        <p:txBody>
          <a:bodyPr wrap="square" lIns="0" tIns="0" rIns="0" bIns="0" rtlCol="0" anchor="ctr"/>
          <a:lstStyle/>
          <a:p>
            <a:pPr algn="ctr"/>
            <a:r>
              <a:rPr lang="en-US" sz="2000" dirty="0"/>
              <a:t>📜</a:t>
            </a:r>
          </a:p>
        </p:txBody>
      </p:sp>
      <p:sp>
        <p:nvSpPr>
          <p:cNvPr id="22" name="Text 20"/>
          <p:cNvSpPr/>
          <p:nvPr/>
        </p:nvSpPr>
        <p:spPr>
          <a:xfrm>
            <a:off x="6675120" y="3051810"/>
            <a:ext cx="2148840" cy="292608"/>
          </a:xfrm>
          <a:prstGeom prst="rect">
            <a:avLst/>
          </a:prstGeom>
          <a:noFill/>
          <a:ln/>
        </p:spPr>
        <p:txBody>
          <a:bodyPr wrap="square" lIns="0" tIns="0" rIns="0" bIns="0" rtlCol="0" anchor="ctr"/>
          <a:lstStyle/>
          <a:p>
            <a:r>
              <a:rPr lang="en-US" sz="1200" b="1" dirty="0">
                <a:solidFill>
                  <a:srgbClr val="00897B"/>
                </a:solidFill>
                <a:latin typeface="Calibri" pitchFamily="34" charset="0"/>
                <a:ea typeface="Calibri" pitchFamily="34" charset="-122"/>
                <a:cs typeface="Calibri" pitchFamily="34" charset="-120"/>
              </a:rPr>
              <a:t>Security Token</a:t>
            </a:r>
            <a:endParaRPr lang="en-US" sz="1200" dirty="0"/>
          </a:p>
        </p:txBody>
      </p:sp>
      <p:sp>
        <p:nvSpPr>
          <p:cNvPr id="23" name="Text 21"/>
          <p:cNvSpPr/>
          <p:nvPr/>
        </p:nvSpPr>
        <p:spPr>
          <a:xfrm>
            <a:off x="6675120" y="3362706"/>
            <a:ext cx="2148840" cy="219456"/>
          </a:xfrm>
          <a:prstGeom prst="rect">
            <a:avLst/>
          </a:prstGeom>
          <a:noFill/>
          <a:ln/>
        </p:spPr>
        <p:txBody>
          <a:bodyPr wrap="square" lIns="0" tIns="0" rIns="0" bIns="0" rtlCol="0" anchor="ctr"/>
          <a:lstStyle/>
          <a:p>
            <a:r>
              <a:rPr lang="en-US" sz="950" i="1" dirty="0">
                <a:solidFill>
                  <a:srgbClr val="546E7A"/>
                </a:solidFill>
                <a:latin typeface="Calibri" pitchFamily="34" charset="0"/>
                <a:ea typeface="Calibri" pitchFamily="34" charset="-122"/>
                <a:cs typeface="Calibri" pitchFamily="34" charset="-120"/>
              </a:rPr>
              <a:t>e.g. Tokenized stocks</a:t>
            </a:r>
            <a:endParaRPr lang="en-US" sz="950" dirty="0"/>
          </a:p>
        </p:txBody>
      </p:sp>
      <p:sp>
        <p:nvSpPr>
          <p:cNvPr id="24" name="Text 22"/>
          <p:cNvSpPr/>
          <p:nvPr/>
        </p:nvSpPr>
        <p:spPr>
          <a:xfrm>
            <a:off x="6327648" y="3637026"/>
            <a:ext cx="2487168" cy="548640"/>
          </a:xfrm>
          <a:prstGeom prst="rect">
            <a:avLst/>
          </a:prstGeom>
          <a:noFill/>
          <a:ln/>
        </p:spPr>
        <p:txBody>
          <a:bodyPr wrap="square" lIns="0" tIns="0" rIns="0" bIns="0" rtlCol="0" anchor="ctr"/>
          <a:lstStyle/>
          <a:p>
            <a:r>
              <a:rPr lang="en-US" sz="1000" dirty="0">
                <a:solidFill>
                  <a:srgbClr val="0D1B2A"/>
                </a:solidFill>
                <a:latin typeface="Calibri" pitchFamily="34" charset="0"/>
                <a:ea typeface="Calibri" pitchFamily="34" charset="-122"/>
                <a:cs typeface="Calibri" pitchFamily="34" charset="-120"/>
              </a:rPr>
              <a:t>Represents ownership in a real-world asset; regulated like securities.</a:t>
            </a:r>
            <a:endParaRPr lang="en-US" sz="1000" dirty="0"/>
          </a:p>
        </p:txBody>
      </p:sp>
      <p:sp>
        <p:nvSpPr>
          <p:cNvPr id="25" name="Shape 23"/>
          <p:cNvSpPr/>
          <p:nvPr/>
        </p:nvSpPr>
        <p:spPr>
          <a:xfrm>
            <a:off x="457200" y="4395978"/>
            <a:ext cx="2697480" cy="1261872"/>
          </a:xfrm>
          <a:prstGeom prst="roundRect">
            <a:avLst>
              <a:gd name="adj" fmla="val 5072"/>
            </a:avLst>
          </a:prstGeom>
          <a:solidFill>
            <a:srgbClr val="F5F9FF"/>
          </a:solidFill>
          <a:ln w="19050">
            <a:solidFill>
              <a:srgbClr val="9C27B0"/>
            </a:solidFill>
            <a:prstDash val="solid"/>
          </a:ln>
          <a:effectLst>
            <a:outerShdw blurRad="101600" dist="38100" dir="2700000" algn="bl" rotWithShape="0">
              <a:srgbClr val="000000">
                <a:alpha val="18000"/>
              </a:srgbClr>
            </a:outerShdw>
          </a:effectLst>
        </p:spPr>
        <p:txBody>
          <a:bodyPr/>
          <a:lstStyle/>
          <a:p>
            <a:endParaRPr lang="en-US"/>
          </a:p>
        </p:txBody>
      </p:sp>
      <p:sp>
        <p:nvSpPr>
          <p:cNvPr id="26" name="Text 24"/>
          <p:cNvSpPr/>
          <p:nvPr/>
        </p:nvSpPr>
        <p:spPr>
          <a:xfrm>
            <a:off x="457200" y="4469130"/>
            <a:ext cx="502920" cy="548640"/>
          </a:xfrm>
          <a:prstGeom prst="rect">
            <a:avLst/>
          </a:prstGeom>
          <a:noFill/>
          <a:ln/>
        </p:spPr>
        <p:txBody>
          <a:bodyPr wrap="square" lIns="0" tIns="0" rIns="0" bIns="0" rtlCol="0" anchor="ctr"/>
          <a:lstStyle/>
          <a:p>
            <a:pPr algn="ctr"/>
            <a:r>
              <a:rPr lang="en-US" sz="2000" dirty="0"/>
              <a:t>🎨</a:t>
            </a:r>
          </a:p>
        </p:txBody>
      </p:sp>
      <p:sp>
        <p:nvSpPr>
          <p:cNvPr id="27" name="Text 25"/>
          <p:cNvSpPr/>
          <p:nvPr/>
        </p:nvSpPr>
        <p:spPr>
          <a:xfrm>
            <a:off x="914400" y="4469130"/>
            <a:ext cx="2148840" cy="292608"/>
          </a:xfrm>
          <a:prstGeom prst="rect">
            <a:avLst/>
          </a:prstGeom>
          <a:noFill/>
          <a:ln/>
        </p:spPr>
        <p:txBody>
          <a:bodyPr wrap="square" lIns="0" tIns="0" rIns="0" bIns="0" rtlCol="0" anchor="ctr"/>
          <a:lstStyle/>
          <a:p>
            <a:r>
              <a:rPr lang="en-US" sz="1200" b="1" dirty="0">
                <a:solidFill>
                  <a:srgbClr val="9C27B0"/>
                </a:solidFill>
                <a:latin typeface="Calibri" pitchFamily="34" charset="0"/>
                <a:ea typeface="Calibri" pitchFamily="34" charset="-122"/>
                <a:cs typeface="Calibri" pitchFamily="34" charset="-120"/>
              </a:rPr>
              <a:t>NFT</a:t>
            </a:r>
            <a:endParaRPr lang="en-US" sz="1200" dirty="0"/>
          </a:p>
        </p:txBody>
      </p:sp>
      <p:sp>
        <p:nvSpPr>
          <p:cNvPr id="28" name="Text 26"/>
          <p:cNvSpPr/>
          <p:nvPr/>
        </p:nvSpPr>
        <p:spPr>
          <a:xfrm>
            <a:off x="914400" y="4780026"/>
            <a:ext cx="2148840" cy="219456"/>
          </a:xfrm>
          <a:prstGeom prst="rect">
            <a:avLst/>
          </a:prstGeom>
          <a:noFill/>
          <a:ln/>
        </p:spPr>
        <p:txBody>
          <a:bodyPr wrap="square" lIns="0" tIns="0" rIns="0" bIns="0" rtlCol="0" anchor="ctr"/>
          <a:lstStyle/>
          <a:p>
            <a:r>
              <a:rPr lang="en-US" sz="950" i="1" dirty="0">
                <a:solidFill>
                  <a:srgbClr val="546E7A"/>
                </a:solidFill>
                <a:latin typeface="Calibri" pitchFamily="34" charset="0"/>
                <a:ea typeface="Calibri" pitchFamily="34" charset="-122"/>
                <a:cs typeface="Calibri" pitchFamily="34" charset="-120"/>
              </a:rPr>
              <a:t>e.g. CryptoKitties</a:t>
            </a:r>
            <a:endParaRPr lang="en-US" sz="950" dirty="0"/>
          </a:p>
        </p:txBody>
      </p:sp>
      <p:sp>
        <p:nvSpPr>
          <p:cNvPr id="29" name="Text 27"/>
          <p:cNvSpPr/>
          <p:nvPr/>
        </p:nvSpPr>
        <p:spPr>
          <a:xfrm>
            <a:off x="566928" y="5054346"/>
            <a:ext cx="2487168" cy="548640"/>
          </a:xfrm>
          <a:prstGeom prst="rect">
            <a:avLst/>
          </a:prstGeom>
          <a:noFill/>
          <a:ln/>
        </p:spPr>
        <p:txBody>
          <a:bodyPr wrap="square" lIns="0" tIns="0" rIns="0" bIns="0" rtlCol="0" anchor="ctr"/>
          <a:lstStyle/>
          <a:p>
            <a:r>
              <a:rPr lang="en-US" sz="1000" dirty="0">
                <a:solidFill>
                  <a:srgbClr val="0D1B2A"/>
                </a:solidFill>
                <a:latin typeface="Calibri" pitchFamily="34" charset="0"/>
                <a:ea typeface="Calibri" pitchFamily="34" charset="-122"/>
                <a:cs typeface="Calibri" pitchFamily="34" charset="-120"/>
              </a:rPr>
              <a:t>Non-fungible token — unique, one-of-a-kind digital asset or collectible.</a:t>
            </a:r>
            <a:endParaRPr lang="en-US" sz="1000" dirty="0"/>
          </a:p>
        </p:txBody>
      </p:sp>
      <p:sp>
        <p:nvSpPr>
          <p:cNvPr id="30" name="Shape 28"/>
          <p:cNvSpPr/>
          <p:nvPr/>
        </p:nvSpPr>
        <p:spPr>
          <a:xfrm>
            <a:off x="3337560" y="4395978"/>
            <a:ext cx="2697480" cy="1261872"/>
          </a:xfrm>
          <a:prstGeom prst="roundRect">
            <a:avLst>
              <a:gd name="adj" fmla="val 5072"/>
            </a:avLst>
          </a:prstGeom>
          <a:solidFill>
            <a:srgbClr val="F5F9FF"/>
          </a:solidFill>
          <a:ln w="19050">
            <a:solidFill>
              <a:srgbClr val="43A047"/>
            </a:solidFill>
            <a:prstDash val="solid"/>
          </a:ln>
          <a:effectLst>
            <a:outerShdw blurRad="101600" dist="38100" dir="2700000" algn="bl" rotWithShape="0">
              <a:srgbClr val="000000">
                <a:alpha val="18000"/>
              </a:srgbClr>
            </a:outerShdw>
          </a:effectLst>
        </p:spPr>
        <p:txBody>
          <a:bodyPr/>
          <a:lstStyle/>
          <a:p>
            <a:endParaRPr lang="en-US"/>
          </a:p>
        </p:txBody>
      </p:sp>
      <p:sp>
        <p:nvSpPr>
          <p:cNvPr id="31" name="Text 29"/>
          <p:cNvSpPr/>
          <p:nvPr/>
        </p:nvSpPr>
        <p:spPr>
          <a:xfrm>
            <a:off x="3337560" y="4469130"/>
            <a:ext cx="502920" cy="548640"/>
          </a:xfrm>
          <a:prstGeom prst="rect">
            <a:avLst/>
          </a:prstGeom>
          <a:noFill/>
          <a:ln/>
        </p:spPr>
        <p:txBody>
          <a:bodyPr wrap="square" lIns="0" tIns="0" rIns="0" bIns="0" rtlCol="0" anchor="ctr"/>
          <a:lstStyle/>
          <a:p>
            <a:pPr algn="ctr"/>
            <a:r>
              <a:rPr lang="en-US" sz="2000" dirty="0"/>
              <a:t>⚓</a:t>
            </a:r>
          </a:p>
        </p:txBody>
      </p:sp>
      <p:sp>
        <p:nvSpPr>
          <p:cNvPr id="32" name="Text 30"/>
          <p:cNvSpPr/>
          <p:nvPr/>
        </p:nvSpPr>
        <p:spPr>
          <a:xfrm>
            <a:off x="3794760" y="4469130"/>
            <a:ext cx="2148840" cy="292608"/>
          </a:xfrm>
          <a:prstGeom prst="rect">
            <a:avLst/>
          </a:prstGeom>
          <a:noFill/>
          <a:ln/>
        </p:spPr>
        <p:txBody>
          <a:bodyPr wrap="square" lIns="0" tIns="0" rIns="0" bIns="0" rtlCol="0" anchor="ctr"/>
          <a:lstStyle/>
          <a:p>
            <a:r>
              <a:rPr lang="en-US" sz="1200" b="1" dirty="0">
                <a:solidFill>
                  <a:srgbClr val="43A047"/>
                </a:solidFill>
                <a:latin typeface="Calibri" pitchFamily="34" charset="0"/>
                <a:ea typeface="Calibri" pitchFamily="34" charset="-122"/>
                <a:cs typeface="Calibri" pitchFamily="34" charset="-120"/>
              </a:rPr>
              <a:t>Stablecoin</a:t>
            </a:r>
            <a:endParaRPr lang="en-US" sz="1200" dirty="0"/>
          </a:p>
        </p:txBody>
      </p:sp>
      <p:sp>
        <p:nvSpPr>
          <p:cNvPr id="33" name="Text 31"/>
          <p:cNvSpPr/>
          <p:nvPr/>
        </p:nvSpPr>
        <p:spPr>
          <a:xfrm>
            <a:off x="3794760" y="4780026"/>
            <a:ext cx="2148840" cy="219456"/>
          </a:xfrm>
          <a:prstGeom prst="rect">
            <a:avLst/>
          </a:prstGeom>
          <a:noFill/>
          <a:ln/>
        </p:spPr>
        <p:txBody>
          <a:bodyPr wrap="square" lIns="0" tIns="0" rIns="0" bIns="0" rtlCol="0" anchor="ctr"/>
          <a:lstStyle/>
          <a:p>
            <a:r>
              <a:rPr lang="en-US" sz="950" i="1" dirty="0">
                <a:solidFill>
                  <a:srgbClr val="546E7A"/>
                </a:solidFill>
                <a:latin typeface="Calibri" pitchFamily="34" charset="0"/>
                <a:ea typeface="Calibri" pitchFamily="34" charset="-122"/>
                <a:cs typeface="Calibri" pitchFamily="34" charset="-120"/>
              </a:rPr>
              <a:t>e.g. USDC, Tether</a:t>
            </a:r>
            <a:endParaRPr lang="en-US" sz="950" dirty="0"/>
          </a:p>
        </p:txBody>
      </p:sp>
      <p:sp>
        <p:nvSpPr>
          <p:cNvPr id="34" name="Text 32"/>
          <p:cNvSpPr/>
          <p:nvPr/>
        </p:nvSpPr>
        <p:spPr>
          <a:xfrm>
            <a:off x="3447288" y="5054346"/>
            <a:ext cx="2487168" cy="548640"/>
          </a:xfrm>
          <a:prstGeom prst="rect">
            <a:avLst/>
          </a:prstGeom>
          <a:noFill/>
          <a:ln/>
        </p:spPr>
        <p:txBody>
          <a:bodyPr wrap="square" lIns="0" tIns="0" rIns="0" bIns="0" rtlCol="0" anchor="ctr"/>
          <a:lstStyle/>
          <a:p>
            <a:r>
              <a:rPr lang="en-US" sz="1000" dirty="0">
                <a:solidFill>
                  <a:srgbClr val="0D1B2A"/>
                </a:solidFill>
                <a:latin typeface="Calibri" pitchFamily="34" charset="0"/>
                <a:ea typeface="Calibri" pitchFamily="34" charset="-122"/>
                <a:cs typeface="Calibri" pitchFamily="34" charset="-120"/>
              </a:rPr>
              <a:t>Pegged to a stable asset (like USD) to minimize price volatility.</a:t>
            </a:r>
            <a:endParaRPr lang="en-US" sz="1000" dirty="0"/>
          </a:p>
        </p:txBody>
      </p:sp>
      <p:sp>
        <p:nvSpPr>
          <p:cNvPr id="35" name="Shape 33"/>
          <p:cNvSpPr/>
          <p:nvPr/>
        </p:nvSpPr>
        <p:spPr>
          <a:xfrm>
            <a:off x="6217920" y="4395978"/>
            <a:ext cx="2697480" cy="1261872"/>
          </a:xfrm>
          <a:prstGeom prst="roundRect">
            <a:avLst>
              <a:gd name="adj" fmla="val 5072"/>
            </a:avLst>
          </a:prstGeom>
          <a:solidFill>
            <a:srgbClr val="F5F9FF"/>
          </a:solidFill>
          <a:ln w="19050">
            <a:solidFill>
              <a:srgbClr val="F57C00"/>
            </a:solidFill>
            <a:prstDash val="solid"/>
          </a:ln>
          <a:effectLst>
            <a:outerShdw blurRad="101600" dist="38100" dir="2700000" algn="bl" rotWithShape="0">
              <a:srgbClr val="000000">
                <a:alpha val="18000"/>
              </a:srgbClr>
            </a:outerShdw>
          </a:effectLst>
        </p:spPr>
        <p:txBody>
          <a:bodyPr/>
          <a:lstStyle/>
          <a:p>
            <a:endParaRPr lang="en-US"/>
          </a:p>
        </p:txBody>
      </p:sp>
      <p:sp>
        <p:nvSpPr>
          <p:cNvPr id="36" name="Text 34"/>
          <p:cNvSpPr/>
          <p:nvPr/>
        </p:nvSpPr>
        <p:spPr>
          <a:xfrm>
            <a:off x="6217920" y="4469130"/>
            <a:ext cx="502920" cy="548640"/>
          </a:xfrm>
          <a:prstGeom prst="rect">
            <a:avLst/>
          </a:prstGeom>
          <a:noFill/>
          <a:ln/>
        </p:spPr>
        <p:txBody>
          <a:bodyPr wrap="square" lIns="0" tIns="0" rIns="0" bIns="0" rtlCol="0" anchor="ctr"/>
          <a:lstStyle/>
          <a:p>
            <a:pPr algn="ctr"/>
            <a:r>
              <a:rPr lang="en-US" sz="2000" dirty="0"/>
              <a:t>🗳</a:t>
            </a:r>
          </a:p>
        </p:txBody>
      </p:sp>
      <p:sp>
        <p:nvSpPr>
          <p:cNvPr id="37" name="Text 35"/>
          <p:cNvSpPr/>
          <p:nvPr/>
        </p:nvSpPr>
        <p:spPr>
          <a:xfrm>
            <a:off x="6675120" y="4469130"/>
            <a:ext cx="2148840" cy="292608"/>
          </a:xfrm>
          <a:prstGeom prst="rect">
            <a:avLst/>
          </a:prstGeom>
          <a:noFill/>
          <a:ln/>
        </p:spPr>
        <p:txBody>
          <a:bodyPr wrap="square" lIns="0" tIns="0" rIns="0" bIns="0" rtlCol="0" anchor="ctr"/>
          <a:lstStyle/>
          <a:p>
            <a:r>
              <a:rPr lang="en-US" sz="1200" b="1" dirty="0">
                <a:solidFill>
                  <a:srgbClr val="F57C00"/>
                </a:solidFill>
                <a:latin typeface="Calibri" pitchFamily="34" charset="0"/>
                <a:ea typeface="Calibri" pitchFamily="34" charset="-122"/>
                <a:cs typeface="Calibri" pitchFamily="34" charset="-120"/>
              </a:rPr>
              <a:t>Governance Token</a:t>
            </a:r>
            <a:endParaRPr lang="en-US" sz="1200" dirty="0"/>
          </a:p>
        </p:txBody>
      </p:sp>
      <p:sp>
        <p:nvSpPr>
          <p:cNvPr id="38" name="Text 36"/>
          <p:cNvSpPr/>
          <p:nvPr/>
        </p:nvSpPr>
        <p:spPr>
          <a:xfrm>
            <a:off x="6675120" y="4780026"/>
            <a:ext cx="2148840" cy="219456"/>
          </a:xfrm>
          <a:prstGeom prst="rect">
            <a:avLst/>
          </a:prstGeom>
          <a:noFill/>
          <a:ln/>
        </p:spPr>
        <p:txBody>
          <a:bodyPr wrap="square" lIns="0" tIns="0" rIns="0" bIns="0" rtlCol="0" anchor="ctr"/>
          <a:lstStyle/>
          <a:p>
            <a:r>
              <a:rPr lang="en-US" sz="950" i="1" dirty="0">
                <a:solidFill>
                  <a:srgbClr val="546E7A"/>
                </a:solidFill>
                <a:latin typeface="Calibri" pitchFamily="34" charset="0"/>
                <a:ea typeface="Calibri" pitchFamily="34" charset="-122"/>
                <a:cs typeface="Calibri" pitchFamily="34" charset="-120"/>
              </a:rPr>
              <a:t>e.g. Uniswap (UNI)</a:t>
            </a:r>
            <a:endParaRPr lang="en-US" sz="950" dirty="0"/>
          </a:p>
        </p:txBody>
      </p:sp>
      <p:sp>
        <p:nvSpPr>
          <p:cNvPr id="39" name="Text 37"/>
          <p:cNvSpPr/>
          <p:nvPr/>
        </p:nvSpPr>
        <p:spPr>
          <a:xfrm>
            <a:off x="6327648" y="5054346"/>
            <a:ext cx="2487168" cy="548640"/>
          </a:xfrm>
          <a:prstGeom prst="rect">
            <a:avLst/>
          </a:prstGeom>
          <a:noFill/>
          <a:ln/>
        </p:spPr>
        <p:txBody>
          <a:bodyPr wrap="square" lIns="0" tIns="0" rIns="0" bIns="0" rtlCol="0" anchor="ctr"/>
          <a:lstStyle/>
          <a:p>
            <a:r>
              <a:rPr lang="en-US" sz="1000" dirty="0">
                <a:solidFill>
                  <a:srgbClr val="0D1B2A"/>
                </a:solidFill>
                <a:latin typeface="Calibri" pitchFamily="34" charset="0"/>
                <a:ea typeface="Calibri" pitchFamily="34" charset="-122"/>
                <a:cs typeface="Calibri" pitchFamily="34" charset="-120"/>
              </a:rPr>
              <a:t>Grants voting rights in a decentralized organization (DAO).</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49580"/>
            <a:ext cx="8229600" cy="548640"/>
          </a:xfrm>
          <a:prstGeom prst="rect">
            <a:avLst/>
          </a:prstGeom>
          <a:noFill/>
          <a:ln/>
        </p:spPr>
        <p:txBody>
          <a:bodyPr wrap="square" rtlCol="0" anchor="ctr"/>
          <a:lstStyle/>
          <a:p>
            <a:r>
              <a:rPr lang="en-US" sz="2400" b="1" dirty="0">
                <a:solidFill>
                  <a:srgbClr val="0D1B2A"/>
                </a:solidFill>
                <a:latin typeface="Cambria" pitchFamily="34" charset="0"/>
                <a:ea typeface="Cambria" pitchFamily="34" charset="-122"/>
                <a:cs typeface="Cambria" pitchFamily="34" charset="-120"/>
              </a:rPr>
              <a:t>Coins vs Tokens — What's the Difference?</a:t>
            </a:r>
            <a:endParaRPr lang="en-US" sz="2400" dirty="0"/>
          </a:p>
        </p:txBody>
      </p:sp>
      <p:sp>
        <p:nvSpPr>
          <p:cNvPr id="3" name="Shape 1"/>
          <p:cNvSpPr/>
          <p:nvPr/>
        </p:nvSpPr>
        <p:spPr>
          <a:xfrm>
            <a:off x="457200" y="1607058"/>
            <a:ext cx="8229600" cy="27432"/>
          </a:xfrm>
          <a:prstGeom prst="rect">
            <a:avLst/>
          </a:prstGeom>
          <a:solidFill>
            <a:srgbClr val="FFB300"/>
          </a:solidFill>
          <a:ln w="12700">
            <a:solidFill>
              <a:srgbClr val="FFB300"/>
            </a:solidFill>
            <a:prstDash val="solid"/>
          </a:ln>
        </p:spPr>
        <p:txBody>
          <a:bodyPr/>
          <a:lstStyle/>
          <a:p>
            <a:endParaRPr lang="en-US"/>
          </a:p>
        </p:txBody>
      </p:sp>
      <p:sp>
        <p:nvSpPr>
          <p:cNvPr id="4" name="Shape 2"/>
          <p:cNvSpPr/>
          <p:nvPr/>
        </p:nvSpPr>
        <p:spPr>
          <a:xfrm>
            <a:off x="457200" y="1771650"/>
            <a:ext cx="4114800" cy="3886200"/>
          </a:xfrm>
          <a:prstGeom prst="roundRect">
            <a:avLst>
              <a:gd name="adj" fmla="val 1882"/>
            </a:avLst>
          </a:prstGeom>
          <a:solidFill>
            <a:srgbClr val="FFFDE7"/>
          </a:solidFill>
          <a:ln w="25400">
            <a:solidFill>
              <a:srgbClr val="FFB300"/>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640080" y="1863090"/>
            <a:ext cx="3749040" cy="457200"/>
          </a:xfrm>
          <a:prstGeom prst="rect">
            <a:avLst/>
          </a:prstGeom>
          <a:noFill/>
          <a:ln/>
        </p:spPr>
        <p:txBody>
          <a:bodyPr wrap="square" rtlCol="0" anchor="ctr"/>
          <a:lstStyle/>
          <a:p>
            <a:r>
              <a:rPr lang="en-US" sz="1800" b="1" dirty="0">
                <a:solidFill>
                  <a:srgbClr val="FFB300"/>
                </a:solidFill>
                <a:latin typeface="Calibri" pitchFamily="34" charset="0"/>
                <a:ea typeface="Calibri" pitchFamily="34" charset="-122"/>
                <a:cs typeface="Calibri" pitchFamily="34" charset="-120"/>
              </a:rPr>
              <a:t>🪙  Coins</a:t>
            </a:r>
            <a:endParaRPr lang="en-US" sz="1800" dirty="0"/>
          </a:p>
        </p:txBody>
      </p:sp>
      <p:sp>
        <p:nvSpPr>
          <p:cNvPr id="6" name="Shape 4"/>
          <p:cNvSpPr/>
          <p:nvPr/>
        </p:nvSpPr>
        <p:spPr>
          <a:xfrm>
            <a:off x="640080" y="2338578"/>
            <a:ext cx="3749040" cy="27432"/>
          </a:xfrm>
          <a:prstGeom prst="rect">
            <a:avLst/>
          </a:prstGeom>
          <a:solidFill>
            <a:srgbClr val="FFB300"/>
          </a:solidFill>
          <a:ln w="12700">
            <a:solidFill>
              <a:srgbClr val="FFB300"/>
            </a:solidFill>
            <a:prstDash val="solid"/>
          </a:ln>
        </p:spPr>
        <p:txBody>
          <a:bodyPr/>
          <a:lstStyle/>
          <a:p>
            <a:endParaRPr lang="en-US"/>
          </a:p>
        </p:txBody>
      </p:sp>
      <p:sp>
        <p:nvSpPr>
          <p:cNvPr id="7" name="Text 5"/>
          <p:cNvSpPr/>
          <p:nvPr/>
        </p:nvSpPr>
        <p:spPr>
          <a:xfrm>
            <a:off x="640080" y="2430018"/>
            <a:ext cx="3749040" cy="3017520"/>
          </a:xfrm>
          <a:prstGeom prst="rect">
            <a:avLst/>
          </a:prstGeom>
          <a:noFill/>
          <a:ln/>
        </p:spPr>
        <p:txBody>
          <a:bodyPr wrap="square" rtlCol="0" anchor="ctr"/>
          <a:lstStyle/>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Native to their own blockchain</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Primarily used as digital currency</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Examples: Bitcoin (BTC), Ether (ETH), Litecoin</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Required to pay network transaction fees ("gas")</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Cannot exist without their native chain</a:t>
            </a:r>
            <a:endParaRPr lang="en-US" sz="1300" dirty="0"/>
          </a:p>
        </p:txBody>
      </p:sp>
      <p:sp>
        <p:nvSpPr>
          <p:cNvPr id="8" name="Shape 6"/>
          <p:cNvSpPr/>
          <p:nvPr/>
        </p:nvSpPr>
        <p:spPr>
          <a:xfrm>
            <a:off x="4800600" y="1771650"/>
            <a:ext cx="4114800" cy="3886200"/>
          </a:xfrm>
          <a:prstGeom prst="roundRect">
            <a:avLst>
              <a:gd name="adj" fmla="val 1882"/>
            </a:avLst>
          </a:prstGeom>
          <a:solidFill>
            <a:srgbClr val="F3E5F5"/>
          </a:solidFill>
          <a:ln w="25400">
            <a:solidFill>
              <a:srgbClr val="9C27B0"/>
            </a:solidFill>
            <a:prstDash val="solid"/>
          </a:ln>
          <a:effectLst>
            <a:outerShdw blurRad="101600" dist="38100" dir="2700000" algn="bl" rotWithShape="0">
              <a:srgbClr val="000000">
                <a:alpha val="18000"/>
              </a:srgbClr>
            </a:outerShdw>
          </a:effectLst>
        </p:spPr>
        <p:txBody>
          <a:bodyPr/>
          <a:lstStyle/>
          <a:p>
            <a:endParaRPr lang="en-US"/>
          </a:p>
        </p:txBody>
      </p:sp>
      <p:sp>
        <p:nvSpPr>
          <p:cNvPr id="9" name="Text 7"/>
          <p:cNvSpPr/>
          <p:nvPr/>
        </p:nvSpPr>
        <p:spPr>
          <a:xfrm>
            <a:off x="4983480" y="1863090"/>
            <a:ext cx="3749040" cy="457200"/>
          </a:xfrm>
          <a:prstGeom prst="rect">
            <a:avLst/>
          </a:prstGeom>
          <a:noFill/>
          <a:ln/>
        </p:spPr>
        <p:txBody>
          <a:bodyPr wrap="square" rtlCol="0" anchor="ctr"/>
          <a:lstStyle/>
          <a:p>
            <a:r>
              <a:rPr lang="en-US" sz="1800" b="1" dirty="0">
                <a:solidFill>
                  <a:srgbClr val="9C27B0"/>
                </a:solidFill>
                <a:latin typeface="Calibri" pitchFamily="34" charset="0"/>
                <a:ea typeface="Calibri" pitchFamily="34" charset="-122"/>
                <a:cs typeface="Calibri" pitchFamily="34" charset="-120"/>
              </a:rPr>
              <a:t>🎟  Tokens</a:t>
            </a:r>
            <a:endParaRPr lang="en-US" sz="1800" dirty="0"/>
          </a:p>
        </p:txBody>
      </p:sp>
      <p:sp>
        <p:nvSpPr>
          <p:cNvPr id="10" name="Shape 8"/>
          <p:cNvSpPr/>
          <p:nvPr/>
        </p:nvSpPr>
        <p:spPr>
          <a:xfrm>
            <a:off x="4983480" y="2338578"/>
            <a:ext cx="3749040" cy="27432"/>
          </a:xfrm>
          <a:prstGeom prst="rect">
            <a:avLst/>
          </a:prstGeom>
          <a:solidFill>
            <a:srgbClr val="9C27B0"/>
          </a:solidFill>
          <a:ln w="12700">
            <a:solidFill>
              <a:srgbClr val="9C27B0"/>
            </a:solidFill>
            <a:prstDash val="solid"/>
          </a:ln>
        </p:spPr>
        <p:txBody>
          <a:bodyPr/>
          <a:lstStyle/>
          <a:p>
            <a:endParaRPr lang="en-US"/>
          </a:p>
        </p:txBody>
      </p:sp>
      <p:sp>
        <p:nvSpPr>
          <p:cNvPr id="11" name="Text 9"/>
          <p:cNvSpPr/>
          <p:nvPr/>
        </p:nvSpPr>
        <p:spPr>
          <a:xfrm>
            <a:off x="4983480" y="2430018"/>
            <a:ext cx="3749040" cy="3017520"/>
          </a:xfrm>
          <a:prstGeom prst="rect">
            <a:avLst/>
          </a:prstGeom>
          <a:noFill/>
          <a:ln/>
        </p:spPr>
        <p:txBody>
          <a:bodyPr wrap="square" rtlCol="0" anchor="ctr"/>
          <a:lstStyle/>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Built on top of an existing blockchain</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Can represent currency, assets, or rights</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Examples: USDC, Uniswap (UNI), NFTs</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Use the host chain's coin for transaction fees</a:t>
            </a:r>
            <a:endParaRPr lang="en-US" sz="1300" dirty="0"/>
          </a:p>
          <a:p>
            <a:pPr marL="342900" indent="-342900">
              <a:spcAft>
                <a:spcPts val="600"/>
              </a:spcAft>
              <a:buSzPct val="100000"/>
              <a:buChar char="•"/>
            </a:pPr>
            <a:r>
              <a:rPr lang="en-US" sz="1300" dirty="0">
                <a:solidFill>
                  <a:srgbClr val="0D1B2A"/>
                </a:solidFill>
                <a:latin typeface="Calibri" pitchFamily="34" charset="0"/>
                <a:ea typeface="Calibri" pitchFamily="34" charset="-122"/>
                <a:cs typeface="Calibri" pitchFamily="34" charset="-120"/>
              </a:rPr>
              <a:t>Far more variety in purpose and design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4800" y="427482"/>
            <a:ext cx="8229600" cy="548640"/>
          </a:xfrm>
          <a:prstGeom prst="rect">
            <a:avLst/>
          </a:prstGeom>
          <a:noFill/>
          <a:ln/>
        </p:spPr>
        <p:txBody>
          <a:bodyPr wrap="square" rtlCol="0" anchor="ctr"/>
          <a:lstStyle/>
          <a:p>
            <a:r>
              <a:rPr lang="en-US" sz="3000" b="1" dirty="0">
                <a:solidFill>
                  <a:schemeClr val="tx1"/>
                </a:solidFill>
                <a:latin typeface="Cambria" pitchFamily="34" charset="0"/>
                <a:ea typeface="Cambria" pitchFamily="34" charset="-122"/>
                <a:cs typeface="Cambria" pitchFamily="34" charset="-120"/>
              </a:rPr>
              <a:t>How It All Connects</a:t>
            </a:r>
            <a:endParaRPr lang="en-US" sz="3000" dirty="0">
              <a:solidFill>
                <a:schemeClr val="tx1"/>
              </a:solidFill>
            </a:endParaRPr>
          </a:p>
        </p:txBody>
      </p:sp>
      <p:sp>
        <p:nvSpPr>
          <p:cNvPr id="4" name="Text 2"/>
          <p:cNvSpPr/>
          <p:nvPr/>
        </p:nvSpPr>
        <p:spPr>
          <a:xfrm>
            <a:off x="304800" y="1597533"/>
            <a:ext cx="8382000" cy="384048"/>
          </a:xfrm>
          <a:prstGeom prst="rect">
            <a:avLst/>
          </a:prstGeom>
          <a:noFill/>
          <a:ln/>
        </p:spPr>
        <p:txBody>
          <a:bodyPr wrap="square" rtlCol="0" anchor="ctr"/>
          <a:lstStyle/>
          <a:p>
            <a:r>
              <a:rPr lang="en-US" sz="1800" b="1" dirty="0">
                <a:solidFill>
                  <a:schemeClr val="tx1"/>
                </a:solidFill>
                <a:latin typeface="Calibri" pitchFamily="34" charset="0"/>
                <a:ea typeface="Calibri" pitchFamily="34" charset="-122"/>
                <a:cs typeface="Calibri" pitchFamily="34" charset="-120"/>
              </a:rPr>
              <a:t>Blockchain, nodes, and tokens work as an inseparable system:</a:t>
            </a:r>
            <a:endParaRPr lang="en-US" sz="1800" b="1" dirty="0">
              <a:solidFill>
                <a:schemeClr val="tx1"/>
              </a:solidFill>
            </a:endParaRPr>
          </a:p>
        </p:txBody>
      </p:sp>
      <p:sp>
        <p:nvSpPr>
          <p:cNvPr id="5" name="Shape 3"/>
          <p:cNvSpPr/>
          <p:nvPr/>
        </p:nvSpPr>
        <p:spPr>
          <a:xfrm>
            <a:off x="3566160" y="3097530"/>
            <a:ext cx="2011680" cy="1005840"/>
          </a:xfrm>
          <a:prstGeom prst="roundRect">
            <a:avLst>
              <a:gd name="adj" fmla="val 9091"/>
            </a:avLst>
          </a:prstGeom>
          <a:solidFill>
            <a:srgbClr val="1565C0"/>
          </a:solidFill>
          <a:ln w="254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6" name="Text 4"/>
          <p:cNvSpPr/>
          <p:nvPr/>
        </p:nvSpPr>
        <p:spPr>
          <a:xfrm>
            <a:off x="3566160" y="3097530"/>
            <a:ext cx="2011680" cy="1005840"/>
          </a:xfrm>
          <a:prstGeom prst="rect">
            <a:avLst/>
          </a:prstGeom>
          <a:noFill/>
          <a:ln/>
        </p:spPr>
        <p:txBody>
          <a:bodyPr wrap="square" lIns="0" tIns="0" rIns="0" bIns="0" rtlCol="0" anchor="ctr"/>
          <a:lstStyle/>
          <a:p>
            <a:pPr algn="ctr"/>
            <a:r>
              <a:rPr lang="en-US" sz="1300" b="1" dirty="0">
                <a:solidFill>
                  <a:schemeClr val="tx1"/>
                </a:solidFill>
                <a:latin typeface="Calibri" pitchFamily="34" charset="0"/>
                <a:ea typeface="Calibri" pitchFamily="34" charset="-122"/>
                <a:cs typeface="Calibri" pitchFamily="34" charset="-120"/>
              </a:rPr>
              <a:t>BLOCKCHAIN</a:t>
            </a:r>
            <a:endParaRPr lang="en-US" sz="1300" dirty="0">
              <a:solidFill>
                <a:schemeClr val="tx1"/>
              </a:solidFill>
            </a:endParaRPr>
          </a:p>
        </p:txBody>
      </p:sp>
      <p:sp>
        <p:nvSpPr>
          <p:cNvPr id="7" name="Shape 5"/>
          <p:cNvSpPr/>
          <p:nvPr/>
        </p:nvSpPr>
        <p:spPr>
          <a:xfrm>
            <a:off x="914400" y="3143250"/>
            <a:ext cx="1828800" cy="914400"/>
          </a:xfrm>
          <a:prstGeom prst="roundRect">
            <a:avLst>
              <a:gd name="adj" fmla="val 10000"/>
            </a:avLst>
          </a:prstGeom>
          <a:solidFill>
            <a:srgbClr val="00897B"/>
          </a:solidFill>
          <a:ln w="25400">
            <a:solidFill>
              <a:srgbClr val="80CBC4"/>
            </a:solidFill>
            <a:prstDash val="solid"/>
          </a:ln>
          <a:effectLst>
            <a:outerShdw blurRad="101600" dist="38100" dir="2700000" algn="bl" rotWithShape="0">
              <a:srgbClr val="000000">
                <a:alpha val="18000"/>
              </a:srgbClr>
            </a:outerShdw>
          </a:effectLst>
        </p:spPr>
        <p:txBody>
          <a:bodyPr/>
          <a:lstStyle/>
          <a:p>
            <a:endParaRPr lang="en-US"/>
          </a:p>
        </p:txBody>
      </p:sp>
      <p:sp>
        <p:nvSpPr>
          <p:cNvPr id="8" name="Text 6"/>
          <p:cNvSpPr/>
          <p:nvPr/>
        </p:nvSpPr>
        <p:spPr>
          <a:xfrm>
            <a:off x="914400" y="3143250"/>
            <a:ext cx="1828800" cy="914400"/>
          </a:xfrm>
          <a:prstGeom prst="rect">
            <a:avLst/>
          </a:prstGeom>
          <a:noFill/>
          <a:ln/>
        </p:spPr>
        <p:txBody>
          <a:bodyPr wrap="square" lIns="0" tIns="0" rIns="0" bIns="0" rtlCol="0" anchor="ctr"/>
          <a:lstStyle/>
          <a:p>
            <a:pPr algn="ctr"/>
            <a:r>
              <a:rPr lang="en-US" sz="1300" b="1" dirty="0">
                <a:solidFill>
                  <a:schemeClr val="tx1"/>
                </a:solidFill>
                <a:latin typeface="Calibri" pitchFamily="34" charset="0"/>
                <a:ea typeface="Calibri" pitchFamily="34" charset="-122"/>
                <a:cs typeface="Calibri" pitchFamily="34" charset="-120"/>
              </a:rPr>
              <a:t>NODES</a:t>
            </a:r>
            <a:endParaRPr lang="en-US" sz="1300" dirty="0">
              <a:solidFill>
                <a:schemeClr val="tx1"/>
              </a:solidFill>
            </a:endParaRPr>
          </a:p>
        </p:txBody>
      </p:sp>
      <p:sp>
        <p:nvSpPr>
          <p:cNvPr id="9" name="Shape 7"/>
          <p:cNvSpPr/>
          <p:nvPr/>
        </p:nvSpPr>
        <p:spPr>
          <a:xfrm>
            <a:off x="6400800" y="3143250"/>
            <a:ext cx="1828800" cy="914400"/>
          </a:xfrm>
          <a:prstGeom prst="roundRect">
            <a:avLst>
              <a:gd name="adj" fmla="val 10000"/>
            </a:avLst>
          </a:prstGeom>
          <a:solidFill>
            <a:srgbClr val="9C27B0"/>
          </a:solidFill>
          <a:ln w="25400">
            <a:solidFill>
              <a:srgbClr val="CE93D8"/>
            </a:solidFill>
            <a:prstDash val="solid"/>
          </a:ln>
          <a:effectLst>
            <a:outerShdw blurRad="101600" dist="38100" dir="2700000" algn="bl" rotWithShape="0">
              <a:srgbClr val="000000">
                <a:alpha val="18000"/>
              </a:srgbClr>
            </a:outerShdw>
          </a:effectLst>
        </p:spPr>
        <p:txBody>
          <a:bodyPr/>
          <a:lstStyle/>
          <a:p>
            <a:endParaRPr lang="en-US"/>
          </a:p>
        </p:txBody>
      </p:sp>
      <p:sp>
        <p:nvSpPr>
          <p:cNvPr id="10" name="Text 8"/>
          <p:cNvSpPr/>
          <p:nvPr/>
        </p:nvSpPr>
        <p:spPr>
          <a:xfrm>
            <a:off x="6400800" y="3143250"/>
            <a:ext cx="1828800" cy="914400"/>
          </a:xfrm>
          <a:prstGeom prst="rect">
            <a:avLst/>
          </a:prstGeom>
          <a:noFill/>
          <a:ln/>
        </p:spPr>
        <p:txBody>
          <a:bodyPr wrap="square" lIns="0" tIns="0" rIns="0" bIns="0" rtlCol="0" anchor="ctr"/>
          <a:lstStyle/>
          <a:p>
            <a:pPr algn="ctr"/>
            <a:r>
              <a:rPr lang="en-US" sz="1300" b="1" dirty="0">
                <a:solidFill>
                  <a:schemeClr val="tx1"/>
                </a:solidFill>
                <a:latin typeface="Calibri" pitchFamily="34" charset="0"/>
                <a:ea typeface="Calibri" pitchFamily="34" charset="-122"/>
                <a:cs typeface="Calibri" pitchFamily="34" charset="-120"/>
              </a:rPr>
              <a:t>TOKENS</a:t>
            </a:r>
            <a:endParaRPr lang="en-US" sz="1300" dirty="0">
              <a:solidFill>
                <a:schemeClr val="tx1"/>
              </a:solidFill>
            </a:endParaRPr>
          </a:p>
        </p:txBody>
      </p:sp>
      <p:sp>
        <p:nvSpPr>
          <p:cNvPr id="11" name="Shape 9"/>
          <p:cNvSpPr/>
          <p:nvPr/>
        </p:nvSpPr>
        <p:spPr>
          <a:xfrm>
            <a:off x="2743200" y="3600450"/>
            <a:ext cx="822960" cy="0"/>
          </a:xfrm>
          <a:prstGeom prst="line">
            <a:avLst/>
          </a:prstGeom>
          <a:noFill/>
          <a:ln w="25400">
            <a:solidFill>
              <a:srgbClr val="00BCD4"/>
            </a:solidFill>
            <a:prstDash val="solid"/>
          </a:ln>
        </p:spPr>
        <p:txBody>
          <a:bodyPr/>
          <a:lstStyle/>
          <a:p>
            <a:endParaRPr lang="en-US"/>
          </a:p>
        </p:txBody>
      </p:sp>
      <p:sp>
        <p:nvSpPr>
          <p:cNvPr id="12" name="Shape 10"/>
          <p:cNvSpPr/>
          <p:nvPr/>
        </p:nvSpPr>
        <p:spPr>
          <a:xfrm>
            <a:off x="5577840" y="3600450"/>
            <a:ext cx="822960" cy="0"/>
          </a:xfrm>
          <a:prstGeom prst="line">
            <a:avLst/>
          </a:prstGeom>
          <a:noFill/>
          <a:ln w="25400">
            <a:solidFill>
              <a:srgbClr val="00BCD4"/>
            </a:solidFill>
            <a:prstDash val="solid"/>
          </a:ln>
        </p:spPr>
        <p:txBody>
          <a:bodyPr/>
          <a:lstStyle/>
          <a:p>
            <a:endParaRPr lang="en-US"/>
          </a:p>
        </p:txBody>
      </p:sp>
      <p:sp>
        <p:nvSpPr>
          <p:cNvPr id="13" name="Text 11"/>
          <p:cNvSpPr/>
          <p:nvPr/>
        </p:nvSpPr>
        <p:spPr>
          <a:xfrm>
            <a:off x="2560320" y="3097530"/>
            <a:ext cx="1188720" cy="457200"/>
          </a:xfrm>
          <a:prstGeom prst="rect">
            <a:avLst/>
          </a:prstGeom>
          <a:noFill/>
          <a:ln/>
        </p:spPr>
        <p:txBody>
          <a:bodyPr wrap="square" rtlCol="0" anchor="ctr"/>
          <a:lstStyle/>
          <a:p>
            <a:pPr algn="ctr"/>
            <a:r>
              <a:rPr lang="en-US" sz="1200" b="1" i="1" dirty="0">
                <a:solidFill>
                  <a:schemeClr val="tx1"/>
                </a:solidFill>
                <a:latin typeface="Calibri" pitchFamily="34" charset="0"/>
                <a:ea typeface="Calibri" pitchFamily="34" charset="-122"/>
                <a:cs typeface="Calibri" pitchFamily="34" charset="-120"/>
              </a:rPr>
              <a:t>maintain</a:t>
            </a:r>
            <a:endParaRPr lang="en-US" sz="1200" b="1" dirty="0">
              <a:solidFill>
                <a:schemeClr val="tx1"/>
              </a:solidFill>
            </a:endParaRPr>
          </a:p>
          <a:p>
            <a:pPr algn="ctr"/>
            <a:r>
              <a:rPr lang="en-US" sz="1200" b="1" i="1" dirty="0">
                <a:solidFill>
                  <a:schemeClr val="tx1"/>
                </a:solidFill>
                <a:latin typeface="Calibri" pitchFamily="34" charset="0"/>
                <a:ea typeface="Calibri" pitchFamily="34" charset="-122"/>
                <a:cs typeface="Calibri" pitchFamily="34" charset="-120"/>
              </a:rPr>
              <a:t>&amp; validate</a:t>
            </a:r>
            <a:endParaRPr lang="en-US" sz="1200" b="1" dirty="0">
              <a:solidFill>
                <a:schemeClr val="tx1"/>
              </a:solidFill>
            </a:endParaRPr>
          </a:p>
        </p:txBody>
      </p:sp>
      <p:sp>
        <p:nvSpPr>
          <p:cNvPr id="14" name="Text 12"/>
          <p:cNvSpPr/>
          <p:nvPr/>
        </p:nvSpPr>
        <p:spPr>
          <a:xfrm>
            <a:off x="5394960" y="3097530"/>
            <a:ext cx="1188720" cy="457200"/>
          </a:xfrm>
          <a:prstGeom prst="rect">
            <a:avLst/>
          </a:prstGeom>
          <a:noFill/>
          <a:ln/>
        </p:spPr>
        <p:txBody>
          <a:bodyPr wrap="square" rtlCol="0" anchor="ctr"/>
          <a:lstStyle/>
          <a:p>
            <a:pPr algn="ctr"/>
            <a:r>
              <a:rPr lang="en-US" sz="1200" b="1" i="1" dirty="0">
                <a:solidFill>
                  <a:schemeClr val="tx1"/>
                </a:solidFill>
                <a:latin typeface="Calibri" pitchFamily="34" charset="0"/>
                <a:ea typeface="Calibri" pitchFamily="34" charset="-122"/>
                <a:cs typeface="Calibri" pitchFamily="34" charset="-120"/>
              </a:rPr>
              <a:t>live on</a:t>
            </a:r>
            <a:endParaRPr lang="en-US" sz="1200" b="1" dirty="0">
              <a:solidFill>
                <a:schemeClr val="tx1"/>
              </a:solidFill>
            </a:endParaRPr>
          </a:p>
          <a:p>
            <a:pPr algn="ctr"/>
            <a:r>
              <a:rPr lang="en-US" sz="1200" b="1" i="1" dirty="0">
                <a:solidFill>
                  <a:schemeClr val="tx1"/>
                </a:solidFill>
                <a:latin typeface="Calibri" pitchFamily="34" charset="0"/>
                <a:ea typeface="Calibri" pitchFamily="34" charset="-122"/>
                <a:cs typeface="Calibri" pitchFamily="34" charset="-120"/>
              </a:rPr>
              <a:t>&amp; move via</a:t>
            </a:r>
            <a:endParaRPr lang="en-US" sz="1200" b="1" dirty="0">
              <a:solidFill>
                <a:schemeClr val="tx1"/>
              </a:solidFill>
            </a:endParaRPr>
          </a:p>
        </p:txBody>
      </p:sp>
      <p:sp>
        <p:nvSpPr>
          <p:cNvPr id="15" name="Text 13"/>
          <p:cNvSpPr/>
          <p:nvPr/>
        </p:nvSpPr>
        <p:spPr>
          <a:xfrm>
            <a:off x="365760" y="4514850"/>
            <a:ext cx="384048" cy="320040"/>
          </a:xfrm>
          <a:prstGeom prst="rect">
            <a:avLst/>
          </a:prstGeom>
          <a:noFill/>
          <a:ln/>
        </p:spPr>
        <p:txBody>
          <a:bodyPr wrap="square" lIns="0" tIns="0" rIns="0" bIns="0" rtlCol="0" anchor="ctr"/>
          <a:lstStyle/>
          <a:p>
            <a:pPr algn="ctr"/>
            <a:r>
              <a:rPr lang="en-US" sz="1600" dirty="0">
                <a:solidFill>
                  <a:schemeClr val="tx1"/>
                </a:solidFill>
              </a:rPr>
              <a:t>🔗</a:t>
            </a:r>
          </a:p>
        </p:txBody>
      </p:sp>
      <p:sp>
        <p:nvSpPr>
          <p:cNvPr id="16" name="Text 14"/>
          <p:cNvSpPr/>
          <p:nvPr/>
        </p:nvSpPr>
        <p:spPr>
          <a:xfrm>
            <a:off x="822960" y="4514850"/>
            <a:ext cx="7863840" cy="320040"/>
          </a:xfrm>
          <a:prstGeom prst="rect">
            <a:avLst/>
          </a:prstGeom>
          <a:noFill/>
          <a:ln/>
        </p:spPr>
        <p:txBody>
          <a:bodyPr wrap="square" rtlCol="0" anchor="ctr"/>
          <a:lstStyle/>
          <a:p>
            <a:r>
              <a:rPr lang="en-US" sz="1600" dirty="0">
                <a:solidFill>
                  <a:schemeClr val="tx1"/>
                </a:solidFill>
                <a:latin typeface="Calibri" pitchFamily="34" charset="0"/>
                <a:ea typeface="Calibri" pitchFamily="34" charset="-122"/>
                <a:cs typeface="Calibri" pitchFamily="34" charset="-120"/>
              </a:rPr>
              <a:t>The blockchain is the shared ledger — the permanent record of all transactions.</a:t>
            </a:r>
            <a:endParaRPr lang="en-US" sz="1600" dirty="0">
              <a:solidFill>
                <a:schemeClr val="tx1"/>
              </a:solidFill>
            </a:endParaRPr>
          </a:p>
        </p:txBody>
      </p:sp>
      <p:sp>
        <p:nvSpPr>
          <p:cNvPr id="17" name="Text 15"/>
          <p:cNvSpPr/>
          <p:nvPr/>
        </p:nvSpPr>
        <p:spPr>
          <a:xfrm>
            <a:off x="365760" y="4862322"/>
            <a:ext cx="384048" cy="320040"/>
          </a:xfrm>
          <a:prstGeom prst="rect">
            <a:avLst/>
          </a:prstGeom>
          <a:noFill/>
          <a:ln/>
        </p:spPr>
        <p:txBody>
          <a:bodyPr wrap="square" lIns="0" tIns="0" rIns="0" bIns="0" rtlCol="0" anchor="ctr"/>
          <a:lstStyle/>
          <a:p>
            <a:pPr algn="ctr"/>
            <a:r>
              <a:rPr lang="en-US" sz="1600" dirty="0">
                <a:solidFill>
                  <a:schemeClr val="tx1"/>
                </a:solidFill>
              </a:rPr>
              <a:t>💻</a:t>
            </a:r>
          </a:p>
        </p:txBody>
      </p:sp>
      <p:sp>
        <p:nvSpPr>
          <p:cNvPr id="18" name="Text 16"/>
          <p:cNvSpPr/>
          <p:nvPr/>
        </p:nvSpPr>
        <p:spPr>
          <a:xfrm>
            <a:off x="822960" y="4862322"/>
            <a:ext cx="7863840" cy="320040"/>
          </a:xfrm>
          <a:prstGeom prst="rect">
            <a:avLst/>
          </a:prstGeom>
          <a:noFill/>
          <a:ln/>
        </p:spPr>
        <p:txBody>
          <a:bodyPr wrap="square" rtlCol="0" anchor="ctr"/>
          <a:lstStyle/>
          <a:p>
            <a:r>
              <a:rPr lang="en-US" sz="1600" dirty="0">
                <a:solidFill>
                  <a:schemeClr val="tx1"/>
                </a:solidFill>
                <a:latin typeface="Calibri" pitchFamily="34" charset="0"/>
                <a:ea typeface="Calibri" pitchFamily="34" charset="-122"/>
                <a:cs typeface="Calibri" pitchFamily="34" charset="-120"/>
              </a:rPr>
              <a:t>Nodes are the computers that host the blockchain and validate every new entry.</a:t>
            </a:r>
            <a:endParaRPr lang="en-US" sz="1600" dirty="0">
              <a:solidFill>
                <a:schemeClr val="tx1"/>
              </a:solidFill>
            </a:endParaRPr>
          </a:p>
        </p:txBody>
      </p:sp>
      <p:sp>
        <p:nvSpPr>
          <p:cNvPr id="19" name="Text 17"/>
          <p:cNvSpPr/>
          <p:nvPr/>
        </p:nvSpPr>
        <p:spPr>
          <a:xfrm>
            <a:off x="365760" y="5209794"/>
            <a:ext cx="384048" cy="320040"/>
          </a:xfrm>
          <a:prstGeom prst="rect">
            <a:avLst/>
          </a:prstGeom>
          <a:noFill/>
          <a:ln/>
        </p:spPr>
        <p:txBody>
          <a:bodyPr wrap="square" lIns="0" tIns="0" rIns="0" bIns="0" rtlCol="0" anchor="ctr"/>
          <a:lstStyle/>
          <a:p>
            <a:pPr algn="ctr"/>
            <a:r>
              <a:rPr lang="en-US" sz="1600" dirty="0">
                <a:solidFill>
                  <a:schemeClr val="tx1"/>
                </a:solidFill>
              </a:rPr>
              <a:t>🪙</a:t>
            </a:r>
          </a:p>
        </p:txBody>
      </p:sp>
      <p:sp>
        <p:nvSpPr>
          <p:cNvPr id="20" name="Text 18"/>
          <p:cNvSpPr/>
          <p:nvPr/>
        </p:nvSpPr>
        <p:spPr>
          <a:xfrm>
            <a:off x="822960" y="5209794"/>
            <a:ext cx="7863840" cy="320040"/>
          </a:xfrm>
          <a:prstGeom prst="rect">
            <a:avLst/>
          </a:prstGeom>
          <a:noFill/>
          <a:ln/>
        </p:spPr>
        <p:txBody>
          <a:bodyPr wrap="square" rtlCol="0" anchor="ctr"/>
          <a:lstStyle/>
          <a:p>
            <a:r>
              <a:rPr lang="en-US" sz="1600" dirty="0">
                <a:solidFill>
                  <a:schemeClr val="tx1"/>
                </a:solidFill>
                <a:latin typeface="Calibri" pitchFamily="34" charset="0"/>
                <a:ea typeface="Calibri" pitchFamily="34" charset="-122"/>
                <a:cs typeface="Calibri" pitchFamily="34" charset="-120"/>
              </a:rPr>
              <a:t>Tokens are the assets that flow through the blockchain, recorded by the nodes.</a:t>
            </a:r>
            <a:endParaRPr lang="en-US" sz="1600" dirty="0">
              <a:solidFill>
                <a:schemeClr val="tx1"/>
              </a:solidFill>
            </a:endParaRPr>
          </a:p>
        </p:txBody>
      </p:sp>
      <p:sp>
        <p:nvSpPr>
          <p:cNvPr id="21" name="Text 19"/>
          <p:cNvSpPr/>
          <p:nvPr/>
        </p:nvSpPr>
        <p:spPr>
          <a:xfrm>
            <a:off x="365760" y="5557266"/>
            <a:ext cx="384048" cy="320040"/>
          </a:xfrm>
          <a:prstGeom prst="rect">
            <a:avLst/>
          </a:prstGeom>
          <a:noFill/>
          <a:ln/>
        </p:spPr>
        <p:txBody>
          <a:bodyPr wrap="square" lIns="0" tIns="0" rIns="0" bIns="0" rtlCol="0" anchor="ctr"/>
          <a:lstStyle/>
          <a:p>
            <a:pPr algn="ctr"/>
            <a:r>
              <a:rPr lang="en-US" sz="1600" dirty="0">
                <a:solidFill>
                  <a:schemeClr val="tx1"/>
                </a:solidFill>
              </a:rPr>
              <a:t>🔄</a:t>
            </a:r>
          </a:p>
        </p:txBody>
      </p:sp>
      <p:sp>
        <p:nvSpPr>
          <p:cNvPr id="22" name="Text 20"/>
          <p:cNvSpPr/>
          <p:nvPr/>
        </p:nvSpPr>
        <p:spPr>
          <a:xfrm>
            <a:off x="822960" y="5557266"/>
            <a:ext cx="7863840" cy="320040"/>
          </a:xfrm>
          <a:prstGeom prst="rect">
            <a:avLst/>
          </a:prstGeom>
          <a:noFill/>
          <a:ln/>
        </p:spPr>
        <p:txBody>
          <a:bodyPr wrap="square" rtlCol="0" anchor="ctr"/>
          <a:lstStyle/>
          <a:p>
            <a:r>
              <a:rPr lang="en-US" sz="1600" dirty="0">
                <a:solidFill>
                  <a:schemeClr val="tx1"/>
                </a:solidFill>
                <a:latin typeface="Calibri" pitchFamily="34" charset="0"/>
                <a:ea typeface="Calibri" pitchFamily="34" charset="-122"/>
                <a:cs typeface="Calibri" pitchFamily="34" charset="-120"/>
              </a:rPr>
              <a:t>Without nodes, the blockchain can't run. Without the blockchain, tokens can't exist.</a:t>
            </a:r>
            <a:endParaRPr lang="en-US" sz="1600" dirty="0">
              <a:solidFill>
                <a:schemeClr val="tx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3114" y="550164"/>
            <a:ext cx="8229600" cy="548640"/>
          </a:xfrm>
          <a:prstGeom prst="rect">
            <a:avLst/>
          </a:prstGeom>
          <a:noFill/>
          <a:ln/>
        </p:spPr>
        <p:txBody>
          <a:bodyPr wrap="square" rtlCol="0" anchor="ctr"/>
          <a:lstStyle/>
          <a:p>
            <a:r>
              <a:rPr lang="en-US" sz="2800" b="1" dirty="0">
                <a:solidFill>
                  <a:srgbClr val="0D1B2A"/>
                </a:solidFill>
                <a:latin typeface="Cambria" pitchFamily="34" charset="0"/>
                <a:ea typeface="Cambria" pitchFamily="34" charset="-122"/>
                <a:cs typeface="Cambria" pitchFamily="34" charset="-120"/>
              </a:rPr>
              <a:t>Real-World Applications</a:t>
            </a:r>
            <a:endParaRPr lang="en-US" sz="2800" dirty="0"/>
          </a:p>
        </p:txBody>
      </p:sp>
      <p:sp>
        <p:nvSpPr>
          <p:cNvPr id="3" name="Shape 1"/>
          <p:cNvSpPr/>
          <p:nvPr/>
        </p:nvSpPr>
        <p:spPr>
          <a:xfrm>
            <a:off x="457200" y="1625346"/>
            <a:ext cx="8229600" cy="27432"/>
          </a:xfrm>
          <a:prstGeom prst="rect">
            <a:avLst/>
          </a:prstGeom>
          <a:solidFill>
            <a:srgbClr val="1565C0"/>
          </a:solidFill>
          <a:ln w="12700">
            <a:solidFill>
              <a:srgbClr val="1565C0"/>
            </a:solidFill>
            <a:prstDash val="solid"/>
          </a:ln>
        </p:spPr>
        <p:txBody>
          <a:bodyPr/>
          <a:lstStyle/>
          <a:p>
            <a:endParaRPr lang="en-US"/>
          </a:p>
        </p:txBody>
      </p:sp>
      <p:sp>
        <p:nvSpPr>
          <p:cNvPr id="4" name="Shape 2"/>
          <p:cNvSpPr/>
          <p:nvPr/>
        </p:nvSpPr>
        <p:spPr>
          <a:xfrm>
            <a:off x="457200" y="1817370"/>
            <a:ext cx="2697480" cy="1508760"/>
          </a:xfrm>
          <a:prstGeom prst="roundRect">
            <a:avLst>
              <a:gd name="adj" fmla="val 4242"/>
            </a:avLst>
          </a:prstGeom>
          <a:solidFill>
            <a:srgbClr val="F5F9FF"/>
          </a:solidFill>
          <a:ln w="1905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457200" y="1908810"/>
            <a:ext cx="594360" cy="640080"/>
          </a:xfrm>
          <a:prstGeom prst="rect">
            <a:avLst/>
          </a:prstGeom>
          <a:noFill/>
          <a:ln/>
        </p:spPr>
        <p:txBody>
          <a:bodyPr wrap="square" lIns="0" tIns="0" rIns="0" bIns="0" rtlCol="0" anchor="ctr"/>
          <a:lstStyle/>
          <a:p>
            <a:pPr algn="ctr"/>
            <a:r>
              <a:rPr lang="en-US" sz="2400" dirty="0"/>
              <a:t>🏦</a:t>
            </a:r>
          </a:p>
        </p:txBody>
      </p:sp>
      <p:sp>
        <p:nvSpPr>
          <p:cNvPr id="6" name="Text 4"/>
          <p:cNvSpPr/>
          <p:nvPr/>
        </p:nvSpPr>
        <p:spPr>
          <a:xfrm>
            <a:off x="1005840" y="1927098"/>
            <a:ext cx="2057400" cy="347472"/>
          </a:xfrm>
          <a:prstGeom prst="rect">
            <a:avLst/>
          </a:prstGeom>
          <a:noFill/>
          <a:ln/>
        </p:spPr>
        <p:txBody>
          <a:bodyPr wrap="square" lIns="0" tIns="0" rIns="0" bIns="0" rtlCol="0" anchor="ctr"/>
          <a:lstStyle/>
          <a:p>
            <a:r>
              <a:rPr lang="en-US" sz="1300" b="1" dirty="0">
                <a:solidFill>
                  <a:srgbClr val="1565C0"/>
                </a:solidFill>
                <a:latin typeface="Calibri" pitchFamily="34" charset="0"/>
                <a:ea typeface="Calibri" pitchFamily="34" charset="-122"/>
                <a:cs typeface="Calibri" pitchFamily="34" charset="-120"/>
              </a:rPr>
              <a:t>Finance</a:t>
            </a:r>
            <a:endParaRPr lang="en-US" sz="1300" dirty="0"/>
          </a:p>
        </p:txBody>
      </p:sp>
      <p:sp>
        <p:nvSpPr>
          <p:cNvPr id="7" name="Text 5"/>
          <p:cNvSpPr/>
          <p:nvPr/>
        </p:nvSpPr>
        <p:spPr>
          <a:xfrm>
            <a:off x="566928" y="2347722"/>
            <a:ext cx="2487168" cy="914400"/>
          </a:xfrm>
          <a:prstGeom prst="rect">
            <a:avLst/>
          </a:prstGeom>
          <a:noFill/>
          <a:ln/>
        </p:spPr>
        <p:txBody>
          <a:bodyPr wrap="square" lIns="0" tIns="0" rIns="0" bIns="0" rtlCol="0" anchor="ctr"/>
          <a:lstStyle/>
          <a:p>
            <a:r>
              <a:rPr lang="en-US" sz="1100" dirty="0">
                <a:solidFill>
                  <a:srgbClr val="0D1B2A"/>
                </a:solidFill>
                <a:latin typeface="Calibri" pitchFamily="34" charset="0"/>
                <a:ea typeface="Calibri" pitchFamily="34" charset="-122"/>
                <a:cs typeface="Calibri" pitchFamily="34" charset="-120"/>
              </a:rPr>
              <a:t>Cross-border payments, DeFi (decentralized finance), digital currencies (CBDCs)</a:t>
            </a:r>
            <a:endParaRPr lang="en-US" sz="1100" dirty="0"/>
          </a:p>
        </p:txBody>
      </p:sp>
      <p:sp>
        <p:nvSpPr>
          <p:cNvPr id="8" name="Shape 6"/>
          <p:cNvSpPr/>
          <p:nvPr/>
        </p:nvSpPr>
        <p:spPr>
          <a:xfrm>
            <a:off x="3337560" y="1817370"/>
            <a:ext cx="2697480" cy="1508760"/>
          </a:xfrm>
          <a:prstGeom prst="roundRect">
            <a:avLst>
              <a:gd name="adj" fmla="val 4242"/>
            </a:avLst>
          </a:prstGeom>
          <a:solidFill>
            <a:srgbClr val="F5F9FF"/>
          </a:solidFill>
          <a:ln w="19050">
            <a:solidFill>
              <a:srgbClr val="43A047"/>
            </a:solidFill>
            <a:prstDash val="solid"/>
          </a:ln>
          <a:effectLst>
            <a:outerShdw blurRad="101600" dist="38100" dir="2700000" algn="bl" rotWithShape="0">
              <a:srgbClr val="000000">
                <a:alpha val="18000"/>
              </a:srgbClr>
            </a:outerShdw>
          </a:effectLst>
        </p:spPr>
        <p:txBody>
          <a:bodyPr/>
          <a:lstStyle/>
          <a:p>
            <a:endParaRPr lang="en-US"/>
          </a:p>
        </p:txBody>
      </p:sp>
      <p:sp>
        <p:nvSpPr>
          <p:cNvPr id="9" name="Text 7"/>
          <p:cNvSpPr/>
          <p:nvPr/>
        </p:nvSpPr>
        <p:spPr>
          <a:xfrm>
            <a:off x="3337560" y="1908810"/>
            <a:ext cx="594360" cy="640080"/>
          </a:xfrm>
          <a:prstGeom prst="rect">
            <a:avLst/>
          </a:prstGeom>
          <a:noFill/>
          <a:ln/>
        </p:spPr>
        <p:txBody>
          <a:bodyPr wrap="square" lIns="0" tIns="0" rIns="0" bIns="0" rtlCol="0" anchor="ctr"/>
          <a:lstStyle/>
          <a:p>
            <a:pPr algn="ctr"/>
            <a:r>
              <a:rPr lang="en-US" sz="2400" dirty="0"/>
              <a:t>🏥</a:t>
            </a:r>
          </a:p>
        </p:txBody>
      </p:sp>
      <p:sp>
        <p:nvSpPr>
          <p:cNvPr id="10" name="Text 8"/>
          <p:cNvSpPr/>
          <p:nvPr/>
        </p:nvSpPr>
        <p:spPr>
          <a:xfrm>
            <a:off x="3886200" y="1927098"/>
            <a:ext cx="2057400" cy="347472"/>
          </a:xfrm>
          <a:prstGeom prst="rect">
            <a:avLst/>
          </a:prstGeom>
          <a:noFill/>
          <a:ln/>
        </p:spPr>
        <p:txBody>
          <a:bodyPr wrap="square" lIns="0" tIns="0" rIns="0" bIns="0" rtlCol="0" anchor="ctr"/>
          <a:lstStyle/>
          <a:p>
            <a:r>
              <a:rPr lang="en-US" sz="1300" b="1" dirty="0">
                <a:solidFill>
                  <a:srgbClr val="43A047"/>
                </a:solidFill>
                <a:latin typeface="Calibri" pitchFamily="34" charset="0"/>
                <a:ea typeface="Calibri" pitchFamily="34" charset="-122"/>
                <a:cs typeface="Calibri" pitchFamily="34" charset="-120"/>
              </a:rPr>
              <a:t>Healthcare</a:t>
            </a:r>
            <a:endParaRPr lang="en-US" sz="1300" dirty="0"/>
          </a:p>
        </p:txBody>
      </p:sp>
      <p:sp>
        <p:nvSpPr>
          <p:cNvPr id="11" name="Text 9"/>
          <p:cNvSpPr/>
          <p:nvPr/>
        </p:nvSpPr>
        <p:spPr>
          <a:xfrm>
            <a:off x="3447288" y="2347722"/>
            <a:ext cx="2487168" cy="914400"/>
          </a:xfrm>
          <a:prstGeom prst="rect">
            <a:avLst/>
          </a:prstGeom>
          <a:noFill/>
          <a:ln/>
        </p:spPr>
        <p:txBody>
          <a:bodyPr wrap="square" lIns="0" tIns="0" rIns="0" bIns="0" rtlCol="0" anchor="ctr"/>
          <a:lstStyle/>
          <a:p>
            <a:r>
              <a:rPr lang="en-US" sz="1100" dirty="0">
                <a:solidFill>
                  <a:srgbClr val="0D1B2A"/>
                </a:solidFill>
                <a:latin typeface="Calibri" pitchFamily="34" charset="0"/>
                <a:ea typeface="Calibri" pitchFamily="34" charset="-122"/>
                <a:cs typeface="Calibri" pitchFamily="34" charset="-120"/>
              </a:rPr>
              <a:t>Secure patient records, drug supply chain tracking, clinical trial data integrity</a:t>
            </a:r>
            <a:endParaRPr lang="en-US" sz="1100" dirty="0"/>
          </a:p>
        </p:txBody>
      </p:sp>
      <p:sp>
        <p:nvSpPr>
          <p:cNvPr id="12" name="Shape 10"/>
          <p:cNvSpPr/>
          <p:nvPr/>
        </p:nvSpPr>
        <p:spPr>
          <a:xfrm>
            <a:off x="6217920" y="1817370"/>
            <a:ext cx="2697480" cy="1508760"/>
          </a:xfrm>
          <a:prstGeom prst="roundRect">
            <a:avLst>
              <a:gd name="adj" fmla="val 4242"/>
            </a:avLst>
          </a:prstGeom>
          <a:solidFill>
            <a:srgbClr val="F5F9FF"/>
          </a:solidFill>
          <a:ln w="1905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13" name="Text 11"/>
          <p:cNvSpPr/>
          <p:nvPr/>
        </p:nvSpPr>
        <p:spPr>
          <a:xfrm>
            <a:off x="6217920" y="1908810"/>
            <a:ext cx="594360" cy="640080"/>
          </a:xfrm>
          <a:prstGeom prst="rect">
            <a:avLst/>
          </a:prstGeom>
          <a:noFill/>
          <a:ln/>
        </p:spPr>
        <p:txBody>
          <a:bodyPr wrap="square" lIns="0" tIns="0" rIns="0" bIns="0" rtlCol="0" anchor="ctr"/>
          <a:lstStyle/>
          <a:p>
            <a:pPr algn="ctr"/>
            <a:r>
              <a:rPr lang="en-US" sz="2400" dirty="0"/>
              <a:t>🚢</a:t>
            </a:r>
          </a:p>
        </p:txBody>
      </p:sp>
      <p:sp>
        <p:nvSpPr>
          <p:cNvPr id="14" name="Text 12"/>
          <p:cNvSpPr/>
          <p:nvPr/>
        </p:nvSpPr>
        <p:spPr>
          <a:xfrm>
            <a:off x="6766560" y="1927098"/>
            <a:ext cx="2057400" cy="347472"/>
          </a:xfrm>
          <a:prstGeom prst="rect">
            <a:avLst/>
          </a:prstGeom>
          <a:noFill/>
          <a:ln/>
        </p:spPr>
        <p:txBody>
          <a:bodyPr wrap="square" lIns="0" tIns="0" rIns="0" bIns="0" rtlCol="0" anchor="ctr"/>
          <a:lstStyle/>
          <a:p>
            <a:r>
              <a:rPr lang="en-US" sz="1300" b="1" dirty="0">
                <a:solidFill>
                  <a:srgbClr val="00897B"/>
                </a:solidFill>
                <a:latin typeface="Calibri" pitchFamily="34" charset="0"/>
                <a:ea typeface="Calibri" pitchFamily="34" charset="-122"/>
                <a:cs typeface="Calibri" pitchFamily="34" charset="-120"/>
              </a:rPr>
              <a:t>Supply Chain</a:t>
            </a:r>
            <a:endParaRPr lang="en-US" sz="1300" dirty="0"/>
          </a:p>
        </p:txBody>
      </p:sp>
      <p:sp>
        <p:nvSpPr>
          <p:cNvPr id="15" name="Text 13"/>
          <p:cNvSpPr/>
          <p:nvPr/>
        </p:nvSpPr>
        <p:spPr>
          <a:xfrm>
            <a:off x="6327648" y="2347722"/>
            <a:ext cx="2487168" cy="914400"/>
          </a:xfrm>
          <a:prstGeom prst="rect">
            <a:avLst/>
          </a:prstGeom>
          <a:noFill/>
          <a:ln/>
        </p:spPr>
        <p:txBody>
          <a:bodyPr wrap="square" lIns="0" tIns="0" rIns="0" bIns="0" rtlCol="0" anchor="ctr"/>
          <a:lstStyle/>
          <a:p>
            <a:r>
              <a:rPr lang="en-US" sz="1100" dirty="0">
                <a:solidFill>
                  <a:srgbClr val="0D1B2A"/>
                </a:solidFill>
                <a:latin typeface="Calibri" pitchFamily="34" charset="0"/>
                <a:ea typeface="Calibri" pitchFamily="34" charset="-122"/>
                <a:cs typeface="Calibri" pitchFamily="34" charset="-120"/>
              </a:rPr>
              <a:t>Real-time tracking of goods from manufacturer to consumer; reducing fraud</a:t>
            </a:r>
            <a:endParaRPr lang="en-US" sz="1100" dirty="0"/>
          </a:p>
        </p:txBody>
      </p:sp>
      <p:sp>
        <p:nvSpPr>
          <p:cNvPr id="16" name="Shape 14"/>
          <p:cNvSpPr/>
          <p:nvPr/>
        </p:nvSpPr>
        <p:spPr>
          <a:xfrm>
            <a:off x="457200" y="3481578"/>
            <a:ext cx="2697480" cy="1508760"/>
          </a:xfrm>
          <a:prstGeom prst="roundRect">
            <a:avLst>
              <a:gd name="adj" fmla="val 4242"/>
            </a:avLst>
          </a:prstGeom>
          <a:solidFill>
            <a:srgbClr val="F5F9FF"/>
          </a:solidFill>
          <a:ln w="19050">
            <a:solidFill>
              <a:srgbClr val="1B3A5C"/>
            </a:solidFill>
            <a:prstDash val="solid"/>
          </a:ln>
          <a:effectLst>
            <a:outerShdw blurRad="101600" dist="38100" dir="2700000" algn="bl" rotWithShape="0">
              <a:srgbClr val="000000">
                <a:alpha val="18000"/>
              </a:srgbClr>
            </a:outerShdw>
          </a:effectLst>
        </p:spPr>
        <p:txBody>
          <a:bodyPr/>
          <a:lstStyle/>
          <a:p>
            <a:endParaRPr lang="en-US"/>
          </a:p>
        </p:txBody>
      </p:sp>
      <p:sp>
        <p:nvSpPr>
          <p:cNvPr id="17" name="Text 15"/>
          <p:cNvSpPr/>
          <p:nvPr/>
        </p:nvSpPr>
        <p:spPr>
          <a:xfrm>
            <a:off x="457200" y="3573018"/>
            <a:ext cx="594360" cy="640080"/>
          </a:xfrm>
          <a:prstGeom prst="rect">
            <a:avLst/>
          </a:prstGeom>
          <a:noFill/>
          <a:ln/>
        </p:spPr>
        <p:txBody>
          <a:bodyPr wrap="square" lIns="0" tIns="0" rIns="0" bIns="0" rtlCol="0" anchor="ctr"/>
          <a:lstStyle/>
          <a:p>
            <a:pPr algn="ctr"/>
            <a:r>
              <a:rPr lang="en-US" sz="2400" dirty="0"/>
              <a:t>🗳</a:t>
            </a:r>
          </a:p>
        </p:txBody>
      </p:sp>
      <p:sp>
        <p:nvSpPr>
          <p:cNvPr id="18" name="Text 16"/>
          <p:cNvSpPr/>
          <p:nvPr/>
        </p:nvSpPr>
        <p:spPr>
          <a:xfrm>
            <a:off x="1005840" y="3591306"/>
            <a:ext cx="2057400" cy="347472"/>
          </a:xfrm>
          <a:prstGeom prst="rect">
            <a:avLst/>
          </a:prstGeom>
          <a:noFill/>
          <a:ln/>
        </p:spPr>
        <p:txBody>
          <a:bodyPr wrap="square" lIns="0" tIns="0" rIns="0" bIns="0" rtlCol="0" anchor="ctr"/>
          <a:lstStyle/>
          <a:p>
            <a:r>
              <a:rPr lang="en-US" sz="1300" b="1" dirty="0">
                <a:solidFill>
                  <a:srgbClr val="1B3A5C"/>
                </a:solidFill>
                <a:latin typeface="Calibri" pitchFamily="34" charset="0"/>
                <a:ea typeface="Calibri" pitchFamily="34" charset="-122"/>
                <a:cs typeface="Calibri" pitchFamily="34" charset="-120"/>
              </a:rPr>
              <a:t>Voting</a:t>
            </a:r>
            <a:endParaRPr lang="en-US" sz="1300" dirty="0"/>
          </a:p>
        </p:txBody>
      </p:sp>
      <p:sp>
        <p:nvSpPr>
          <p:cNvPr id="19" name="Text 17"/>
          <p:cNvSpPr/>
          <p:nvPr/>
        </p:nvSpPr>
        <p:spPr>
          <a:xfrm>
            <a:off x="566928" y="4011930"/>
            <a:ext cx="2487168" cy="914400"/>
          </a:xfrm>
          <a:prstGeom prst="rect">
            <a:avLst/>
          </a:prstGeom>
          <a:noFill/>
          <a:ln/>
        </p:spPr>
        <p:txBody>
          <a:bodyPr wrap="square" lIns="0" tIns="0" rIns="0" bIns="0" rtlCol="0" anchor="ctr"/>
          <a:lstStyle/>
          <a:p>
            <a:r>
              <a:rPr lang="en-US" sz="1100" dirty="0">
                <a:solidFill>
                  <a:srgbClr val="0D1B2A"/>
                </a:solidFill>
                <a:latin typeface="Calibri" pitchFamily="34" charset="0"/>
                <a:ea typeface="Calibri" pitchFamily="34" charset="-122"/>
                <a:cs typeface="Calibri" pitchFamily="34" charset="-120"/>
              </a:rPr>
              <a:t>Tamper-proof digital voting systems; verifiable, transparent election results</a:t>
            </a:r>
            <a:endParaRPr lang="en-US" sz="1100" dirty="0"/>
          </a:p>
        </p:txBody>
      </p:sp>
      <p:sp>
        <p:nvSpPr>
          <p:cNvPr id="20" name="Shape 18"/>
          <p:cNvSpPr/>
          <p:nvPr/>
        </p:nvSpPr>
        <p:spPr>
          <a:xfrm>
            <a:off x="3337560" y="3481578"/>
            <a:ext cx="2697480" cy="1508760"/>
          </a:xfrm>
          <a:prstGeom prst="roundRect">
            <a:avLst>
              <a:gd name="adj" fmla="val 4242"/>
            </a:avLst>
          </a:prstGeom>
          <a:solidFill>
            <a:srgbClr val="F5F9FF"/>
          </a:solidFill>
          <a:ln w="19050">
            <a:solidFill>
              <a:srgbClr val="9C27B0"/>
            </a:solidFill>
            <a:prstDash val="solid"/>
          </a:ln>
          <a:effectLst>
            <a:outerShdw blurRad="101600" dist="38100" dir="2700000" algn="bl" rotWithShape="0">
              <a:srgbClr val="000000">
                <a:alpha val="18000"/>
              </a:srgbClr>
            </a:outerShdw>
          </a:effectLst>
        </p:spPr>
        <p:txBody>
          <a:bodyPr/>
          <a:lstStyle/>
          <a:p>
            <a:endParaRPr lang="en-US"/>
          </a:p>
        </p:txBody>
      </p:sp>
      <p:sp>
        <p:nvSpPr>
          <p:cNvPr id="21" name="Text 19"/>
          <p:cNvSpPr/>
          <p:nvPr/>
        </p:nvSpPr>
        <p:spPr>
          <a:xfrm>
            <a:off x="3337560" y="3573018"/>
            <a:ext cx="594360" cy="640080"/>
          </a:xfrm>
          <a:prstGeom prst="rect">
            <a:avLst/>
          </a:prstGeom>
          <a:noFill/>
          <a:ln/>
        </p:spPr>
        <p:txBody>
          <a:bodyPr wrap="square" lIns="0" tIns="0" rIns="0" bIns="0" rtlCol="0" anchor="ctr"/>
          <a:lstStyle/>
          <a:p>
            <a:pPr algn="ctr"/>
            <a:r>
              <a:rPr lang="en-US" sz="2400" dirty="0"/>
              <a:t>🎮</a:t>
            </a:r>
          </a:p>
        </p:txBody>
      </p:sp>
      <p:sp>
        <p:nvSpPr>
          <p:cNvPr id="22" name="Text 20"/>
          <p:cNvSpPr/>
          <p:nvPr/>
        </p:nvSpPr>
        <p:spPr>
          <a:xfrm>
            <a:off x="3886200" y="3591306"/>
            <a:ext cx="2057400" cy="347472"/>
          </a:xfrm>
          <a:prstGeom prst="rect">
            <a:avLst/>
          </a:prstGeom>
          <a:noFill/>
          <a:ln/>
        </p:spPr>
        <p:txBody>
          <a:bodyPr wrap="square" lIns="0" tIns="0" rIns="0" bIns="0" rtlCol="0" anchor="ctr"/>
          <a:lstStyle/>
          <a:p>
            <a:r>
              <a:rPr lang="en-US" sz="1300" b="1" dirty="0">
                <a:solidFill>
                  <a:srgbClr val="9C27B0"/>
                </a:solidFill>
                <a:latin typeface="Calibri" pitchFamily="34" charset="0"/>
                <a:ea typeface="Calibri" pitchFamily="34" charset="-122"/>
                <a:cs typeface="Calibri" pitchFamily="34" charset="-120"/>
              </a:rPr>
              <a:t>Gaming &amp; NFTs</a:t>
            </a:r>
            <a:endParaRPr lang="en-US" sz="1300" dirty="0"/>
          </a:p>
        </p:txBody>
      </p:sp>
      <p:sp>
        <p:nvSpPr>
          <p:cNvPr id="23" name="Text 21"/>
          <p:cNvSpPr/>
          <p:nvPr/>
        </p:nvSpPr>
        <p:spPr>
          <a:xfrm>
            <a:off x="3447288" y="4011930"/>
            <a:ext cx="2487168" cy="914400"/>
          </a:xfrm>
          <a:prstGeom prst="rect">
            <a:avLst/>
          </a:prstGeom>
          <a:noFill/>
          <a:ln/>
        </p:spPr>
        <p:txBody>
          <a:bodyPr wrap="square" lIns="0" tIns="0" rIns="0" bIns="0" rtlCol="0" anchor="ctr"/>
          <a:lstStyle/>
          <a:p>
            <a:r>
              <a:rPr lang="en-US" sz="1100" dirty="0">
                <a:solidFill>
                  <a:srgbClr val="0D1B2A"/>
                </a:solidFill>
                <a:latin typeface="Calibri" pitchFamily="34" charset="0"/>
                <a:ea typeface="Calibri" pitchFamily="34" charset="-122"/>
                <a:cs typeface="Calibri" pitchFamily="34" charset="-120"/>
              </a:rPr>
              <a:t>Player-owned in-game assets, verifiable scarcity, NFT marketplaces</a:t>
            </a:r>
            <a:endParaRPr lang="en-US" sz="1100" dirty="0"/>
          </a:p>
        </p:txBody>
      </p:sp>
      <p:sp>
        <p:nvSpPr>
          <p:cNvPr id="24" name="Shape 22"/>
          <p:cNvSpPr/>
          <p:nvPr/>
        </p:nvSpPr>
        <p:spPr>
          <a:xfrm>
            <a:off x="6217920" y="3481578"/>
            <a:ext cx="2697480" cy="1508760"/>
          </a:xfrm>
          <a:prstGeom prst="roundRect">
            <a:avLst>
              <a:gd name="adj" fmla="val 4242"/>
            </a:avLst>
          </a:prstGeom>
          <a:solidFill>
            <a:srgbClr val="F5F9FF"/>
          </a:solidFill>
          <a:ln w="19050">
            <a:solidFill>
              <a:srgbClr val="F57C00"/>
            </a:solidFill>
            <a:prstDash val="solid"/>
          </a:ln>
          <a:effectLst>
            <a:outerShdw blurRad="101600" dist="38100" dir="2700000" algn="bl" rotWithShape="0">
              <a:srgbClr val="000000">
                <a:alpha val="18000"/>
              </a:srgbClr>
            </a:outerShdw>
          </a:effectLst>
        </p:spPr>
        <p:txBody>
          <a:bodyPr/>
          <a:lstStyle/>
          <a:p>
            <a:endParaRPr lang="en-US"/>
          </a:p>
        </p:txBody>
      </p:sp>
      <p:sp>
        <p:nvSpPr>
          <p:cNvPr id="25" name="Text 23"/>
          <p:cNvSpPr/>
          <p:nvPr/>
        </p:nvSpPr>
        <p:spPr>
          <a:xfrm>
            <a:off x="6217920" y="3573018"/>
            <a:ext cx="594360" cy="640080"/>
          </a:xfrm>
          <a:prstGeom prst="rect">
            <a:avLst/>
          </a:prstGeom>
          <a:noFill/>
          <a:ln/>
        </p:spPr>
        <p:txBody>
          <a:bodyPr wrap="square" lIns="0" tIns="0" rIns="0" bIns="0" rtlCol="0" anchor="ctr"/>
          <a:lstStyle/>
          <a:p>
            <a:pPr algn="ctr"/>
            <a:r>
              <a:rPr lang="en-US" sz="2400" dirty="0"/>
              <a:t>📋</a:t>
            </a:r>
          </a:p>
        </p:txBody>
      </p:sp>
      <p:sp>
        <p:nvSpPr>
          <p:cNvPr id="26" name="Text 24"/>
          <p:cNvSpPr/>
          <p:nvPr/>
        </p:nvSpPr>
        <p:spPr>
          <a:xfrm>
            <a:off x="6766560" y="3591306"/>
            <a:ext cx="2057400" cy="347472"/>
          </a:xfrm>
          <a:prstGeom prst="rect">
            <a:avLst/>
          </a:prstGeom>
          <a:noFill/>
          <a:ln/>
        </p:spPr>
        <p:txBody>
          <a:bodyPr wrap="square" lIns="0" tIns="0" rIns="0" bIns="0" rtlCol="0" anchor="ctr"/>
          <a:lstStyle/>
          <a:p>
            <a:r>
              <a:rPr lang="en-US" sz="1300" b="1" dirty="0">
                <a:solidFill>
                  <a:srgbClr val="F57C00"/>
                </a:solidFill>
                <a:latin typeface="Calibri" pitchFamily="34" charset="0"/>
                <a:ea typeface="Calibri" pitchFamily="34" charset="-122"/>
                <a:cs typeface="Calibri" pitchFamily="34" charset="-120"/>
              </a:rPr>
              <a:t>Legal / Contracts</a:t>
            </a:r>
            <a:endParaRPr lang="en-US" sz="1300" dirty="0"/>
          </a:p>
        </p:txBody>
      </p:sp>
      <p:sp>
        <p:nvSpPr>
          <p:cNvPr id="27" name="Text 25"/>
          <p:cNvSpPr/>
          <p:nvPr/>
        </p:nvSpPr>
        <p:spPr>
          <a:xfrm>
            <a:off x="6327648" y="4011930"/>
            <a:ext cx="2487168" cy="914400"/>
          </a:xfrm>
          <a:prstGeom prst="rect">
            <a:avLst/>
          </a:prstGeom>
          <a:noFill/>
          <a:ln/>
        </p:spPr>
        <p:txBody>
          <a:bodyPr wrap="square" lIns="0" tIns="0" rIns="0" bIns="0" rtlCol="0" anchor="ctr"/>
          <a:lstStyle/>
          <a:p>
            <a:r>
              <a:rPr lang="en-US" sz="1100" dirty="0">
                <a:solidFill>
                  <a:srgbClr val="0D1B2A"/>
                </a:solidFill>
                <a:latin typeface="Calibri" pitchFamily="34" charset="0"/>
                <a:ea typeface="Calibri" pitchFamily="34" charset="-122"/>
                <a:cs typeface="Calibri" pitchFamily="34" charset="-120"/>
              </a:rPr>
              <a:t>Smart contracts: self-executing code that automates agreements without lawyers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4800" y="449580"/>
            <a:ext cx="8229600" cy="548640"/>
          </a:xfrm>
          <a:prstGeom prst="rect">
            <a:avLst/>
          </a:prstGeom>
          <a:noFill/>
          <a:ln/>
        </p:spPr>
        <p:txBody>
          <a:bodyPr wrap="square" rtlCol="0" anchor="ctr"/>
          <a:lstStyle/>
          <a:p>
            <a:r>
              <a:rPr lang="en-US" sz="2800" b="1" dirty="0">
                <a:solidFill>
                  <a:srgbClr val="0D1B2A"/>
                </a:solidFill>
                <a:latin typeface="Cambria" pitchFamily="34" charset="0"/>
                <a:ea typeface="Cambria" pitchFamily="34" charset="-122"/>
                <a:cs typeface="Cambria" pitchFamily="34" charset="-120"/>
              </a:rPr>
              <a:t>Common Misconceptions</a:t>
            </a:r>
            <a:endParaRPr lang="en-US" sz="2800" dirty="0"/>
          </a:p>
        </p:txBody>
      </p:sp>
      <p:sp>
        <p:nvSpPr>
          <p:cNvPr id="3" name="Shape 1"/>
          <p:cNvSpPr/>
          <p:nvPr/>
        </p:nvSpPr>
        <p:spPr>
          <a:xfrm>
            <a:off x="457200" y="1625346"/>
            <a:ext cx="8229600" cy="27432"/>
          </a:xfrm>
          <a:prstGeom prst="rect">
            <a:avLst/>
          </a:prstGeom>
          <a:solidFill>
            <a:srgbClr val="E53935"/>
          </a:solidFill>
          <a:ln w="12700">
            <a:solidFill>
              <a:srgbClr val="E53935"/>
            </a:solidFill>
            <a:prstDash val="solid"/>
          </a:ln>
        </p:spPr>
        <p:txBody>
          <a:bodyPr/>
          <a:lstStyle/>
          <a:p>
            <a:endParaRPr lang="en-US"/>
          </a:p>
        </p:txBody>
      </p:sp>
      <p:sp>
        <p:nvSpPr>
          <p:cNvPr id="4" name="Shape 2"/>
          <p:cNvSpPr/>
          <p:nvPr/>
        </p:nvSpPr>
        <p:spPr>
          <a:xfrm>
            <a:off x="457200" y="1817370"/>
            <a:ext cx="8229600" cy="868680"/>
          </a:xfrm>
          <a:prstGeom prst="roundRect">
            <a:avLst>
              <a:gd name="adj" fmla="val 6316"/>
            </a:avLst>
          </a:prstGeom>
          <a:solidFill>
            <a:srgbClr val="FFFFFF"/>
          </a:solidFill>
          <a:ln w="12700">
            <a:solidFill>
              <a:srgbClr val="E0E0E0"/>
            </a:solidFill>
            <a:prstDash val="solid"/>
          </a:ln>
          <a:effectLst>
            <a:outerShdw blurRad="101600" dist="38100" dir="2700000" algn="bl" rotWithShape="0">
              <a:srgbClr val="000000">
                <a:alpha val="18000"/>
              </a:srgbClr>
            </a:outerShdw>
          </a:effectLst>
        </p:spPr>
        <p:txBody>
          <a:bodyPr/>
          <a:lstStyle/>
          <a:p>
            <a:endParaRPr lang="en-US"/>
          </a:p>
        </p:txBody>
      </p:sp>
      <p:sp>
        <p:nvSpPr>
          <p:cNvPr id="5" name="Shape 3"/>
          <p:cNvSpPr/>
          <p:nvPr/>
        </p:nvSpPr>
        <p:spPr>
          <a:xfrm>
            <a:off x="457200" y="1890522"/>
            <a:ext cx="804672" cy="274320"/>
          </a:xfrm>
          <a:prstGeom prst="roundRect">
            <a:avLst>
              <a:gd name="adj" fmla="val 13333"/>
            </a:avLst>
          </a:prstGeom>
          <a:solidFill>
            <a:srgbClr val="E53935"/>
          </a:solidFill>
          <a:ln w="12700">
            <a:solidFill>
              <a:srgbClr val="E53935"/>
            </a:solidFill>
            <a:prstDash val="solid"/>
          </a:ln>
        </p:spPr>
        <p:txBody>
          <a:bodyPr/>
          <a:lstStyle/>
          <a:p>
            <a:endParaRPr lang="en-US"/>
          </a:p>
        </p:txBody>
      </p:sp>
      <p:sp>
        <p:nvSpPr>
          <p:cNvPr id="6" name="Text 4"/>
          <p:cNvSpPr/>
          <p:nvPr/>
        </p:nvSpPr>
        <p:spPr>
          <a:xfrm>
            <a:off x="475488" y="1890522"/>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MYTH</a:t>
            </a:r>
            <a:endParaRPr lang="en-US" sz="900" dirty="0"/>
          </a:p>
        </p:txBody>
      </p:sp>
      <p:sp>
        <p:nvSpPr>
          <p:cNvPr id="7" name="Text 5"/>
          <p:cNvSpPr/>
          <p:nvPr/>
        </p:nvSpPr>
        <p:spPr>
          <a:xfrm>
            <a:off x="1325880" y="1872234"/>
            <a:ext cx="7132320" cy="320040"/>
          </a:xfrm>
          <a:prstGeom prst="rect">
            <a:avLst/>
          </a:prstGeom>
          <a:noFill/>
          <a:ln/>
        </p:spPr>
        <p:txBody>
          <a:bodyPr wrap="square" lIns="0" tIns="0" rIns="0" bIns="0" rtlCol="0" anchor="ctr"/>
          <a:lstStyle/>
          <a:p>
            <a:r>
              <a:rPr lang="en-US" sz="1300" b="1" dirty="0">
                <a:solidFill>
                  <a:srgbClr val="E53935"/>
                </a:solidFill>
                <a:latin typeface="Calibri" pitchFamily="34" charset="0"/>
                <a:ea typeface="Calibri" pitchFamily="34" charset="-122"/>
                <a:cs typeface="Calibri" pitchFamily="34" charset="-120"/>
              </a:rPr>
              <a:t>❌ Blockchain = Bitcoin</a:t>
            </a:r>
            <a:endParaRPr lang="en-US" sz="1300" dirty="0"/>
          </a:p>
        </p:txBody>
      </p:sp>
      <p:sp>
        <p:nvSpPr>
          <p:cNvPr id="8" name="Shape 6"/>
          <p:cNvSpPr/>
          <p:nvPr/>
        </p:nvSpPr>
        <p:spPr>
          <a:xfrm>
            <a:off x="457200" y="2292858"/>
            <a:ext cx="804672" cy="274320"/>
          </a:xfrm>
          <a:prstGeom prst="roundRect">
            <a:avLst>
              <a:gd name="adj" fmla="val 13333"/>
            </a:avLst>
          </a:prstGeom>
          <a:solidFill>
            <a:srgbClr val="43A047"/>
          </a:solidFill>
          <a:ln w="12700">
            <a:solidFill>
              <a:srgbClr val="43A047"/>
            </a:solidFill>
            <a:prstDash val="solid"/>
          </a:ln>
        </p:spPr>
        <p:txBody>
          <a:bodyPr/>
          <a:lstStyle/>
          <a:p>
            <a:endParaRPr lang="en-US"/>
          </a:p>
        </p:txBody>
      </p:sp>
      <p:sp>
        <p:nvSpPr>
          <p:cNvPr id="9" name="Text 7"/>
          <p:cNvSpPr/>
          <p:nvPr/>
        </p:nvSpPr>
        <p:spPr>
          <a:xfrm>
            <a:off x="475488" y="2292858"/>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TRUTH</a:t>
            </a:r>
            <a:endParaRPr lang="en-US" sz="900" dirty="0"/>
          </a:p>
        </p:txBody>
      </p:sp>
      <p:sp>
        <p:nvSpPr>
          <p:cNvPr id="10" name="Text 8"/>
          <p:cNvSpPr/>
          <p:nvPr/>
        </p:nvSpPr>
        <p:spPr>
          <a:xfrm>
            <a:off x="1325880" y="2292858"/>
            <a:ext cx="7132320" cy="320040"/>
          </a:xfrm>
          <a:prstGeom prst="rect">
            <a:avLst/>
          </a:prstGeom>
          <a:noFill/>
          <a:ln/>
        </p:spPr>
        <p:txBody>
          <a:bodyPr wrap="square" lIns="0" tIns="0" rIns="0" bIns="0" rtlCol="0" anchor="ctr"/>
          <a:lstStyle/>
          <a:p>
            <a:r>
              <a:rPr lang="en-US" sz="1200" dirty="0">
                <a:solidFill>
                  <a:srgbClr val="0D1B2A"/>
                </a:solidFill>
                <a:latin typeface="Calibri" pitchFamily="34" charset="0"/>
                <a:ea typeface="Calibri" pitchFamily="34" charset="-122"/>
                <a:cs typeface="Calibri" pitchFamily="34" charset="-120"/>
              </a:rPr>
              <a:t>✅ Bitcoin is ONE application of blockchain technology. There are thousands of blockchains beyond Bitcoin.</a:t>
            </a:r>
            <a:endParaRPr lang="en-US" sz="1200" dirty="0"/>
          </a:p>
        </p:txBody>
      </p:sp>
      <p:sp>
        <p:nvSpPr>
          <p:cNvPr id="11" name="Shape 9"/>
          <p:cNvSpPr/>
          <p:nvPr/>
        </p:nvSpPr>
        <p:spPr>
          <a:xfrm>
            <a:off x="457200" y="2823210"/>
            <a:ext cx="8229600" cy="868680"/>
          </a:xfrm>
          <a:prstGeom prst="roundRect">
            <a:avLst>
              <a:gd name="adj" fmla="val 6316"/>
            </a:avLst>
          </a:prstGeom>
          <a:solidFill>
            <a:srgbClr val="FFFFFF"/>
          </a:solidFill>
          <a:ln w="12700">
            <a:solidFill>
              <a:srgbClr val="E0E0E0"/>
            </a:solidFill>
            <a:prstDash val="solid"/>
          </a:ln>
          <a:effectLst>
            <a:outerShdw blurRad="101600" dist="38100" dir="2700000" algn="bl" rotWithShape="0">
              <a:srgbClr val="000000">
                <a:alpha val="18000"/>
              </a:srgbClr>
            </a:outerShdw>
          </a:effectLst>
        </p:spPr>
        <p:txBody>
          <a:bodyPr/>
          <a:lstStyle/>
          <a:p>
            <a:endParaRPr lang="en-US"/>
          </a:p>
        </p:txBody>
      </p:sp>
      <p:sp>
        <p:nvSpPr>
          <p:cNvPr id="12" name="Shape 10"/>
          <p:cNvSpPr/>
          <p:nvPr/>
        </p:nvSpPr>
        <p:spPr>
          <a:xfrm>
            <a:off x="457200" y="2896362"/>
            <a:ext cx="804672" cy="274320"/>
          </a:xfrm>
          <a:prstGeom prst="roundRect">
            <a:avLst>
              <a:gd name="adj" fmla="val 13333"/>
            </a:avLst>
          </a:prstGeom>
          <a:solidFill>
            <a:srgbClr val="E53935"/>
          </a:solidFill>
          <a:ln w="12700">
            <a:solidFill>
              <a:srgbClr val="E53935"/>
            </a:solidFill>
            <a:prstDash val="solid"/>
          </a:ln>
        </p:spPr>
        <p:txBody>
          <a:bodyPr/>
          <a:lstStyle/>
          <a:p>
            <a:endParaRPr lang="en-US"/>
          </a:p>
        </p:txBody>
      </p:sp>
      <p:sp>
        <p:nvSpPr>
          <p:cNvPr id="13" name="Text 11"/>
          <p:cNvSpPr/>
          <p:nvPr/>
        </p:nvSpPr>
        <p:spPr>
          <a:xfrm>
            <a:off x="475488" y="2896362"/>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MYTH</a:t>
            </a:r>
            <a:endParaRPr lang="en-US" sz="900" dirty="0"/>
          </a:p>
        </p:txBody>
      </p:sp>
      <p:sp>
        <p:nvSpPr>
          <p:cNvPr id="14" name="Text 12"/>
          <p:cNvSpPr/>
          <p:nvPr/>
        </p:nvSpPr>
        <p:spPr>
          <a:xfrm>
            <a:off x="1325880" y="2878074"/>
            <a:ext cx="7132320" cy="320040"/>
          </a:xfrm>
          <a:prstGeom prst="rect">
            <a:avLst/>
          </a:prstGeom>
          <a:noFill/>
          <a:ln/>
        </p:spPr>
        <p:txBody>
          <a:bodyPr wrap="square" lIns="0" tIns="0" rIns="0" bIns="0" rtlCol="0" anchor="ctr"/>
          <a:lstStyle/>
          <a:p>
            <a:r>
              <a:rPr lang="en-US" sz="1300" b="1" dirty="0">
                <a:solidFill>
                  <a:srgbClr val="E53935"/>
                </a:solidFill>
                <a:latin typeface="Calibri" pitchFamily="34" charset="0"/>
                <a:ea typeface="Calibri" pitchFamily="34" charset="-122"/>
                <a:cs typeface="Calibri" pitchFamily="34" charset="-120"/>
              </a:rPr>
              <a:t>❌ Blockchain is completely anonymous</a:t>
            </a:r>
            <a:endParaRPr lang="en-US" sz="1300" dirty="0"/>
          </a:p>
        </p:txBody>
      </p:sp>
      <p:sp>
        <p:nvSpPr>
          <p:cNvPr id="15" name="Shape 13"/>
          <p:cNvSpPr/>
          <p:nvPr/>
        </p:nvSpPr>
        <p:spPr>
          <a:xfrm>
            <a:off x="457200" y="3298698"/>
            <a:ext cx="804672" cy="274320"/>
          </a:xfrm>
          <a:prstGeom prst="roundRect">
            <a:avLst>
              <a:gd name="adj" fmla="val 13333"/>
            </a:avLst>
          </a:prstGeom>
          <a:solidFill>
            <a:srgbClr val="43A047"/>
          </a:solidFill>
          <a:ln w="12700">
            <a:solidFill>
              <a:srgbClr val="43A047"/>
            </a:solidFill>
            <a:prstDash val="solid"/>
          </a:ln>
        </p:spPr>
        <p:txBody>
          <a:bodyPr/>
          <a:lstStyle/>
          <a:p>
            <a:endParaRPr lang="en-US"/>
          </a:p>
        </p:txBody>
      </p:sp>
      <p:sp>
        <p:nvSpPr>
          <p:cNvPr id="16" name="Text 14"/>
          <p:cNvSpPr/>
          <p:nvPr/>
        </p:nvSpPr>
        <p:spPr>
          <a:xfrm>
            <a:off x="475488" y="3298698"/>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TRUTH</a:t>
            </a:r>
            <a:endParaRPr lang="en-US" sz="900" dirty="0"/>
          </a:p>
        </p:txBody>
      </p:sp>
      <p:sp>
        <p:nvSpPr>
          <p:cNvPr id="17" name="Text 15"/>
          <p:cNvSpPr/>
          <p:nvPr/>
        </p:nvSpPr>
        <p:spPr>
          <a:xfrm>
            <a:off x="1325880" y="3298698"/>
            <a:ext cx="7132320" cy="320040"/>
          </a:xfrm>
          <a:prstGeom prst="rect">
            <a:avLst/>
          </a:prstGeom>
          <a:noFill/>
          <a:ln/>
        </p:spPr>
        <p:txBody>
          <a:bodyPr wrap="square" lIns="0" tIns="0" rIns="0" bIns="0" rtlCol="0" anchor="ctr"/>
          <a:lstStyle/>
          <a:p>
            <a:r>
              <a:rPr lang="en-US" sz="1200" dirty="0">
                <a:solidFill>
                  <a:srgbClr val="0D1B2A"/>
                </a:solidFill>
                <a:latin typeface="Calibri" pitchFamily="34" charset="0"/>
                <a:ea typeface="Calibri" pitchFamily="34" charset="-122"/>
                <a:cs typeface="Calibri" pitchFamily="34" charset="-120"/>
              </a:rPr>
              <a:t>✅ Most blockchains are pseudonymous — transactions are traceable. True anonymity requires specialized techniques.</a:t>
            </a:r>
            <a:endParaRPr lang="en-US" sz="1200" dirty="0"/>
          </a:p>
        </p:txBody>
      </p:sp>
      <p:sp>
        <p:nvSpPr>
          <p:cNvPr id="18" name="Shape 16"/>
          <p:cNvSpPr/>
          <p:nvPr/>
        </p:nvSpPr>
        <p:spPr>
          <a:xfrm>
            <a:off x="457200" y="3829050"/>
            <a:ext cx="8229600" cy="868680"/>
          </a:xfrm>
          <a:prstGeom prst="roundRect">
            <a:avLst>
              <a:gd name="adj" fmla="val 6316"/>
            </a:avLst>
          </a:prstGeom>
          <a:solidFill>
            <a:srgbClr val="FFFFFF"/>
          </a:solidFill>
          <a:ln w="12700">
            <a:solidFill>
              <a:srgbClr val="E0E0E0"/>
            </a:solidFill>
            <a:prstDash val="solid"/>
          </a:ln>
          <a:effectLst>
            <a:outerShdw blurRad="101600" dist="38100" dir="2700000" algn="bl" rotWithShape="0">
              <a:srgbClr val="000000">
                <a:alpha val="18000"/>
              </a:srgbClr>
            </a:outerShdw>
          </a:effectLst>
        </p:spPr>
        <p:txBody>
          <a:bodyPr/>
          <a:lstStyle/>
          <a:p>
            <a:endParaRPr lang="en-US"/>
          </a:p>
        </p:txBody>
      </p:sp>
      <p:sp>
        <p:nvSpPr>
          <p:cNvPr id="19" name="Shape 17"/>
          <p:cNvSpPr/>
          <p:nvPr/>
        </p:nvSpPr>
        <p:spPr>
          <a:xfrm>
            <a:off x="457200" y="3902202"/>
            <a:ext cx="804672" cy="274320"/>
          </a:xfrm>
          <a:prstGeom prst="roundRect">
            <a:avLst>
              <a:gd name="adj" fmla="val 13333"/>
            </a:avLst>
          </a:prstGeom>
          <a:solidFill>
            <a:srgbClr val="E53935"/>
          </a:solidFill>
          <a:ln w="12700">
            <a:solidFill>
              <a:srgbClr val="E53935"/>
            </a:solidFill>
            <a:prstDash val="solid"/>
          </a:ln>
        </p:spPr>
        <p:txBody>
          <a:bodyPr/>
          <a:lstStyle/>
          <a:p>
            <a:endParaRPr lang="en-US"/>
          </a:p>
        </p:txBody>
      </p:sp>
      <p:sp>
        <p:nvSpPr>
          <p:cNvPr id="20" name="Text 18"/>
          <p:cNvSpPr/>
          <p:nvPr/>
        </p:nvSpPr>
        <p:spPr>
          <a:xfrm>
            <a:off x="475488" y="3902202"/>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MYTH</a:t>
            </a:r>
            <a:endParaRPr lang="en-US" sz="900" dirty="0"/>
          </a:p>
        </p:txBody>
      </p:sp>
      <p:sp>
        <p:nvSpPr>
          <p:cNvPr id="21" name="Text 19"/>
          <p:cNvSpPr/>
          <p:nvPr/>
        </p:nvSpPr>
        <p:spPr>
          <a:xfrm>
            <a:off x="1325880" y="3883914"/>
            <a:ext cx="7132320" cy="320040"/>
          </a:xfrm>
          <a:prstGeom prst="rect">
            <a:avLst/>
          </a:prstGeom>
          <a:noFill/>
          <a:ln/>
        </p:spPr>
        <p:txBody>
          <a:bodyPr wrap="square" lIns="0" tIns="0" rIns="0" bIns="0" rtlCol="0" anchor="ctr"/>
          <a:lstStyle/>
          <a:p>
            <a:r>
              <a:rPr lang="en-US" sz="1300" b="1" dirty="0">
                <a:solidFill>
                  <a:srgbClr val="E53935"/>
                </a:solidFill>
                <a:latin typeface="Calibri" pitchFamily="34" charset="0"/>
                <a:ea typeface="Calibri" pitchFamily="34" charset="-122"/>
                <a:cs typeface="Calibri" pitchFamily="34" charset="-120"/>
              </a:rPr>
              <a:t>❌ Blockchain is 100% secure and hackable</a:t>
            </a:r>
            <a:endParaRPr lang="en-US" sz="1300" dirty="0"/>
          </a:p>
        </p:txBody>
      </p:sp>
      <p:sp>
        <p:nvSpPr>
          <p:cNvPr id="22" name="Shape 20"/>
          <p:cNvSpPr/>
          <p:nvPr/>
        </p:nvSpPr>
        <p:spPr>
          <a:xfrm>
            <a:off x="457200" y="4304538"/>
            <a:ext cx="804672" cy="274320"/>
          </a:xfrm>
          <a:prstGeom prst="roundRect">
            <a:avLst>
              <a:gd name="adj" fmla="val 13333"/>
            </a:avLst>
          </a:prstGeom>
          <a:solidFill>
            <a:srgbClr val="43A047"/>
          </a:solidFill>
          <a:ln w="12700">
            <a:solidFill>
              <a:srgbClr val="43A047"/>
            </a:solidFill>
            <a:prstDash val="solid"/>
          </a:ln>
        </p:spPr>
        <p:txBody>
          <a:bodyPr/>
          <a:lstStyle/>
          <a:p>
            <a:endParaRPr lang="en-US"/>
          </a:p>
        </p:txBody>
      </p:sp>
      <p:sp>
        <p:nvSpPr>
          <p:cNvPr id="23" name="Text 21"/>
          <p:cNvSpPr/>
          <p:nvPr/>
        </p:nvSpPr>
        <p:spPr>
          <a:xfrm>
            <a:off x="475488" y="4304538"/>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TRUTH</a:t>
            </a:r>
            <a:endParaRPr lang="en-US" sz="900" dirty="0"/>
          </a:p>
        </p:txBody>
      </p:sp>
      <p:sp>
        <p:nvSpPr>
          <p:cNvPr id="24" name="Text 22"/>
          <p:cNvSpPr/>
          <p:nvPr/>
        </p:nvSpPr>
        <p:spPr>
          <a:xfrm>
            <a:off x="1325880" y="4304538"/>
            <a:ext cx="7132320" cy="320040"/>
          </a:xfrm>
          <a:prstGeom prst="rect">
            <a:avLst/>
          </a:prstGeom>
          <a:noFill/>
          <a:ln/>
        </p:spPr>
        <p:txBody>
          <a:bodyPr wrap="square" lIns="0" tIns="0" rIns="0" bIns="0" rtlCol="0" anchor="ctr"/>
          <a:lstStyle/>
          <a:p>
            <a:r>
              <a:rPr lang="en-US" sz="1200" dirty="0">
                <a:solidFill>
                  <a:srgbClr val="0D1B2A"/>
                </a:solidFill>
                <a:latin typeface="Calibri" pitchFamily="34" charset="0"/>
                <a:ea typeface="Calibri" pitchFamily="34" charset="-122"/>
                <a:cs typeface="Calibri" pitchFamily="34" charset="-120"/>
              </a:rPr>
              <a:t>✅ The blockchain itself is extremely hard to tamper with, but applications built on it (wallets, exchanges) can still be hacked.</a:t>
            </a:r>
            <a:endParaRPr lang="en-US" sz="1200" dirty="0"/>
          </a:p>
        </p:txBody>
      </p:sp>
      <p:sp>
        <p:nvSpPr>
          <p:cNvPr id="25" name="Shape 23"/>
          <p:cNvSpPr/>
          <p:nvPr/>
        </p:nvSpPr>
        <p:spPr>
          <a:xfrm>
            <a:off x="457200" y="4834890"/>
            <a:ext cx="8229600" cy="868680"/>
          </a:xfrm>
          <a:prstGeom prst="roundRect">
            <a:avLst>
              <a:gd name="adj" fmla="val 6316"/>
            </a:avLst>
          </a:prstGeom>
          <a:solidFill>
            <a:srgbClr val="FFFFFF"/>
          </a:solidFill>
          <a:ln w="12700">
            <a:solidFill>
              <a:srgbClr val="E0E0E0"/>
            </a:solidFill>
            <a:prstDash val="solid"/>
          </a:ln>
          <a:effectLst>
            <a:outerShdw blurRad="101600" dist="38100" dir="2700000" algn="bl" rotWithShape="0">
              <a:srgbClr val="000000">
                <a:alpha val="18000"/>
              </a:srgbClr>
            </a:outerShdw>
          </a:effectLst>
        </p:spPr>
        <p:txBody>
          <a:bodyPr/>
          <a:lstStyle/>
          <a:p>
            <a:endParaRPr lang="en-US"/>
          </a:p>
        </p:txBody>
      </p:sp>
      <p:sp>
        <p:nvSpPr>
          <p:cNvPr id="26" name="Shape 24"/>
          <p:cNvSpPr/>
          <p:nvPr/>
        </p:nvSpPr>
        <p:spPr>
          <a:xfrm>
            <a:off x="457200" y="4908042"/>
            <a:ext cx="804672" cy="274320"/>
          </a:xfrm>
          <a:prstGeom prst="roundRect">
            <a:avLst>
              <a:gd name="adj" fmla="val 13333"/>
            </a:avLst>
          </a:prstGeom>
          <a:solidFill>
            <a:srgbClr val="E53935"/>
          </a:solidFill>
          <a:ln w="12700">
            <a:solidFill>
              <a:srgbClr val="E53935"/>
            </a:solidFill>
            <a:prstDash val="solid"/>
          </a:ln>
        </p:spPr>
        <p:txBody>
          <a:bodyPr/>
          <a:lstStyle/>
          <a:p>
            <a:endParaRPr lang="en-US"/>
          </a:p>
        </p:txBody>
      </p:sp>
      <p:sp>
        <p:nvSpPr>
          <p:cNvPr id="27" name="Text 25"/>
          <p:cNvSpPr/>
          <p:nvPr/>
        </p:nvSpPr>
        <p:spPr>
          <a:xfrm>
            <a:off x="475488" y="4908042"/>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MYTH</a:t>
            </a:r>
            <a:endParaRPr lang="en-US" sz="900" dirty="0"/>
          </a:p>
        </p:txBody>
      </p:sp>
      <p:sp>
        <p:nvSpPr>
          <p:cNvPr id="28" name="Text 26"/>
          <p:cNvSpPr/>
          <p:nvPr/>
        </p:nvSpPr>
        <p:spPr>
          <a:xfrm>
            <a:off x="1325880" y="4889754"/>
            <a:ext cx="7132320" cy="320040"/>
          </a:xfrm>
          <a:prstGeom prst="rect">
            <a:avLst/>
          </a:prstGeom>
          <a:noFill/>
          <a:ln/>
        </p:spPr>
        <p:txBody>
          <a:bodyPr wrap="square" lIns="0" tIns="0" rIns="0" bIns="0" rtlCol="0" anchor="ctr"/>
          <a:lstStyle/>
          <a:p>
            <a:r>
              <a:rPr lang="en-US" sz="1300" b="1" dirty="0">
                <a:solidFill>
                  <a:srgbClr val="E53935"/>
                </a:solidFill>
                <a:latin typeface="Calibri" pitchFamily="34" charset="0"/>
                <a:ea typeface="Calibri" pitchFamily="34" charset="-122"/>
                <a:cs typeface="Calibri" pitchFamily="34" charset="-120"/>
              </a:rPr>
              <a:t>❌ Blockchain can store any data cheaply</a:t>
            </a:r>
            <a:endParaRPr lang="en-US" sz="1300" dirty="0"/>
          </a:p>
        </p:txBody>
      </p:sp>
      <p:sp>
        <p:nvSpPr>
          <p:cNvPr id="29" name="Shape 27"/>
          <p:cNvSpPr/>
          <p:nvPr/>
        </p:nvSpPr>
        <p:spPr>
          <a:xfrm>
            <a:off x="457200" y="5310378"/>
            <a:ext cx="804672" cy="274320"/>
          </a:xfrm>
          <a:prstGeom prst="roundRect">
            <a:avLst>
              <a:gd name="adj" fmla="val 13333"/>
            </a:avLst>
          </a:prstGeom>
          <a:solidFill>
            <a:srgbClr val="43A047"/>
          </a:solidFill>
          <a:ln w="12700">
            <a:solidFill>
              <a:srgbClr val="43A047"/>
            </a:solidFill>
            <a:prstDash val="solid"/>
          </a:ln>
        </p:spPr>
        <p:txBody>
          <a:bodyPr/>
          <a:lstStyle/>
          <a:p>
            <a:endParaRPr lang="en-US"/>
          </a:p>
        </p:txBody>
      </p:sp>
      <p:sp>
        <p:nvSpPr>
          <p:cNvPr id="30" name="Text 28"/>
          <p:cNvSpPr/>
          <p:nvPr/>
        </p:nvSpPr>
        <p:spPr>
          <a:xfrm>
            <a:off x="475488" y="5310378"/>
            <a:ext cx="768096" cy="274320"/>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TRUTH</a:t>
            </a:r>
            <a:endParaRPr lang="en-US" sz="900" dirty="0"/>
          </a:p>
        </p:txBody>
      </p:sp>
      <p:sp>
        <p:nvSpPr>
          <p:cNvPr id="31" name="Text 29"/>
          <p:cNvSpPr/>
          <p:nvPr/>
        </p:nvSpPr>
        <p:spPr>
          <a:xfrm>
            <a:off x="1325880" y="5310378"/>
            <a:ext cx="7132320" cy="320040"/>
          </a:xfrm>
          <a:prstGeom prst="rect">
            <a:avLst/>
          </a:prstGeom>
          <a:noFill/>
          <a:ln/>
        </p:spPr>
        <p:txBody>
          <a:bodyPr wrap="square" lIns="0" tIns="0" rIns="0" bIns="0" rtlCol="0" anchor="ctr"/>
          <a:lstStyle/>
          <a:p>
            <a:r>
              <a:rPr lang="en-US" sz="1200" dirty="0">
                <a:solidFill>
                  <a:srgbClr val="0D1B2A"/>
                </a:solidFill>
                <a:latin typeface="Calibri" pitchFamily="34" charset="0"/>
                <a:ea typeface="Calibri" pitchFamily="34" charset="-122"/>
                <a:cs typeface="Calibri" pitchFamily="34" charset="-120"/>
              </a:rPr>
              <a:t>✅ Storing data on-chain is expensive. Most applications store data off-chain and only record a hash (fingerprint) on the blockchain.</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4800" y="449580"/>
            <a:ext cx="8229600" cy="548640"/>
          </a:xfrm>
          <a:prstGeom prst="rect">
            <a:avLst/>
          </a:prstGeom>
          <a:noFill/>
          <a:ln/>
        </p:spPr>
        <p:txBody>
          <a:bodyPr wrap="square" rtlCol="0" anchor="ctr"/>
          <a:lstStyle/>
          <a:p>
            <a:r>
              <a:rPr lang="en-US" sz="2600" b="1" dirty="0">
                <a:solidFill>
                  <a:srgbClr val="0D1B2A"/>
                </a:solidFill>
                <a:latin typeface="Cambria" pitchFamily="34" charset="0"/>
                <a:ea typeface="Cambria" pitchFamily="34" charset="-122"/>
                <a:cs typeface="Cambria" pitchFamily="34" charset="-120"/>
              </a:rPr>
              <a:t>Key Terms</a:t>
            </a:r>
            <a:endParaRPr lang="en-US" sz="2600" dirty="0"/>
          </a:p>
        </p:txBody>
      </p:sp>
      <p:sp>
        <p:nvSpPr>
          <p:cNvPr id="3" name="Shape 1"/>
          <p:cNvSpPr/>
          <p:nvPr/>
        </p:nvSpPr>
        <p:spPr>
          <a:xfrm>
            <a:off x="457200" y="1625346"/>
            <a:ext cx="8229600" cy="27432"/>
          </a:xfrm>
          <a:prstGeom prst="rect">
            <a:avLst/>
          </a:prstGeom>
          <a:solidFill>
            <a:srgbClr val="1B3A5C"/>
          </a:solidFill>
          <a:ln w="12700">
            <a:solidFill>
              <a:srgbClr val="1B3A5C"/>
            </a:solidFill>
            <a:prstDash val="solid"/>
          </a:ln>
        </p:spPr>
        <p:txBody>
          <a:bodyPr/>
          <a:lstStyle/>
          <a:p>
            <a:endParaRPr lang="en-US"/>
          </a:p>
        </p:txBody>
      </p:sp>
      <p:sp>
        <p:nvSpPr>
          <p:cNvPr id="4" name="Shape 2"/>
          <p:cNvSpPr/>
          <p:nvPr/>
        </p:nvSpPr>
        <p:spPr>
          <a:xfrm>
            <a:off x="457200" y="1771650"/>
            <a:ext cx="4114800" cy="731520"/>
          </a:xfrm>
          <a:prstGeom prst="roundRect">
            <a:avLst>
              <a:gd name="adj" fmla="val 5000"/>
            </a:avLst>
          </a:prstGeom>
          <a:solidFill>
            <a:srgbClr val="F5F9FF"/>
          </a:solidFill>
          <a:ln w="6350">
            <a:solidFill>
              <a:srgbClr val="E0E0E0"/>
            </a:solidFill>
            <a:prstDash val="solid"/>
          </a:ln>
        </p:spPr>
        <p:txBody>
          <a:bodyPr/>
          <a:lstStyle/>
          <a:p>
            <a:endParaRPr lang="en-US"/>
          </a:p>
        </p:txBody>
      </p:sp>
      <p:sp>
        <p:nvSpPr>
          <p:cNvPr id="5" name="Text 3"/>
          <p:cNvSpPr/>
          <p:nvPr/>
        </p:nvSpPr>
        <p:spPr>
          <a:xfrm>
            <a:off x="566928" y="1844802"/>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Block</a:t>
            </a:r>
            <a:endParaRPr lang="en-US" sz="1200" dirty="0"/>
          </a:p>
        </p:txBody>
      </p:sp>
      <p:sp>
        <p:nvSpPr>
          <p:cNvPr id="6" name="Shape 4"/>
          <p:cNvSpPr/>
          <p:nvPr/>
        </p:nvSpPr>
        <p:spPr>
          <a:xfrm>
            <a:off x="1847088" y="1881378"/>
            <a:ext cx="0" cy="502920"/>
          </a:xfrm>
          <a:prstGeom prst="line">
            <a:avLst/>
          </a:prstGeom>
          <a:noFill/>
          <a:ln w="6350">
            <a:solidFill>
              <a:srgbClr val="D0D0D0"/>
            </a:solidFill>
            <a:prstDash val="solid"/>
          </a:ln>
        </p:spPr>
        <p:txBody>
          <a:bodyPr/>
          <a:lstStyle/>
          <a:p>
            <a:endParaRPr lang="en-US"/>
          </a:p>
        </p:txBody>
      </p:sp>
      <p:sp>
        <p:nvSpPr>
          <p:cNvPr id="7" name="Text 5"/>
          <p:cNvSpPr/>
          <p:nvPr/>
        </p:nvSpPr>
        <p:spPr>
          <a:xfrm>
            <a:off x="1965960" y="1844802"/>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A collection of validated transactions grouped together and added to the chain.</a:t>
            </a:r>
            <a:endParaRPr lang="en-US" sz="1100" dirty="0"/>
          </a:p>
        </p:txBody>
      </p:sp>
      <p:sp>
        <p:nvSpPr>
          <p:cNvPr id="8" name="Shape 6"/>
          <p:cNvSpPr/>
          <p:nvPr/>
        </p:nvSpPr>
        <p:spPr>
          <a:xfrm>
            <a:off x="4800600" y="1771650"/>
            <a:ext cx="4114800" cy="731520"/>
          </a:xfrm>
          <a:prstGeom prst="roundRect">
            <a:avLst>
              <a:gd name="adj" fmla="val 5000"/>
            </a:avLst>
          </a:prstGeom>
          <a:solidFill>
            <a:srgbClr val="F5F9FF"/>
          </a:solidFill>
          <a:ln w="6350">
            <a:solidFill>
              <a:srgbClr val="E0E0E0"/>
            </a:solidFill>
            <a:prstDash val="solid"/>
          </a:ln>
        </p:spPr>
        <p:txBody>
          <a:bodyPr/>
          <a:lstStyle/>
          <a:p>
            <a:endParaRPr lang="en-US"/>
          </a:p>
        </p:txBody>
      </p:sp>
      <p:sp>
        <p:nvSpPr>
          <p:cNvPr id="9" name="Text 7"/>
          <p:cNvSpPr/>
          <p:nvPr/>
        </p:nvSpPr>
        <p:spPr>
          <a:xfrm>
            <a:off x="4910328" y="1844802"/>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Hash</a:t>
            </a:r>
            <a:endParaRPr lang="en-US" sz="1200" dirty="0"/>
          </a:p>
        </p:txBody>
      </p:sp>
      <p:sp>
        <p:nvSpPr>
          <p:cNvPr id="10" name="Shape 8"/>
          <p:cNvSpPr/>
          <p:nvPr/>
        </p:nvSpPr>
        <p:spPr>
          <a:xfrm>
            <a:off x="6190488" y="1881378"/>
            <a:ext cx="0" cy="502920"/>
          </a:xfrm>
          <a:prstGeom prst="line">
            <a:avLst/>
          </a:prstGeom>
          <a:noFill/>
          <a:ln w="6350">
            <a:solidFill>
              <a:srgbClr val="D0D0D0"/>
            </a:solidFill>
            <a:prstDash val="solid"/>
          </a:ln>
        </p:spPr>
        <p:txBody>
          <a:bodyPr/>
          <a:lstStyle/>
          <a:p>
            <a:endParaRPr lang="en-US"/>
          </a:p>
        </p:txBody>
      </p:sp>
      <p:sp>
        <p:nvSpPr>
          <p:cNvPr id="11" name="Text 9"/>
          <p:cNvSpPr/>
          <p:nvPr/>
        </p:nvSpPr>
        <p:spPr>
          <a:xfrm>
            <a:off x="6309360" y="1844802"/>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A unique cryptographic fingerprint of data; any change to the data changes the hash completely.</a:t>
            </a:r>
            <a:endParaRPr lang="en-US" sz="1100" dirty="0"/>
          </a:p>
        </p:txBody>
      </p:sp>
      <p:sp>
        <p:nvSpPr>
          <p:cNvPr id="12" name="Shape 10"/>
          <p:cNvSpPr/>
          <p:nvPr/>
        </p:nvSpPr>
        <p:spPr>
          <a:xfrm>
            <a:off x="457200" y="2576322"/>
            <a:ext cx="4114800" cy="731520"/>
          </a:xfrm>
          <a:prstGeom prst="roundRect">
            <a:avLst>
              <a:gd name="adj" fmla="val 5000"/>
            </a:avLst>
          </a:prstGeom>
          <a:solidFill>
            <a:srgbClr val="FFFFFF"/>
          </a:solidFill>
          <a:ln w="6350">
            <a:solidFill>
              <a:srgbClr val="E0E0E0"/>
            </a:solidFill>
            <a:prstDash val="solid"/>
          </a:ln>
        </p:spPr>
        <p:txBody>
          <a:bodyPr/>
          <a:lstStyle/>
          <a:p>
            <a:endParaRPr lang="en-US"/>
          </a:p>
        </p:txBody>
      </p:sp>
      <p:sp>
        <p:nvSpPr>
          <p:cNvPr id="13" name="Text 11"/>
          <p:cNvSpPr/>
          <p:nvPr/>
        </p:nvSpPr>
        <p:spPr>
          <a:xfrm>
            <a:off x="566928" y="2649474"/>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Ledger</a:t>
            </a:r>
            <a:endParaRPr lang="en-US" sz="1200" dirty="0"/>
          </a:p>
        </p:txBody>
      </p:sp>
      <p:sp>
        <p:nvSpPr>
          <p:cNvPr id="14" name="Shape 12"/>
          <p:cNvSpPr/>
          <p:nvPr/>
        </p:nvSpPr>
        <p:spPr>
          <a:xfrm>
            <a:off x="1847088" y="2686050"/>
            <a:ext cx="0" cy="502920"/>
          </a:xfrm>
          <a:prstGeom prst="line">
            <a:avLst/>
          </a:prstGeom>
          <a:noFill/>
          <a:ln w="6350">
            <a:solidFill>
              <a:srgbClr val="D0D0D0"/>
            </a:solidFill>
            <a:prstDash val="solid"/>
          </a:ln>
        </p:spPr>
        <p:txBody>
          <a:bodyPr/>
          <a:lstStyle/>
          <a:p>
            <a:endParaRPr lang="en-US"/>
          </a:p>
        </p:txBody>
      </p:sp>
      <p:sp>
        <p:nvSpPr>
          <p:cNvPr id="15" name="Text 13"/>
          <p:cNvSpPr/>
          <p:nvPr/>
        </p:nvSpPr>
        <p:spPr>
          <a:xfrm>
            <a:off x="1965960" y="2649474"/>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A record-keeping system that logs all transactions; blockchain is a distributed ledger.</a:t>
            </a:r>
            <a:endParaRPr lang="en-US" sz="1100" dirty="0"/>
          </a:p>
        </p:txBody>
      </p:sp>
      <p:sp>
        <p:nvSpPr>
          <p:cNvPr id="16" name="Shape 14"/>
          <p:cNvSpPr/>
          <p:nvPr/>
        </p:nvSpPr>
        <p:spPr>
          <a:xfrm>
            <a:off x="4800600" y="2576322"/>
            <a:ext cx="4114800" cy="731520"/>
          </a:xfrm>
          <a:prstGeom prst="roundRect">
            <a:avLst>
              <a:gd name="adj" fmla="val 5000"/>
            </a:avLst>
          </a:prstGeom>
          <a:solidFill>
            <a:srgbClr val="FFFFFF"/>
          </a:solidFill>
          <a:ln w="6350">
            <a:solidFill>
              <a:srgbClr val="E0E0E0"/>
            </a:solidFill>
            <a:prstDash val="solid"/>
          </a:ln>
        </p:spPr>
        <p:txBody>
          <a:bodyPr/>
          <a:lstStyle/>
          <a:p>
            <a:endParaRPr lang="en-US"/>
          </a:p>
        </p:txBody>
      </p:sp>
      <p:sp>
        <p:nvSpPr>
          <p:cNvPr id="17" name="Text 15"/>
          <p:cNvSpPr/>
          <p:nvPr/>
        </p:nvSpPr>
        <p:spPr>
          <a:xfrm>
            <a:off x="4910328" y="2649474"/>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Node</a:t>
            </a:r>
            <a:endParaRPr lang="en-US" sz="1200" dirty="0"/>
          </a:p>
        </p:txBody>
      </p:sp>
      <p:sp>
        <p:nvSpPr>
          <p:cNvPr id="18" name="Shape 16"/>
          <p:cNvSpPr/>
          <p:nvPr/>
        </p:nvSpPr>
        <p:spPr>
          <a:xfrm>
            <a:off x="6190488" y="2686050"/>
            <a:ext cx="0" cy="502920"/>
          </a:xfrm>
          <a:prstGeom prst="line">
            <a:avLst/>
          </a:prstGeom>
          <a:noFill/>
          <a:ln w="6350">
            <a:solidFill>
              <a:srgbClr val="D0D0D0"/>
            </a:solidFill>
            <a:prstDash val="solid"/>
          </a:ln>
        </p:spPr>
        <p:txBody>
          <a:bodyPr/>
          <a:lstStyle/>
          <a:p>
            <a:endParaRPr lang="en-US"/>
          </a:p>
        </p:txBody>
      </p:sp>
      <p:sp>
        <p:nvSpPr>
          <p:cNvPr id="19" name="Text 17"/>
          <p:cNvSpPr/>
          <p:nvPr/>
        </p:nvSpPr>
        <p:spPr>
          <a:xfrm>
            <a:off x="6309360" y="2649474"/>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Any computer participating in a blockchain network; stores and validates the chain.</a:t>
            </a:r>
            <a:endParaRPr lang="en-US" sz="1100" dirty="0"/>
          </a:p>
        </p:txBody>
      </p:sp>
      <p:sp>
        <p:nvSpPr>
          <p:cNvPr id="20" name="Shape 18"/>
          <p:cNvSpPr/>
          <p:nvPr/>
        </p:nvSpPr>
        <p:spPr>
          <a:xfrm>
            <a:off x="457200" y="3380994"/>
            <a:ext cx="4114800" cy="731520"/>
          </a:xfrm>
          <a:prstGeom prst="roundRect">
            <a:avLst>
              <a:gd name="adj" fmla="val 5000"/>
            </a:avLst>
          </a:prstGeom>
          <a:solidFill>
            <a:srgbClr val="F5F9FF"/>
          </a:solidFill>
          <a:ln w="6350">
            <a:solidFill>
              <a:srgbClr val="E0E0E0"/>
            </a:solidFill>
            <a:prstDash val="solid"/>
          </a:ln>
        </p:spPr>
        <p:txBody>
          <a:bodyPr/>
          <a:lstStyle/>
          <a:p>
            <a:endParaRPr lang="en-US"/>
          </a:p>
        </p:txBody>
      </p:sp>
      <p:sp>
        <p:nvSpPr>
          <p:cNvPr id="21" name="Text 19"/>
          <p:cNvSpPr/>
          <p:nvPr/>
        </p:nvSpPr>
        <p:spPr>
          <a:xfrm>
            <a:off x="566928" y="3454146"/>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Token</a:t>
            </a:r>
            <a:endParaRPr lang="en-US" sz="1200" dirty="0"/>
          </a:p>
        </p:txBody>
      </p:sp>
      <p:sp>
        <p:nvSpPr>
          <p:cNvPr id="22" name="Shape 20"/>
          <p:cNvSpPr/>
          <p:nvPr/>
        </p:nvSpPr>
        <p:spPr>
          <a:xfrm>
            <a:off x="1847088" y="3490722"/>
            <a:ext cx="0" cy="502920"/>
          </a:xfrm>
          <a:prstGeom prst="line">
            <a:avLst/>
          </a:prstGeom>
          <a:noFill/>
          <a:ln w="6350">
            <a:solidFill>
              <a:srgbClr val="D0D0D0"/>
            </a:solidFill>
            <a:prstDash val="solid"/>
          </a:ln>
        </p:spPr>
        <p:txBody>
          <a:bodyPr/>
          <a:lstStyle/>
          <a:p>
            <a:endParaRPr lang="en-US"/>
          </a:p>
        </p:txBody>
      </p:sp>
      <p:sp>
        <p:nvSpPr>
          <p:cNvPr id="23" name="Text 21"/>
          <p:cNvSpPr/>
          <p:nvPr/>
        </p:nvSpPr>
        <p:spPr>
          <a:xfrm>
            <a:off x="1965960" y="3454146"/>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A digital unit of value on a blockchain representing currency, assets, or rights.</a:t>
            </a:r>
            <a:endParaRPr lang="en-US" sz="1100" dirty="0"/>
          </a:p>
        </p:txBody>
      </p:sp>
      <p:sp>
        <p:nvSpPr>
          <p:cNvPr id="24" name="Shape 22"/>
          <p:cNvSpPr/>
          <p:nvPr/>
        </p:nvSpPr>
        <p:spPr>
          <a:xfrm>
            <a:off x="4800600" y="3380994"/>
            <a:ext cx="4114800" cy="731520"/>
          </a:xfrm>
          <a:prstGeom prst="roundRect">
            <a:avLst>
              <a:gd name="adj" fmla="val 5000"/>
            </a:avLst>
          </a:prstGeom>
          <a:solidFill>
            <a:srgbClr val="F5F9FF"/>
          </a:solidFill>
          <a:ln w="6350">
            <a:solidFill>
              <a:srgbClr val="E0E0E0"/>
            </a:solidFill>
            <a:prstDash val="solid"/>
          </a:ln>
        </p:spPr>
        <p:txBody>
          <a:bodyPr/>
          <a:lstStyle/>
          <a:p>
            <a:endParaRPr lang="en-US"/>
          </a:p>
        </p:txBody>
      </p:sp>
      <p:sp>
        <p:nvSpPr>
          <p:cNvPr id="25" name="Text 23"/>
          <p:cNvSpPr/>
          <p:nvPr/>
        </p:nvSpPr>
        <p:spPr>
          <a:xfrm>
            <a:off x="4910328" y="3454146"/>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Consensus</a:t>
            </a:r>
            <a:endParaRPr lang="en-US" sz="1200" dirty="0"/>
          </a:p>
        </p:txBody>
      </p:sp>
      <p:sp>
        <p:nvSpPr>
          <p:cNvPr id="26" name="Shape 24"/>
          <p:cNvSpPr/>
          <p:nvPr/>
        </p:nvSpPr>
        <p:spPr>
          <a:xfrm>
            <a:off x="6190488" y="3490722"/>
            <a:ext cx="0" cy="502920"/>
          </a:xfrm>
          <a:prstGeom prst="line">
            <a:avLst/>
          </a:prstGeom>
          <a:noFill/>
          <a:ln w="6350">
            <a:solidFill>
              <a:srgbClr val="D0D0D0"/>
            </a:solidFill>
            <a:prstDash val="solid"/>
          </a:ln>
        </p:spPr>
        <p:txBody>
          <a:bodyPr/>
          <a:lstStyle/>
          <a:p>
            <a:endParaRPr lang="en-US"/>
          </a:p>
        </p:txBody>
      </p:sp>
      <p:sp>
        <p:nvSpPr>
          <p:cNvPr id="27" name="Text 25"/>
          <p:cNvSpPr/>
          <p:nvPr/>
        </p:nvSpPr>
        <p:spPr>
          <a:xfrm>
            <a:off x="6309360" y="3454146"/>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The mechanism by which all nodes agree on the valid state of the blockchain.</a:t>
            </a:r>
            <a:endParaRPr lang="en-US" sz="1100" dirty="0"/>
          </a:p>
        </p:txBody>
      </p:sp>
      <p:sp>
        <p:nvSpPr>
          <p:cNvPr id="28" name="Shape 26"/>
          <p:cNvSpPr/>
          <p:nvPr/>
        </p:nvSpPr>
        <p:spPr>
          <a:xfrm>
            <a:off x="457200" y="4185666"/>
            <a:ext cx="4114800" cy="731520"/>
          </a:xfrm>
          <a:prstGeom prst="roundRect">
            <a:avLst>
              <a:gd name="adj" fmla="val 5000"/>
            </a:avLst>
          </a:prstGeom>
          <a:solidFill>
            <a:srgbClr val="FFFFFF"/>
          </a:solidFill>
          <a:ln w="6350">
            <a:solidFill>
              <a:srgbClr val="E0E0E0"/>
            </a:solidFill>
            <a:prstDash val="solid"/>
          </a:ln>
        </p:spPr>
        <p:txBody>
          <a:bodyPr/>
          <a:lstStyle/>
          <a:p>
            <a:endParaRPr lang="en-US"/>
          </a:p>
        </p:txBody>
      </p:sp>
      <p:sp>
        <p:nvSpPr>
          <p:cNvPr id="29" name="Text 27"/>
          <p:cNvSpPr/>
          <p:nvPr/>
        </p:nvSpPr>
        <p:spPr>
          <a:xfrm>
            <a:off x="566928" y="4258818"/>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Smart Contract</a:t>
            </a:r>
            <a:endParaRPr lang="en-US" sz="1200" dirty="0"/>
          </a:p>
        </p:txBody>
      </p:sp>
      <p:sp>
        <p:nvSpPr>
          <p:cNvPr id="30" name="Shape 28"/>
          <p:cNvSpPr/>
          <p:nvPr/>
        </p:nvSpPr>
        <p:spPr>
          <a:xfrm>
            <a:off x="1847088" y="4295394"/>
            <a:ext cx="0" cy="502920"/>
          </a:xfrm>
          <a:prstGeom prst="line">
            <a:avLst/>
          </a:prstGeom>
          <a:noFill/>
          <a:ln w="6350">
            <a:solidFill>
              <a:srgbClr val="D0D0D0"/>
            </a:solidFill>
            <a:prstDash val="solid"/>
          </a:ln>
        </p:spPr>
        <p:txBody>
          <a:bodyPr/>
          <a:lstStyle/>
          <a:p>
            <a:endParaRPr lang="en-US"/>
          </a:p>
        </p:txBody>
      </p:sp>
      <p:sp>
        <p:nvSpPr>
          <p:cNvPr id="31" name="Text 29"/>
          <p:cNvSpPr/>
          <p:nvPr/>
        </p:nvSpPr>
        <p:spPr>
          <a:xfrm>
            <a:off x="1965960" y="4258818"/>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Self-executing code on a blockchain that automatically enforces agreement terms.</a:t>
            </a:r>
            <a:endParaRPr lang="en-US" sz="1100" dirty="0"/>
          </a:p>
        </p:txBody>
      </p:sp>
      <p:sp>
        <p:nvSpPr>
          <p:cNvPr id="32" name="Shape 30"/>
          <p:cNvSpPr/>
          <p:nvPr/>
        </p:nvSpPr>
        <p:spPr>
          <a:xfrm>
            <a:off x="4800600" y="4185666"/>
            <a:ext cx="4114800" cy="731520"/>
          </a:xfrm>
          <a:prstGeom prst="roundRect">
            <a:avLst>
              <a:gd name="adj" fmla="val 5000"/>
            </a:avLst>
          </a:prstGeom>
          <a:solidFill>
            <a:srgbClr val="FFFFFF"/>
          </a:solidFill>
          <a:ln w="6350">
            <a:solidFill>
              <a:srgbClr val="E0E0E0"/>
            </a:solidFill>
            <a:prstDash val="solid"/>
          </a:ln>
        </p:spPr>
        <p:txBody>
          <a:bodyPr/>
          <a:lstStyle/>
          <a:p>
            <a:endParaRPr lang="en-US"/>
          </a:p>
        </p:txBody>
      </p:sp>
      <p:sp>
        <p:nvSpPr>
          <p:cNvPr id="33" name="Text 31"/>
          <p:cNvSpPr/>
          <p:nvPr/>
        </p:nvSpPr>
        <p:spPr>
          <a:xfrm>
            <a:off x="4910328" y="4258818"/>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Wallet</a:t>
            </a:r>
            <a:endParaRPr lang="en-US" sz="1200" dirty="0"/>
          </a:p>
        </p:txBody>
      </p:sp>
      <p:sp>
        <p:nvSpPr>
          <p:cNvPr id="34" name="Shape 32"/>
          <p:cNvSpPr/>
          <p:nvPr/>
        </p:nvSpPr>
        <p:spPr>
          <a:xfrm>
            <a:off x="6190488" y="4295394"/>
            <a:ext cx="0" cy="502920"/>
          </a:xfrm>
          <a:prstGeom prst="line">
            <a:avLst/>
          </a:prstGeom>
          <a:noFill/>
          <a:ln w="6350">
            <a:solidFill>
              <a:srgbClr val="D0D0D0"/>
            </a:solidFill>
            <a:prstDash val="solid"/>
          </a:ln>
        </p:spPr>
        <p:txBody>
          <a:bodyPr/>
          <a:lstStyle/>
          <a:p>
            <a:endParaRPr lang="en-US"/>
          </a:p>
        </p:txBody>
      </p:sp>
      <p:sp>
        <p:nvSpPr>
          <p:cNvPr id="35" name="Text 33"/>
          <p:cNvSpPr/>
          <p:nvPr/>
        </p:nvSpPr>
        <p:spPr>
          <a:xfrm>
            <a:off x="6309360" y="4258818"/>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Software that stores private keys, allowing users to access and manage their tokens.</a:t>
            </a:r>
            <a:endParaRPr lang="en-US" sz="1100" dirty="0"/>
          </a:p>
        </p:txBody>
      </p:sp>
      <p:sp>
        <p:nvSpPr>
          <p:cNvPr id="36" name="Shape 34"/>
          <p:cNvSpPr/>
          <p:nvPr/>
        </p:nvSpPr>
        <p:spPr>
          <a:xfrm>
            <a:off x="457200" y="4990338"/>
            <a:ext cx="4114800" cy="731520"/>
          </a:xfrm>
          <a:prstGeom prst="roundRect">
            <a:avLst>
              <a:gd name="adj" fmla="val 5000"/>
            </a:avLst>
          </a:prstGeom>
          <a:solidFill>
            <a:srgbClr val="F5F9FF"/>
          </a:solidFill>
          <a:ln w="6350">
            <a:solidFill>
              <a:srgbClr val="E0E0E0"/>
            </a:solidFill>
            <a:prstDash val="solid"/>
          </a:ln>
        </p:spPr>
        <p:txBody>
          <a:bodyPr/>
          <a:lstStyle/>
          <a:p>
            <a:endParaRPr lang="en-US"/>
          </a:p>
        </p:txBody>
      </p:sp>
      <p:sp>
        <p:nvSpPr>
          <p:cNvPr id="37" name="Text 35"/>
          <p:cNvSpPr/>
          <p:nvPr/>
        </p:nvSpPr>
        <p:spPr>
          <a:xfrm>
            <a:off x="566928" y="5063490"/>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Mining</a:t>
            </a:r>
            <a:endParaRPr lang="en-US" sz="1200" dirty="0"/>
          </a:p>
        </p:txBody>
      </p:sp>
      <p:sp>
        <p:nvSpPr>
          <p:cNvPr id="38" name="Shape 36"/>
          <p:cNvSpPr/>
          <p:nvPr/>
        </p:nvSpPr>
        <p:spPr>
          <a:xfrm>
            <a:off x="1847088" y="5100066"/>
            <a:ext cx="0" cy="502920"/>
          </a:xfrm>
          <a:prstGeom prst="line">
            <a:avLst/>
          </a:prstGeom>
          <a:noFill/>
          <a:ln w="6350">
            <a:solidFill>
              <a:srgbClr val="D0D0D0"/>
            </a:solidFill>
            <a:prstDash val="solid"/>
          </a:ln>
        </p:spPr>
        <p:txBody>
          <a:bodyPr/>
          <a:lstStyle/>
          <a:p>
            <a:endParaRPr lang="en-US"/>
          </a:p>
        </p:txBody>
      </p:sp>
      <p:sp>
        <p:nvSpPr>
          <p:cNvPr id="39" name="Text 37"/>
          <p:cNvSpPr/>
          <p:nvPr/>
        </p:nvSpPr>
        <p:spPr>
          <a:xfrm>
            <a:off x="1965960" y="5063490"/>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The process of validating transactions and adding blocks via Proof of Work.</a:t>
            </a:r>
            <a:endParaRPr lang="en-US" sz="1100" dirty="0"/>
          </a:p>
        </p:txBody>
      </p:sp>
      <p:sp>
        <p:nvSpPr>
          <p:cNvPr id="40" name="Shape 38"/>
          <p:cNvSpPr/>
          <p:nvPr/>
        </p:nvSpPr>
        <p:spPr>
          <a:xfrm>
            <a:off x="4800600" y="4990338"/>
            <a:ext cx="4114800" cy="731520"/>
          </a:xfrm>
          <a:prstGeom prst="roundRect">
            <a:avLst>
              <a:gd name="adj" fmla="val 5000"/>
            </a:avLst>
          </a:prstGeom>
          <a:solidFill>
            <a:srgbClr val="F5F9FF"/>
          </a:solidFill>
          <a:ln w="6350">
            <a:solidFill>
              <a:srgbClr val="E0E0E0"/>
            </a:solidFill>
            <a:prstDash val="solid"/>
          </a:ln>
        </p:spPr>
        <p:txBody>
          <a:bodyPr/>
          <a:lstStyle/>
          <a:p>
            <a:endParaRPr lang="en-US"/>
          </a:p>
        </p:txBody>
      </p:sp>
      <p:sp>
        <p:nvSpPr>
          <p:cNvPr id="41" name="Text 39"/>
          <p:cNvSpPr/>
          <p:nvPr/>
        </p:nvSpPr>
        <p:spPr>
          <a:xfrm>
            <a:off x="4910328" y="5063490"/>
            <a:ext cx="1280160" cy="566928"/>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DeFi</a:t>
            </a:r>
            <a:endParaRPr lang="en-US" sz="1200" dirty="0"/>
          </a:p>
        </p:txBody>
      </p:sp>
      <p:sp>
        <p:nvSpPr>
          <p:cNvPr id="42" name="Shape 40"/>
          <p:cNvSpPr/>
          <p:nvPr/>
        </p:nvSpPr>
        <p:spPr>
          <a:xfrm>
            <a:off x="6190488" y="5100066"/>
            <a:ext cx="0" cy="502920"/>
          </a:xfrm>
          <a:prstGeom prst="line">
            <a:avLst/>
          </a:prstGeom>
          <a:noFill/>
          <a:ln w="6350">
            <a:solidFill>
              <a:srgbClr val="D0D0D0"/>
            </a:solidFill>
            <a:prstDash val="solid"/>
          </a:ln>
        </p:spPr>
        <p:txBody>
          <a:bodyPr/>
          <a:lstStyle/>
          <a:p>
            <a:endParaRPr lang="en-US"/>
          </a:p>
        </p:txBody>
      </p:sp>
      <p:sp>
        <p:nvSpPr>
          <p:cNvPr id="43" name="Text 41"/>
          <p:cNvSpPr/>
          <p:nvPr/>
        </p:nvSpPr>
        <p:spPr>
          <a:xfrm>
            <a:off x="6309360" y="5063490"/>
            <a:ext cx="2487168" cy="566928"/>
          </a:xfrm>
          <a:prstGeom prst="rect">
            <a:avLst/>
          </a:prstGeom>
          <a:noFill/>
          <a:ln/>
        </p:spPr>
        <p:txBody>
          <a:bodyPr wrap="square" rtlCol="0" anchor="ctr"/>
          <a:lstStyle/>
          <a:p>
            <a:r>
              <a:rPr lang="en-US" sz="1100" dirty="0">
                <a:solidFill>
                  <a:srgbClr val="0D1B2A"/>
                </a:solidFill>
                <a:latin typeface="Calibri" pitchFamily="34" charset="0"/>
                <a:ea typeface="Calibri" pitchFamily="34" charset="-122"/>
                <a:cs typeface="Calibri" pitchFamily="34" charset="-120"/>
              </a:rPr>
              <a:t>Decentralized Finance — financial services built on public blockchains without banks.</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7275" y="409194"/>
            <a:ext cx="8229600" cy="548640"/>
          </a:xfrm>
          <a:prstGeom prst="rect">
            <a:avLst/>
          </a:prstGeom>
          <a:noFill/>
          <a:ln/>
        </p:spPr>
        <p:txBody>
          <a:bodyPr wrap="square" rtlCol="0" anchor="ctr"/>
          <a:lstStyle/>
          <a:p>
            <a:r>
              <a:rPr lang="en-US" sz="3200" b="1" dirty="0">
                <a:solidFill>
                  <a:schemeClr val="tx1"/>
                </a:solidFill>
                <a:latin typeface="Times New Roman" panose="02020603050405020304" pitchFamily="18" charset="0"/>
                <a:ea typeface="Cambria" pitchFamily="34" charset="-122"/>
                <a:cs typeface="Times New Roman" panose="02020603050405020304" pitchFamily="18" charset="0"/>
              </a:rPr>
              <a:t>Key Takeaways</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3" name="Shape 1"/>
          <p:cNvSpPr/>
          <p:nvPr/>
        </p:nvSpPr>
        <p:spPr>
          <a:xfrm>
            <a:off x="387275" y="1122426"/>
            <a:ext cx="8229600" cy="36576"/>
          </a:xfrm>
          <a:prstGeom prst="rect">
            <a:avLst/>
          </a:prstGeom>
          <a:solidFill>
            <a:srgbClr val="00BCD4"/>
          </a:solidFill>
          <a:ln w="12700">
            <a:solidFill>
              <a:srgbClr val="00BCD4"/>
            </a:solidFill>
            <a:prstDash val="solid"/>
          </a:ln>
        </p:spPr>
        <p:txBody>
          <a:bodyPr/>
          <a:lstStyle/>
          <a:p>
            <a:endParaRPr lang="en-US"/>
          </a:p>
        </p:txBody>
      </p:sp>
      <p:sp>
        <p:nvSpPr>
          <p:cNvPr id="4" name="Shape 2"/>
          <p:cNvSpPr/>
          <p:nvPr/>
        </p:nvSpPr>
        <p:spPr>
          <a:xfrm>
            <a:off x="457200" y="1890522"/>
            <a:ext cx="457200" cy="457200"/>
          </a:xfrm>
          <a:prstGeom prst="ellipse">
            <a:avLst/>
          </a:prstGeom>
          <a:solidFill>
            <a:srgbClr val="1565C0"/>
          </a:solidFill>
          <a:ln w="12700">
            <a:solidFill>
              <a:srgbClr val="1565C0"/>
            </a:solidFill>
            <a:prstDash val="solid"/>
          </a:ln>
        </p:spPr>
        <p:txBody>
          <a:bodyPr/>
          <a:lstStyle/>
          <a:p>
            <a:endParaRPr lang="en-US"/>
          </a:p>
        </p:txBody>
      </p:sp>
      <p:sp>
        <p:nvSpPr>
          <p:cNvPr id="5" name="Text 3"/>
          <p:cNvSpPr/>
          <p:nvPr/>
        </p:nvSpPr>
        <p:spPr>
          <a:xfrm>
            <a:off x="457200" y="1890522"/>
            <a:ext cx="457200" cy="457200"/>
          </a:xfrm>
          <a:prstGeom prst="rect">
            <a:avLst/>
          </a:prstGeom>
          <a:noFill/>
          <a:ln/>
        </p:spPr>
        <p:txBody>
          <a:bodyPr wrap="square" lIns="0" tIns="0" rIns="0" bIns="0" rtlCol="0" anchor="ctr"/>
          <a:lstStyle/>
          <a:p>
            <a:pPr algn="ctr"/>
            <a:r>
              <a:rPr lang="en-US" b="1" dirty="0">
                <a:solidFill>
                  <a:schemeClr val="tx1"/>
                </a:solidFill>
                <a:latin typeface="Times New Roman" panose="02020603050405020304" pitchFamily="18" charset="0"/>
                <a:cs typeface="Times New Roman" panose="02020603050405020304" pitchFamily="18" charset="0"/>
              </a:rPr>
              <a:t>1</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 4"/>
          <p:cNvSpPr/>
          <p:nvPr/>
        </p:nvSpPr>
        <p:spPr>
          <a:xfrm>
            <a:off x="1051560" y="1817370"/>
            <a:ext cx="7589520" cy="621792"/>
          </a:xfrm>
          <a:prstGeom prst="rect">
            <a:avLst/>
          </a:prstGeom>
          <a:noFill/>
          <a:ln/>
        </p:spPr>
        <p:txBody>
          <a:bodyPr wrap="square" rtlCol="0" anchor="ctr"/>
          <a:lstStyle/>
          <a:p>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 blockchain is a distributed, immutable ledger — a shared record that no single party controls or can secretly alter.</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7" name="Shape 5"/>
          <p:cNvSpPr/>
          <p:nvPr/>
        </p:nvSpPr>
        <p:spPr>
          <a:xfrm>
            <a:off x="667512" y="2366010"/>
            <a:ext cx="0" cy="274320"/>
          </a:xfrm>
          <a:prstGeom prst="line">
            <a:avLst/>
          </a:prstGeom>
          <a:noFill/>
          <a:ln w="12700">
            <a:solidFill>
              <a:srgbClr val="1565C0"/>
            </a:solidFill>
            <a:prstDash val="dash"/>
          </a:ln>
        </p:spPr>
        <p:txBody>
          <a:bodyPr/>
          <a:lstStyle/>
          <a:p>
            <a:endParaRPr lang="en-US"/>
          </a:p>
        </p:txBody>
      </p:sp>
      <p:sp>
        <p:nvSpPr>
          <p:cNvPr id="8" name="Shape 6"/>
          <p:cNvSpPr/>
          <p:nvPr/>
        </p:nvSpPr>
        <p:spPr>
          <a:xfrm>
            <a:off x="457200" y="2612898"/>
            <a:ext cx="457200" cy="457200"/>
          </a:xfrm>
          <a:prstGeom prst="ellipse">
            <a:avLst/>
          </a:prstGeom>
          <a:solidFill>
            <a:srgbClr val="00897B"/>
          </a:solidFill>
          <a:ln w="12700">
            <a:solidFill>
              <a:srgbClr val="00897B"/>
            </a:solidFill>
            <a:prstDash val="solid"/>
          </a:ln>
        </p:spPr>
        <p:txBody>
          <a:bodyPr/>
          <a:lstStyle/>
          <a:p>
            <a:endParaRPr lang="en-US"/>
          </a:p>
        </p:txBody>
      </p:sp>
      <p:sp>
        <p:nvSpPr>
          <p:cNvPr id="9" name="Text 7"/>
          <p:cNvSpPr/>
          <p:nvPr/>
        </p:nvSpPr>
        <p:spPr>
          <a:xfrm>
            <a:off x="457200" y="2612898"/>
            <a:ext cx="457200" cy="457200"/>
          </a:xfrm>
          <a:prstGeom prst="rect">
            <a:avLst/>
          </a:prstGeom>
          <a:noFill/>
          <a:ln/>
        </p:spPr>
        <p:txBody>
          <a:bodyPr wrap="square" lIns="0" tIns="0" rIns="0" bIns="0" rtlCol="0" anchor="ctr"/>
          <a:lstStyle/>
          <a:p>
            <a:pPr algn="ctr"/>
            <a:r>
              <a:rPr lang="en-US" b="1" dirty="0">
                <a:solidFill>
                  <a:schemeClr val="tx1"/>
                </a:solidFill>
                <a:latin typeface="Times New Roman" panose="02020603050405020304" pitchFamily="18" charset="0"/>
                <a:cs typeface="Times New Roman" panose="02020603050405020304" pitchFamily="18" charset="0"/>
              </a:rPr>
              <a:t>2</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Text 8"/>
          <p:cNvSpPr/>
          <p:nvPr/>
        </p:nvSpPr>
        <p:spPr>
          <a:xfrm>
            <a:off x="1051560" y="2622042"/>
            <a:ext cx="7589520" cy="621792"/>
          </a:xfrm>
          <a:prstGeom prst="rect">
            <a:avLst/>
          </a:prstGeom>
          <a:noFill/>
          <a:ln/>
        </p:spPr>
        <p:txBody>
          <a:bodyPr wrap="square" rtlCol="0" anchor="ctr"/>
          <a:lstStyle/>
          <a:p>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Nodes are the computers that keep the blockchain alive. They store copies of all data and validate every transaction through consensus.</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11" name="Shape 9"/>
          <p:cNvSpPr/>
          <p:nvPr/>
        </p:nvSpPr>
        <p:spPr>
          <a:xfrm>
            <a:off x="667512" y="3170682"/>
            <a:ext cx="0" cy="274320"/>
          </a:xfrm>
          <a:prstGeom prst="line">
            <a:avLst/>
          </a:prstGeom>
          <a:noFill/>
          <a:ln w="12700">
            <a:solidFill>
              <a:srgbClr val="00897B"/>
            </a:solidFill>
            <a:prstDash val="dash"/>
          </a:ln>
        </p:spPr>
        <p:txBody>
          <a:bodyPr/>
          <a:lstStyle/>
          <a:p>
            <a:endParaRPr lang="en-US"/>
          </a:p>
        </p:txBody>
      </p:sp>
      <p:sp>
        <p:nvSpPr>
          <p:cNvPr id="12" name="Shape 10"/>
          <p:cNvSpPr/>
          <p:nvPr/>
        </p:nvSpPr>
        <p:spPr>
          <a:xfrm>
            <a:off x="457200" y="3499866"/>
            <a:ext cx="457200" cy="457200"/>
          </a:xfrm>
          <a:prstGeom prst="ellipse">
            <a:avLst/>
          </a:prstGeom>
          <a:solidFill>
            <a:srgbClr val="9C27B0"/>
          </a:solidFill>
          <a:ln w="12700">
            <a:solidFill>
              <a:srgbClr val="9C27B0"/>
            </a:solidFill>
            <a:prstDash val="solid"/>
          </a:ln>
        </p:spPr>
        <p:txBody>
          <a:bodyPr/>
          <a:lstStyle/>
          <a:p>
            <a:endParaRPr lang="en-US"/>
          </a:p>
        </p:txBody>
      </p:sp>
      <p:sp>
        <p:nvSpPr>
          <p:cNvPr id="13" name="Text 11"/>
          <p:cNvSpPr/>
          <p:nvPr/>
        </p:nvSpPr>
        <p:spPr>
          <a:xfrm>
            <a:off x="457200" y="3499866"/>
            <a:ext cx="457200" cy="457200"/>
          </a:xfrm>
          <a:prstGeom prst="rect">
            <a:avLst/>
          </a:prstGeom>
          <a:noFill/>
          <a:ln/>
        </p:spPr>
        <p:txBody>
          <a:bodyPr wrap="square" lIns="0" tIns="0" rIns="0" bIns="0" rtlCol="0" anchor="ctr"/>
          <a:lstStyle/>
          <a:p>
            <a:pPr algn="ctr"/>
            <a:r>
              <a:rPr lang="en-US" b="1" dirty="0">
                <a:solidFill>
                  <a:schemeClr val="tx1"/>
                </a:solidFill>
                <a:latin typeface="Times New Roman" panose="02020603050405020304" pitchFamily="18" charset="0"/>
                <a:cs typeface="Times New Roman" panose="02020603050405020304" pitchFamily="18" charset="0"/>
              </a:rPr>
              <a:t>3</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4" name="Text 12"/>
          <p:cNvSpPr/>
          <p:nvPr/>
        </p:nvSpPr>
        <p:spPr>
          <a:xfrm>
            <a:off x="1051560" y="3426714"/>
            <a:ext cx="7589520" cy="621792"/>
          </a:xfrm>
          <a:prstGeom prst="rect">
            <a:avLst/>
          </a:prstGeom>
          <a:noFill/>
          <a:ln/>
        </p:spPr>
        <p:txBody>
          <a:bodyPr wrap="square" rtlCol="0" anchor="ctr"/>
          <a:lstStyle/>
          <a:p>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Tokens are digital units of value — from cryptocurrencies to NFTs — that live on and travel across the blockchain.</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15" name="Shape 13"/>
          <p:cNvSpPr/>
          <p:nvPr/>
        </p:nvSpPr>
        <p:spPr>
          <a:xfrm>
            <a:off x="667512" y="3975354"/>
            <a:ext cx="0" cy="274320"/>
          </a:xfrm>
          <a:prstGeom prst="line">
            <a:avLst/>
          </a:prstGeom>
          <a:noFill/>
          <a:ln w="12700">
            <a:solidFill>
              <a:srgbClr val="9C27B0"/>
            </a:solidFill>
            <a:prstDash val="dash"/>
          </a:ln>
        </p:spPr>
        <p:txBody>
          <a:bodyPr/>
          <a:lstStyle/>
          <a:p>
            <a:endParaRPr lang="en-US"/>
          </a:p>
        </p:txBody>
      </p:sp>
      <p:sp>
        <p:nvSpPr>
          <p:cNvPr id="16" name="Shape 14"/>
          <p:cNvSpPr/>
          <p:nvPr/>
        </p:nvSpPr>
        <p:spPr>
          <a:xfrm>
            <a:off x="457200" y="4231386"/>
            <a:ext cx="457200" cy="457200"/>
          </a:xfrm>
          <a:prstGeom prst="ellipse">
            <a:avLst/>
          </a:prstGeom>
          <a:solidFill>
            <a:srgbClr val="FFB300"/>
          </a:solidFill>
          <a:ln w="12700">
            <a:solidFill>
              <a:srgbClr val="FFB300"/>
            </a:solidFill>
            <a:prstDash val="solid"/>
          </a:ln>
        </p:spPr>
        <p:txBody>
          <a:bodyPr/>
          <a:lstStyle/>
          <a:p>
            <a:endParaRPr lang="en-US"/>
          </a:p>
        </p:txBody>
      </p:sp>
      <p:sp>
        <p:nvSpPr>
          <p:cNvPr id="17" name="Text 15"/>
          <p:cNvSpPr/>
          <p:nvPr/>
        </p:nvSpPr>
        <p:spPr>
          <a:xfrm>
            <a:off x="457200" y="4231386"/>
            <a:ext cx="457200" cy="457200"/>
          </a:xfrm>
          <a:prstGeom prst="rect">
            <a:avLst/>
          </a:prstGeom>
          <a:noFill/>
          <a:ln/>
        </p:spPr>
        <p:txBody>
          <a:bodyPr wrap="square" lIns="0" tIns="0" rIns="0" bIns="0" rtlCol="0" anchor="ctr"/>
          <a:lstStyle/>
          <a:p>
            <a:pPr algn="ctr"/>
            <a:r>
              <a:rPr lang="en-US" b="1" dirty="0">
                <a:solidFill>
                  <a:schemeClr val="tx1"/>
                </a:solidFill>
                <a:latin typeface="Times New Roman" panose="02020603050405020304" pitchFamily="18" charset="0"/>
                <a:cs typeface="Times New Roman" panose="02020603050405020304" pitchFamily="18" charset="0"/>
              </a:rPr>
              <a:t>4</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8" name="Text 16"/>
          <p:cNvSpPr/>
          <p:nvPr/>
        </p:nvSpPr>
        <p:spPr>
          <a:xfrm>
            <a:off x="1051560" y="4158234"/>
            <a:ext cx="7589520" cy="621792"/>
          </a:xfrm>
          <a:prstGeom prst="rect">
            <a:avLst/>
          </a:prstGeom>
          <a:noFill/>
          <a:ln/>
        </p:spPr>
        <p:txBody>
          <a:bodyPr wrap="square" rtlCol="0" anchor="ctr"/>
          <a:lstStyle/>
          <a:p>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three concepts are inseparable: blockchains need nodes to run, and tokens need blockchains to exist.</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19" name="Shape 17"/>
          <p:cNvSpPr/>
          <p:nvPr/>
        </p:nvSpPr>
        <p:spPr>
          <a:xfrm>
            <a:off x="667512" y="4780026"/>
            <a:ext cx="0" cy="274320"/>
          </a:xfrm>
          <a:prstGeom prst="line">
            <a:avLst/>
          </a:prstGeom>
          <a:noFill/>
          <a:ln w="12700">
            <a:solidFill>
              <a:srgbClr val="FFB300"/>
            </a:solidFill>
            <a:prstDash val="dash"/>
          </a:ln>
        </p:spPr>
        <p:txBody>
          <a:bodyPr/>
          <a:lstStyle/>
          <a:p>
            <a:endParaRPr lang="en-US"/>
          </a:p>
        </p:txBody>
      </p:sp>
      <p:sp>
        <p:nvSpPr>
          <p:cNvPr id="20" name="Shape 18"/>
          <p:cNvSpPr/>
          <p:nvPr/>
        </p:nvSpPr>
        <p:spPr>
          <a:xfrm>
            <a:off x="457200" y="5109210"/>
            <a:ext cx="457200" cy="457200"/>
          </a:xfrm>
          <a:prstGeom prst="ellipse">
            <a:avLst/>
          </a:prstGeom>
          <a:solidFill>
            <a:srgbClr val="43A047"/>
          </a:solidFill>
          <a:ln w="12700">
            <a:solidFill>
              <a:srgbClr val="43A047"/>
            </a:solidFill>
            <a:prstDash val="solid"/>
          </a:ln>
        </p:spPr>
        <p:txBody>
          <a:bodyPr/>
          <a:lstStyle/>
          <a:p>
            <a:endParaRPr lang="en-US"/>
          </a:p>
        </p:txBody>
      </p:sp>
      <p:sp>
        <p:nvSpPr>
          <p:cNvPr id="21" name="Text 19"/>
          <p:cNvSpPr/>
          <p:nvPr/>
        </p:nvSpPr>
        <p:spPr>
          <a:xfrm>
            <a:off x="457200" y="5109210"/>
            <a:ext cx="457200" cy="457200"/>
          </a:xfrm>
          <a:prstGeom prst="rect">
            <a:avLst/>
          </a:prstGeom>
          <a:noFill/>
          <a:ln/>
        </p:spPr>
        <p:txBody>
          <a:bodyPr wrap="square" lIns="0" tIns="0" rIns="0" bIns="0" rtlCol="0" anchor="ctr"/>
          <a:lstStyle/>
          <a:p>
            <a:pPr algn="ctr"/>
            <a:r>
              <a:rPr lang="en-US" b="1" dirty="0">
                <a:solidFill>
                  <a:schemeClr val="tx1"/>
                </a:solidFill>
                <a:latin typeface="Times New Roman" panose="02020603050405020304" pitchFamily="18" charset="0"/>
                <a:cs typeface="Times New Roman" panose="02020603050405020304" pitchFamily="18" charset="0"/>
              </a:rPr>
              <a:t>5</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22" name="Text 20"/>
          <p:cNvSpPr/>
          <p:nvPr/>
        </p:nvSpPr>
        <p:spPr>
          <a:xfrm>
            <a:off x="1051560" y="5036058"/>
            <a:ext cx="7589520" cy="621792"/>
          </a:xfrm>
          <a:prstGeom prst="rect">
            <a:avLst/>
          </a:prstGeom>
          <a:noFill/>
          <a:ln/>
        </p:spPr>
        <p:txBody>
          <a:bodyPr wrap="square" rtlCol="0" anchor="ctr"/>
          <a:lstStyle/>
          <a:p>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Blockchain has real applications far beyond Bitcoin — finance, healthcare, voting, supply chain, and much more.</a:t>
            </a:r>
            <a:endParaRPr 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3" grpId="0" animBg="1"/>
      <p:bldP spid="14" grpId="0" animBg="1"/>
      <p:bldP spid="17" grpId="0" animBg="1"/>
      <p:bldP spid="18" grpId="0" animBg="1"/>
      <p:bldP spid="21" grpId="0" animBg="1"/>
      <p:bldP spid="2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8600" y="175260"/>
            <a:ext cx="8229600" cy="548640"/>
          </a:xfrm>
          <a:prstGeom prst="rect">
            <a:avLst/>
          </a:prstGeom>
          <a:noFill/>
          <a:ln/>
        </p:spPr>
        <p:txBody>
          <a:bodyPr wrap="square" rtlCol="0" anchor="ctr"/>
          <a:lstStyle/>
          <a:p>
            <a:r>
              <a:rPr lang="en-US" sz="2600" b="1" dirty="0">
                <a:solidFill>
                  <a:srgbClr val="0D1B2A"/>
                </a:solidFill>
                <a:latin typeface="Cambria" pitchFamily="34" charset="0"/>
                <a:ea typeface="Cambria" pitchFamily="34" charset="-122"/>
                <a:cs typeface="Cambria" pitchFamily="34" charset="-120"/>
              </a:rPr>
              <a:t>Further Reading &amp; Resources</a:t>
            </a:r>
            <a:endParaRPr lang="en-US" sz="2600" dirty="0"/>
          </a:p>
        </p:txBody>
      </p:sp>
      <p:sp>
        <p:nvSpPr>
          <p:cNvPr id="3" name="Shape 1"/>
          <p:cNvSpPr/>
          <p:nvPr/>
        </p:nvSpPr>
        <p:spPr>
          <a:xfrm>
            <a:off x="457200" y="1625346"/>
            <a:ext cx="8229600" cy="27432"/>
          </a:xfrm>
          <a:prstGeom prst="rect">
            <a:avLst/>
          </a:prstGeom>
          <a:solidFill>
            <a:srgbClr val="00897B"/>
          </a:solidFill>
          <a:ln w="12700">
            <a:solidFill>
              <a:srgbClr val="00897B"/>
            </a:solidFill>
            <a:prstDash val="solid"/>
          </a:ln>
        </p:spPr>
        <p:txBody>
          <a:bodyPr/>
          <a:lstStyle/>
          <a:p>
            <a:endParaRPr lang="en-US"/>
          </a:p>
        </p:txBody>
      </p:sp>
      <p:sp>
        <p:nvSpPr>
          <p:cNvPr id="4" name="Shape 2"/>
          <p:cNvSpPr/>
          <p:nvPr/>
        </p:nvSpPr>
        <p:spPr>
          <a:xfrm>
            <a:off x="457200" y="1789938"/>
            <a:ext cx="8229600" cy="1463040"/>
          </a:xfrm>
          <a:prstGeom prst="roundRect">
            <a:avLst>
              <a:gd name="adj" fmla="val 5000"/>
            </a:avLst>
          </a:prstGeom>
          <a:solidFill>
            <a:srgbClr val="E0F2F1"/>
          </a:solidFill>
          <a:ln w="19050">
            <a:solidFill>
              <a:srgbClr val="00897B"/>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640080" y="1863090"/>
            <a:ext cx="7315200" cy="347472"/>
          </a:xfrm>
          <a:prstGeom prst="rect">
            <a:avLst/>
          </a:prstGeom>
          <a:noFill/>
          <a:ln/>
        </p:spPr>
        <p:txBody>
          <a:bodyPr wrap="square" rtlCol="0" anchor="ctr"/>
          <a:lstStyle/>
          <a:p>
            <a:r>
              <a:rPr lang="en-US" b="1" dirty="0">
                <a:solidFill>
                  <a:srgbClr val="00897B"/>
                </a:solidFill>
                <a:latin typeface="Calibri" pitchFamily="34" charset="0"/>
                <a:ea typeface="Calibri" pitchFamily="34" charset="-122"/>
                <a:cs typeface="Calibri" pitchFamily="34" charset="-120"/>
              </a:rPr>
              <a:t>📖  Primary Textbook</a:t>
            </a:r>
            <a:endParaRPr lang="en-US" dirty="0"/>
          </a:p>
        </p:txBody>
      </p:sp>
      <p:sp>
        <p:nvSpPr>
          <p:cNvPr id="6" name="Text 4"/>
          <p:cNvSpPr/>
          <p:nvPr/>
        </p:nvSpPr>
        <p:spPr>
          <a:xfrm>
            <a:off x="640080" y="2228850"/>
            <a:ext cx="7406640" cy="822960"/>
          </a:xfrm>
          <a:prstGeom prst="rect">
            <a:avLst/>
          </a:prstGeom>
          <a:noFill/>
          <a:ln/>
        </p:spPr>
        <p:txBody>
          <a:bodyPr wrap="square" rtlCol="0" anchor="ctr"/>
          <a:lstStyle/>
          <a:p>
            <a:r>
              <a:rPr lang="en-US" sz="1300" dirty="0">
                <a:solidFill>
                  <a:srgbClr val="0D1B2A"/>
                </a:solidFill>
                <a:latin typeface="Calibri" pitchFamily="34" charset="0"/>
                <a:ea typeface="Calibri" pitchFamily="34" charset="-122"/>
                <a:cs typeface="Calibri" pitchFamily="34" charset="-120"/>
              </a:rPr>
              <a:t>Tiana Laurence, Introduction to Blockchain Technology, 1st Edition, Van Haren Publishing</a:t>
            </a:r>
            <a:endParaRPr lang="en-US" sz="1300" dirty="0"/>
          </a:p>
          <a:p>
            <a:r>
              <a:rPr lang="en-US" sz="1300" dirty="0">
                <a:solidFill>
                  <a:srgbClr val="0D1B2A"/>
                </a:solidFill>
                <a:latin typeface="Calibri" pitchFamily="34" charset="0"/>
                <a:ea typeface="Calibri" pitchFamily="34" charset="-122"/>
                <a:cs typeface="Calibri" pitchFamily="34" charset="-120"/>
              </a:rPr>
              <a:t>Focus: Chapter 1 — Core Concepts</a:t>
            </a:r>
            <a:endParaRPr lang="en-US" sz="1300" dirty="0"/>
          </a:p>
        </p:txBody>
      </p:sp>
      <p:sp>
        <p:nvSpPr>
          <p:cNvPr id="7" name="Text 5"/>
          <p:cNvSpPr/>
          <p:nvPr/>
        </p:nvSpPr>
        <p:spPr>
          <a:xfrm>
            <a:off x="457200" y="3371850"/>
            <a:ext cx="457200" cy="502920"/>
          </a:xfrm>
          <a:prstGeom prst="rect">
            <a:avLst/>
          </a:prstGeom>
          <a:noFill/>
          <a:ln/>
        </p:spPr>
        <p:txBody>
          <a:bodyPr wrap="square" lIns="0" tIns="0" rIns="0" bIns="0" rtlCol="0" anchor="ctr"/>
          <a:lstStyle/>
          <a:p>
            <a:pPr algn="ctr"/>
            <a:r>
              <a:rPr lang="en-US" sz="1800" dirty="0"/>
              <a:t>🔗</a:t>
            </a:r>
          </a:p>
        </p:txBody>
      </p:sp>
      <p:sp>
        <p:nvSpPr>
          <p:cNvPr id="8" name="Text 6"/>
          <p:cNvSpPr/>
          <p:nvPr/>
        </p:nvSpPr>
        <p:spPr>
          <a:xfrm>
            <a:off x="1005840" y="3371850"/>
            <a:ext cx="7635240" cy="530352"/>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Bitcoin Whitepaper (Satoshi Nakamoto)
</a:t>
            </a:r>
            <a:r>
              <a:rPr lang="en-US" sz="1200" i="1" dirty="0">
                <a:solidFill>
                  <a:srgbClr val="546E7A"/>
                </a:solidFill>
                <a:latin typeface="Calibri" pitchFamily="34" charset="0"/>
                <a:ea typeface="Calibri" pitchFamily="34" charset="-122"/>
                <a:cs typeface="Calibri" pitchFamily="34" charset="-120"/>
              </a:rPr>
              <a:t>The original 2008 paper that started it all — challenging but foundational reading.</a:t>
            </a:r>
            <a:endParaRPr lang="en-US" sz="1200" dirty="0"/>
          </a:p>
        </p:txBody>
      </p:sp>
      <p:sp>
        <p:nvSpPr>
          <p:cNvPr id="9" name="Shape 7"/>
          <p:cNvSpPr/>
          <p:nvPr/>
        </p:nvSpPr>
        <p:spPr>
          <a:xfrm>
            <a:off x="457200" y="3920490"/>
            <a:ext cx="8229600" cy="0"/>
          </a:xfrm>
          <a:prstGeom prst="line">
            <a:avLst/>
          </a:prstGeom>
          <a:noFill/>
          <a:ln w="6350">
            <a:solidFill>
              <a:srgbClr val="EEEEEE"/>
            </a:solidFill>
            <a:prstDash val="solid"/>
          </a:ln>
        </p:spPr>
        <p:txBody>
          <a:bodyPr/>
          <a:lstStyle/>
          <a:p>
            <a:endParaRPr lang="en-US"/>
          </a:p>
        </p:txBody>
      </p:sp>
      <p:sp>
        <p:nvSpPr>
          <p:cNvPr id="10" name="Text 8"/>
          <p:cNvSpPr/>
          <p:nvPr/>
        </p:nvSpPr>
        <p:spPr>
          <a:xfrm>
            <a:off x="457200" y="3984498"/>
            <a:ext cx="457200" cy="502920"/>
          </a:xfrm>
          <a:prstGeom prst="rect">
            <a:avLst/>
          </a:prstGeom>
          <a:noFill/>
          <a:ln/>
        </p:spPr>
        <p:txBody>
          <a:bodyPr wrap="square" lIns="0" tIns="0" rIns="0" bIns="0" rtlCol="0" anchor="ctr"/>
          <a:lstStyle/>
          <a:p>
            <a:pPr algn="ctr"/>
            <a:r>
              <a:rPr lang="en-US" sz="1800" dirty="0"/>
              <a:t>🌐</a:t>
            </a:r>
          </a:p>
        </p:txBody>
      </p:sp>
      <p:sp>
        <p:nvSpPr>
          <p:cNvPr id="11" name="Text 9"/>
          <p:cNvSpPr/>
          <p:nvPr/>
        </p:nvSpPr>
        <p:spPr>
          <a:xfrm>
            <a:off x="1005840" y="3984498"/>
            <a:ext cx="7635240" cy="530352"/>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ethereum.org/en/what-is-ethereum
</a:t>
            </a:r>
            <a:r>
              <a:rPr lang="en-US" sz="1200" i="1" dirty="0">
                <a:solidFill>
                  <a:srgbClr val="546E7A"/>
                </a:solidFill>
                <a:latin typeface="Calibri" pitchFamily="34" charset="0"/>
                <a:ea typeface="Calibri" pitchFamily="34" charset="-122"/>
                <a:cs typeface="Calibri" pitchFamily="34" charset="-120"/>
              </a:rPr>
              <a:t>Official Ethereum documentation — great for understanding smart contracts and tokens.</a:t>
            </a:r>
            <a:endParaRPr lang="en-US" sz="1200" dirty="0"/>
          </a:p>
        </p:txBody>
      </p:sp>
      <p:sp>
        <p:nvSpPr>
          <p:cNvPr id="12" name="Shape 10"/>
          <p:cNvSpPr/>
          <p:nvPr/>
        </p:nvSpPr>
        <p:spPr>
          <a:xfrm>
            <a:off x="457200" y="4533138"/>
            <a:ext cx="8229600" cy="0"/>
          </a:xfrm>
          <a:prstGeom prst="line">
            <a:avLst/>
          </a:prstGeom>
          <a:noFill/>
          <a:ln w="6350">
            <a:solidFill>
              <a:srgbClr val="EEEEEE"/>
            </a:solidFill>
            <a:prstDash val="solid"/>
          </a:ln>
        </p:spPr>
        <p:txBody>
          <a:bodyPr/>
          <a:lstStyle/>
          <a:p>
            <a:endParaRPr lang="en-US"/>
          </a:p>
        </p:txBody>
      </p:sp>
      <p:sp>
        <p:nvSpPr>
          <p:cNvPr id="13" name="Text 11"/>
          <p:cNvSpPr/>
          <p:nvPr/>
        </p:nvSpPr>
        <p:spPr>
          <a:xfrm>
            <a:off x="457200" y="4597146"/>
            <a:ext cx="457200" cy="502920"/>
          </a:xfrm>
          <a:prstGeom prst="rect">
            <a:avLst/>
          </a:prstGeom>
          <a:noFill/>
          <a:ln/>
        </p:spPr>
        <p:txBody>
          <a:bodyPr wrap="square" lIns="0" tIns="0" rIns="0" bIns="0" rtlCol="0" anchor="ctr"/>
          <a:lstStyle/>
          <a:p>
            <a:pPr algn="ctr"/>
            <a:r>
              <a:rPr lang="en-US" sz="1800" dirty="0"/>
              <a:t>📹</a:t>
            </a:r>
          </a:p>
        </p:txBody>
      </p:sp>
      <p:sp>
        <p:nvSpPr>
          <p:cNvPr id="14" name="Text 12"/>
          <p:cNvSpPr/>
          <p:nvPr/>
        </p:nvSpPr>
        <p:spPr>
          <a:xfrm>
            <a:off x="1005840" y="4597146"/>
            <a:ext cx="7635240" cy="530352"/>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3Blue1Brown — "But how does bitcoin actually work?"
</a:t>
            </a:r>
            <a:r>
              <a:rPr lang="en-US" sz="1200" i="1" dirty="0">
                <a:solidFill>
                  <a:srgbClr val="546E7A"/>
                </a:solidFill>
                <a:latin typeface="Calibri" pitchFamily="34" charset="0"/>
                <a:ea typeface="Calibri" pitchFamily="34" charset="-122"/>
                <a:cs typeface="Calibri" pitchFamily="34" charset="-120"/>
              </a:rPr>
              <a:t>YouTube video — the best visual explanation of blockchain cryptography.</a:t>
            </a:r>
            <a:endParaRPr lang="en-US" sz="1200" dirty="0"/>
          </a:p>
        </p:txBody>
      </p:sp>
      <p:sp>
        <p:nvSpPr>
          <p:cNvPr id="15" name="Shape 13"/>
          <p:cNvSpPr/>
          <p:nvPr/>
        </p:nvSpPr>
        <p:spPr>
          <a:xfrm>
            <a:off x="457200" y="5145786"/>
            <a:ext cx="8229600" cy="0"/>
          </a:xfrm>
          <a:prstGeom prst="line">
            <a:avLst/>
          </a:prstGeom>
          <a:noFill/>
          <a:ln w="6350">
            <a:solidFill>
              <a:srgbClr val="EEEEEE"/>
            </a:solidFill>
            <a:prstDash val="solid"/>
          </a:ln>
        </p:spPr>
        <p:txBody>
          <a:bodyPr/>
          <a:lstStyle/>
          <a:p>
            <a:endParaRPr lang="en-US"/>
          </a:p>
        </p:txBody>
      </p:sp>
      <p:sp>
        <p:nvSpPr>
          <p:cNvPr id="16" name="Text 14"/>
          <p:cNvSpPr/>
          <p:nvPr/>
        </p:nvSpPr>
        <p:spPr>
          <a:xfrm>
            <a:off x="457200" y="5209794"/>
            <a:ext cx="457200" cy="502920"/>
          </a:xfrm>
          <a:prstGeom prst="rect">
            <a:avLst/>
          </a:prstGeom>
          <a:noFill/>
          <a:ln/>
        </p:spPr>
        <p:txBody>
          <a:bodyPr wrap="square" lIns="0" tIns="0" rIns="0" bIns="0" rtlCol="0" anchor="ctr"/>
          <a:lstStyle/>
          <a:p>
            <a:pPr algn="ctr"/>
            <a:r>
              <a:rPr lang="en-US" sz="1800" dirty="0"/>
              <a:t>📚</a:t>
            </a:r>
          </a:p>
        </p:txBody>
      </p:sp>
      <p:sp>
        <p:nvSpPr>
          <p:cNvPr id="17" name="Text 15"/>
          <p:cNvSpPr/>
          <p:nvPr/>
        </p:nvSpPr>
        <p:spPr>
          <a:xfrm>
            <a:off x="1005840" y="5209794"/>
            <a:ext cx="7635240" cy="530352"/>
          </a:xfrm>
          <a:prstGeom prst="rect">
            <a:avLst/>
          </a:prstGeom>
          <a:noFill/>
          <a:ln/>
        </p:spPr>
        <p:txBody>
          <a:bodyPr wrap="square" rtlCol="0" anchor="ctr"/>
          <a:lstStyle/>
          <a:p>
            <a:r>
              <a:rPr lang="en-US" sz="1200" b="1" dirty="0">
                <a:solidFill>
                  <a:srgbClr val="1565C0"/>
                </a:solidFill>
                <a:latin typeface="Calibri" pitchFamily="34" charset="0"/>
                <a:ea typeface="Calibri" pitchFamily="34" charset="-122"/>
                <a:cs typeface="Calibri" pitchFamily="34" charset="-120"/>
              </a:rPr>
              <a:t>CoinMarketCap Alexandria
</a:t>
            </a:r>
            <a:r>
              <a:rPr lang="en-US" sz="1200" i="1" dirty="0">
                <a:solidFill>
                  <a:srgbClr val="546E7A"/>
                </a:solidFill>
                <a:latin typeface="Calibri" pitchFamily="34" charset="0"/>
                <a:ea typeface="Calibri" pitchFamily="34" charset="-122"/>
                <a:cs typeface="Calibri" pitchFamily="34" charset="-120"/>
              </a:rPr>
              <a:t>Free educational articles on every blockchain concept at coinmarketcap.com/alexandria</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pic>
        <p:nvPicPr>
          <p:cNvPr id="696" name="Google Shape;696;p60"/>
          <p:cNvPicPr preferRelativeResize="0"/>
          <p:nvPr/>
        </p:nvPicPr>
        <p:blipFill rotWithShape="1">
          <a:blip r:embed="rId3">
            <a:alphaModFix/>
          </a:blip>
          <a:srcRect/>
          <a:stretch/>
        </p:blipFill>
        <p:spPr>
          <a:xfrm>
            <a:off x="323528" y="404664"/>
            <a:ext cx="8496944" cy="6206082"/>
          </a:xfrm>
          <a:prstGeom prst="rect">
            <a:avLst/>
          </a:prstGeom>
          <a:noFill/>
          <a:ln>
            <a:noFill/>
          </a:ln>
        </p:spPr>
      </p:pic>
      <p:sp>
        <p:nvSpPr>
          <p:cNvPr id="697" name="Google Shape;697;p60"/>
          <p:cNvSpPr txBox="1">
            <a:spLocks noGrp="1"/>
          </p:cNvSpPr>
          <p:nvPr>
            <p:ph type="ftr" idx="11"/>
          </p:nvPr>
        </p:nvSpPr>
        <p:spPr>
          <a:xfrm>
            <a:off x="0" y="63563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400"/>
              <a:buFont typeface="Arial"/>
              <a:buNone/>
            </a:pPr>
            <a:r>
              <a:rPr lang="en-US" sz="1200" b="0" i="0" u="none" strike="noStrike" cap="none">
                <a:solidFill>
                  <a:srgbClr val="888888"/>
                </a:solidFill>
                <a:latin typeface="Calibri"/>
                <a:ea typeface="Calibri"/>
                <a:cs typeface="Calibri"/>
                <a:sym typeface="Calibri"/>
              </a:rPr>
              <a:t> </a:t>
            </a:r>
            <a:endParaRPr sz="1200" b="0" i="0" u="none" strike="noStrike" cap="none">
              <a:solidFill>
                <a:srgbClr val="888888"/>
              </a:solidFill>
              <a:latin typeface="Calibri"/>
              <a:ea typeface="Calibri"/>
              <a:cs typeface="Calibri"/>
              <a:sym typeface="Calibri"/>
            </a:endParaRPr>
          </a:p>
        </p:txBody>
      </p:sp>
      <p:sp>
        <p:nvSpPr>
          <p:cNvPr id="698" name="Google Shape;698;p60"/>
          <p:cNvSpPr txBox="1">
            <a:spLocks noGrp="1"/>
          </p:cNvSpPr>
          <p:nvPr>
            <p:ph type="sldNum" idx="4294967295"/>
          </p:nvPr>
        </p:nvSpPr>
        <p:spPr>
          <a:xfrm>
            <a:off x="70104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888888"/>
                </a:solidFill>
                <a:latin typeface="Calibri"/>
                <a:ea typeface="Calibri"/>
                <a:cs typeface="Calibri"/>
                <a:sym typeface="Calibri"/>
              </a:rPr>
              <a:t>49</a:t>
            </a:fld>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35B26C-CC26-441E-B8D5-8EDDC4FC3B54}"/>
</file>

<file path=customXml/itemProps2.xml><?xml version="1.0" encoding="utf-8"?>
<ds:datastoreItem xmlns:ds="http://schemas.openxmlformats.org/officeDocument/2006/customXml" ds:itemID="{196BB93C-32C4-4AFA-8A1B-378EF41CD5B6}"/>
</file>

<file path=customXml/itemProps3.xml><?xml version="1.0" encoding="utf-8"?>
<ds:datastoreItem xmlns:ds="http://schemas.openxmlformats.org/officeDocument/2006/customXml" ds:itemID="{B2E2101E-FD8C-48E0-9139-53CBD563C38F}"/>
</file>

<file path=docProps/app.xml><?xml version="1.0" encoding="utf-8"?>
<Properties xmlns="http://schemas.openxmlformats.org/officeDocument/2006/extended-properties" xmlns:vt="http://schemas.openxmlformats.org/officeDocument/2006/docPropsVTypes">
  <TotalTime>440</TotalTime>
  <Words>4461</Words>
  <Application>Microsoft Macintosh PowerPoint</Application>
  <PresentationFormat>On-screen Show (4:3)</PresentationFormat>
  <Paragraphs>423</Paragraphs>
  <Slides>49</Slides>
  <Notes>41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49</vt:i4>
      </vt:variant>
    </vt:vector>
  </HeadingPairs>
  <TitlesOfParts>
    <vt:vector size="60" baseType="lpstr">
      <vt:lpstr>Helvetica Neue</vt:lpstr>
      <vt:lpstr>Nunito</vt:lpstr>
      <vt:lpstr>Cambria</vt:lpstr>
      <vt:lpstr>Arial Rounded</vt:lpstr>
      <vt:lpstr>Helvetica</vt:lpstr>
      <vt:lpstr>Calibri</vt:lpstr>
      <vt:lpstr>Arial</vt:lpstr>
      <vt:lpstr>Wingdings</vt:lpstr>
      <vt:lpstr>Times New Roman</vt:lpstr>
      <vt:lpstr>Office Theme</vt:lpstr>
      <vt:lpstr>1_Office Theme</vt:lpstr>
      <vt:lpstr>Blockchain Technologies &amp;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Blockchain Design</vt:lpstr>
      <vt:lpstr>Blockchain Design</vt:lpstr>
      <vt:lpstr>Blockchain Design</vt:lpstr>
      <vt:lpstr>Blockchain Design</vt:lpstr>
      <vt:lpstr>PowerPoint Presentation</vt:lpstr>
      <vt:lpstr>PowerPoint Presentation</vt:lpstr>
      <vt:lpstr>PowerPoint Presentation</vt:lpstr>
      <vt:lpstr>PowerPoint Presentation</vt:lpstr>
      <vt:lpstr>Adding New Block, Forking Page</vt:lpstr>
      <vt:lpstr>Adding New Block, Forking Page</vt:lpstr>
      <vt:lpstr>Adding New Block, Forking Page</vt:lpstr>
      <vt:lpstr>Adding New Block, Forking Page</vt:lpstr>
      <vt:lpstr>PowerPoint Presentation</vt:lpstr>
      <vt:lpstr>Blockchain properties</vt:lpstr>
      <vt:lpstr>Varieties of blockchain page</vt:lpstr>
      <vt:lpstr>Varieties of blockchain page</vt:lpstr>
      <vt:lpstr>Varieties of blockchain page</vt:lpstr>
      <vt:lpstr>Varieties of blockchain page</vt:lpstr>
      <vt:lpstr>Varieties of blockchain page</vt:lpstr>
      <vt:lpstr>PowerPoint Presentation</vt:lpstr>
      <vt:lpstr>Similarities between Block chain and Linked list and Implementing a blockchain from Linked list</vt:lpstr>
      <vt:lpstr>Similarities between Block chain and Linked list &amp;   Implementing a blockchain from Linked list</vt:lpstr>
      <vt:lpstr>Similarities between Block chain and Linked list and Implementing a blockchain from Linked list</vt:lpstr>
      <vt:lpstr>PowerPoint Presentation</vt:lpstr>
      <vt:lpstr>Similarities between Block chain and Linked list and Implementing a blockchain from Linked list</vt:lpstr>
      <vt:lpstr>Similarities between Block chain and Linked list and Implementing a blockchain from Linked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Technologies &amp; Systems</dc:title>
  <dc:creator>Rohit WILP</dc:creator>
  <cp:lastModifiedBy>Prof Animesh Giri</cp:lastModifiedBy>
  <cp:revision>95</cp:revision>
  <dcterms:modified xsi:type="dcterms:W3CDTF">2026-08-22T07:43:31Z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